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2" r:id="rId3"/>
    <p:sldMasterId id="2147483657" r:id="rId4"/>
    <p:sldMasterId id="2147483663" r:id="rId5"/>
    <p:sldMasterId id="2147483669" r:id="rId6"/>
    <p:sldMasterId id="2147483675" r:id="rId7"/>
    <p:sldMasterId id="2147483681" r:id="rId8"/>
    <p:sldMasterId id="2147483687" r:id="rId9"/>
    <p:sldMasterId id="2147483692" r:id="rId10"/>
    <p:sldMasterId id="2147483698" r:id="rId11"/>
    <p:sldMasterId id="2147483704" r:id="rId12"/>
    <p:sldMasterId id="2147483710" r:id="rId13"/>
    <p:sldMasterId id="2147483716" r:id="rId14"/>
    <p:sldMasterId id="2147483722" r:id="rId15"/>
    <p:sldMasterId id="2147483728" r:id="rId16"/>
    <p:sldMasterId id="2147483734" r:id="rId17"/>
    <p:sldMasterId id="2147483740" r:id="rId18"/>
    <p:sldMasterId id="2147483746" r:id="rId19"/>
    <p:sldMasterId id="2147483752" r:id="rId20"/>
    <p:sldMasterId id="2147483758" r:id="rId21"/>
    <p:sldMasterId id="2147483764" r:id="rId22"/>
    <p:sldMasterId id="2147483770" r:id="rId23"/>
    <p:sldMasterId id="2147483776" r:id="rId24"/>
    <p:sldMasterId id="2147483782" r:id="rId25"/>
    <p:sldMasterId id="2147483788" r:id="rId26"/>
    <p:sldMasterId id="2147483794" r:id="rId27"/>
    <p:sldMasterId id="2147483800" r:id="rId28"/>
    <p:sldMasterId id="2147483806" r:id="rId29"/>
    <p:sldMasterId id="2147483812" r:id="rId30"/>
    <p:sldMasterId id="2147483818" r:id="rId31"/>
  </p:sldMasterIdLst>
  <p:notesMasterIdLst>
    <p:notesMasterId r:id="rId34"/>
  </p:notesMasterIdLst>
  <p:sldIdLst>
    <p:sldId id="256" r:id="rId32"/>
    <p:sldId id="415" r:id="rId33"/>
    <p:sldId id="323" r:id="rId35"/>
    <p:sldId id="351" r:id="rId36"/>
    <p:sldId id="354" r:id="rId37"/>
    <p:sldId id="410" r:id="rId38"/>
    <p:sldId id="355" r:id="rId39"/>
    <p:sldId id="413" r:id="rId40"/>
    <p:sldId id="460" r:id="rId41"/>
    <p:sldId id="459" r:id="rId42"/>
    <p:sldId id="414" r:id="rId43"/>
    <p:sldId id="357" r:id="rId44"/>
    <p:sldId id="417" r:id="rId45"/>
    <p:sldId id="387" r:id="rId46"/>
    <p:sldId id="361" r:id="rId47"/>
    <p:sldId id="358" r:id="rId48"/>
    <p:sldId id="359" r:id="rId49"/>
    <p:sldId id="386" r:id="rId50"/>
    <p:sldId id="375" r:id="rId51"/>
    <p:sldId id="418" r:id="rId52"/>
    <p:sldId id="445" r:id="rId53"/>
    <p:sldId id="373" r:id="rId54"/>
    <p:sldId id="374" r:id="rId55"/>
    <p:sldId id="362" r:id="rId56"/>
    <p:sldId id="363" r:id="rId57"/>
    <p:sldId id="364" r:id="rId58"/>
    <p:sldId id="366" r:id="rId59"/>
    <p:sldId id="365" r:id="rId60"/>
    <p:sldId id="367" r:id="rId61"/>
    <p:sldId id="368" r:id="rId62"/>
    <p:sldId id="457" r:id="rId63"/>
    <p:sldId id="279" r:id="rId64"/>
  </p:sldIdLst>
  <p:sldSz cx="12192000" cy="6858000"/>
  <p:notesSz cx="6858000" cy="9144000"/>
  <p:custDataLst>
    <p:tags r:id="rId68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8" Type="http://schemas.openxmlformats.org/officeDocument/2006/relationships/tags" Target="tags/tag21.xml"/><Relationship Id="rId67" Type="http://schemas.openxmlformats.org/officeDocument/2006/relationships/tableStyles" Target="tableStyles.xml"/><Relationship Id="rId66" Type="http://schemas.openxmlformats.org/officeDocument/2006/relationships/viewProps" Target="viewProps.xml"/><Relationship Id="rId65" Type="http://schemas.openxmlformats.org/officeDocument/2006/relationships/presProps" Target="presProps.xml"/><Relationship Id="rId64" Type="http://schemas.openxmlformats.org/officeDocument/2006/relationships/slide" Target="slides/slide32.xml"/><Relationship Id="rId63" Type="http://schemas.openxmlformats.org/officeDocument/2006/relationships/slide" Target="slides/slide31.xml"/><Relationship Id="rId62" Type="http://schemas.openxmlformats.org/officeDocument/2006/relationships/slide" Target="slides/slide30.xml"/><Relationship Id="rId61" Type="http://schemas.openxmlformats.org/officeDocument/2006/relationships/slide" Target="slides/slide29.xml"/><Relationship Id="rId60" Type="http://schemas.openxmlformats.org/officeDocument/2006/relationships/slide" Target="slides/slide28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27.xml"/><Relationship Id="rId58" Type="http://schemas.openxmlformats.org/officeDocument/2006/relationships/slide" Target="slides/slide26.xml"/><Relationship Id="rId57" Type="http://schemas.openxmlformats.org/officeDocument/2006/relationships/slide" Target="slides/slide25.xml"/><Relationship Id="rId56" Type="http://schemas.openxmlformats.org/officeDocument/2006/relationships/slide" Target="slides/slide24.xml"/><Relationship Id="rId55" Type="http://schemas.openxmlformats.org/officeDocument/2006/relationships/slide" Target="slides/slide23.xml"/><Relationship Id="rId54" Type="http://schemas.openxmlformats.org/officeDocument/2006/relationships/slide" Target="slides/slide22.xml"/><Relationship Id="rId53" Type="http://schemas.openxmlformats.org/officeDocument/2006/relationships/slide" Target="slides/slide21.xml"/><Relationship Id="rId52" Type="http://schemas.openxmlformats.org/officeDocument/2006/relationships/slide" Target="slides/slide20.xml"/><Relationship Id="rId51" Type="http://schemas.openxmlformats.org/officeDocument/2006/relationships/slide" Target="slides/slide19.xml"/><Relationship Id="rId50" Type="http://schemas.openxmlformats.org/officeDocument/2006/relationships/slide" Target="slides/slide18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17.xml"/><Relationship Id="rId48" Type="http://schemas.openxmlformats.org/officeDocument/2006/relationships/slide" Target="slides/slide16.xml"/><Relationship Id="rId47" Type="http://schemas.openxmlformats.org/officeDocument/2006/relationships/slide" Target="slides/slide15.xml"/><Relationship Id="rId46" Type="http://schemas.openxmlformats.org/officeDocument/2006/relationships/slide" Target="slides/slide14.xml"/><Relationship Id="rId45" Type="http://schemas.openxmlformats.org/officeDocument/2006/relationships/slide" Target="slides/slide13.xml"/><Relationship Id="rId44" Type="http://schemas.openxmlformats.org/officeDocument/2006/relationships/slide" Target="slides/slide12.xml"/><Relationship Id="rId43" Type="http://schemas.openxmlformats.org/officeDocument/2006/relationships/slide" Target="slides/slide11.xml"/><Relationship Id="rId42" Type="http://schemas.openxmlformats.org/officeDocument/2006/relationships/slide" Target="slides/slide10.xml"/><Relationship Id="rId41" Type="http://schemas.openxmlformats.org/officeDocument/2006/relationships/slide" Target="slides/slide9.xml"/><Relationship Id="rId40" Type="http://schemas.openxmlformats.org/officeDocument/2006/relationships/slide" Target="slides/slide8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7.xml"/><Relationship Id="rId38" Type="http://schemas.openxmlformats.org/officeDocument/2006/relationships/slide" Target="slides/slide6.xml"/><Relationship Id="rId37" Type="http://schemas.openxmlformats.org/officeDocument/2006/relationships/slide" Target="slides/slide5.xml"/><Relationship Id="rId36" Type="http://schemas.openxmlformats.org/officeDocument/2006/relationships/slide" Target="slides/slide4.xml"/><Relationship Id="rId35" Type="http://schemas.openxmlformats.org/officeDocument/2006/relationships/slide" Target="slides/slide3.xml"/><Relationship Id="rId34" Type="http://schemas.openxmlformats.org/officeDocument/2006/relationships/notesMaster" Target="notesMasters/notesMaster1.xml"/><Relationship Id="rId33" Type="http://schemas.openxmlformats.org/officeDocument/2006/relationships/slide" Target="slides/slide2.xml"/><Relationship Id="rId32" Type="http://schemas.openxmlformats.org/officeDocument/2006/relationships/slide" Target="slides/slide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VI</a:t>
            </a:r>
            <a:r>
              <a:rPr lang="en-US" altLang="zh-CN"/>
              <a:t>OFO  </a:t>
            </a:r>
            <a:r>
              <a:rPr lang="zh-CN" altLang="en-US"/>
              <a:t>高价定位</a:t>
            </a:r>
            <a:r>
              <a:rPr lang="en-US" altLang="zh-CN"/>
              <a:t>  </a:t>
            </a:r>
            <a:r>
              <a:rPr lang="zh-CN" altLang="en-US"/>
              <a:t>定制</a:t>
            </a:r>
            <a:r>
              <a:rPr lang="zh-CN" altLang="en-US"/>
              <a:t>路线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思考：</a:t>
            </a:r>
            <a:endParaRPr lang="zh-CN" altLang="en-US"/>
          </a:p>
          <a:p>
            <a:r>
              <a:rPr lang="zh-CN" altLang="en-US"/>
              <a:t>为什么双录链接占比最高？是否代表了当下最关注的需求？</a:t>
            </a:r>
            <a:endParaRPr lang="zh-CN" altLang="en-US"/>
          </a:p>
          <a:p>
            <a:r>
              <a:rPr lang="zh-CN" altLang="en-US"/>
              <a:t>四录占比最低，是需求问题还是技术问题？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单录</a:t>
            </a:r>
            <a:r>
              <a:rPr lang="en-US" altLang="zh-CN"/>
              <a:t>17</a:t>
            </a:r>
            <a:r>
              <a:rPr lang="zh-CN" altLang="en-US"/>
              <a:t>个</a:t>
            </a:r>
            <a:r>
              <a:rPr lang="zh-CN" altLang="en-US"/>
              <a:t>品牌</a:t>
            </a:r>
            <a:endParaRPr lang="zh-CN" altLang="en-US"/>
          </a:p>
          <a:p>
            <a:r>
              <a:rPr lang="en-US" altLang="zh-CN"/>
              <a:t>top 100 </a:t>
            </a:r>
            <a:r>
              <a:rPr lang="zh-CN" altLang="en-US"/>
              <a:t>进去了几条</a:t>
            </a:r>
            <a:r>
              <a:rPr lang="zh-CN" altLang="en-US"/>
              <a:t>链接</a:t>
            </a:r>
            <a:endParaRPr lang="zh-CN" altLang="en-US"/>
          </a:p>
          <a:p>
            <a:r>
              <a:rPr lang="zh-CN" altLang="en-US"/>
              <a:t>整个记录仪类目细分市场的</a:t>
            </a:r>
            <a:r>
              <a:rPr lang="zh-CN" altLang="en-US"/>
              <a:t>布局</a:t>
            </a:r>
            <a:endParaRPr lang="zh-CN" altLang="en-US"/>
          </a:p>
          <a:p>
            <a:r>
              <a:rPr lang="zh-CN" altLang="en-US"/>
              <a:t>价格定位</a:t>
            </a:r>
            <a:r>
              <a:rPr lang="zh-CN" altLang="en-US"/>
              <a:t>情况</a:t>
            </a:r>
            <a:endParaRPr lang="zh-CN" altLang="en-US"/>
          </a:p>
          <a:p>
            <a:r>
              <a:rPr lang="zh-CN" altLang="en-US"/>
              <a:t>布局的重点</a:t>
            </a:r>
            <a:r>
              <a:rPr lang="en-US" altLang="zh-CN"/>
              <a:t>   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思考如果我们需要进入单录市场，谁才是我们的对标？我们又能把谁当成对标？如果我们自己需要布局多个细分</a:t>
            </a:r>
            <a:r>
              <a:rPr lang="zh-CN" altLang="en-US"/>
              <a:t>市场，阶段性我们应该关注谁</a:t>
            </a:r>
            <a:r>
              <a:rPr lang="zh-CN" altLang="en-US"/>
              <a:t>呢？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思考：</a:t>
            </a:r>
            <a:endParaRPr lang="zh-CN" altLang="en-US"/>
          </a:p>
          <a:p>
            <a:r>
              <a:rPr lang="zh-CN" altLang="en-US"/>
              <a:t>为什么双录链接占比最高？是否代表了当下最关注的需求？</a:t>
            </a:r>
            <a:endParaRPr lang="zh-CN" altLang="en-US"/>
          </a:p>
          <a:p>
            <a:r>
              <a:rPr lang="zh-CN" altLang="en-US"/>
              <a:t>四录占比最低，是需求问题还是技术问题？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单录</a:t>
            </a:r>
            <a:r>
              <a:rPr lang="en-US" altLang="zh-CN"/>
              <a:t>17</a:t>
            </a:r>
            <a:r>
              <a:rPr lang="zh-CN" altLang="en-US"/>
              <a:t>个</a:t>
            </a:r>
            <a:r>
              <a:rPr lang="zh-CN" altLang="en-US"/>
              <a:t>品牌</a:t>
            </a:r>
            <a:endParaRPr lang="zh-CN" altLang="en-US"/>
          </a:p>
          <a:p>
            <a:r>
              <a:rPr lang="en-US" altLang="zh-CN"/>
              <a:t>top 100 </a:t>
            </a:r>
            <a:r>
              <a:rPr lang="zh-CN" altLang="en-US"/>
              <a:t>进去了几条</a:t>
            </a:r>
            <a:r>
              <a:rPr lang="zh-CN" altLang="en-US"/>
              <a:t>链接</a:t>
            </a:r>
            <a:endParaRPr lang="zh-CN" altLang="en-US"/>
          </a:p>
          <a:p>
            <a:r>
              <a:rPr lang="zh-CN" altLang="en-US"/>
              <a:t>整个记录仪类目细分市场的</a:t>
            </a:r>
            <a:r>
              <a:rPr lang="zh-CN" altLang="en-US"/>
              <a:t>布局</a:t>
            </a:r>
            <a:endParaRPr lang="zh-CN" altLang="en-US"/>
          </a:p>
          <a:p>
            <a:r>
              <a:rPr lang="zh-CN" altLang="en-US"/>
              <a:t>价格定位</a:t>
            </a:r>
            <a:r>
              <a:rPr lang="zh-CN" altLang="en-US"/>
              <a:t>情况</a:t>
            </a:r>
            <a:endParaRPr lang="zh-CN" altLang="en-US"/>
          </a:p>
          <a:p>
            <a:r>
              <a:rPr lang="zh-CN" altLang="en-US"/>
              <a:t>布局的重点</a:t>
            </a:r>
            <a:r>
              <a:rPr lang="en-US" altLang="zh-CN"/>
              <a:t>   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思考如果我们需要进入单录市场，谁才是我们的对标？我们又能把谁当成对标？如果我们自己需要布局多个细分</a:t>
            </a:r>
            <a:r>
              <a:rPr lang="zh-CN" altLang="en-US"/>
              <a:t>市场，阶段性我们应该关注谁</a:t>
            </a:r>
            <a:r>
              <a:rPr lang="zh-CN" altLang="en-US"/>
              <a:t>呢？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 spc="1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90204" pitchFamily="34" charset="0"/>
                <a:ea typeface="微软雅黑" charset="-122"/>
                <a:sym typeface="Arial" panose="020B0604020202090204" pitchFamily="34" charset="0"/>
              </a:rPr>
              <a:t>大部分的差异基本都能在这三个维度上有所体现。</a:t>
            </a:r>
            <a:endParaRPr lang="en-US" altLang="zh-CN" spc="150">
              <a:solidFill>
                <a:srgbClr val="000000">
                  <a:lumMod val="75000"/>
                  <a:lumOff val="25000"/>
                </a:srgbClr>
              </a:solidFill>
              <a:latin typeface="Arial" panose="020B0604020202090204" pitchFamily="34" charset="0"/>
              <a:ea typeface="微软雅黑" charset="-122"/>
              <a:sym typeface="Arial" panose="020B0604020202090204" pitchFamily="34" charset="0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 spc="1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90204" pitchFamily="34" charset="0"/>
                <a:ea typeface="微软雅黑" charset="-122"/>
                <a:sym typeface="Arial" panose="020B0604020202090204" pitchFamily="34" charset="0"/>
              </a:rPr>
              <a:t>大部分的差异基本都能在这三个维度上有所体现。</a:t>
            </a:r>
            <a:endParaRPr lang="en-US" altLang="zh-CN" spc="150">
              <a:solidFill>
                <a:srgbClr val="000000">
                  <a:lumMod val="75000"/>
                  <a:lumOff val="25000"/>
                </a:srgbClr>
              </a:solidFill>
              <a:latin typeface="Arial" panose="020B0604020202090204" pitchFamily="34" charset="0"/>
              <a:ea typeface="微软雅黑" charset="-122"/>
              <a:sym typeface="Arial" panose="020B0604020202090204" pitchFamily="34" charset="0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 spc="1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90204" pitchFamily="34" charset="0"/>
                <a:ea typeface="微软雅黑" charset="-122"/>
                <a:sym typeface="Arial" panose="020B0604020202090204" pitchFamily="34" charset="0"/>
              </a:rPr>
              <a:t>大部分的差异基本都能在这三个维度上有所体现。</a:t>
            </a:r>
            <a:endParaRPr lang="en-US" altLang="zh-CN" spc="150">
              <a:solidFill>
                <a:srgbClr val="000000">
                  <a:lumMod val="75000"/>
                  <a:lumOff val="25000"/>
                </a:srgbClr>
              </a:solidFill>
              <a:latin typeface="Arial" panose="020B0604020202090204" pitchFamily="34" charset="0"/>
              <a:ea typeface="微软雅黑" charset="-122"/>
              <a:sym typeface="Arial" panose="020B0604020202090204" pitchFamily="34" charset="0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VI</a:t>
            </a:r>
            <a:r>
              <a:rPr lang="en-US" altLang="zh-CN"/>
              <a:t>OFO  </a:t>
            </a:r>
            <a:r>
              <a:rPr lang="zh-CN" altLang="en-US"/>
              <a:t>高价定位</a:t>
            </a:r>
            <a:r>
              <a:rPr lang="en-US" altLang="zh-CN"/>
              <a:t>  </a:t>
            </a:r>
            <a:r>
              <a:rPr lang="zh-CN" altLang="en-US"/>
              <a:t>定制</a:t>
            </a:r>
            <a:r>
              <a:rPr lang="zh-CN" altLang="en-US"/>
              <a:t>路线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VI</a:t>
            </a:r>
            <a:r>
              <a:rPr lang="en-US" altLang="zh-CN"/>
              <a:t>OFO  </a:t>
            </a:r>
            <a:r>
              <a:rPr lang="zh-CN" altLang="en-US"/>
              <a:t>高价定位</a:t>
            </a:r>
            <a:r>
              <a:rPr lang="en-US" altLang="zh-CN"/>
              <a:t>  </a:t>
            </a:r>
            <a:r>
              <a:rPr lang="zh-CN" altLang="en-US"/>
              <a:t>定制</a:t>
            </a:r>
            <a:r>
              <a:rPr lang="zh-CN" altLang="en-US"/>
              <a:t>路线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VI</a:t>
            </a:r>
            <a:r>
              <a:rPr lang="en-US" altLang="zh-CN"/>
              <a:t>OFO  </a:t>
            </a:r>
            <a:r>
              <a:rPr lang="zh-CN" altLang="en-US"/>
              <a:t>高价定位</a:t>
            </a:r>
            <a:r>
              <a:rPr lang="en-US" altLang="zh-CN"/>
              <a:t>  </a:t>
            </a:r>
            <a:r>
              <a:rPr lang="zh-CN" altLang="en-US"/>
              <a:t>定制</a:t>
            </a:r>
            <a:r>
              <a:rPr lang="zh-CN" altLang="en-US"/>
              <a:t>路线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影响产品成本最主要的核心：主控芯片+镜头  (代理常见方案：联咏 凌通 全志 亿智 杰里)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其次影响成本的要素：分辨率、GPS、WIFI、内存等；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单录记录仪价格差1-3倍，最高差</a:t>
            </a:r>
            <a:r>
              <a:rPr lang="en-US" altLang="zh-CN" dirty="0">
                <a:sym typeface="+mn-ea"/>
              </a:rPr>
              <a:t>100</a:t>
            </a:r>
            <a:r>
              <a:rPr lang="zh-CN" altLang="en-US" dirty="0">
                <a:sym typeface="+mn-ea"/>
              </a:rPr>
              <a:t>美金左右；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产品主控方案无法验证 (虚标、低配 →  评分)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单录记录仪价格差1-3倍，最高差</a:t>
            </a:r>
            <a:r>
              <a:rPr lang="en-US" altLang="zh-CN" dirty="0">
                <a:sym typeface="+mn-ea"/>
              </a:rPr>
              <a:t>100</a:t>
            </a:r>
            <a:r>
              <a:rPr lang="zh-CN" altLang="en-US" dirty="0">
                <a:sym typeface="+mn-ea"/>
              </a:rPr>
              <a:t>美金左右；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产品主控方案无法验证 (虚标、低配 →  评分)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单录记录仪价格差1-3倍，最高差</a:t>
            </a:r>
            <a:r>
              <a:rPr lang="en-US" altLang="zh-CN" dirty="0">
                <a:sym typeface="+mn-ea"/>
              </a:rPr>
              <a:t>100</a:t>
            </a:r>
            <a:r>
              <a:rPr lang="zh-CN" altLang="en-US" dirty="0">
                <a:sym typeface="+mn-ea"/>
              </a:rPr>
              <a:t>美金左右；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产品主控方案无法验证 (虚标、低配 →  评分)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问题：如果不扣除广告费，这个类目毛利率在多少以上大家觉得是能进入的？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如果大部分的链接毛利率低于20%，大家敢进入么？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收入及费用遵循100%配比原则，即费用和利润之和为100%。</a:t>
            </a:r>
            <a:endParaRPr lang="zh-CN" altLang="en-US" dirty="0">
              <a:sym typeface="+mn-ea"/>
            </a:endParaRPr>
          </a:p>
          <a:p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我们通过定价表对费用进行拆解，就能了接到收入的构成要素，在已知部分费用要素的情况下，如果我们需要快速测算利润，是可以根据已知条件去倒推我们的利润空间。</a:t>
            </a:r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比如已知定价(收入)、佣金、FBA配送费、产品成本、头程等费用，其他的变量可以根据类目实际情况设置参数，比如退货率，促销费用等，基本很容易推出来利润水平；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VI</a:t>
            </a:r>
            <a:r>
              <a:rPr lang="en-US" altLang="zh-CN"/>
              <a:t>OFO  </a:t>
            </a:r>
            <a:r>
              <a:rPr lang="zh-CN" altLang="en-US"/>
              <a:t>高价定位</a:t>
            </a:r>
            <a:r>
              <a:rPr lang="en-US" altLang="zh-CN"/>
              <a:t>  </a:t>
            </a:r>
            <a:r>
              <a:rPr lang="zh-CN" altLang="en-US"/>
              <a:t>定制</a:t>
            </a:r>
            <a:r>
              <a:rPr lang="zh-CN" altLang="en-US"/>
              <a:t>路线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/Relationships>
</file>

<file path=ppt/slideMasters/_rels/slideMaster6.xml.rels><?xml version="1.0" encoding="UTF-8" standalone="yes"?>
<Relationships xmlns="http://schemas.openxmlformats.org/package/2006/relationships"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_rels/slideMaster7.xml.rels><?xml version="1.0" encoding="UTF-8" standalone="yes"?>
<Relationships xmlns="http://schemas.openxmlformats.org/package/2006/relationships"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/Relationships>
</file>

<file path=ppt/slideMasters/_rels/slideMaster8.xml.rels><?xml version="1.0" encoding="UTF-8" standalone="yes"?>
<Relationships xmlns="http://schemas.openxmlformats.org/package/2006/relationships"><Relationship Id="rId5" Type="http://schemas.openxmlformats.org/officeDocument/2006/relationships/theme" Target="../theme/theme8.xml"/><Relationship Id="rId4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/Relationships>
</file>

<file path=ppt/slideMasters/_rels/slideMaster9.xml.rels><?xml version="1.0" encoding="UTF-8" standalone="yes"?>
<Relationships xmlns="http://schemas.openxmlformats.org/package/2006/relationships"><Relationship Id="rId6" Type="http://schemas.openxmlformats.org/officeDocument/2006/relationships/theme" Target="../theme/theme9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/Relationships>
</file>

<file path=ppt/slideMasters/_rels/slideMaster10.xml.rels><?xml version="1.0" encoding="UTF-8" standalone="yes"?>
<Relationships xmlns="http://schemas.openxmlformats.org/package/2006/relationships"><Relationship Id="rId6" Type="http://schemas.openxmlformats.org/officeDocument/2006/relationships/theme" Target="../theme/theme10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/Relationships>
</file>

<file path=ppt/slideMasters/_rels/slideMaster1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1.xml"/><Relationship Id="rId5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/Relationships>
</file>

<file path=ppt/slideMasters/_rels/slideMaster12.xml.rels><?xml version="1.0" encoding="UTF-8" standalone="yes"?>
<Relationships xmlns="http://schemas.openxmlformats.org/package/2006/relationships"><Relationship Id="rId6" Type="http://schemas.openxmlformats.org/officeDocument/2006/relationships/theme" Target="../theme/theme12.xml"/><Relationship Id="rId5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/Relationships>
</file>

<file path=ppt/slideMasters/_rels/slideMaster13.xml.rels><?xml version="1.0" encoding="UTF-8" standalone="yes"?>
<Relationships xmlns="http://schemas.openxmlformats.org/package/2006/relationships"><Relationship Id="rId6" Type="http://schemas.openxmlformats.org/officeDocument/2006/relationships/theme" Target="../theme/theme13.xml"/><Relationship Id="rId5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9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/Relationships>
</file>

<file path=ppt/slideMasters/_rels/slideMaster14.xml.rels><?xml version="1.0" encoding="UTF-8" standalone="yes"?>
<Relationships xmlns="http://schemas.openxmlformats.org/package/2006/relationships"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4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/Relationships>
</file>

<file path=ppt/slideMasters/_rels/slideMaster15.xml.rels><?xml version="1.0" encoding="UTF-8" standalone="yes"?>
<Relationships xmlns="http://schemas.openxmlformats.org/package/2006/relationships"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/Relationships>
</file>

<file path=ppt/slideMasters/_rels/slideMaster16.xml.rels><?xml version="1.0" encoding="UTF-8" standalone="yes"?>
<Relationships xmlns="http://schemas.openxmlformats.org/package/2006/relationships"><Relationship Id="rId6" Type="http://schemas.openxmlformats.org/officeDocument/2006/relationships/theme" Target="../theme/theme16.xml"/><Relationship Id="rId5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5.xml"/><Relationship Id="rId3" Type="http://schemas.openxmlformats.org/officeDocument/2006/relationships/slideLayout" Target="../slideLayouts/slideLayout74.xml"/><Relationship Id="rId2" Type="http://schemas.openxmlformats.org/officeDocument/2006/relationships/slideLayout" Target="../slideLayouts/slideLayout73.xml"/><Relationship Id="rId1" Type="http://schemas.openxmlformats.org/officeDocument/2006/relationships/slideLayout" Target="../slideLayouts/slideLayout72.xml"/></Relationships>
</file>

<file path=ppt/slideMasters/_rels/slideMaster17.xml.rels><?xml version="1.0" encoding="UTF-8" standalone="yes"?>
<Relationships xmlns="http://schemas.openxmlformats.org/package/2006/relationships"><Relationship Id="rId6" Type="http://schemas.openxmlformats.org/officeDocument/2006/relationships/theme" Target="../theme/theme17.xml"/><Relationship Id="rId5" Type="http://schemas.openxmlformats.org/officeDocument/2006/relationships/slideLayout" Target="../slideLayouts/slideLayout81.xml"/><Relationship Id="rId4" Type="http://schemas.openxmlformats.org/officeDocument/2006/relationships/slideLayout" Target="../slideLayouts/slideLayout80.xml"/><Relationship Id="rId3" Type="http://schemas.openxmlformats.org/officeDocument/2006/relationships/slideLayout" Target="../slideLayouts/slideLayout79.xml"/><Relationship Id="rId2" Type="http://schemas.openxmlformats.org/officeDocument/2006/relationships/slideLayout" Target="../slideLayouts/slideLayout78.xml"/><Relationship Id="rId1" Type="http://schemas.openxmlformats.org/officeDocument/2006/relationships/slideLayout" Target="../slideLayouts/slideLayout77.xml"/></Relationships>
</file>

<file path=ppt/slideMasters/_rels/slideMaster18.xml.rels><?xml version="1.0" encoding="UTF-8" standalone="yes"?>
<Relationships xmlns="http://schemas.openxmlformats.org/package/2006/relationships"><Relationship Id="rId6" Type="http://schemas.openxmlformats.org/officeDocument/2006/relationships/theme" Target="../theme/theme18.xml"/><Relationship Id="rId5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4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/Relationships>
</file>

<file path=ppt/slideMasters/_rels/slideMaster19.xml.rels><?xml version="1.0" encoding="UTF-8" standalone="yes"?>
<Relationships xmlns="http://schemas.openxmlformats.org/package/2006/relationships"><Relationship Id="rId6" Type="http://schemas.openxmlformats.org/officeDocument/2006/relationships/theme" Target="../theme/theme19.xml"/><Relationship Id="rId5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0.xml"/><Relationship Id="rId3" Type="http://schemas.openxmlformats.org/officeDocument/2006/relationships/slideLayout" Target="../slideLayouts/slideLayout89.xml"/><Relationship Id="rId2" Type="http://schemas.openxmlformats.org/officeDocument/2006/relationships/slideLayout" Target="../slideLayouts/slideLayout88.xml"/><Relationship Id="rId1" Type="http://schemas.openxmlformats.org/officeDocument/2006/relationships/slideLayout" Target="../slideLayouts/slideLayout87.xml"/></Relationships>
</file>

<file path=ppt/slideMasters/_rels/slideMaster20.xml.rels><?xml version="1.0" encoding="UTF-8" standalone="yes"?>
<Relationships xmlns="http://schemas.openxmlformats.org/package/2006/relationships"><Relationship Id="rId6" Type="http://schemas.openxmlformats.org/officeDocument/2006/relationships/theme" Target="../theme/theme20.xml"/><Relationship Id="rId5" Type="http://schemas.openxmlformats.org/officeDocument/2006/relationships/slideLayout" Target="../slideLayouts/slideLayout96.xml"/><Relationship Id="rId4" Type="http://schemas.openxmlformats.org/officeDocument/2006/relationships/slideLayout" Target="../slideLayouts/slideLayout95.xml"/><Relationship Id="rId3" Type="http://schemas.openxmlformats.org/officeDocument/2006/relationships/slideLayout" Target="../slideLayouts/slideLayout94.xml"/><Relationship Id="rId2" Type="http://schemas.openxmlformats.org/officeDocument/2006/relationships/slideLayout" Target="../slideLayouts/slideLayout93.xml"/><Relationship Id="rId1" Type="http://schemas.openxmlformats.org/officeDocument/2006/relationships/slideLayout" Target="../slideLayouts/slideLayout92.xml"/></Relationships>
</file>

<file path=ppt/slideMasters/_rels/slideMaster21.xml.rels><?xml version="1.0" encoding="UTF-8" standalone="yes"?>
<Relationships xmlns="http://schemas.openxmlformats.org/package/2006/relationships"><Relationship Id="rId6" Type="http://schemas.openxmlformats.org/officeDocument/2006/relationships/theme" Target="../theme/theme21.xml"/><Relationship Id="rId5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100.xml"/><Relationship Id="rId3" Type="http://schemas.openxmlformats.org/officeDocument/2006/relationships/slideLayout" Target="../slideLayouts/slideLayout99.xml"/><Relationship Id="rId2" Type="http://schemas.openxmlformats.org/officeDocument/2006/relationships/slideLayout" Target="../slideLayouts/slideLayout98.xml"/><Relationship Id="rId1" Type="http://schemas.openxmlformats.org/officeDocument/2006/relationships/slideLayout" Target="../slideLayouts/slideLayout97.xml"/></Relationships>
</file>

<file path=ppt/slideMasters/_rels/slideMaster22.xml.rels><?xml version="1.0" encoding="UTF-8" standalone="yes"?>
<Relationships xmlns="http://schemas.openxmlformats.org/package/2006/relationships"><Relationship Id="rId6" Type="http://schemas.openxmlformats.org/officeDocument/2006/relationships/theme" Target="../theme/theme22.xml"/><Relationship Id="rId5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105.xml"/><Relationship Id="rId3" Type="http://schemas.openxmlformats.org/officeDocument/2006/relationships/slideLayout" Target="../slideLayouts/slideLayout104.xml"/><Relationship Id="rId2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102.xml"/></Relationships>
</file>

<file path=ppt/slideMasters/_rels/slideMaster23.xml.rels><?xml version="1.0" encoding="UTF-8" standalone="yes"?>
<Relationships xmlns="http://schemas.openxmlformats.org/package/2006/relationships"><Relationship Id="rId6" Type="http://schemas.openxmlformats.org/officeDocument/2006/relationships/theme" Target="../theme/theme23.xml"/><Relationship Id="rId5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10.xml"/><Relationship Id="rId3" Type="http://schemas.openxmlformats.org/officeDocument/2006/relationships/slideLayout" Target="../slideLayouts/slideLayout109.xml"/><Relationship Id="rId2" Type="http://schemas.openxmlformats.org/officeDocument/2006/relationships/slideLayout" Target="../slideLayouts/slideLayout108.xml"/><Relationship Id="rId1" Type="http://schemas.openxmlformats.org/officeDocument/2006/relationships/slideLayout" Target="../slideLayouts/slideLayout107.xml"/></Relationships>
</file>

<file path=ppt/slideMasters/_rels/slideMaster24.xml.rels><?xml version="1.0" encoding="UTF-8" standalone="yes"?>
<Relationships xmlns="http://schemas.openxmlformats.org/package/2006/relationships"><Relationship Id="rId6" Type="http://schemas.openxmlformats.org/officeDocument/2006/relationships/theme" Target="../theme/theme24.xml"/><Relationship Id="rId5" Type="http://schemas.openxmlformats.org/officeDocument/2006/relationships/slideLayout" Target="../slideLayouts/slideLayout116.xml"/><Relationship Id="rId4" Type="http://schemas.openxmlformats.org/officeDocument/2006/relationships/slideLayout" Target="../slideLayouts/slideLayout115.xml"/><Relationship Id="rId3" Type="http://schemas.openxmlformats.org/officeDocument/2006/relationships/slideLayout" Target="../slideLayouts/slideLayout114.xml"/><Relationship Id="rId2" Type="http://schemas.openxmlformats.org/officeDocument/2006/relationships/slideLayout" Target="../slideLayouts/slideLayout113.xml"/><Relationship Id="rId1" Type="http://schemas.openxmlformats.org/officeDocument/2006/relationships/slideLayout" Target="../slideLayouts/slideLayout112.xml"/></Relationships>
</file>

<file path=ppt/slideMasters/_rels/slideMaster25.xml.rels><?xml version="1.0" encoding="UTF-8" standalone="yes"?>
<Relationships xmlns="http://schemas.openxmlformats.org/package/2006/relationships"><Relationship Id="rId6" Type="http://schemas.openxmlformats.org/officeDocument/2006/relationships/theme" Target="../theme/theme25.xml"/><Relationship Id="rId5" Type="http://schemas.openxmlformats.org/officeDocument/2006/relationships/slideLayout" Target="../slideLayouts/slideLayout121.xml"/><Relationship Id="rId4" Type="http://schemas.openxmlformats.org/officeDocument/2006/relationships/slideLayout" Target="../slideLayouts/slideLayout120.xml"/><Relationship Id="rId3" Type="http://schemas.openxmlformats.org/officeDocument/2006/relationships/slideLayout" Target="../slideLayouts/slideLayout119.xml"/><Relationship Id="rId2" Type="http://schemas.openxmlformats.org/officeDocument/2006/relationships/slideLayout" Target="../slideLayouts/slideLayout118.xml"/><Relationship Id="rId1" Type="http://schemas.openxmlformats.org/officeDocument/2006/relationships/slideLayout" Target="../slideLayouts/slideLayout117.xml"/></Relationships>
</file>

<file path=ppt/slideMasters/_rels/slideMaster26.xml.rels><?xml version="1.0" encoding="UTF-8" standalone="yes"?>
<Relationships xmlns="http://schemas.openxmlformats.org/package/2006/relationships"><Relationship Id="rId6" Type="http://schemas.openxmlformats.org/officeDocument/2006/relationships/theme" Target="../theme/theme26.xml"/><Relationship Id="rId5" Type="http://schemas.openxmlformats.org/officeDocument/2006/relationships/slideLayout" Target="../slideLayouts/slideLayout126.xml"/><Relationship Id="rId4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24.xml"/><Relationship Id="rId2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122.xml"/></Relationships>
</file>

<file path=ppt/slideMasters/_rels/slideMaster27.xml.rels><?xml version="1.0" encoding="UTF-8" standalone="yes"?>
<Relationships xmlns="http://schemas.openxmlformats.org/package/2006/relationships"><Relationship Id="rId6" Type="http://schemas.openxmlformats.org/officeDocument/2006/relationships/theme" Target="../theme/theme27.xml"/><Relationship Id="rId5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30.xml"/><Relationship Id="rId3" Type="http://schemas.openxmlformats.org/officeDocument/2006/relationships/slideLayout" Target="../slideLayouts/slideLayout129.xml"/><Relationship Id="rId2" Type="http://schemas.openxmlformats.org/officeDocument/2006/relationships/slideLayout" Target="../slideLayouts/slideLayout128.xml"/><Relationship Id="rId1" Type="http://schemas.openxmlformats.org/officeDocument/2006/relationships/slideLayout" Target="../slideLayouts/slideLayout127.xml"/></Relationships>
</file>

<file path=ppt/slideMasters/_rels/slideMaster28.xml.rels><?xml version="1.0" encoding="UTF-8" standalone="yes"?>
<Relationships xmlns="http://schemas.openxmlformats.org/package/2006/relationships"><Relationship Id="rId6" Type="http://schemas.openxmlformats.org/officeDocument/2006/relationships/theme" Target="../theme/theme28.xml"/><Relationship Id="rId5" Type="http://schemas.openxmlformats.org/officeDocument/2006/relationships/slideLayout" Target="../slideLayouts/slideLayout136.xml"/><Relationship Id="rId4" Type="http://schemas.openxmlformats.org/officeDocument/2006/relationships/slideLayout" Target="../slideLayouts/slideLayout135.xml"/><Relationship Id="rId3" Type="http://schemas.openxmlformats.org/officeDocument/2006/relationships/slideLayout" Target="../slideLayouts/slideLayout134.xml"/><Relationship Id="rId2" Type="http://schemas.openxmlformats.org/officeDocument/2006/relationships/slideLayout" Target="../slideLayouts/slideLayout133.xml"/><Relationship Id="rId1" Type="http://schemas.openxmlformats.org/officeDocument/2006/relationships/slideLayout" Target="../slideLayouts/slideLayout132.xml"/></Relationships>
</file>

<file path=ppt/slideMasters/_rels/slideMaster29.xml.rels><?xml version="1.0" encoding="UTF-8" standalone="yes"?>
<Relationships xmlns="http://schemas.openxmlformats.org/package/2006/relationships"><Relationship Id="rId6" Type="http://schemas.openxmlformats.org/officeDocument/2006/relationships/theme" Target="../theme/theme29.xml"/><Relationship Id="rId5" Type="http://schemas.openxmlformats.org/officeDocument/2006/relationships/slideLayout" Target="../slideLayouts/slideLayout141.xml"/><Relationship Id="rId4" Type="http://schemas.openxmlformats.org/officeDocument/2006/relationships/slideLayout" Target="../slideLayouts/slideLayout140.xml"/><Relationship Id="rId3" Type="http://schemas.openxmlformats.org/officeDocument/2006/relationships/slideLayout" Target="../slideLayouts/slideLayout139.xml"/><Relationship Id="rId2" Type="http://schemas.openxmlformats.org/officeDocument/2006/relationships/slideLayout" Target="../slideLayouts/slideLayout138.xml"/><Relationship Id="rId1" Type="http://schemas.openxmlformats.org/officeDocument/2006/relationships/slideLayout" Target="../slideLayouts/slideLayout137.xml"/></Relationships>
</file>

<file path=ppt/slideMasters/_rels/slideMaster30.xml.rels><?xml version="1.0" encoding="UTF-8" standalone="yes"?>
<Relationships xmlns="http://schemas.openxmlformats.org/package/2006/relationships"><Relationship Id="rId6" Type="http://schemas.openxmlformats.org/officeDocument/2006/relationships/theme" Target="../theme/theme30.xml"/><Relationship Id="rId5" Type="http://schemas.openxmlformats.org/officeDocument/2006/relationships/slideLayout" Target="../slideLayouts/slideLayout146.xml"/><Relationship Id="rId4" Type="http://schemas.openxmlformats.org/officeDocument/2006/relationships/slideLayout" Target="../slideLayouts/slideLayout145.xml"/><Relationship Id="rId3" Type="http://schemas.openxmlformats.org/officeDocument/2006/relationships/slideLayout" Target="../slideLayouts/slideLayout144.xml"/><Relationship Id="rId2" Type="http://schemas.openxmlformats.org/officeDocument/2006/relationships/slideLayout" Target="../slideLayouts/slideLayout143.xml"/><Relationship Id="rId1" Type="http://schemas.openxmlformats.org/officeDocument/2006/relationships/slideLayout" Target="../slideLayouts/slideLayout1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</p:sldLayoutIdLst>
  <p:txStyles>
    <p:titleStyle/>
    <p:bodyStyle/>
    <p:otherStyle/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</p:sldLayoutIdLst>
  <p:txStyles>
    <p:titleStyle/>
    <p:bodyStyle/>
    <p:otherStyle/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</p:sldLayoutIdLst>
  <p:txStyles>
    <p:titleStyle/>
    <p:bodyStyle/>
    <p:otherStyle/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</p:sldLayoutIdLst>
  <p:txStyles>
    <p:titleStyle/>
    <p:bodyStyle/>
    <p:otherStyle/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</p:sldLayoutIdLst>
  <p:txStyles>
    <p:titleStyle/>
    <p:bodyStyle/>
    <p:otherStyle/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</p:sldLayoutIdLst>
  <p:txStyles>
    <p:titleStyle/>
    <p:bodyStyle/>
    <p:otherStyle/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</p:sldLayoutIdLst>
  <p:txStyles>
    <p:titleStyle/>
    <p:bodyStyle/>
    <p:otherStyle/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</p:sldLayoutIdLst>
  <p:txStyles>
    <p:titleStyle/>
    <p:bodyStyle/>
    <p:otherStyle/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</p:sldLayoutIdLst>
  <p:txStyles>
    <p:titleStyle/>
    <p:bodyStyle/>
    <p:otherStyle/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</p:sldLayoutIdLst>
  <p:txStyles>
    <p:titleStyle/>
    <p:bodyStyle/>
    <p:otherStyle/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</p:sldLayoutIdLst>
  <p:txStyles>
    <p:titleStyle/>
    <p:bodyStyle/>
    <p:otherStyle/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</p:sldLayoutIdLst>
  <p:txStyles>
    <p:titleStyle/>
    <p:bodyStyle/>
    <p:otherStyle/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</p:sldLayoutIdLst>
  <p:txStyles>
    <p:titleStyle/>
    <p:bodyStyle/>
    <p:otherStyle/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</p:sldLayoutIdLst>
  <p:txStyles>
    <p:titleStyle/>
    <p:bodyStyle/>
    <p:otherStyle/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</p:sldLayoutIdLst>
  <p:txStyles>
    <p:titleStyle/>
    <p:bodyStyle/>
    <p:otherStyle/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</p:sldLayoutIdLst>
  <p:txStyles>
    <p:titleStyle/>
    <p:bodyStyle/>
    <p:otherStyle/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</p:sldLayoutIdLst>
  <p:txStyles>
    <p:titleStyle/>
    <p:bodyStyle/>
    <p:otherStyle/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</p:sldLayoutIdLst>
  <p:txStyles>
    <p:titleStyle/>
    <p:bodyStyle/>
    <p:otherStyle/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</p:sldLayoutIdLst>
  <p:txStyles>
    <p:titleStyle/>
    <p:bodyStyle/>
    <p:otherStyle/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</p:sldLayoutIdLst>
  <p:txStyles>
    <p:titleStyle/>
    <p:bodyStyle/>
    <p:otherStyle/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</p:sldLayoutIdLst>
  <p:txStyles>
    <p:titleStyle/>
    <p:bodyStyle/>
    <p:otherStyle/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</p:sldLayoutIdLst>
  <p:txStyles>
    <p:titleStyle/>
    <p:bodyStyle/>
    <p:otherStyle/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</p:sldLayoutIdLst>
  <p:txStyles>
    <p:titleStyle/>
    <p:bodyStyle/>
    <p:otherStyle/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</p:sldLayoutIdLst>
  <p:txStyles>
    <p:titleStyle/>
    <p:bodyStyle/>
    <p:otherStyle/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</p:sldLayoutIdLst>
  <p:txStyles>
    <p:titleStyle/>
    <p:bodyStyle/>
    <p:otherStyle/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</p:sldLayoutIdLst>
  <p:txStyles>
    <p:titleStyle/>
    <p:bodyStyle/>
    <p:otherStyle/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16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01.xml"/><Relationship Id="rId2" Type="http://schemas.openxmlformats.org/officeDocument/2006/relationships/image" Target="../media/image4.png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6.xml"/><Relationship Id="rId2" Type="http://schemas.openxmlformats.org/officeDocument/2006/relationships/image" Target="../media/image5.png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46.xml"/><Relationship Id="rId3" Type="http://schemas.openxmlformats.org/officeDocument/2006/relationships/image" Target="../media/image6.png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41.xml"/><Relationship Id="rId2" Type="http://schemas.openxmlformats.org/officeDocument/2006/relationships/image" Target="../media/image7.png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11.xml"/><Relationship Id="rId1" Type="http://schemas.openxmlformats.org/officeDocument/2006/relationships/tags" Target="../tags/tag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10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2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96.xml"/><Relationship Id="rId1" Type="http://schemas.openxmlformats.org/officeDocument/2006/relationships/tags" Target="../tags/tag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7.xml"/><Relationship Id="rId1" Type="http://schemas.openxmlformats.org/officeDocument/2006/relationships/tags" Target="../tags/tag12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2.xml"/><Relationship Id="rId2" Type="http://schemas.openxmlformats.org/officeDocument/2006/relationships/image" Target="../media/image13.png"/><Relationship Id="rId1" Type="http://schemas.openxmlformats.org/officeDocument/2006/relationships/tags" Target="../tags/tag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1.xml"/><Relationship Id="rId1" Type="http://schemas.openxmlformats.org/officeDocument/2006/relationships/tags" Target="../tags/tag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86.xml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6.xml"/><Relationship Id="rId1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1.xml"/><Relationship Id="rId1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6.xml"/><Relationship Id="rId1" Type="http://schemas.openxmlformats.org/officeDocument/2006/relationships/tags" Target="../tags/tag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1.xml"/><Relationship Id="rId1" Type="http://schemas.openxmlformats.org/officeDocument/2006/relationships/tags" Target="../tags/tag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6.xml"/><Relationship Id="rId2" Type="http://schemas.openxmlformats.org/officeDocument/2006/relationships/image" Target="../media/image17.png"/><Relationship Id="rId1" Type="http://schemas.openxmlformats.org/officeDocument/2006/relationships/tags" Target="../tags/tag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1.xml"/><Relationship Id="rId1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56.xml"/><Relationship Id="rId2" Type="http://schemas.openxmlformats.org/officeDocument/2006/relationships/image" Target="../media/image19.png"/><Relationship Id="rId1" Type="http://schemas.openxmlformats.org/officeDocument/2006/relationships/tags" Target="../tags/tag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6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71.xml"/><Relationship Id="rId2" Type="http://schemas.openxmlformats.org/officeDocument/2006/relationships/image" Target="../media/image22.png"/><Relationship Id="rId1" Type="http://schemas.openxmlformats.org/officeDocument/2006/relationships/tags" Target="../tags/tag1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36.xml"/><Relationship Id="rId1" Type="http://schemas.openxmlformats.org/officeDocument/2006/relationships/tags" Target="../tags/tag2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5400000">
            <a:off x="-60961" y="60962"/>
            <a:ext cx="6858002" cy="673608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26000"/>
                </a:schemeClr>
              </a:gs>
              <a:gs pos="72000">
                <a:schemeClr val="accent1">
                  <a:lumMod val="20000"/>
                  <a:lumOff val="80000"/>
                  <a:alpha val="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7442947" y="1401026"/>
            <a:ext cx="4749054" cy="4733074"/>
            <a:chOff x="7442947" y="1401026"/>
            <a:chExt cx="4749054" cy="4733074"/>
          </a:xfrm>
        </p:grpSpPr>
        <p:sp>
          <p:nvSpPr>
            <p:cNvPr id="4" name="标题 1"/>
            <p:cNvSpPr txBox="1"/>
            <p:nvPr/>
          </p:nvSpPr>
          <p:spPr>
            <a:xfrm rot="13528726">
              <a:off x="9204001" y="2056966"/>
              <a:ext cx="1824375" cy="4028692"/>
            </a:xfrm>
            <a:custGeom>
              <a:avLst/>
              <a:gdLst>
                <a:gd name="connsiteX0" fmla="*/ 1053297 w 2106594"/>
                <a:gd name="connsiteY0" fmla="*/ 0 h 4629873"/>
                <a:gd name="connsiteX1" fmla="*/ 2106594 w 2106594"/>
                <a:gd name="connsiteY1" fmla="*/ 1053297 h 4629873"/>
                <a:gd name="connsiteX2" fmla="*/ 2101156 w 2106594"/>
                <a:gd name="connsiteY2" fmla="*/ 1160991 h 4629873"/>
                <a:gd name="connsiteX3" fmla="*/ 2095018 w 2106594"/>
                <a:gd name="connsiteY3" fmla="*/ 1201208 h 4629873"/>
                <a:gd name="connsiteX4" fmla="*/ 2095018 w 2106594"/>
                <a:gd name="connsiteY4" fmla="*/ 4629873 h 4629873"/>
                <a:gd name="connsiteX5" fmla="*/ 0 w 2106594"/>
                <a:gd name="connsiteY5" fmla="*/ 4629873 h 4629873"/>
                <a:gd name="connsiteX6" fmla="*/ 0 w 2106594"/>
                <a:gd name="connsiteY6" fmla="*/ 1053297 h 4629873"/>
                <a:gd name="connsiteX7" fmla="*/ 0 w 2106594"/>
                <a:gd name="connsiteY7" fmla="*/ 995423 h 4629873"/>
                <a:gd name="connsiteX8" fmla="*/ 2923 w 2106594"/>
                <a:gd name="connsiteY8" fmla="*/ 995423 h 4629873"/>
                <a:gd name="connsiteX9" fmla="*/ 5438 w 2106594"/>
                <a:gd name="connsiteY9" fmla="*/ 945604 h 4629873"/>
                <a:gd name="connsiteX10" fmla="*/ 1053297 w 2106594"/>
                <a:gd name="connsiteY10" fmla="*/ 0 h 4629873"/>
              </a:gdLst>
              <a:ahLst/>
              <a:cxnLst/>
              <a:rect l="l" t="t" r="r" b="b"/>
              <a:pathLst>
                <a:path w="2106594" h="4629873">
                  <a:moveTo>
                    <a:pt x="1053297" y="0"/>
                  </a:moveTo>
                  <a:cubicBezTo>
                    <a:pt x="1635017" y="0"/>
                    <a:pt x="2106594" y="471577"/>
                    <a:pt x="2106594" y="1053297"/>
                  </a:cubicBezTo>
                  <a:cubicBezTo>
                    <a:pt x="2106594" y="1089655"/>
                    <a:pt x="2104752" y="1125582"/>
                    <a:pt x="2101156" y="1160991"/>
                  </a:cubicBezTo>
                  <a:lnTo>
                    <a:pt x="2095018" y="1201208"/>
                  </a:lnTo>
                  <a:lnTo>
                    <a:pt x="2095018" y="4629873"/>
                  </a:lnTo>
                  <a:lnTo>
                    <a:pt x="0" y="4629873"/>
                  </a:lnTo>
                  <a:lnTo>
                    <a:pt x="0" y="1053297"/>
                  </a:lnTo>
                  <a:lnTo>
                    <a:pt x="0" y="995423"/>
                  </a:lnTo>
                  <a:lnTo>
                    <a:pt x="2923" y="995423"/>
                  </a:lnTo>
                  <a:lnTo>
                    <a:pt x="5438" y="945604"/>
                  </a:lnTo>
                  <a:cubicBezTo>
                    <a:pt x="59378" y="414472"/>
                    <a:pt x="507935" y="0"/>
                    <a:pt x="1053297" y="0"/>
                  </a:cubicBezTo>
                  <a:close/>
                </a:path>
              </a:pathLst>
            </a:custGeom>
            <a:gradFill>
              <a:gsLst>
                <a:gs pos="1000">
                  <a:schemeClr val="accent1">
                    <a:alpha val="0"/>
                  </a:schemeClr>
                </a:gs>
                <a:gs pos="72000">
                  <a:schemeClr val="accent1"/>
                </a:gs>
              </a:gsLst>
              <a:lin ang="1620000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" name="标题 1"/>
            <p:cNvSpPr txBox="1"/>
            <p:nvPr/>
          </p:nvSpPr>
          <p:spPr>
            <a:xfrm rot="13528726" flipH="1" flipV="1">
              <a:off x="8606571" y="1449468"/>
              <a:ext cx="1824375" cy="4028692"/>
            </a:xfrm>
            <a:custGeom>
              <a:avLst/>
              <a:gdLst>
                <a:gd name="connsiteX0" fmla="*/ 1053297 w 2106594"/>
                <a:gd name="connsiteY0" fmla="*/ 0 h 4629873"/>
                <a:gd name="connsiteX1" fmla="*/ 2106594 w 2106594"/>
                <a:gd name="connsiteY1" fmla="*/ 1053297 h 4629873"/>
                <a:gd name="connsiteX2" fmla="*/ 2101156 w 2106594"/>
                <a:gd name="connsiteY2" fmla="*/ 1160991 h 4629873"/>
                <a:gd name="connsiteX3" fmla="*/ 2095018 w 2106594"/>
                <a:gd name="connsiteY3" fmla="*/ 1201208 h 4629873"/>
                <a:gd name="connsiteX4" fmla="*/ 2095018 w 2106594"/>
                <a:gd name="connsiteY4" fmla="*/ 4629873 h 4629873"/>
                <a:gd name="connsiteX5" fmla="*/ 0 w 2106594"/>
                <a:gd name="connsiteY5" fmla="*/ 4629873 h 4629873"/>
                <a:gd name="connsiteX6" fmla="*/ 0 w 2106594"/>
                <a:gd name="connsiteY6" fmla="*/ 1053297 h 4629873"/>
                <a:gd name="connsiteX7" fmla="*/ 0 w 2106594"/>
                <a:gd name="connsiteY7" fmla="*/ 995423 h 4629873"/>
                <a:gd name="connsiteX8" fmla="*/ 2923 w 2106594"/>
                <a:gd name="connsiteY8" fmla="*/ 995423 h 4629873"/>
                <a:gd name="connsiteX9" fmla="*/ 5438 w 2106594"/>
                <a:gd name="connsiteY9" fmla="*/ 945604 h 4629873"/>
                <a:gd name="connsiteX10" fmla="*/ 1053297 w 2106594"/>
                <a:gd name="connsiteY10" fmla="*/ 0 h 4629873"/>
              </a:gdLst>
              <a:ahLst/>
              <a:cxnLst/>
              <a:rect l="l" t="t" r="r" b="b"/>
              <a:pathLst>
                <a:path w="2106594" h="4629873">
                  <a:moveTo>
                    <a:pt x="1053297" y="0"/>
                  </a:moveTo>
                  <a:cubicBezTo>
                    <a:pt x="1635017" y="0"/>
                    <a:pt x="2106594" y="471577"/>
                    <a:pt x="2106594" y="1053297"/>
                  </a:cubicBezTo>
                  <a:cubicBezTo>
                    <a:pt x="2106594" y="1089655"/>
                    <a:pt x="2104752" y="1125582"/>
                    <a:pt x="2101156" y="1160991"/>
                  </a:cubicBezTo>
                  <a:lnTo>
                    <a:pt x="2095018" y="1201208"/>
                  </a:lnTo>
                  <a:lnTo>
                    <a:pt x="2095018" y="4629873"/>
                  </a:lnTo>
                  <a:lnTo>
                    <a:pt x="0" y="4629873"/>
                  </a:lnTo>
                  <a:lnTo>
                    <a:pt x="0" y="1053297"/>
                  </a:lnTo>
                  <a:lnTo>
                    <a:pt x="0" y="995423"/>
                  </a:lnTo>
                  <a:lnTo>
                    <a:pt x="2923" y="995423"/>
                  </a:lnTo>
                  <a:lnTo>
                    <a:pt x="5438" y="945604"/>
                  </a:lnTo>
                  <a:cubicBezTo>
                    <a:pt x="59378" y="414472"/>
                    <a:pt x="507935" y="0"/>
                    <a:pt x="1053297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2000">
                  <a:schemeClr val="accent1">
                    <a:lumMod val="75000"/>
                  </a:schemeClr>
                </a:gs>
              </a:gsLst>
              <a:lin ang="1620000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6" name="标题 1"/>
          <p:cNvSpPr txBox="1"/>
          <p:nvPr/>
        </p:nvSpPr>
        <p:spPr>
          <a:xfrm>
            <a:off x="9714914" y="4380914"/>
            <a:ext cx="4954172" cy="4954172"/>
          </a:xfrm>
          <a:prstGeom prst="ellipse">
            <a:avLst/>
          </a:prstGeom>
          <a:gradFill>
            <a:gsLst>
              <a:gs pos="0">
                <a:schemeClr val="accent1"/>
              </a:gs>
              <a:gs pos="15000">
                <a:srgbClr val="5BD1D7">
                  <a:alpha val="62000"/>
                </a:srgbClr>
              </a:gs>
              <a:gs pos="39000">
                <a:srgbClr val="5BD1D7">
                  <a:alpha val="28000"/>
                </a:srgb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60400" y="2670810"/>
            <a:ext cx="10933430" cy="10547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5400">
                <a:latin typeface="微软雅黑" charset="0"/>
                <a:ea typeface="微软雅黑" charset="0"/>
              </a:rPr>
              <a:t>top 100</a:t>
            </a:r>
            <a:r>
              <a:rPr kumimoji="1" lang="zh-CN" altLang="en-US" sz="5400">
                <a:latin typeface="微软雅黑" charset="0"/>
                <a:ea typeface="微软雅黑" charset="0"/>
              </a:rPr>
              <a:t>归类</a:t>
            </a:r>
            <a:r>
              <a:rPr kumimoji="1" lang="en-US" altLang="zh-CN" sz="5400">
                <a:latin typeface="微软雅黑" charset="0"/>
                <a:ea typeface="微软雅黑" charset="0"/>
              </a:rPr>
              <a:t>+</a:t>
            </a:r>
            <a:r>
              <a:rPr kumimoji="1" lang="zh-CN" altLang="en-US" sz="5400">
                <a:latin typeface="微软雅黑" charset="0"/>
                <a:ea typeface="微软雅黑" charset="0"/>
              </a:rPr>
              <a:t>成本分析</a:t>
            </a:r>
            <a:r>
              <a:rPr kumimoji="1" lang="en-US" altLang="zh-CN" sz="5400">
                <a:latin typeface="微软雅黑" charset="0"/>
                <a:ea typeface="微软雅黑" charset="0"/>
              </a:rPr>
              <a:t>+</a:t>
            </a:r>
            <a:r>
              <a:rPr kumimoji="1" lang="zh-CN" altLang="en-US" sz="5400">
                <a:latin typeface="微软雅黑" charset="0"/>
                <a:ea typeface="微软雅黑" charset="0"/>
              </a:rPr>
              <a:t>利润</a:t>
            </a:r>
            <a:r>
              <a:rPr kumimoji="1" lang="zh-CN" altLang="en-US" sz="5400">
                <a:latin typeface="微软雅黑" charset="0"/>
                <a:ea typeface="微软雅黑" charset="0"/>
              </a:rPr>
              <a:t>分析</a:t>
            </a:r>
            <a:endParaRPr kumimoji="1" lang="zh-CN" altLang="en-US" sz="5400">
              <a:latin typeface="微软雅黑" charset="0"/>
              <a:ea typeface="微软雅黑" charset="0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660400" y="5170170"/>
            <a:ext cx="3373120" cy="3213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zh-CN" altLang="en-US" sz="2000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鹿高社群</a:t>
            </a:r>
            <a:r>
              <a:rPr kumimoji="1" lang="en-US" altLang="zh-CN" sz="2000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1</a:t>
            </a:r>
            <a:r>
              <a:rPr kumimoji="1" lang="zh-CN" altLang="en-US" sz="2000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群</a:t>
            </a:r>
            <a:r>
              <a:rPr kumimoji="1" lang="en-US" altLang="zh-CN" sz="2000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197</a:t>
            </a:r>
            <a:r>
              <a:rPr kumimoji="1" lang="zh-CN" altLang="en-US" sz="2000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号</a:t>
            </a:r>
            <a:r>
              <a:rPr kumimoji="1" lang="en-US" altLang="zh-CN" sz="2000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：</a:t>
            </a:r>
            <a:r>
              <a:rPr kumimoji="1" lang="en-US" altLang="zh-CN" sz="2000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GUGU</a:t>
            </a:r>
            <a:endParaRPr kumimoji="1" lang="en-US" altLang="zh-CN" sz="2000">
              <a:ln w="127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11380958" y="842498"/>
            <a:ext cx="137942" cy="137942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1109628" y="842498"/>
            <a:ext cx="137942" cy="13794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10838298" y="842498"/>
            <a:ext cx="137942" cy="13794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660400" y="5588000"/>
            <a:ext cx="3312795" cy="98425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660400" y="5980966"/>
            <a:ext cx="890676" cy="254734"/>
            <a:chOff x="660400" y="5980966"/>
            <a:chExt cx="890676" cy="254734"/>
          </a:xfrm>
        </p:grpSpPr>
        <p:sp>
          <p:nvSpPr>
            <p:cNvPr id="19" name="标题 1"/>
            <p:cNvSpPr txBox="1"/>
            <p:nvPr/>
          </p:nvSpPr>
          <p:spPr>
            <a:xfrm>
              <a:off x="660400" y="5980966"/>
              <a:ext cx="263227" cy="254734"/>
            </a:xfrm>
            <a:custGeom>
              <a:avLst/>
              <a:gdLst>
                <a:gd name="connsiteX0" fmla="*/ 311954 w 744004"/>
                <a:gd name="connsiteY0" fmla="*/ 337123 h 720001"/>
                <a:gd name="connsiteX1" fmla="*/ 168770 w 744004"/>
                <a:gd name="connsiteY1" fmla="*/ 337123 h 720001"/>
                <a:gd name="connsiteX2" fmla="*/ 49673 w 744004"/>
                <a:gd name="connsiteY2" fmla="*/ 287618 h 720001"/>
                <a:gd name="connsiteX3" fmla="*/ 167 w 744004"/>
                <a:gd name="connsiteY3" fmla="*/ 168520 h 720001"/>
                <a:gd name="connsiteX4" fmla="*/ 49590 w 744004"/>
                <a:gd name="connsiteY4" fmla="*/ 49507 h 720001"/>
                <a:gd name="connsiteX5" fmla="*/ 168687 w 744004"/>
                <a:gd name="connsiteY5" fmla="*/ 0 h 720001"/>
                <a:gd name="connsiteX6" fmla="*/ 287784 w 744004"/>
                <a:gd name="connsiteY6" fmla="*/ 49507 h 720001"/>
                <a:gd name="connsiteX7" fmla="*/ 337290 w 744004"/>
                <a:gd name="connsiteY7" fmla="*/ 168604 h 720001"/>
                <a:gd name="connsiteX8" fmla="*/ 337290 w 744004"/>
                <a:gd name="connsiteY8" fmla="*/ 311787 h 720001"/>
                <a:gd name="connsiteX9" fmla="*/ 311954 w 744004"/>
                <a:gd name="connsiteY9" fmla="*/ 337123 h 720001"/>
                <a:gd name="connsiteX10" fmla="*/ 575401 w 744004"/>
                <a:gd name="connsiteY10" fmla="*/ 337207 h 720001"/>
                <a:gd name="connsiteX11" fmla="*/ 432218 w 744004"/>
                <a:gd name="connsiteY11" fmla="*/ 337207 h 720001"/>
                <a:gd name="connsiteX12" fmla="*/ 406882 w 744004"/>
                <a:gd name="connsiteY12" fmla="*/ 311870 h 720001"/>
                <a:gd name="connsiteX13" fmla="*/ 406882 w 744004"/>
                <a:gd name="connsiteY13" fmla="*/ 168687 h 720001"/>
                <a:gd name="connsiteX14" fmla="*/ 456387 w 744004"/>
                <a:gd name="connsiteY14" fmla="*/ 49590 h 720001"/>
                <a:gd name="connsiteX15" fmla="*/ 575401 w 744004"/>
                <a:gd name="connsiteY15" fmla="*/ 0 h 720001"/>
                <a:gd name="connsiteX16" fmla="*/ 694498 w 744004"/>
                <a:gd name="connsiteY16" fmla="*/ 49507 h 720001"/>
                <a:gd name="connsiteX17" fmla="*/ 744004 w 744004"/>
                <a:gd name="connsiteY17" fmla="*/ 168604 h 720001"/>
                <a:gd name="connsiteX18" fmla="*/ 694498 w 744004"/>
                <a:gd name="connsiteY18" fmla="*/ 287701 h 720001"/>
                <a:gd name="connsiteX19" fmla="*/ 575401 w 744004"/>
                <a:gd name="connsiteY19" fmla="*/ 337207 h 720001"/>
                <a:gd name="connsiteX20" fmla="*/ 168604 w 744004"/>
                <a:gd name="connsiteY20" fmla="*/ 720001 h 720001"/>
                <a:gd name="connsiteX21" fmla="*/ 49507 w 744004"/>
                <a:gd name="connsiteY21" fmla="*/ 670495 h 720001"/>
                <a:gd name="connsiteX22" fmla="*/ 0 w 744004"/>
                <a:gd name="connsiteY22" fmla="*/ 551398 h 720001"/>
                <a:gd name="connsiteX23" fmla="*/ 49507 w 744004"/>
                <a:gd name="connsiteY23" fmla="*/ 432301 h 720001"/>
                <a:gd name="connsiteX24" fmla="*/ 168687 w 744004"/>
                <a:gd name="connsiteY24" fmla="*/ 382879 h 720001"/>
                <a:gd name="connsiteX25" fmla="*/ 311871 w 744004"/>
                <a:gd name="connsiteY25" fmla="*/ 382879 h 720001"/>
                <a:gd name="connsiteX26" fmla="*/ 337207 w 744004"/>
                <a:gd name="connsiteY26" fmla="*/ 408215 h 720001"/>
                <a:gd name="connsiteX27" fmla="*/ 337207 w 744004"/>
                <a:gd name="connsiteY27" fmla="*/ 551398 h 720001"/>
                <a:gd name="connsiteX28" fmla="*/ 287701 w 744004"/>
                <a:gd name="connsiteY28" fmla="*/ 670495 h 720001"/>
                <a:gd name="connsiteX29" fmla="*/ 168604 w 744004"/>
                <a:gd name="connsiteY29" fmla="*/ 720001 h 720001"/>
                <a:gd name="connsiteX30" fmla="*/ 575401 w 744004"/>
                <a:gd name="connsiteY30" fmla="*/ 720001 h 720001"/>
                <a:gd name="connsiteX31" fmla="*/ 456304 w 744004"/>
                <a:gd name="connsiteY31" fmla="*/ 670495 h 720001"/>
                <a:gd name="connsiteX32" fmla="*/ 406798 w 744004"/>
                <a:gd name="connsiteY32" fmla="*/ 551398 h 720001"/>
                <a:gd name="connsiteX33" fmla="*/ 406798 w 744004"/>
                <a:gd name="connsiteY33" fmla="*/ 408215 h 720001"/>
                <a:gd name="connsiteX34" fmla="*/ 432218 w 744004"/>
                <a:gd name="connsiteY34" fmla="*/ 382879 h 720001"/>
                <a:gd name="connsiteX35" fmla="*/ 575401 w 744004"/>
                <a:gd name="connsiteY35" fmla="*/ 382879 h 720001"/>
                <a:gd name="connsiteX36" fmla="*/ 694498 w 744004"/>
                <a:gd name="connsiteY36" fmla="*/ 432385 h 720001"/>
                <a:gd name="connsiteX37" fmla="*/ 744004 w 744004"/>
                <a:gd name="connsiteY37" fmla="*/ 551398 h 720001"/>
                <a:gd name="connsiteX38" fmla="*/ 694498 w 744004"/>
                <a:gd name="connsiteY38" fmla="*/ 670495 h 720001"/>
                <a:gd name="connsiteX39" fmla="*/ 575401 w 744004"/>
                <a:gd name="connsiteY39" fmla="*/ 720001 h 720001"/>
              </a:gdLst>
              <a:ahLst/>
              <a:cxnLst/>
              <a:rect l="l" t="t" r="r" b="b"/>
              <a:pathLst>
                <a:path w="744004" h="720001">
                  <a:moveTo>
                    <a:pt x="311954" y="337123"/>
                  </a:moveTo>
                  <a:lnTo>
                    <a:pt x="168770" y="337123"/>
                  </a:lnTo>
                  <a:cubicBezTo>
                    <a:pt x="123932" y="337123"/>
                    <a:pt x="81594" y="319538"/>
                    <a:pt x="49673" y="287618"/>
                  </a:cubicBezTo>
                  <a:cubicBezTo>
                    <a:pt x="17753" y="255697"/>
                    <a:pt x="167" y="213442"/>
                    <a:pt x="167" y="168520"/>
                  </a:cubicBezTo>
                  <a:cubicBezTo>
                    <a:pt x="167" y="123598"/>
                    <a:pt x="17669" y="81427"/>
                    <a:pt x="49590" y="49507"/>
                  </a:cubicBezTo>
                  <a:cubicBezTo>
                    <a:pt x="81510" y="17586"/>
                    <a:pt x="123848" y="0"/>
                    <a:pt x="168687" y="0"/>
                  </a:cubicBezTo>
                  <a:cubicBezTo>
                    <a:pt x="213526" y="0"/>
                    <a:pt x="255864" y="17586"/>
                    <a:pt x="287784" y="49507"/>
                  </a:cubicBezTo>
                  <a:cubicBezTo>
                    <a:pt x="319705" y="81427"/>
                    <a:pt x="337290" y="123682"/>
                    <a:pt x="337290" y="168604"/>
                  </a:cubicBezTo>
                  <a:lnTo>
                    <a:pt x="337290" y="311787"/>
                  </a:lnTo>
                  <a:cubicBezTo>
                    <a:pt x="337290" y="325789"/>
                    <a:pt x="325956" y="337123"/>
                    <a:pt x="311954" y="337123"/>
                  </a:cubicBezTo>
                  <a:close/>
                  <a:moveTo>
                    <a:pt x="575401" y="337207"/>
                  </a:moveTo>
                  <a:lnTo>
                    <a:pt x="432218" y="337207"/>
                  </a:lnTo>
                  <a:cubicBezTo>
                    <a:pt x="418216" y="337207"/>
                    <a:pt x="406882" y="325872"/>
                    <a:pt x="406882" y="311870"/>
                  </a:cubicBezTo>
                  <a:lnTo>
                    <a:pt x="406882" y="168687"/>
                  </a:lnTo>
                  <a:cubicBezTo>
                    <a:pt x="406882" y="123849"/>
                    <a:pt x="424467" y="81510"/>
                    <a:pt x="456387" y="49590"/>
                  </a:cubicBezTo>
                  <a:cubicBezTo>
                    <a:pt x="488308" y="17669"/>
                    <a:pt x="530563" y="0"/>
                    <a:pt x="575401" y="0"/>
                  </a:cubicBezTo>
                  <a:cubicBezTo>
                    <a:pt x="620240" y="0"/>
                    <a:pt x="662578" y="17586"/>
                    <a:pt x="694498" y="49507"/>
                  </a:cubicBezTo>
                  <a:cubicBezTo>
                    <a:pt x="726419" y="81427"/>
                    <a:pt x="744004" y="123765"/>
                    <a:pt x="744004" y="168604"/>
                  </a:cubicBezTo>
                  <a:cubicBezTo>
                    <a:pt x="744004" y="213442"/>
                    <a:pt x="726419" y="255780"/>
                    <a:pt x="694498" y="287701"/>
                  </a:cubicBezTo>
                  <a:cubicBezTo>
                    <a:pt x="662578" y="319621"/>
                    <a:pt x="620323" y="337207"/>
                    <a:pt x="575401" y="337207"/>
                  </a:cubicBezTo>
                  <a:close/>
                  <a:moveTo>
                    <a:pt x="168604" y="720001"/>
                  </a:moveTo>
                  <a:cubicBezTo>
                    <a:pt x="123682" y="720001"/>
                    <a:pt x="81427" y="702416"/>
                    <a:pt x="49507" y="670495"/>
                  </a:cubicBezTo>
                  <a:cubicBezTo>
                    <a:pt x="17586" y="638575"/>
                    <a:pt x="0" y="596320"/>
                    <a:pt x="0" y="551398"/>
                  </a:cubicBezTo>
                  <a:cubicBezTo>
                    <a:pt x="0" y="506476"/>
                    <a:pt x="17586" y="464221"/>
                    <a:pt x="49507" y="432301"/>
                  </a:cubicBezTo>
                  <a:cubicBezTo>
                    <a:pt x="81510" y="400464"/>
                    <a:pt x="123848" y="382879"/>
                    <a:pt x="168687" y="382879"/>
                  </a:cubicBezTo>
                  <a:lnTo>
                    <a:pt x="311871" y="382879"/>
                  </a:lnTo>
                  <a:cubicBezTo>
                    <a:pt x="325872" y="382879"/>
                    <a:pt x="337207" y="394297"/>
                    <a:pt x="337207" y="408215"/>
                  </a:cubicBezTo>
                  <a:lnTo>
                    <a:pt x="337207" y="551398"/>
                  </a:lnTo>
                  <a:cubicBezTo>
                    <a:pt x="337207" y="596237"/>
                    <a:pt x="319621" y="638575"/>
                    <a:pt x="287701" y="670495"/>
                  </a:cubicBezTo>
                  <a:cubicBezTo>
                    <a:pt x="255781" y="702416"/>
                    <a:pt x="213526" y="720001"/>
                    <a:pt x="168604" y="720001"/>
                  </a:cubicBezTo>
                  <a:close/>
                  <a:moveTo>
                    <a:pt x="575401" y="720001"/>
                  </a:moveTo>
                  <a:cubicBezTo>
                    <a:pt x="530563" y="720001"/>
                    <a:pt x="488224" y="702416"/>
                    <a:pt x="456304" y="670495"/>
                  </a:cubicBezTo>
                  <a:cubicBezTo>
                    <a:pt x="424383" y="638575"/>
                    <a:pt x="406798" y="596320"/>
                    <a:pt x="406798" y="551398"/>
                  </a:cubicBezTo>
                  <a:lnTo>
                    <a:pt x="406798" y="408215"/>
                  </a:lnTo>
                  <a:cubicBezTo>
                    <a:pt x="406882" y="394213"/>
                    <a:pt x="418216" y="382879"/>
                    <a:pt x="432218" y="382879"/>
                  </a:cubicBezTo>
                  <a:lnTo>
                    <a:pt x="575401" y="382879"/>
                  </a:lnTo>
                  <a:cubicBezTo>
                    <a:pt x="620240" y="382879"/>
                    <a:pt x="662578" y="400464"/>
                    <a:pt x="694498" y="432385"/>
                  </a:cubicBezTo>
                  <a:cubicBezTo>
                    <a:pt x="726419" y="464305"/>
                    <a:pt x="744004" y="506560"/>
                    <a:pt x="744004" y="551398"/>
                  </a:cubicBezTo>
                  <a:cubicBezTo>
                    <a:pt x="744004" y="596237"/>
                    <a:pt x="726419" y="638575"/>
                    <a:pt x="694498" y="670495"/>
                  </a:cubicBezTo>
                  <a:cubicBezTo>
                    <a:pt x="662578" y="702416"/>
                    <a:pt x="620323" y="720001"/>
                    <a:pt x="575401" y="720001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>
              <a:off x="1319298" y="5987827"/>
              <a:ext cx="231778" cy="241011"/>
            </a:xfrm>
            <a:custGeom>
              <a:avLst/>
              <a:gdLst>
                <a:gd name="connsiteX0" fmla="*/ 198153 w 692417"/>
                <a:gd name="connsiteY0" fmla="*/ 663680 h 720001"/>
                <a:gd name="connsiteX1" fmla="*/ 239787 w 692417"/>
                <a:gd name="connsiteY1" fmla="*/ 663680 h 720001"/>
                <a:gd name="connsiteX2" fmla="*/ 295235 w 692417"/>
                <a:gd name="connsiteY2" fmla="*/ 663680 h 720001"/>
                <a:gd name="connsiteX3" fmla="*/ 397182 w 692417"/>
                <a:gd name="connsiteY3" fmla="*/ 663680 h 720001"/>
                <a:gd name="connsiteX4" fmla="*/ 452630 w 692417"/>
                <a:gd name="connsiteY4" fmla="*/ 663680 h 720001"/>
                <a:gd name="connsiteX5" fmla="*/ 494264 w 692417"/>
                <a:gd name="connsiteY5" fmla="*/ 663680 h 720001"/>
                <a:gd name="connsiteX6" fmla="*/ 522425 w 692417"/>
                <a:gd name="connsiteY6" fmla="*/ 691841 h 720001"/>
                <a:gd name="connsiteX7" fmla="*/ 494264 w 692417"/>
                <a:gd name="connsiteY7" fmla="*/ 720001 h 720001"/>
                <a:gd name="connsiteX8" fmla="*/ 452630 w 692417"/>
                <a:gd name="connsiteY8" fmla="*/ 720001 h 720001"/>
                <a:gd name="connsiteX9" fmla="*/ 397182 w 692417"/>
                <a:gd name="connsiteY9" fmla="*/ 720001 h 720001"/>
                <a:gd name="connsiteX10" fmla="*/ 295235 w 692417"/>
                <a:gd name="connsiteY10" fmla="*/ 720001 h 720001"/>
                <a:gd name="connsiteX11" fmla="*/ 239787 w 692417"/>
                <a:gd name="connsiteY11" fmla="*/ 720001 h 720001"/>
                <a:gd name="connsiteX12" fmla="*/ 198153 w 692417"/>
                <a:gd name="connsiteY12" fmla="*/ 720001 h 720001"/>
                <a:gd name="connsiteX13" fmla="*/ 169992 w 692417"/>
                <a:gd name="connsiteY13" fmla="*/ 691841 h 720001"/>
                <a:gd name="connsiteX14" fmla="*/ 198153 w 692417"/>
                <a:gd name="connsiteY14" fmla="*/ 663680 h 720001"/>
                <a:gd name="connsiteX15" fmla="*/ 154400 w 692417"/>
                <a:gd name="connsiteY15" fmla="*/ 572143 h 720001"/>
                <a:gd name="connsiteX16" fmla="*/ 154241 w 692417"/>
                <a:gd name="connsiteY16" fmla="*/ 572597 h 720001"/>
                <a:gd name="connsiteX17" fmla="*/ 160423 w 692417"/>
                <a:gd name="connsiteY17" fmla="*/ 572597 h 720001"/>
                <a:gd name="connsiteX18" fmla="*/ 346215 w 692417"/>
                <a:gd name="connsiteY18" fmla="*/ 0 h 720001"/>
                <a:gd name="connsiteX19" fmla="*/ 456041 w 692417"/>
                <a:gd name="connsiteY19" fmla="*/ 22341 h 720001"/>
                <a:gd name="connsiteX20" fmla="*/ 545873 w 692417"/>
                <a:gd name="connsiteY20" fmla="*/ 82980 h 720001"/>
                <a:gd name="connsiteX21" fmla="*/ 606513 w 692417"/>
                <a:gd name="connsiteY21" fmla="*/ 172812 h 720001"/>
                <a:gd name="connsiteX22" fmla="*/ 628853 w 692417"/>
                <a:gd name="connsiteY22" fmla="*/ 282638 h 720001"/>
                <a:gd name="connsiteX23" fmla="*/ 628853 w 692417"/>
                <a:gd name="connsiteY23" fmla="*/ 493091 h 720001"/>
                <a:gd name="connsiteX24" fmla="*/ 687990 w 692417"/>
                <a:gd name="connsiteY24" fmla="*/ 585551 h 720001"/>
                <a:gd name="connsiteX25" fmla="*/ 688929 w 692417"/>
                <a:gd name="connsiteY25" fmla="*/ 614275 h 720001"/>
                <a:gd name="connsiteX26" fmla="*/ 664336 w 692417"/>
                <a:gd name="connsiteY26" fmla="*/ 628918 h 720001"/>
                <a:gd name="connsiteX27" fmla="*/ 28189 w 692417"/>
                <a:gd name="connsiteY27" fmla="*/ 628918 h 720001"/>
                <a:gd name="connsiteX28" fmla="*/ 3596 w 692417"/>
                <a:gd name="connsiteY28" fmla="*/ 614462 h 720001"/>
                <a:gd name="connsiteX29" fmla="*/ 4159 w 692417"/>
                <a:gd name="connsiteY29" fmla="*/ 585927 h 720001"/>
                <a:gd name="connsiteX30" fmla="*/ 63578 w 692417"/>
                <a:gd name="connsiteY30" fmla="*/ 489336 h 720001"/>
                <a:gd name="connsiteX31" fmla="*/ 63578 w 692417"/>
                <a:gd name="connsiteY31" fmla="*/ 282638 h 720001"/>
                <a:gd name="connsiteX32" fmla="*/ 85919 w 692417"/>
                <a:gd name="connsiteY32" fmla="*/ 172812 h 720001"/>
                <a:gd name="connsiteX33" fmla="*/ 146558 w 692417"/>
                <a:gd name="connsiteY33" fmla="*/ 82980 h 720001"/>
                <a:gd name="connsiteX34" fmla="*/ 236389 w 692417"/>
                <a:gd name="connsiteY34" fmla="*/ 22341 h 720001"/>
                <a:gd name="connsiteX35" fmla="*/ 346215 w 692417"/>
                <a:gd name="connsiteY35" fmla="*/ 0 h 720001"/>
              </a:gdLst>
              <a:ahLst/>
              <a:cxnLst/>
              <a:rect l="l" t="t" r="r" b="b"/>
              <a:pathLst>
                <a:path w="692417" h="720001">
                  <a:moveTo>
                    <a:pt x="198153" y="663680"/>
                  </a:moveTo>
                  <a:lnTo>
                    <a:pt x="239787" y="663680"/>
                  </a:lnTo>
                  <a:lnTo>
                    <a:pt x="295235" y="663680"/>
                  </a:lnTo>
                  <a:lnTo>
                    <a:pt x="397182" y="663680"/>
                  </a:lnTo>
                  <a:lnTo>
                    <a:pt x="452630" y="663680"/>
                  </a:lnTo>
                  <a:lnTo>
                    <a:pt x="494264" y="663680"/>
                  </a:lnTo>
                  <a:cubicBezTo>
                    <a:pt x="509847" y="663680"/>
                    <a:pt x="522425" y="676259"/>
                    <a:pt x="522425" y="691841"/>
                  </a:cubicBezTo>
                  <a:cubicBezTo>
                    <a:pt x="522425" y="707423"/>
                    <a:pt x="509753" y="720001"/>
                    <a:pt x="494264" y="720001"/>
                  </a:cubicBezTo>
                  <a:lnTo>
                    <a:pt x="452630" y="720001"/>
                  </a:lnTo>
                  <a:lnTo>
                    <a:pt x="397182" y="720001"/>
                  </a:lnTo>
                  <a:lnTo>
                    <a:pt x="295235" y="720001"/>
                  </a:lnTo>
                  <a:lnTo>
                    <a:pt x="239787" y="720001"/>
                  </a:lnTo>
                  <a:lnTo>
                    <a:pt x="198153" y="720001"/>
                  </a:lnTo>
                  <a:cubicBezTo>
                    <a:pt x="182571" y="720001"/>
                    <a:pt x="169992" y="707423"/>
                    <a:pt x="169992" y="691841"/>
                  </a:cubicBezTo>
                  <a:cubicBezTo>
                    <a:pt x="169992" y="676259"/>
                    <a:pt x="182571" y="663680"/>
                    <a:pt x="198153" y="663680"/>
                  </a:cubicBezTo>
                  <a:close/>
                  <a:moveTo>
                    <a:pt x="154400" y="572143"/>
                  </a:moveTo>
                  <a:lnTo>
                    <a:pt x="154241" y="572597"/>
                  </a:lnTo>
                  <a:lnTo>
                    <a:pt x="160423" y="572597"/>
                  </a:lnTo>
                  <a:close/>
                  <a:moveTo>
                    <a:pt x="346215" y="0"/>
                  </a:moveTo>
                  <a:cubicBezTo>
                    <a:pt x="384232" y="0"/>
                    <a:pt x="421122" y="7510"/>
                    <a:pt x="456041" y="22341"/>
                  </a:cubicBezTo>
                  <a:cubicBezTo>
                    <a:pt x="489646" y="36609"/>
                    <a:pt x="519872" y="57072"/>
                    <a:pt x="545873" y="82980"/>
                  </a:cubicBezTo>
                  <a:cubicBezTo>
                    <a:pt x="571875" y="108981"/>
                    <a:pt x="592245" y="139207"/>
                    <a:pt x="606513" y="172812"/>
                  </a:cubicBezTo>
                  <a:cubicBezTo>
                    <a:pt x="621344" y="207637"/>
                    <a:pt x="628853" y="244621"/>
                    <a:pt x="628853" y="282638"/>
                  </a:cubicBezTo>
                  <a:lnTo>
                    <a:pt x="628853" y="493091"/>
                  </a:lnTo>
                  <a:lnTo>
                    <a:pt x="687990" y="585551"/>
                  </a:lnTo>
                  <a:cubicBezTo>
                    <a:pt x="693528" y="594187"/>
                    <a:pt x="693904" y="605263"/>
                    <a:pt x="688929" y="614275"/>
                  </a:cubicBezTo>
                  <a:cubicBezTo>
                    <a:pt x="684048" y="623286"/>
                    <a:pt x="674567" y="628918"/>
                    <a:pt x="664336" y="628918"/>
                  </a:cubicBezTo>
                  <a:lnTo>
                    <a:pt x="28189" y="628918"/>
                  </a:lnTo>
                  <a:cubicBezTo>
                    <a:pt x="17958" y="628918"/>
                    <a:pt x="8571" y="623380"/>
                    <a:pt x="3596" y="614462"/>
                  </a:cubicBezTo>
                  <a:cubicBezTo>
                    <a:pt x="-1380" y="605545"/>
                    <a:pt x="-1192" y="594656"/>
                    <a:pt x="4159" y="585927"/>
                  </a:cubicBezTo>
                  <a:lnTo>
                    <a:pt x="63578" y="489336"/>
                  </a:lnTo>
                  <a:lnTo>
                    <a:pt x="63578" y="282638"/>
                  </a:lnTo>
                  <a:cubicBezTo>
                    <a:pt x="63578" y="244621"/>
                    <a:pt x="71087" y="207731"/>
                    <a:pt x="85919" y="172812"/>
                  </a:cubicBezTo>
                  <a:cubicBezTo>
                    <a:pt x="100186" y="139207"/>
                    <a:pt x="120650" y="108981"/>
                    <a:pt x="146558" y="82980"/>
                  </a:cubicBezTo>
                  <a:cubicBezTo>
                    <a:pt x="172465" y="56978"/>
                    <a:pt x="202785" y="36609"/>
                    <a:pt x="236389" y="22341"/>
                  </a:cubicBezTo>
                  <a:cubicBezTo>
                    <a:pt x="271214" y="7510"/>
                    <a:pt x="308199" y="0"/>
                    <a:pt x="346215" y="0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>
              <a:off x="1001433" y="5983117"/>
              <a:ext cx="224335" cy="243008"/>
            </a:xfrm>
            <a:custGeom>
              <a:avLst/>
              <a:gdLst>
                <a:gd name="connsiteX0" fmla="*/ 332293 w 664672"/>
                <a:gd name="connsiteY0" fmla="*/ 387672 h 720001"/>
                <a:gd name="connsiteX1" fmla="*/ 660804 w 664672"/>
                <a:gd name="connsiteY1" fmla="*/ 598902 h 720001"/>
                <a:gd name="connsiteX2" fmla="*/ 563560 w 664672"/>
                <a:gd name="connsiteY2" fmla="*/ 720001 h 720001"/>
                <a:gd name="connsiteX3" fmla="*/ 101112 w 664672"/>
                <a:gd name="connsiteY3" fmla="*/ 720001 h 720001"/>
                <a:gd name="connsiteX4" fmla="*/ 3868 w 664672"/>
                <a:gd name="connsiteY4" fmla="*/ 598902 h 720001"/>
                <a:gd name="connsiteX5" fmla="*/ 332293 w 664672"/>
                <a:gd name="connsiteY5" fmla="*/ 387672 h 720001"/>
                <a:gd name="connsiteX6" fmla="*/ 332293 w 664672"/>
                <a:gd name="connsiteY6" fmla="*/ 0 h 720001"/>
                <a:gd name="connsiteX7" fmla="*/ 509517 w 664672"/>
                <a:gd name="connsiteY7" fmla="*/ 177224 h 720001"/>
                <a:gd name="connsiteX8" fmla="*/ 332293 w 664672"/>
                <a:gd name="connsiteY8" fmla="*/ 354448 h 720001"/>
                <a:gd name="connsiteX9" fmla="*/ 155069 w 664672"/>
                <a:gd name="connsiteY9" fmla="*/ 177224 h 720001"/>
                <a:gd name="connsiteX10" fmla="*/ 332293 w 664672"/>
                <a:gd name="connsiteY10" fmla="*/ 0 h 720001"/>
              </a:gdLst>
              <a:ahLst/>
              <a:cxnLst/>
              <a:rect l="l" t="t" r="r" b="b"/>
              <a:pathLst>
                <a:path w="664672" h="720001">
                  <a:moveTo>
                    <a:pt x="332293" y="387672"/>
                  </a:moveTo>
                  <a:cubicBezTo>
                    <a:pt x="550549" y="387672"/>
                    <a:pt x="628448" y="491162"/>
                    <a:pt x="660804" y="598902"/>
                  </a:cubicBezTo>
                  <a:cubicBezTo>
                    <a:pt x="679021" y="659624"/>
                    <a:pt x="630616" y="720001"/>
                    <a:pt x="563560" y="720001"/>
                  </a:cubicBezTo>
                  <a:lnTo>
                    <a:pt x="101112" y="720001"/>
                  </a:lnTo>
                  <a:cubicBezTo>
                    <a:pt x="34057" y="720001"/>
                    <a:pt x="-14348" y="659624"/>
                    <a:pt x="3868" y="598902"/>
                  </a:cubicBezTo>
                  <a:cubicBezTo>
                    <a:pt x="36138" y="491162"/>
                    <a:pt x="114037" y="387672"/>
                    <a:pt x="332293" y="387672"/>
                  </a:cubicBezTo>
                  <a:close/>
                  <a:moveTo>
                    <a:pt x="332293" y="0"/>
                  </a:moveTo>
                  <a:cubicBezTo>
                    <a:pt x="430230" y="0"/>
                    <a:pt x="509604" y="79287"/>
                    <a:pt x="509517" y="177224"/>
                  </a:cubicBezTo>
                  <a:cubicBezTo>
                    <a:pt x="509517" y="275074"/>
                    <a:pt x="430144" y="354448"/>
                    <a:pt x="332293" y="354448"/>
                  </a:cubicBezTo>
                  <a:cubicBezTo>
                    <a:pt x="234442" y="354448"/>
                    <a:pt x="155069" y="275074"/>
                    <a:pt x="155069" y="177224"/>
                  </a:cubicBezTo>
                  <a:cubicBezTo>
                    <a:pt x="155069" y="79287"/>
                    <a:pt x="234442" y="0"/>
                    <a:pt x="332293" y="0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</p:grpSp>
      <p:pic>
        <p:nvPicPr>
          <p:cNvPr id="17" name="图片 16"/>
          <p:cNvPicPr>
            <a:picLocks noChangeAspect="1"/>
          </p:cNvPicPr>
          <p:nvPr/>
        </p:nvPicPr>
        <p:blipFill>
          <a:blip r:embed="rId1">
            <a:clrChange>
              <a:clrFrom>
                <a:srgbClr val="000000">
                  <a:alpha val="100000"/>
                </a:srgbClr>
              </a:clrFrom>
              <a:clrTo>
                <a:srgbClr val="000000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528955" y="-655955"/>
            <a:ext cx="2901950" cy="22752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>
                  <a:alpha val="100000"/>
                </a:srgbClr>
              </a:clrFrom>
              <a:clrTo>
                <a:srgbClr val="000000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37800" y="176530"/>
            <a:ext cx="1707515" cy="3092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135234" y="45175"/>
            <a:ext cx="11544300" cy="6451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lang="zh-CN" alt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charset="-122"/>
                <a:ea typeface="微软雅黑" charset="-122"/>
                <a:cs typeface="微软雅黑" charset="-122"/>
                <a:sym typeface="+mn-ea"/>
              </a:rPr>
              <a:t>解决什么问题</a:t>
            </a:r>
            <a:r>
              <a:rPr lang="en-US" altLang="zh-CN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charset="-122"/>
                <a:ea typeface="微软雅黑" charset="-122"/>
                <a:cs typeface="微软雅黑" charset="-122"/>
                <a:sym typeface="+mn-ea"/>
              </a:rPr>
              <a:t>(</a:t>
            </a:r>
            <a:r>
              <a:rPr lang="zh-CN" alt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charset="-122"/>
                <a:ea typeface="微软雅黑" charset="-122"/>
                <a:cs typeface="微软雅黑" charset="-122"/>
                <a:sym typeface="+mn-ea"/>
              </a:rPr>
              <a:t>目的</a:t>
            </a:r>
            <a:r>
              <a:rPr lang="en-US" altLang="zh-CN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charset="-122"/>
                <a:ea typeface="微软雅黑" charset="-122"/>
                <a:cs typeface="微软雅黑" charset="-122"/>
                <a:sym typeface="+mn-ea"/>
              </a:rPr>
              <a:t>)</a:t>
            </a:r>
            <a:endParaRPr lang="en-US" altLang="zh-CN" sz="3600" b="1" dirty="0" smtClean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2135505" y="1700530"/>
            <a:ext cx="723392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3600">
                <a:latin typeface="微软雅黑" charset="0"/>
                <a:ea typeface="微软雅黑" charset="0"/>
                <a:cs typeface="微软雅黑" charset="0"/>
                <a:sym typeface="+mn-ea"/>
              </a:rPr>
              <a:t>了解市场 - 产品形态，基础洞察</a:t>
            </a:r>
            <a:endParaRPr lang="zh-CN" altLang="en-US" sz="3600">
              <a:latin typeface="微软雅黑" charset="0"/>
              <a:ea typeface="微软雅黑" charset="0"/>
              <a:cs typeface="微软雅黑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3600">
                <a:latin typeface="微软雅黑" charset="0"/>
                <a:ea typeface="微软雅黑" charset="0"/>
                <a:cs typeface="微软雅黑" charset="0"/>
                <a:sym typeface="+mn-ea"/>
              </a:rPr>
              <a:t>了解竞品 - 布局思考，模仿超越</a:t>
            </a:r>
            <a:endParaRPr lang="zh-CN" altLang="en-US" sz="3600">
              <a:latin typeface="微软雅黑" charset="0"/>
              <a:ea typeface="微软雅黑" charset="0"/>
              <a:cs typeface="微软雅黑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3600">
                <a:latin typeface="微软雅黑" charset="0"/>
                <a:ea typeface="微软雅黑" charset="0"/>
                <a:cs typeface="微软雅黑" charset="0"/>
                <a:sym typeface="+mn-ea"/>
              </a:rPr>
              <a:t>评估利润 - 入局判断，有效避坑</a:t>
            </a:r>
            <a:endParaRPr lang="en-US" altLang="zh-CN" sz="36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4436745" y="4939030"/>
            <a:ext cx="3855085" cy="61658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800" b="1">
                <a:ln w="12700">
                  <a:noFill/>
                </a:ln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03</a:t>
            </a:r>
            <a:r>
              <a:rPr kumimoji="1" lang="en-US" altLang="zh-CN" sz="2800">
                <a:ln w="12700">
                  <a:noFill/>
                </a:ln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kumimoji="1" lang="zh-CN" altLang="en-US" sz="2800">
                <a:ln w="12700">
                  <a:noFill/>
                </a:ln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单录记录仪利润</a:t>
            </a:r>
            <a:r>
              <a:rPr kumimoji="1" lang="zh-CN" altLang="en-US" sz="2800">
                <a:ln w="12700">
                  <a:noFill/>
                </a:ln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分析</a:t>
            </a:r>
            <a:endParaRPr kumimoji="1" lang="zh-CN" altLang="en-US" sz="2800">
              <a:ln w="12700">
                <a:noFill/>
              </a:ln>
              <a:solidFill>
                <a:schemeClr val="accent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4436745" y="5664200"/>
            <a:ext cx="3689985" cy="90170"/>
          </a:xfrm>
          <a:prstGeom prst="rect">
            <a:avLst/>
          </a:prstGeom>
          <a:solidFill>
            <a:schemeClr val="accent1"/>
          </a:solidFill>
          <a:ln w="12700" cap="rnd">
            <a:noFill/>
            <a:round/>
          </a:ln>
          <a:effectLst>
            <a:outerShdw blurRad="254000" dist="127000" dir="5400000" algn="ctr" rotWithShape="0">
              <a:schemeClr val="accent1">
                <a:lumMod val="7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4374515" y="1847215"/>
            <a:ext cx="3608705" cy="65468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800" b="1">
                <a:ln w="12700">
                  <a:noFill/>
                </a:ln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01</a:t>
            </a:r>
            <a:r>
              <a:rPr kumimoji="1" lang="en-US" altLang="zh-CN" sz="2800">
                <a:ln w="12700">
                  <a:noFill/>
                </a:ln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 top 100 </a:t>
            </a:r>
            <a:r>
              <a:rPr kumimoji="1" lang="zh-CN" altLang="en-US" sz="2800">
                <a:ln w="12700">
                  <a:noFill/>
                </a:ln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归类</a:t>
            </a:r>
            <a:r>
              <a:rPr kumimoji="1" lang="zh-CN" altLang="en-US" sz="2800">
                <a:ln w="12700">
                  <a:noFill/>
                </a:ln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分析</a:t>
            </a:r>
            <a:endParaRPr kumimoji="1" lang="zh-CN" altLang="en-US" sz="2800">
              <a:ln w="12700">
                <a:noFill/>
              </a:ln>
              <a:solidFill>
                <a:schemeClr val="accent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4374515" y="2500630"/>
            <a:ext cx="3627120" cy="90170"/>
          </a:xfrm>
          <a:prstGeom prst="rect">
            <a:avLst/>
          </a:prstGeom>
          <a:solidFill>
            <a:schemeClr val="accent1"/>
          </a:solidFill>
          <a:ln w="12700" cap="rnd">
            <a:noFill/>
            <a:round/>
          </a:ln>
          <a:effectLst>
            <a:outerShdw blurRad="254000" dist="127000" dir="5400000" algn="ctr" rotWithShape="0">
              <a:schemeClr val="accent1">
                <a:lumMod val="7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4334510" y="3361690"/>
            <a:ext cx="4669790" cy="53784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800" b="1">
                <a:ln w="12700">
                  <a:noFill/>
                </a:ln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02</a:t>
            </a:r>
            <a:r>
              <a:rPr kumimoji="1" lang="en-US" altLang="zh-CN" sz="2800">
                <a:ln w="12700">
                  <a:noFill/>
                </a:ln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kumimoji="1" lang="zh-CN" altLang="en-US" sz="2800">
                <a:ln w="12700">
                  <a:noFill/>
                </a:ln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单录记录仪成本</a:t>
            </a:r>
            <a:r>
              <a:rPr kumimoji="1" lang="zh-CN" altLang="en-US" sz="2800">
                <a:ln w="12700">
                  <a:noFill/>
                </a:ln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分析</a:t>
            </a:r>
            <a:endParaRPr kumimoji="1" lang="zh-CN" altLang="en-US" sz="2800">
              <a:ln w="12700">
                <a:noFill/>
              </a:ln>
              <a:solidFill>
                <a:schemeClr val="accent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4334510" y="4029075"/>
            <a:ext cx="3718560" cy="76200"/>
          </a:xfrm>
          <a:prstGeom prst="rect">
            <a:avLst/>
          </a:prstGeom>
          <a:solidFill>
            <a:schemeClr val="accent1"/>
          </a:solidFill>
          <a:ln w="12700" cap="rnd">
            <a:noFill/>
            <a:round/>
          </a:ln>
          <a:effectLst>
            <a:outerShdw blurRad="254000" dist="127000" dir="5400000" algn="ctr" rotWithShape="0">
              <a:schemeClr val="accent1">
                <a:lumMod val="7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484630" y="1844675"/>
            <a:ext cx="1793875" cy="431609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kumimoji="1" lang="en-US" altLang="zh-CN" sz="5400">
                <a:ln w="12700">
                  <a:noFill/>
                </a:ln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目录 - CONTENTS</a:t>
            </a:r>
            <a:endParaRPr lang="zh-CN" altLang="en-US" sz="5400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9714914" y="4380914"/>
            <a:ext cx="4954172" cy="4954172"/>
          </a:xfrm>
          <a:prstGeom prst="ellipse">
            <a:avLst/>
          </a:prstGeom>
          <a:gradFill>
            <a:gsLst>
              <a:gs pos="0">
                <a:schemeClr val="accent1"/>
              </a:gs>
              <a:gs pos="15000">
                <a:srgbClr val="5BD1D7">
                  <a:alpha val="62000"/>
                </a:srgbClr>
              </a:gs>
              <a:gs pos="39000">
                <a:srgbClr val="5BD1D7">
                  <a:alpha val="28000"/>
                </a:srgb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1380958" y="842498"/>
            <a:ext cx="137942" cy="137942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1109628" y="842498"/>
            <a:ext cx="137942" cy="13794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0838298" y="842498"/>
            <a:ext cx="137942" cy="13794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4524854" y="3146971"/>
            <a:ext cx="6100408" cy="11546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4800" b="1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top 100</a:t>
            </a:r>
            <a:r>
              <a:rPr kumimoji="1" lang="zh-CN" altLang="en-US" sz="4800" b="1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归类及分析</a:t>
            </a:r>
            <a:endParaRPr kumimoji="1" lang="zh-CN" altLang="en-US" sz="4800" b="1">
              <a:ln w="127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3431540" y="3141345"/>
            <a:ext cx="859790" cy="115443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4400" b="1">
                <a:ln w="12700">
                  <a:noFill/>
                </a:ln>
                <a:solidFill>
                  <a:schemeClr val="tx1"/>
                </a:solidFill>
                <a:latin typeface="微软雅黑" charset="0"/>
                <a:ea typeface="微软雅黑" charset="0"/>
                <a:cs typeface="Source Han Sans CN Bold" panose="020B0800000000000000" charset="-122"/>
              </a:rPr>
              <a:t>01</a:t>
            </a:r>
            <a:endParaRPr kumimoji="1" lang="en-US" altLang="zh-CN" sz="4400" b="1">
              <a:ln w="12700">
                <a:noFill/>
              </a:ln>
              <a:solidFill>
                <a:schemeClr val="tx1"/>
              </a:solidFill>
              <a:latin typeface="微软雅黑" charset="0"/>
              <a:ea typeface="微软雅黑" charset="0"/>
              <a:cs typeface="Source Han Sans CN Bold" panose="020B0800000000000000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-1327535" y="1157978"/>
            <a:ext cx="5257931" cy="5103228"/>
            <a:chOff x="-1327535" y="1157978"/>
            <a:chExt cx="5257931" cy="5103228"/>
          </a:xfrm>
        </p:grpSpPr>
        <p:sp>
          <p:nvSpPr>
            <p:cNvPr id="11" name="标题 1"/>
            <p:cNvSpPr txBox="1"/>
            <p:nvPr/>
          </p:nvSpPr>
          <p:spPr>
            <a:xfrm rot="12891944">
              <a:off x="1480553" y="1204082"/>
              <a:ext cx="1426351" cy="4028691"/>
            </a:xfrm>
            <a:custGeom>
              <a:avLst/>
              <a:gdLst>
                <a:gd name="connsiteX0" fmla="*/ 1053297 w 2106594"/>
                <a:gd name="connsiteY0" fmla="*/ 0 h 4629873"/>
                <a:gd name="connsiteX1" fmla="*/ 2106594 w 2106594"/>
                <a:gd name="connsiteY1" fmla="*/ 1053297 h 4629873"/>
                <a:gd name="connsiteX2" fmla="*/ 2101156 w 2106594"/>
                <a:gd name="connsiteY2" fmla="*/ 1160991 h 4629873"/>
                <a:gd name="connsiteX3" fmla="*/ 2095018 w 2106594"/>
                <a:gd name="connsiteY3" fmla="*/ 1201208 h 4629873"/>
                <a:gd name="connsiteX4" fmla="*/ 2095018 w 2106594"/>
                <a:gd name="connsiteY4" fmla="*/ 4629873 h 4629873"/>
                <a:gd name="connsiteX5" fmla="*/ 0 w 2106594"/>
                <a:gd name="connsiteY5" fmla="*/ 4629873 h 4629873"/>
                <a:gd name="connsiteX6" fmla="*/ 0 w 2106594"/>
                <a:gd name="connsiteY6" fmla="*/ 1053297 h 4629873"/>
                <a:gd name="connsiteX7" fmla="*/ 0 w 2106594"/>
                <a:gd name="connsiteY7" fmla="*/ 995423 h 4629873"/>
                <a:gd name="connsiteX8" fmla="*/ 2923 w 2106594"/>
                <a:gd name="connsiteY8" fmla="*/ 995423 h 4629873"/>
                <a:gd name="connsiteX9" fmla="*/ 5438 w 2106594"/>
                <a:gd name="connsiteY9" fmla="*/ 945604 h 4629873"/>
                <a:gd name="connsiteX10" fmla="*/ 1053297 w 2106594"/>
                <a:gd name="connsiteY10" fmla="*/ 0 h 4629873"/>
              </a:gdLst>
              <a:ahLst/>
              <a:cxnLst/>
              <a:rect l="l" t="t" r="r" b="b"/>
              <a:pathLst>
                <a:path w="2106594" h="4629873">
                  <a:moveTo>
                    <a:pt x="1053297" y="0"/>
                  </a:moveTo>
                  <a:cubicBezTo>
                    <a:pt x="1635017" y="0"/>
                    <a:pt x="2106594" y="471577"/>
                    <a:pt x="2106594" y="1053297"/>
                  </a:cubicBezTo>
                  <a:cubicBezTo>
                    <a:pt x="2106594" y="1089655"/>
                    <a:pt x="2104752" y="1125582"/>
                    <a:pt x="2101156" y="1160991"/>
                  </a:cubicBezTo>
                  <a:lnTo>
                    <a:pt x="2095018" y="1201208"/>
                  </a:lnTo>
                  <a:lnTo>
                    <a:pt x="2095018" y="4629873"/>
                  </a:lnTo>
                  <a:lnTo>
                    <a:pt x="0" y="4629873"/>
                  </a:lnTo>
                  <a:lnTo>
                    <a:pt x="0" y="1053297"/>
                  </a:lnTo>
                  <a:lnTo>
                    <a:pt x="0" y="995423"/>
                  </a:lnTo>
                  <a:lnTo>
                    <a:pt x="2923" y="995423"/>
                  </a:lnTo>
                  <a:lnTo>
                    <a:pt x="5438" y="945604"/>
                  </a:lnTo>
                  <a:cubicBezTo>
                    <a:pt x="59378" y="414472"/>
                    <a:pt x="507935" y="0"/>
                    <a:pt x="1053297" y="0"/>
                  </a:cubicBezTo>
                  <a:close/>
                </a:path>
              </a:pathLst>
            </a:custGeom>
            <a:gradFill>
              <a:gsLst>
                <a:gs pos="1000">
                  <a:schemeClr val="accent1">
                    <a:alpha val="0"/>
                  </a:schemeClr>
                </a:gs>
                <a:gs pos="72000">
                  <a:schemeClr val="accent1"/>
                </a:gs>
              </a:gsLst>
              <a:lin ang="1620000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标题 1"/>
            <p:cNvSpPr txBox="1"/>
            <p:nvPr/>
          </p:nvSpPr>
          <p:spPr>
            <a:xfrm rot="12891944" flipH="1" flipV="1">
              <a:off x="-339767" y="2072646"/>
              <a:ext cx="1824377" cy="4028690"/>
            </a:xfrm>
            <a:custGeom>
              <a:avLst/>
              <a:gdLst>
                <a:gd name="connsiteX0" fmla="*/ 1053297 w 2106594"/>
                <a:gd name="connsiteY0" fmla="*/ 0 h 4629873"/>
                <a:gd name="connsiteX1" fmla="*/ 2106594 w 2106594"/>
                <a:gd name="connsiteY1" fmla="*/ 1053297 h 4629873"/>
                <a:gd name="connsiteX2" fmla="*/ 2101156 w 2106594"/>
                <a:gd name="connsiteY2" fmla="*/ 1160991 h 4629873"/>
                <a:gd name="connsiteX3" fmla="*/ 2095018 w 2106594"/>
                <a:gd name="connsiteY3" fmla="*/ 1201208 h 4629873"/>
                <a:gd name="connsiteX4" fmla="*/ 2095018 w 2106594"/>
                <a:gd name="connsiteY4" fmla="*/ 4629873 h 4629873"/>
                <a:gd name="connsiteX5" fmla="*/ 0 w 2106594"/>
                <a:gd name="connsiteY5" fmla="*/ 4629873 h 4629873"/>
                <a:gd name="connsiteX6" fmla="*/ 0 w 2106594"/>
                <a:gd name="connsiteY6" fmla="*/ 1053297 h 4629873"/>
                <a:gd name="connsiteX7" fmla="*/ 0 w 2106594"/>
                <a:gd name="connsiteY7" fmla="*/ 995423 h 4629873"/>
                <a:gd name="connsiteX8" fmla="*/ 2923 w 2106594"/>
                <a:gd name="connsiteY8" fmla="*/ 995423 h 4629873"/>
                <a:gd name="connsiteX9" fmla="*/ 5438 w 2106594"/>
                <a:gd name="connsiteY9" fmla="*/ 945604 h 4629873"/>
                <a:gd name="connsiteX10" fmla="*/ 1053297 w 2106594"/>
                <a:gd name="connsiteY10" fmla="*/ 0 h 4629873"/>
              </a:gdLst>
              <a:ahLst/>
              <a:cxnLst/>
              <a:rect l="l" t="t" r="r" b="b"/>
              <a:pathLst>
                <a:path w="2106594" h="4629873">
                  <a:moveTo>
                    <a:pt x="1053297" y="0"/>
                  </a:moveTo>
                  <a:cubicBezTo>
                    <a:pt x="1635017" y="0"/>
                    <a:pt x="2106594" y="471577"/>
                    <a:pt x="2106594" y="1053297"/>
                  </a:cubicBezTo>
                  <a:cubicBezTo>
                    <a:pt x="2106594" y="1089655"/>
                    <a:pt x="2104752" y="1125582"/>
                    <a:pt x="2101156" y="1160991"/>
                  </a:cubicBezTo>
                  <a:lnTo>
                    <a:pt x="2095018" y="1201208"/>
                  </a:lnTo>
                  <a:lnTo>
                    <a:pt x="2095018" y="4629873"/>
                  </a:lnTo>
                  <a:lnTo>
                    <a:pt x="0" y="4629873"/>
                  </a:lnTo>
                  <a:lnTo>
                    <a:pt x="0" y="1053297"/>
                  </a:lnTo>
                  <a:lnTo>
                    <a:pt x="0" y="995423"/>
                  </a:lnTo>
                  <a:lnTo>
                    <a:pt x="2923" y="995423"/>
                  </a:lnTo>
                  <a:lnTo>
                    <a:pt x="5438" y="945604"/>
                  </a:lnTo>
                  <a:cubicBezTo>
                    <a:pt x="59378" y="414472"/>
                    <a:pt x="507935" y="0"/>
                    <a:pt x="1053297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2000">
                  <a:schemeClr val="accent1">
                    <a:lumMod val="75000"/>
                  </a:schemeClr>
                </a:gs>
              </a:gsLst>
              <a:lin ang="1620000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135234" y="45175"/>
            <a:ext cx="11544300" cy="6451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zh-CN" altLang="en-US" sz="3600" b="1">
                <a:ln w="12700">
                  <a:noFill/>
                </a:ln>
                <a:solidFill>
                  <a:schemeClr val="bg1"/>
                </a:solidFill>
                <a:latin typeface="微软雅黑" charset="0"/>
                <a:ea typeface="微软雅黑" charset="0"/>
                <a:cs typeface="Source Han Sans CN Bold" panose="020B0800000000000000" charset="-122"/>
              </a:rPr>
              <a:t>产品归类</a:t>
            </a:r>
            <a:r>
              <a:rPr kumimoji="1" lang="zh-CN" altLang="en-US" sz="3600" b="1">
                <a:ln w="12700">
                  <a:noFill/>
                </a:ln>
                <a:solidFill>
                  <a:schemeClr val="bg1"/>
                </a:solidFill>
                <a:latin typeface="微软雅黑" charset="0"/>
                <a:ea typeface="微软雅黑" charset="0"/>
                <a:cs typeface="Source Han Sans CN Bold" panose="020B0800000000000000" charset="-122"/>
              </a:rPr>
              <a:t>分析结果</a:t>
            </a:r>
            <a:r>
              <a:rPr kumimoji="1" lang="en-US" altLang="zh-CN" sz="3600" b="1">
                <a:ln w="12700">
                  <a:noFill/>
                </a:ln>
                <a:solidFill>
                  <a:schemeClr val="bg1"/>
                </a:solidFill>
                <a:latin typeface="微软雅黑" charset="0"/>
                <a:ea typeface="微软雅黑" charset="0"/>
                <a:cs typeface="Source Han Sans CN Bold" panose="020B0800000000000000" charset="-122"/>
              </a:rPr>
              <a:t>  (</a:t>
            </a:r>
            <a:r>
              <a:rPr kumimoji="1" lang="zh-CN" altLang="en-US" sz="3600" b="1">
                <a:ln w="12700">
                  <a:noFill/>
                </a:ln>
                <a:solidFill>
                  <a:schemeClr val="bg1"/>
                </a:solidFill>
                <a:latin typeface="微软雅黑" charset="0"/>
                <a:ea typeface="微软雅黑" charset="0"/>
                <a:cs typeface="Source Han Sans CN Bold" panose="020B0800000000000000" charset="-122"/>
              </a:rPr>
              <a:t>目标市场：单录</a:t>
            </a:r>
            <a:r>
              <a:rPr kumimoji="1" lang="en-US" altLang="zh-CN" sz="3600" b="1">
                <a:ln w="12700">
                  <a:noFill/>
                </a:ln>
                <a:solidFill>
                  <a:schemeClr val="bg1"/>
                </a:solidFill>
                <a:latin typeface="微软雅黑" charset="0"/>
                <a:ea typeface="微软雅黑" charset="0"/>
                <a:cs typeface="Source Han Sans CN Bold" panose="020B0800000000000000" charset="-122"/>
              </a:rPr>
              <a:t>)</a:t>
            </a:r>
            <a:endParaRPr kumimoji="1" lang="en-US" altLang="zh-CN" sz="3600" b="1">
              <a:ln w="12700">
                <a:noFill/>
              </a:ln>
              <a:solidFill>
                <a:schemeClr val="bg1"/>
              </a:solidFill>
              <a:latin typeface="微软雅黑" charset="0"/>
              <a:ea typeface="微软雅黑" charset="0"/>
              <a:cs typeface="Source Han Sans CN Bold" panose="020B08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123950"/>
            <a:ext cx="12119610" cy="22091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8270" y="3753485"/>
            <a:ext cx="118719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latin typeface="微软雅黑" charset="0"/>
                <a:ea typeface="微软雅黑" charset="0"/>
              </a:rPr>
              <a:t>产品形态：配件、单录、双录、三录、四录</a:t>
            </a:r>
            <a:endParaRPr lang="zh-CN" altLang="en-US" sz="3200"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135234" y="45175"/>
            <a:ext cx="11544300" cy="6451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zh-CN" altLang="en-US" sz="3600" b="1">
                <a:ln w="12700">
                  <a:noFill/>
                </a:ln>
                <a:solidFill>
                  <a:schemeClr val="bg1"/>
                </a:solidFill>
                <a:latin typeface="微软雅黑" charset="0"/>
                <a:ea typeface="微软雅黑" charset="0"/>
                <a:cs typeface="Source Han Sans CN Bold" panose="020B0800000000000000" charset="-122"/>
              </a:rPr>
              <a:t>产品归类分析结果</a:t>
            </a:r>
            <a:r>
              <a:rPr kumimoji="1" lang="en-US" altLang="zh-CN" sz="3600" b="1">
                <a:ln w="12700">
                  <a:noFill/>
                </a:ln>
                <a:solidFill>
                  <a:schemeClr val="bg1"/>
                </a:solidFill>
                <a:latin typeface="微软雅黑" charset="0"/>
                <a:ea typeface="微软雅黑" charset="0"/>
                <a:cs typeface="Source Han Sans CN Bold" panose="020B0800000000000000" charset="-122"/>
              </a:rPr>
              <a:t>  (</a:t>
            </a:r>
            <a:r>
              <a:rPr kumimoji="1" lang="zh-CN" altLang="en-US" sz="3600" b="1">
                <a:ln w="12700">
                  <a:noFill/>
                </a:ln>
                <a:solidFill>
                  <a:schemeClr val="bg1"/>
                </a:solidFill>
                <a:latin typeface="微软雅黑" charset="0"/>
                <a:ea typeface="微软雅黑" charset="0"/>
                <a:cs typeface="Source Han Sans CN Bold" panose="020B0800000000000000" charset="-122"/>
              </a:rPr>
              <a:t>目标市场：单录</a:t>
            </a:r>
            <a:r>
              <a:rPr kumimoji="1" lang="en-US" altLang="zh-CN" sz="3600" b="1">
                <a:ln w="12700">
                  <a:noFill/>
                </a:ln>
                <a:solidFill>
                  <a:schemeClr val="bg1"/>
                </a:solidFill>
                <a:latin typeface="微软雅黑" charset="0"/>
                <a:ea typeface="微软雅黑" charset="0"/>
                <a:cs typeface="Source Han Sans CN Bold" panose="020B0800000000000000" charset="-122"/>
              </a:rPr>
              <a:t>)</a:t>
            </a:r>
            <a:endParaRPr kumimoji="1" lang="en-US" altLang="zh-CN" sz="3600" b="1">
              <a:ln w="12700">
                <a:noFill/>
              </a:ln>
              <a:solidFill>
                <a:schemeClr val="bg1"/>
              </a:solidFill>
              <a:latin typeface="微软雅黑" charset="0"/>
              <a:ea typeface="微软雅黑" charset="0"/>
              <a:cs typeface="Source Han Sans CN Bold" panose="020B08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621030"/>
            <a:ext cx="12192000" cy="61080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135234" y="45175"/>
            <a:ext cx="11544300" cy="6451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zh-CN" altLang="en-US" sz="3600" b="1">
                <a:ln w="12700">
                  <a:noFill/>
                </a:ln>
                <a:solidFill>
                  <a:schemeClr val="bg1"/>
                </a:solidFill>
                <a:latin typeface="微软雅黑" charset="0"/>
                <a:ea typeface="微软雅黑" charset="0"/>
                <a:cs typeface="Source Han Sans CN Bold" panose="020B0800000000000000" charset="-122"/>
              </a:rPr>
              <a:t>产品归类思路及方法</a:t>
            </a:r>
            <a:endParaRPr kumimoji="1" lang="zh-CN" altLang="en-US" sz="3600" b="1">
              <a:ln w="12700">
                <a:noFill/>
              </a:ln>
              <a:solidFill>
                <a:schemeClr val="bg1"/>
              </a:solidFill>
              <a:latin typeface="微软雅黑" charset="0"/>
              <a:ea typeface="微软雅黑" charset="0"/>
              <a:cs typeface="Source Han Sans CN Bold" panose="020B0800000000000000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315595" y="877570"/>
            <a:ext cx="11728450" cy="55276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1. 获取数据：找榜单、导数据、完整有效</a:t>
            </a:r>
            <a:endParaRPr lang="en-US" altLang="zh-CN" sz="24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2. 分析数据：抓重点要素、找要素关联和规律、掌握数据处理技巧</a:t>
            </a:r>
            <a:endParaRPr lang="en-US" altLang="zh-CN" sz="24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3. 运用数据：数据透视整合及计算</a:t>
            </a:r>
            <a:endParaRPr lang="en-US" altLang="zh-CN" sz="24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4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1.获取数据 （数据源：</a:t>
            </a:r>
            <a:r>
              <a:rPr lang="zh-CN" altLang="en-US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某选品插件</a:t>
            </a: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）</a:t>
            </a:r>
            <a:endParaRPr lang="en-US" altLang="zh-CN" sz="24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BS榜单：</a:t>
            </a:r>
            <a:endParaRPr lang="en-US" altLang="zh-CN" sz="24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https://www.amazon.com/gp/bestsellers/electronics/3248689011</a:t>
            </a:r>
            <a:endParaRPr lang="en-US" altLang="zh-CN" sz="24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通过某选品</a:t>
            </a: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插件在小类目链接页面“加载100条数据”并导出</a:t>
            </a:r>
            <a:endParaRPr lang="en-US" altLang="zh-CN" sz="24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135234" y="45175"/>
            <a:ext cx="11544300" cy="6451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lang="zh-CN" alt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charset="-122"/>
                <a:ea typeface="微软雅黑" charset="-122"/>
                <a:cs typeface="微软雅黑" charset="-122"/>
                <a:sym typeface="+mn-ea"/>
              </a:rPr>
              <a:t>获取数据</a:t>
            </a:r>
            <a:r>
              <a:rPr lang="en-US" altLang="zh-CN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charset="-122"/>
                <a:ea typeface="微软雅黑" charset="-122"/>
                <a:cs typeface="微软雅黑" charset="-122"/>
                <a:sym typeface="+mn-ea"/>
              </a:rPr>
              <a:t> - </a:t>
            </a:r>
            <a:r>
              <a:rPr lang="zh-CN" alt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导出的</a:t>
            </a:r>
            <a:r>
              <a:rPr lang="zh-CN" alt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数据源</a:t>
            </a:r>
            <a:endParaRPr lang="zh-CN" altLang="en-US" sz="3600" b="1" dirty="0" smtClean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690245"/>
            <a:ext cx="12191365" cy="60972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135234" y="45175"/>
            <a:ext cx="11544300" cy="6451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lang="en-US" altLang="zh-CN" sz="3600" b="1" spc="150">
                <a:solidFill>
                  <a:schemeClr val="bg1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数据分析</a:t>
            </a:r>
            <a:r>
              <a:rPr lang="zh-CN" altLang="en-US" sz="3600" b="1" spc="150">
                <a:solidFill>
                  <a:schemeClr val="bg1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关键词</a:t>
            </a:r>
            <a:r>
              <a:rPr lang="zh-CN" altLang="en-US" sz="3600" b="1" spc="150">
                <a:solidFill>
                  <a:schemeClr val="bg1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思路</a:t>
            </a:r>
            <a:endParaRPr lang="zh-CN" altLang="en-US" sz="3600" b="1" spc="150">
              <a:solidFill>
                <a:schemeClr val="bg1"/>
              </a:solidFill>
              <a:latin typeface="微软雅黑" charset="0"/>
              <a:ea typeface="微软雅黑" charset="0"/>
              <a:sym typeface="Arial" panose="020B0604020202090204" pitchFamily="34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35255" y="620395"/>
            <a:ext cx="11743055" cy="6451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fontAlgn="auto">
              <a:lnSpc>
                <a:spcPct val="150000"/>
              </a:lnSpc>
            </a:pPr>
            <a:r>
              <a:rPr lang="en-US" altLang="zh-CN" sz="2400" b="1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1. </a:t>
            </a:r>
            <a:r>
              <a:rPr lang="zh-CN" altLang="en-US" sz="2400" b="1" spc="15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分析什么？</a:t>
            </a:r>
            <a:r>
              <a:rPr lang="en-US" altLang="zh-CN" sz="2400" b="1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抓重点要素 - 产品图片、价格、标题</a:t>
            </a:r>
            <a:r>
              <a:rPr lang="zh-CN" altLang="en-US" sz="2400" b="1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；</a:t>
            </a:r>
            <a:endParaRPr lang="en-US" altLang="zh-CN" sz="2400" b="1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400" b="1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31315" y="1268730"/>
            <a:ext cx="7292340" cy="55505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135234" y="45175"/>
            <a:ext cx="11544300" cy="6451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lang="en-US" altLang="zh-CN" sz="3600" b="1" spc="150">
                <a:solidFill>
                  <a:schemeClr val="bg1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数据分析指导原则</a:t>
            </a:r>
            <a:endParaRPr kumimoji="1" lang="en-US" altLang="zh-CN" sz="3600" b="1" spc="150">
              <a:ln w="12700">
                <a:noFill/>
              </a:ln>
              <a:solidFill>
                <a:schemeClr val="bg1"/>
              </a:solidFill>
              <a:latin typeface="微软雅黑" charset="0"/>
              <a:ea typeface="微软雅黑" charset="0"/>
              <a:cs typeface="Source Han Sans CN Bold" panose="020B0800000000000000" charset="-122"/>
              <a:sym typeface="Arial" panose="020B060402020209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836930"/>
            <a:ext cx="12166600" cy="54984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135234" y="45175"/>
            <a:ext cx="11544300" cy="6451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lang="en-US" altLang="zh-CN" sz="3600" b="1" spc="150">
                <a:solidFill>
                  <a:schemeClr val="bg1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数据分析指导原则</a:t>
            </a:r>
            <a:endParaRPr kumimoji="1" lang="en-US" altLang="zh-CN" sz="3600" b="1" spc="150">
              <a:ln w="12700">
                <a:noFill/>
              </a:ln>
              <a:solidFill>
                <a:schemeClr val="bg1"/>
              </a:solidFill>
              <a:latin typeface="微软雅黑" charset="0"/>
              <a:ea typeface="微软雅黑" charset="0"/>
              <a:cs typeface="Source Han Sans CN Bold" panose="020B0800000000000000" charset="-122"/>
              <a:sym typeface="Arial" panose="020B0604020202090204" pitchFamily="34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08585" y="621665"/>
            <a:ext cx="11743055" cy="51009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2400" b="1" spc="15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2. </a:t>
            </a:r>
            <a:r>
              <a:rPr lang="zh-CN" altLang="en-US" sz="2400" b="1" spc="15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怎么分析？</a:t>
            </a:r>
            <a:r>
              <a:rPr lang="en-US" altLang="zh-CN" sz="2400" b="1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利用要素关联及特点</a:t>
            </a:r>
            <a:r>
              <a:rPr lang="zh-CN" altLang="en-US" sz="2400" b="1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</a:t>
            </a:r>
            <a:r>
              <a:rPr lang="en-US" altLang="zh-CN" sz="2400" b="1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图片理解，文字识别； </a:t>
            </a:r>
            <a:endParaRPr lang="en-US" altLang="zh-CN" sz="2400" b="1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fontAlgn="auto">
              <a:lnSpc>
                <a:spcPct val="150000"/>
              </a:lnSpc>
            </a:pPr>
            <a:endParaRPr lang="en-US" altLang="zh-CN" sz="16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</a:t>
            </a:r>
            <a:r>
              <a:rPr lang="zh-CN" altLang="en-US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）</a:t>
            </a: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图片+价格，</a:t>
            </a:r>
            <a:r>
              <a:rPr lang="en-US" altLang="zh-CN" sz="2000" b="1" u="sng" spc="15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剔除不相关产品</a:t>
            </a: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(配件)；</a:t>
            </a:r>
            <a:endParaRPr lang="en-US" altLang="zh-CN" sz="20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   — </a:t>
            </a:r>
            <a:r>
              <a:rPr lang="zh-CN" altLang="en-US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利用</a:t>
            </a: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价格排序，从低到高，快速识别</a:t>
            </a:r>
            <a:r>
              <a:rPr lang="zh-CN" altLang="en-US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不相关产品</a:t>
            </a: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，尤其是是配件；</a:t>
            </a:r>
            <a:endParaRPr lang="en-US" altLang="zh-CN" sz="20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</a:t>
            </a:r>
            <a:r>
              <a:rPr lang="zh-CN" altLang="en-US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）</a:t>
            </a: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图片差异确定整体的</a:t>
            </a:r>
            <a:r>
              <a:rPr lang="en-US" altLang="zh-CN" sz="2000" b="1" u="sng" spc="15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分类方向</a:t>
            </a: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；</a:t>
            </a:r>
            <a:endParaRPr lang="en-US" altLang="zh-CN" sz="20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   — 图片</a:t>
            </a:r>
            <a:r>
              <a:rPr lang="zh-CN" altLang="en-US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能体现最</a:t>
            </a: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直观的差异，镜头数量不同，单录、双录、三录、四录；</a:t>
            </a:r>
            <a:endParaRPr lang="en-US" altLang="zh-CN" sz="20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3</a:t>
            </a:r>
            <a:r>
              <a:rPr lang="zh-CN" altLang="en-US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）</a:t>
            </a: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标题+关键词，确定具体的</a:t>
            </a:r>
            <a:r>
              <a:rPr lang="en-US" altLang="zh-CN" sz="2000" b="1" u="sng" spc="15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分类依据</a:t>
            </a: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；</a:t>
            </a:r>
            <a:endParaRPr lang="en-US" altLang="zh-CN" sz="20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   — 同类或者不同类产品的关键词描述不同</a:t>
            </a:r>
            <a:r>
              <a:rPr lang="zh-CN" altLang="en-US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</a:t>
            </a: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看核心词和关键属性的表达</a:t>
            </a:r>
            <a:endParaRPr lang="en-US" altLang="zh-CN" sz="20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  四录：4 channel</a:t>
            </a:r>
            <a:endParaRPr lang="en-US" altLang="zh-CN" sz="20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  三录：3 channel，front and rear inside</a:t>
            </a:r>
            <a:endParaRPr lang="en-US" altLang="zh-CN" sz="20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  双录：dual，2 channel, front and rear, front and inside, front rear, front inside</a:t>
            </a:r>
            <a:endParaRPr lang="en-US" altLang="zh-CN" sz="20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  单录：dash cam，dash cam front，front dash cam</a:t>
            </a:r>
            <a:endParaRPr lang="en-US" altLang="zh-CN" sz="20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135234" y="45175"/>
            <a:ext cx="11544300" cy="6451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lang="en-US" altLang="zh-CN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产品归类实操</a:t>
            </a:r>
            <a:endParaRPr kumimoji="1" lang="zh-CN" altLang="en-US" sz="3600">
              <a:ln w="12700">
                <a:noFill/>
              </a:ln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07035" y="764540"/>
            <a:ext cx="11445240" cy="56311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1. 价格降序</a:t>
            </a:r>
            <a:endParaRPr lang="en-US" altLang="zh-CN" sz="24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2. 图片放大</a:t>
            </a:r>
            <a:r>
              <a:rPr lang="zh-CN" altLang="en-US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：</a:t>
            </a: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调整  行高130，列宽30; </a:t>
            </a:r>
            <a:endParaRPr lang="en-US" altLang="zh-CN" sz="24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3. 配件标记</a:t>
            </a:r>
            <a:endParaRPr lang="en-US" altLang="zh-CN" sz="24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4. 产品形态归类，通过</a:t>
            </a:r>
            <a:r>
              <a:rPr lang="en-US" altLang="zh-CN" sz="2400" spc="15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标题关键词搜索</a:t>
            </a: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+图片确认</a:t>
            </a:r>
            <a:endParaRPr lang="en-US" altLang="zh-CN" sz="24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  四录：4 channel</a:t>
            </a:r>
            <a:endParaRPr lang="en-US" altLang="zh-CN" sz="24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  三录：3 channel，front and rear inside</a:t>
            </a:r>
            <a:endParaRPr lang="en-US" altLang="zh-CN" sz="24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  双录：dual，2 channel, front and rear, front and inside, front rear, front inside</a:t>
            </a:r>
            <a:endParaRPr lang="en-US" altLang="zh-CN" sz="24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  单录：排除法，剩余通过图片+标题确认  </a:t>
            </a:r>
            <a:endParaRPr lang="en-US" altLang="zh-CN" sz="24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5. 数据透视，提取自己需要的信息进行整合分析</a:t>
            </a:r>
            <a:r>
              <a:rPr lang="zh-CN" altLang="en-US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；</a:t>
            </a:r>
            <a:endParaRPr lang="zh-CN" altLang="en-US" sz="24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135234" y="45175"/>
            <a:ext cx="11544300" cy="6451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lang="en-US" altLang="zh-CN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产品归类实操</a:t>
            </a:r>
            <a:endParaRPr kumimoji="1" lang="zh-CN" altLang="en-US" sz="3600">
              <a:ln w="12700">
                <a:noFill/>
              </a:ln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92785"/>
            <a:ext cx="12192000" cy="425386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" y="692785"/>
            <a:ext cx="12192000" cy="51435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70" y="659765"/>
            <a:ext cx="10719435" cy="605218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" y="1124585"/>
            <a:ext cx="12192000" cy="52273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835" y="759460"/>
            <a:ext cx="7094855" cy="55454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135234" y="45175"/>
            <a:ext cx="11544300" cy="6451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lang="en-US" altLang="zh-CN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产品归类实操</a:t>
            </a:r>
            <a:r>
              <a:rPr lang="zh-CN" alt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总结</a:t>
            </a:r>
            <a:endParaRPr lang="zh-CN" altLang="en-US" sz="3600" b="1" dirty="0" smtClean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07035" y="1341120"/>
            <a:ext cx="10848340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28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归类分析</a:t>
            </a:r>
            <a:r>
              <a:rPr lang="zh-CN" altLang="en-US" sz="28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过程很简单</a:t>
            </a:r>
            <a:r>
              <a:rPr lang="en-US" altLang="zh-CN" sz="28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，关键点</a:t>
            </a:r>
            <a:r>
              <a:rPr lang="zh-CN" altLang="en-US" sz="2800" spc="15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先有分析思路</a:t>
            </a:r>
            <a:r>
              <a:rPr lang="zh-CN" altLang="en-US" sz="28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</a:t>
            </a:r>
            <a:r>
              <a:rPr lang="zh-CN" altLang="en-US" sz="2800" spc="15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再</a:t>
            </a:r>
            <a:r>
              <a:rPr lang="en-US" altLang="zh-CN" sz="2800" spc="15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掌握分类的方法和技巧</a:t>
            </a:r>
            <a:r>
              <a:rPr lang="en-US" altLang="zh-CN" sz="28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，针对分类结果进行</a:t>
            </a:r>
            <a:r>
              <a:rPr lang="en-US" altLang="zh-CN" sz="2800" spc="15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透视整合</a:t>
            </a:r>
            <a:r>
              <a:rPr lang="zh-CN" altLang="en-US" sz="2800" spc="15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</a:t>
            </a:r>
            <a:r>
              <a:rPr lang="zh-CN" altLang="en-US" sz="2800" spc="15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筛选</a:t>
            </a:r>
            <a:r>
              <a:rPr lang="en-US" altLang="zh-CN" sz="28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自己需要的信息维度即可。</a:t>
            </a:r>
            <a:endParaRPr lang="en-US" altLang="zh-CN" sz="28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8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8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重点</a:t>
            </a:r>
            <a:r>
              <a:rPr lang="en-US" altLang="zh-CN" sz="2800" spc="15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关注分类的结果</a:t>
            </a:r>
            <a:r>
              <a:rPr lang="zh-CN" altLang="en-US" sz="2800" spc="15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整合</a:t>
            </a:r>
            <a:r>
              <a:rPr lang="zh-CN" altLang="en-US" sz="28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，以及对</a:t>
            </a:r>
            <a:r>
              <a:rPr lang="zh-CN" altLang="en-US" sz="2800" spc="15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结果解读和利用</a:t>
            </a:r>
            <a:r>
              <a:rPr lang="zh-CN" altLang="en-US" sz="28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</a:t>
            </a:r>
            <a:r>
              <a:rPr lang="en-US" altLang="zh-CN" sz="28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带</a:t>
            </a:r>
            <a:r>
              <a:rPr lang="zh-CN" altLang="en-US" sz="28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着</a:t>
            </a:r>
            <a:r>
              <a:rPr lang="en-US" altLang="zh-CN" sz="28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思考，</a:t>
            </a:r>
            <a:r>
              <a:rPr lang="zh-CN" altLang="en-US" sz="28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为自己的</a:t>
            </a:r>
            <a:r>
              <a:rPr lang="en-US" altLang="zh-CN" sz="28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数据分析</a:t>
            </a:r>
            <a:r>
              <a:rPr lang="zh-CN" altLang="en-US" sz="28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的</a:t>
            </a:r>
            <a:r>
              <a:rPr lang="en-US" altLang="zh-CN" sz="28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过程提供</a:t>
            </a:r>
            <a:r>
              <a:rPr lang="zh-CN" altLang="en-US" sz="28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一些参考</a:t>
            </a:r>
            <a:r>
              <a:rPr lang="zh-CN" altLang="en-US" sz="28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依据。</a:t>
            </a:r>
            <a:endParaRPr lang="zh-CN" altLang="en-US" sz="28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9714914" y="4380914"/>
            <a:ext cx="4954172" cy="4954172"/>
          </a:xfrm>
          <a:prstGeom prst="ellipse">
            <a:avLst/>
          </a:prstGeom>
          <a:gradFill>
            <a:gsLst>
              <a:gs pos="0">
                <a:schemeClr val="accent1"/>
              </a:gs>
              <a:gs pos="15000">
                <a:srgbClr val="5BD1D7">
                  <a:alpha val="62000"/>
                </a:srgbClr>
              </a:gs>
              <a:gs pos="39000">
                <a:srgbClr val="5BD1D7">
                  <a:alpha val="28000"/>
                </a:srgb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1380958" y="842498"/>
            <a:ext cx="137942" cy="137942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1109628" y="842498"/>
            <a:ext cx="137942" cy="13794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0838298" y="842498"/>
            <a:ext cx="137942" cy="13794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4524854" y="3146971"/>
            <a:ext cx="6100408" cy="11546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zh-CN" altLang="en-US" sz="4800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  <a:cs typeface="Source Han Sans CN Bold" panose="020B0800000000000000" charset="-122"/>
              </a:rPr>
              <a:t>单录记录仪成本分析</a:t>
            </a:r>
            <a:endParaRPr kumimoji="1" lang="zh-CN" altLang="en-US" sz="4800">
              <a:ln w="127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微软雅黑" charset="0"/>
              <a:ea typeface="微软雅黑" charset="0"/>
              <a:cs typeface="Source Han Sans CN Bold" panose="020B0800000000000000" charset="-122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3431540" y="3141345"/>
            <a:ext cx="859790" cy="115443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4800" b="1">
                <a:ln w="12700">
                  <a:noFill/>
                </a:ln>
                <a:solidFill>
                  <a:schemeClr val="tx1"/>
                </a:solidFill>
                <a:latin typeface="微软雅黑" charset="0"/>
                <a:ea typeface="微软雅黑" charset="0"/>
                <a:cs typeface="Source Han Sans CN Bold" panose="020B0800000000000000" charset="-122"/>
              </a:rPr>
              <a:t>02</a:t>
            </a:r>
            <a:endParaRPr kumimoji="1" lang="en-US" altLang="zh-CN" sz="4800" b="1">
              <a:ln w="12700">
                <a:noFill/>
              </a:ln>
              <a:solidFill>
                <a:schemeClr val="tx1"/>
              </a:solidFill>
              <a:latin typeface="微软雅黑" charset="0"/>
              <a:ea typeface="微软雅黑" charset="0"/>
              <a:cs typeface="Source Han Sans CN Bold" panose="020B0800000000000000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-1327535" y="1157978"/>
            <a:ext cx="5257931" cy="5103228"/>
            <a:chOff x="-1327535" y="1157978"/>
            <a:chExt cx="5257931" cy="5103228"/>
          </a:xfrm>
        </p:grpSpPr>
        <p:sp>
          <p:nvSpPr>
            <p:cNvPr id="11" name="标题 1"/>
            <p:cNvSpPr txBox="1"/>
            <p:nvPr/>
          </p:nvSpPr>
          <p:spPr>
            <a:xfrm rot="12891944">
              <a:off x="1480553" y="1204082"/>
              <a:ext cx="1426351" cy="4028691"/>
            </a:xfrm>
            <a:custGeom>
              <a:avLst/>
              <a:gdLst>
                <a:gd name="connsiteX0" fmla="*/ 1053297 w 2106594"/>
                <a:gd name="connsiteY0" fmla="*/ 0 h 4629873"/>
                <a:gd name="connsiteX1" fmla="*/ 2106594 w 2106594"/>
                <a:gd name="connsiteY1" fmla="*/ 1053297 h 4629873"/>
                <a:gd name="connsiteX2" fmla="*/ 2101156 w 2106594"/>
                <a:gd name="connsiteY2" fmla="*/ 1160991 h 4629873"/>
                <a:gd name="connsiteX3" fmla="*/ 2095018 w 2106594"/>
                <a:gd name="connsiteY3" fmla="*/ 1201208 h 4629873"/>
                <a:gd name="connsiteX4" fmla="*/ 2095018 w 2106594"/>
                <a:gd name="connsiteY4" fmla="*/ 4629873 h 4629873"/>
                <a:gd name="connsiteX5" fmla="*/ 0 w 2106594"/>
                <a:gd name="connsiteY5" fmla="*/ 4629873 h 4629873"/>
                <a:gd name="connsiteX6" fmla="*/ 0 w 2106594"/>
                <a:gd name="connsiteY6" fmla="*/ 1053297 h 4629873"/>
                <a:gd name="connsiteX7" fmla="*/ 0 w 2106594"/>
                <a:gd name="connsiteY7" fmla="*/ 995423 h 4629873"/>
                <a:gd name="connsiteX8" fmla="*/ 2923 w 2106594"/>
                <a:gd name="connsiteY8" fmla="*/ 995423 h 4629873"/>
                <a:gd name="connsiteX9" fmla="*/ 5438 w 2106594"/>
                <a:gd name="connsiteY9" fmla="*/ 945604 h 4629873"/>
                <a:gd name="connsiteX10" fmla="*/ 1053297 w 2106594"/>
                <a:gd name="connsiteY10" fmla="*/ 0 h 4629873"/>
              </a:gdLst>
              <a:ahLst/>
              <a:cxnLst/>
              <a:rect l="l" t="t" r="r" b="b"/>
              <a:pathLst>
                <a:path w="2106594" h="4629873">
                  <a:moveTo>
                    <a:pt x="1053297" y="0"/>
                  </a:moveTo>
                  <a:cubicBezTo>
                    <a:pt x="1635017" y="0"/>
                    <a:pt x="2106594" y="471577"/>
                    <a:pt x="2106594" y="1053297"/>
                  </a:cubicBezTo>
                  <a:cubicBezTo>
                    <a:pt x="2106594" y="1089655"/>
                    <a:pt x="2104752" y="1125582"/>
                    <a:pt x="2101156" y="1160991"/>
                  </a:cubicBezTo>
                  <a:lnTo>
                    <a:pt x="2095018" y="1201208"/>
                  </a:lnTo>
                  <a:lnTo>
                    <a:pt x="2095018" y="4629873"/>
                  </a:lnTo>
                  <a:lnTo>
                    <a:pt x="0" y="4629873"/>
                  </a:lnTo>
                  <a:lnTo>
                    <a:pt x="0" y="1053297"/>
                  </a:lnTo>
                  <a:lnTo>
                    <a:pt x="0" y="995423"/>
                  </a:lnTo>
                  <a:lnTo>
                    <a:pt x="2923" y="995423"/>
                  </a:lnTo>
                  <a:lnTo>
                    <a:pt x="5438" y="945604"/>
                  </a:lnTo>
                  <a:cubicBezTo>
                    <a:pt x="59378" y="414472"/>
                    <a:pt x="507935" y="0"/>
                    <a:pt x="1053297" y="0"/>
                  </a:cubicBezTo>
                  <a:close/>
                </a:path>
              </a:pathLst>
            </a:custGeom>
            <a:gradFill>
              <a:gsLst>
                <a:gs pos="1000">
                  <a:schemeClr val="accent1">
                    <a:alpha val="0"/>
                  </a:schemeClr>
                </a:gs>
                <a:gs pos="72000">
                  <a:schemeClr val="accent1"/>
                </a:gs>
              </a:gsLst>
              <a:lin ang="1620000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标题 1"/>
            <p:cNvSpPr txBox="1"/>
            <p:nvPr/>
          </p:nvSpPr>
          <p:spPr>
            <a:xfrm rot="12891944" flipH="1" flipV="1">
              <a:off x="-339767" y="2072646"/>
              <a:ext cx="1824377" cy="4028690"/>
            </a:xfrm>
            <a:custGeom>
              <a:avLst/>
              <a:gdLst>
                <a:gd name="connsiteX0" fmla="*/ 1053297 w 2106594"/>
                <a:gd name="connsiteY0" fmla="*/ 0 h 4629873"/>
                <a:gd name="connsiteX1" fmla="*/ 2106594 w 2106594"/>
                <a:gd name="connsiteY1" fmla="*/ 1053297 h 4629873"/>
                <a:gd name="connsiteX2" fmla="*/ 2101156 w 2106594"/>
                <a:gd name="connsiteY2" fmla="*/ 1160991 h 4629873"/>
                <a:gd name="connsiteX3" fmla="*/ 2095018 w 2106594"/>
                <a:gd name="connsiteY3" fmla="*/ 1201208 h 4629873"/>
                <a:gd name="connsiteX4" fmla="*/ 2095018 w 2106594"/>
                <a:gd name="connsiteY4" fmla="*/ 4629873 h 4629873"/>
                <a:gd name="connsiteX5" fmla="*/ 0 w 2106594"/>
                <a:gd name="connsiteY5" fmla="*/ 4629873 h 4629873"/>
                <a:gd name="connsiteX6" fmla="*/ 0 w 2106594"/>
                <a:gd name="connsiteY6" fmla="*/ 1053297 h 4629873"/>
                <a:gd name="connsiteX7" fmla="*/ 0 w 2106594"/>
                <a:gd name="connsiteY7" fmla="*/ 995423 h 4629873"/>
                <a:gd name="connsiteX8" fmla="*/ 2923 w 2106594"/>
                <a:gd name="connsiteY8" fmla="*/ 995423 h 4629873"/>
                <a:gd name="connsiteX9" fmla="*/ 5438 w 2106594"/>
                <a:gd name="connsiteY9" fmla="*/ 945604 h 4629873"/>
                <a:gd name="connsiteX10" fmla="*/ 1053297 w 2106594"/>
                <a:gd name="connsiteY10" fmla="*/ 0 h 4629873"/>
              </a:gdLst>
              <a:ahLst/>
              <a:cxnLst/>
              <a:rect l="l" t="t" r="r" b="b"/>
              <a:pathLst>
                <a:path w="2106594" h="4629873">
                  <a:moveTo>
                    <a:pt x="1053297" y="0"/>
                  </a:moveTo>
                  <a:cubicBezTo>
                    <a:pt x="1635017" y="0"/>
                    <a:pt x="2106594" y="471577"/>
                    <a:pt x="2106594" y="1053297"/>
                  </a:cubicBezTo>
                  <a:cubicBezTo>
                    <a:pt x="2106594" y="1089655"/>
                    <a:pt x="2104752" y="1125582"/>
                    <a:pt x="2101156" y="1160991"/>
                  </a:cubicBezTo>
                  <a:lnTo>
                    <a:pt x="2095018" y="1201208"/>
                  </a:lnTo>
                  <a:lnTo>
                    <a:pt x="2095018" y="4629873"/>
                  </a:lnTo>
                  <a:lnTo>
                    <a:pt x="0" y="4629873"/>
                  </a:lnTo>
                  <a:lnTo>
                    <a:pt x="0" y="1053297"/>
                  </a:lnTo>
                  <a:lnTo>
                    <a:pt x="0" y="995423"/>
                  </a:lnTo>
                  <a:lnTo>
                    <a:pt x="2923" y="995423"/>
                  </a:lnTo>
                  <a:lnTo>
                    <a:pt x="5438" y="945604"/>
                  </a:lnTo>
                  <a:cubicBezTo>
                    <a:pt x="59378" y="414472"/>
                    <a:pt x="507935" y="0"/>
                    <a:pt x="1053297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2000">
                  <a:schemeClr val="accent1">
                    <a:lumMod val="75000"/>
                  </a:schemeClr>
                </a:gs>
              </a:gsLst>
              <a:lin ang="1620000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135234" y="45175"/>
            <a:ext cx="11544300" cy="6451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zh-CN" altLang="en-US" sz="3600" b="1">
                <a:ln w="12700">
                  <a:noFill/>
                </a:ln>
                <a:solidFill>
                  <a:schemeClr val="bg1"/>
                </a:solidFill>
                <a:latin typeface="微软雅黑" charset="0"/>
                <a:ea typeface="微软雅黑" charset="0"/>
                <a:cs typeface="Source Han Sans CN Bold" panose="020B0800000000000000" charset="-122"/>
              </a:rPr>
              <a:t>成本分析目的及思路</a:t>
            </a:r>
            <a:endParaRPr kumimoji="1" lang="zh-CN" altLang="en-US" sz="3600" b="1">
              <a:ln w="12700">
                <a:noFill/>
              </a:ln>
              <a:solidFill>
                <a:schemeClr val="bg1"/>
              </a:solidFill>
              <a:latin typeface="微软雅黑" charset="0"/>
              <a:ea typeface="微软雅黑" charset="0"/>
              <a:cs typeface="Source Han Sans CN Bold" panose="020B0800000000000000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263525" y="659765"/>
            <a:ext cx="11543665" cy="60763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主要</a:t>
            </a: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目的 </a:t>
            </a:r>
            <a:endParaRPr lang="zh-CN" altLang="en-US" sz="24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通过</a:t>
            </a:r>
            <a:r>
              <a:rPr lang="zh-CN" altLang="en-US" sz="2400" spc="15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成本拆解和分析</a:t>
            </a: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去了解</a:t>
            </a:r>
            <a:r>
              <a:rPr lang="en-US" altLang="zh-CN" sz="2400" spc="15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竞品的价格</a:t>
            </a:r>
            <a:r>
              <a:rPr lang="zh-CN" altLang="en-US" sz="2400" spc="15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差异</a:t>
            </a:r>
            <a:r>
              <a:rPr lang="zh-CN" altLang="en-US" sz="2400" spc="15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现象</a:t>
            </a: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，通过</a:t>
            </a:r>
            <a:r>
              <a:rPr lang="zh-CN" altLang="en-US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“现象”来评估和思考</a:t>
            </a: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自己的</a:t>
            </a:r>
            <a:r>
              <a:rPr lang="en-US" altLang="zh-CN" sz="2400" spc="15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产品定位</a:t>
            </a: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和</a:t>
            </a:r>
            <a:r>
              <a:rPr lang="en-US" altLang="zh-CN" sz="2400" spc="15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成本方案</a:t>
            </a: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；  (</a:t>
            </a:r>
            <a:r>
              <a:rPr lang="zh-CN" altLang="en-US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高单价</a:t>
            </a: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/</a:t>
            </a:r>
            <a:r>
              <a:rPr lang="zh-CN" altLang="en-US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低单价、目标价格区间</a:t>
            </a: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)</a:t>
            </a:r>
            <a:endParaRPr lang="en-US" altLang="zh-CN" sz="24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4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基本思路</a:t>
            </a:r>
            <a:endParaRPr lang="en-US" altLang="zh-CN" sz="24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1. 了解产品的</a:t>
            </a:r>
            <a:r>
              <a:rPr lang="en-US" altLang="zh-CN" sz="2400" spc="15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功能结构</a:t>
            </a: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及</a:t>
            </a:r>
            <a:r>
              <a:rPr lang="en-US" altLang="zh-CN" sz="2400" spc="15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关键属</a:t>
            </a:r>
            <a:r>
              <a:rPr lang="zh-CN" altLang="en-US" sz="2400" spc="15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性</a:t>
            </a:r>
            <a:endParaRPr lang="en-US" altLang="zh-CN" sz="24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   </a:t>
            </a:r>
            <a:r>
              <a:rPr lang="zh-CN" altLang="en-US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—</a:t>
            </a: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sif</a:t>
            </a:r>
            <a:r>
              <a:rPr lang="zh-CN" altLang="en-US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关键词词频</a:t>
            </a: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分析、插件分析、Chat GPT、</a:t>
            </a:r>
            <a:r>
              <a:rPr lang="zh-CN" altLang="en-US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厂家咨询等</a:t>
            </a:r>
            <a:endParaRPr lang="en-US" altLang="zh-CN" sz="24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2. 拆解功能及属性</a:t>
            </a:r>
            <a:r>
              <a:rPr lang="en-US" altLang="zh-CN" sz="2400" spc="15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成本范围</a:t>
            </a:r>
            <a:endParaRPr lang="en-US" altLang="zh-CN" sz="24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   </a:t>
            </a:r>
            <a:r>
              <a:rPr lang="zh-CN" altLang="en-US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—</a:t>
            </a: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1688</a:t>
            </a:r>
            <a:r>
              <a:rPr lang="zh-CN" altLang="en-US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询价、专业人士经验</a:t>
            </a:r>
            <a:endParaRPr lang="en-US" altLang="zh-CN" sz="24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3. 竞品价格策略</a:t>
            </a:r>
            <a:r>
              <a:rPr lang="en-US" altLang="zh-CN" sz="2400" spc="15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差异分析</a:t>
            </a:r>
            <a:endParaRPr lang="en-US" altLang="zh-CN" sz="24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  </a:t>
            </a:r>
            <a:r>
              <a:rPr lang="zh-CN" altLang="en-US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—</a:t>
            </a: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</a:t>
            </a:r>
            <a:r>
              <a:rPr lang="zh-CN" altLang="en-US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结合多维度对比分析</a:t>
            </a:r>
            <a:endParaRPr lang="en-US" altLang="zh-CN" sz="24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4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135234" y="-26580"/>
            <a:ext cx="11544300" cy="6451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zh-CN" altLang="en-US" sz="3600" b="1">
                <a:ln w="12700">
                  <a:noFill/>
                </a:ln>
                <a:solidFill>
                  <a:schemeClr val="bg1"/>
                </a:solidFill>
                <a:latin typeface="微软雅黑" charset="0"/>
                <a:ea typeface="微软雅黑" charset="0"/>
                <a:cs typeface="Source Han Sans CN Bold" panose="020B0800000000000000" charset="-122"/>
              </a:rPr>
              <a:t>单录成本结构分析</a:t>
            </a:r>
            <a:endParaRPr kumimoji="1" lang="zh-CN" altLang="en-US" sz="3600" b="1">
              <a:ln w="12700">
                <a:noFill/>
              </a:ln>
              <a:solidFill>
                <a:schemeClr val="bg1"/>
              </a:solidFill>
              <a:latin typeface="微软雅黑" charset="0"/>
              <a:ea typeface="微软雅黑" charset="0"/>
              <a:cs typeface="Source Han Sans CN Bold" panose="020B08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91770" y="5013325"/>
            <a:ext cx="11654155" cy="15011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核心配置决定了产品成本差异</a:t>
            </a: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- </a:t>
            </a:r>
            <a:r>
              <a:rPr lang="zh-CN" altLang="en-US" sz="2000" b="1" spc="15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不可见成本</a:t>
            </a:r>
            <a:endParaRPr lang="zh-CN" altLang="en-US" sz="20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升级配置</a:t>
            </a: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(</a:t>
            </a:r>
            <a:r>
              <a:rPr lang="zh-CN" altLang="en-US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关键属性</a:t>
            </a: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)</a:t>
            </a:r>
            <a:r>
              <a:rPr lang="zh-CN" altLang="en-US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影响产品成本差异</a:t>
            </a: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- </a:t>
            </a:r>
            <a:r>
              <a:rPr lang="zh-CN" altLang="en-US" sz="2000" b="1" spc="15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可见成本</a:t>
            </a:r>
            <a:endParaRPr lang="zh-CN" altLang="en-US" sz="2000" b="1" spc="15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b="1" spc="15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关键属性</a:t>
            </a: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WIFI、GPS、屏幕、内存卡</a:t>
            </a:r>
            <a:r>
              <a:rPr lang="zh-CN" altLang="en-US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</a:t>
            </a: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成本差异在70块钱左右</a:t>
            </a:r>
            <a:r>
              <a:rPr lang="zh-CN" altLang="en-US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</a:t>
            </a: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最多10美金差异；</a:t>
            </a:r>
            <a:endParaRPr lang="zh-CN" altLang="en-US" sz="20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692785"/>
            <a:ext cx="12192000" cy="4064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135234" y="45175"/>
            <a:ext cx="11544300" cy="6451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zh-CN" altLang="en-US" sz="3600" b="1">
                <a:ln w="12700">
                  <a:noFill/>
                </a:ln>
                <a:solidFill>
                  <a:schemeClr val="bg1"/>
                </a:solidFill>
                <a:latin typeface="微软雅黑" charset="0"/>
                <a:ea typeface="微软雅黑" charset="0"/>
                <a:cs typeface="Source Han Sans CN Bold" panose="020B0800000000000000" charset="-122"/>
              </a:rPr>
              <a:t>价格差异分析的方法参考</a:t>
            </a:r>
            <a:endParaRPr kumimoji="1" lang="zh-CN" altLang="en-US" sz="3600" b="1">
              <a:ln w="12700">
                <a:noFill/>
              </a:ln>
              <a:solidFill>
                <a:schemeClr val="bg1"/>
              </a:solidFill>
              <a:latin typeface="微软雅黑" charset="0"/>
              <a:ea typeface="微软雅黑" charset="0"/>
              <a:cs typeface="Source Han Sans CN Bold" panose="020B0800000000000000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09575" y="1252855"/>
            <a:ext cx="11429365" cy="31540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200000"/>
              </a:lnSpc>
            </a:pP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1. </a:t>
            </a:r>
            <a:r>
              <a:rPr lang="zh-CN" altLang="en-US" sz="2400" b="1" spc="15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成本倒推</a:t>
            </a:r>
            <a:r>
              <a:rPr lang="zh-CN" altLang="en-US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：</a:t>
            </a: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询价成本，(</a:t>
            </a:r>
            <a:r>
              <a:rPr lang="zh-CN" altLang="en-US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扣减</a:t>
            </a: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)可见成本，(倒推)不可见成本；</a:t>
            </a:r>
            <a:endParaRPr lang="en-US" altLang="zh-CN" sz="24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200000"/>
              </a:lnSpc>
            </a:pP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2. </a:t>
            </a:r>
            <a:r>
              <a:rPr lang="zh-CN" altLang="en-US" sz="2400" b="1" spc="15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差异分析</a:t>
            </a:r>
            <a:r>
              <a:rPr lang="zh-CN" altLang="en-US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：</a:t>
            </a: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通过预估的不可见成本，对比竞品之间</a:t>
            </a:r>
            <a:r>
              <a:rPr lang="zh-CN" altLang="en-US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属性差异、</a:t>
            </a: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成本的差异，分析</a:t>
            </a:r>
            <a:r>
              <a:rPr lang="zh-CN" altLang="en-US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价格差异</a:t>
            </a: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背后的问题点；</a:t>
            </a:r>
            <a:endParaRPr lang="en-US" altLang="zh-CN" sz="24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200000"/>
              </a:lnSpc>
            </a:pP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3. </a:t>
            </a:r>
            <a:r>
              <a:rPr lang="zh-CN" altLang="en-US" sz="2400" b="1" spc="15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关注重点</a:t>
            </a:r>
            <a:r>
              <a:rPr lang="zh-CN" altLang="en-US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：</a:t>
            </a: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问题点即是我们后续在产品定位和成本方案上需要</a:t>
            </a:r>
            <a:r>
              <a:rPr lang="zh-CN" altLang="en-US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关注</a:t>
            </a: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思考的点；</a:t>
            </a:r>
            <a:endParaRPr lang="en-US" altLang="zh-CN" sz="24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135234" y="45175"/>
            <a:ext cx="11544300" cy="6451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zh-CN" altLang="en-US" sz="3600" b="1">
                <a:ln w="12700">
                  <a:noFill/>
                </a:ln>
                <a:solidFill>
                  <a:schemeClr val="bg1"/>
                </a:solidFill>
                <a:latin typeface="微软雅黑" charset="0"/>
                <a:ea typeface="微软雅黑" charset="0"/>
                <a:cs typeface="Source Han Sans CN Bold" panose="020B0800000000000000" charset="-122"/>
              </a:rPr>
              <a:t>单录定价差异分析</a:t>
            </a:r>
            <a:endParaRPr kumimoji="1" lang="zh-CN" altLang="en-US" sz="3600" b="1">
              <a:ln w="12700">
                <a:noFill/>
              </a:ln>
              <a:solidFill>
                <a:schemeClr val="bg1"/>
              </a:solidFill>
              <a:latin typeface="微软雅黑" charset="0"/>
              <a:ea typeface="微软雅黑" charset="0"/>
              <a:cs typeface="Source Han Sans CN Bold" panose="020B08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92785"/>
            <a:ext cx="7138670" cy="61264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176135" y="2275205"/>
            <a:ext cx="503301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微软雅黑" charset="0"/>
                <a:ea typeface="微软雅黑" charset="0"/>
                <a:cs typeface="微软雅黑" charset="0"/>
              </a:rPr>
              <a:t>价格差异最低$36,最高$140, 相差了</a:t>
            </a:r>
            <a:r>
              <a:rPr lang="zh-CN" altLang="en-US" sz="2400" b="1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1-4倍</a:t>
            </a:r>
            <a:r>
              <a:rPr lang="zh-CN" altLang="en-US" sz="2400">
                <a:latin typeface="微软雅黑" charset="0"/>
                <a:ea typeface="微软雅黑" charset="0"/>
                <a:cs typeface="微软雅黑" charset="0"/>
              </a:rPr>
              <a:t>，最高</a:t>
            </a:r>
            <a:r>
              <a:rPr lang="zh-CN" altLang="en-US" sz="2400" b="1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差$100</a:t>
            </a:r>
            <a:r>
              <a:rPr lang="zh-CN" altLang="en-US" sz="2400">
                <a:latin typeface="微软雅黑" charset="0"/>
                <a:ea typeface="微软雅黑" charset="0"/>
                <a:cs typeface="微软雅黑" charset="0"/>
              </a:rPr>
              <a:t>左右；</a:t>
            </a:r>
            <a:endParaRPr lang="zh-CN" altLang="en-US" sz="2400">
              <a:latin typeface="微软雅黑" charset="0"/>
              <a:ea typeface="微软雅黑" charset="0"/>
              <a:cs typeface="微软雅黑" charset="0"/>
            </a:endParaRPr>
          </a:p>
          <a:p>
            <a:endParaRPr lang="zh-CN" altLang="en-US" sz="2400">
              <a:latin typeface="微软雅黑" charset="0"/>
              <a:ea typeface="微软雅黑" charset="0"/>
              <a:cs typeface="微软雅黑" charset="0"/>
            </a:endParaRPr>
          </a:p>
          <a:p>
            <a:r>
              <a:rPr lang="zh-CN" altLang="en-US" sz="2400">
                <a:latin typeface="微软雅黑" charset="0"/>
                <a:ea typeface="微软雅黑" charset="0"/>
                <a:cs typeface="微软雅黑" charset="0"/>
              </a:rPr>
              <a:t>除了分辨率要素，其他可见成本最高差</a:t>
            </a:r>
            <a:r>
              <a:rPr lang="en-US" altLang="zh-CN" sz="2400">
                <a:latin typeface="微软雅黑" charset="0"/>
                <a:ea typeface="微软雅黑" charset="0"/>
                <a:cs typeface="微软雅黑" charset="0"/>
              </a:rPr>
              <a:t>10</a:t>
            </a:r>
            <a:r>
              <a:rPr lang="zh-CN" altLang="en-US" sz="2400">
                <a:latin typeface="微软雅黑" charset="0"/>
                <a:ea typeface="微软雅黑" charset="0"/>
                <a:cs typeface="微软雅黑" charset="0"/>
              </a:rPr>
              <a:t>美金左右，中间的差距来源</a:t>
            </a:r>
            <a:r>
              <a:rPr lang="zh-CN" altLang="en-US" sz="2400">
                <a:latin typeface="微软雅黑" charset="0"/>
                <a:ea typeface="微软雅黑" charset="0"/>
                <a:cs typeface="微软雅黑" charset="0"/>
              </a:rPr>
              <a:t>哪里？</a:t>
            </a:r>
            <a:endParaRPr lang="zh-CN" altLang="en-US" sz="2400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135234" y="45175"/>
            <a:ext cx="11544300" cy="6451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zh-CN" altLang="en-US" sz="3600" b="1">
                <a:ln w="12700">
                  <a:noFill/>
                </a:ln>
                <a:solidFill>
                  <a:schemeClr val="bg1"/>
                </a:solidFill>
                <a:latin typeface="微软雅黑" charset="0"/>
                <a:ea typeface="微软雅黑" charset="0"/>
                <a:cs typeface="Source Han Sans CN Bold" panose="020B0800000000000000" charset="-122"/>
              </a:rPr>
              <a:t>单录定价差异分析</a:t>
            </a:r>
            <a:endParaRPr kumimoji="1" lang="zh-CN" altLang="en-US" sz="3600" b="1">
              <a:ln w="12700">
                <a:noFill/>
              </a:ln>
              <a:solidFill>
                <a:schemeClr val="bg1"/>
              </a:solidFill>
              <a:latin typeface="微软雅黑" charset="0"/>
              <a:ea typeface="微软雅黑" charset="0"/>
              <a:cs typeface="Source Han Sans CN Bold" panose="020B0800000000000000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08685"/>
            <a:ext cx="12192000" cy="331343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54990" y="4408170"/>
            <a:ext cx="1112393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</a:pP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成本倒推：已知属性，利用询价成本</a:t>
            </a:r>
            <a:r>
              <a:rPr lang="zh-CN" altLang="en-US" sz="200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反推不可见成本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(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核心配置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)</a:t>
            </a:r>
            <a:endParaRPr lang="en-US" altLang="zh-CN" sz="2000">
              <a:latin typeface="微软雅黑" charset="0"/>
              <a:ea typeface="微软雅黑" charset="0"/>
              <a:cs typeface="微软雅黑" charset="0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zh-CN" sz="2000">
                <a:solidFill>
                  <a:schemeClr val="bg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3”LCD+32GB </a:t>
            </a:r>
            <a:r>
              <a:rPr lang="zh-CN" altLang="en-US" sz="2000">
                <a:solidFill>
                  <a:schemeClr val="bg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成本</a:t>
            </a:r>
            <a:r>
              <a:rPr lang="en-US" altLang="zh-CN" sz="2000">
                <a:solidFill>
                  <a:schemeClr val="bg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20RMB → 1080P</a:t>
            </a:r>
            <a:r>
              <a:rPr lang="zh-CN" altLang="en-US" sz="2000">
                <a:solidFill>
                  <a:schemeClr val="bg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标配成本</a:t>
            </a:r>
            <a:r>
              <a:rPr lang="en-US" altLang="zh-CN" sz="2000">
                <a:solidFill>
                  <a:schemeClr val="bg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80RMB</a:t>
            </a:r>
            <a:endParaRPr lang="en-US" altLang="zh-CN" sz="2000">
              <a:solidFill>
                <a:schemeClr val="bg1">
                  <a:lumMod val="75000"/>
                </a:schemeClr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差异对比：</a:t>
            </a:r>
            <a:r>
              <a:rPr lang="zh-CN" altLang="en-US" sz="200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同等配置，成本差异对比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，思考差异问题</a:t>
            </a:r>
            <a:endParaRPr lang="zh-CN" altLang="en-US" sz="2000">
              <a:latin typeface="微软雅黑" charset="0"/>
              <a:ea typeface="微软雅黑" charset="0"/>
              <a:cs typeface="微软雅黑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solidFill>
                  <a:schemeClr val="bg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1080P 70mai </a:t>
            </a:r>
            <a:r>
              <a:rPr lang="zh-CN" altLang="en-US" sz="2000">
                <a:solidFill>
                  <a:schemeClr val="bg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成本</a:t>
            </a:r>
            <a:r>
              <a:rPr lang="en-US" altLang="zh-CN" sz="2000">
                <a:solidFill>
                  <a:schemeClr val="bg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55RMB → </a:t>
            </a:r>
            <a:r>
              <a:rPr lang="zh-CN" altLang="en-US" sz="2000">
                <a:solidFill>
                  <a:schemeClr val="bg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差异</a:t>
            </a:r>
            <a:r>
              <a:rPr lang="en-US" altLang="zh-CN" sz="2000">
                <a:solidFill>
                  <a:schemeClr val="bg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25RMB +</a:t>
            </a:r>
            <a:r>
              <a:rPr lang="zh-CN" altLang="en-US" sz="2000">
                <a:solidFill>
                  <a:schemeClr val="bg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低评分</a:t>
            </a:r>
            <a:r>
              <a:rPr lang="en-US" altLang="zh-CN" sz="2000">
                <a:solidFill>
                  <a:schemeClr val="bg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 → </a:t>
            </a:r>
            <a:r>
              <a:rPr lang="zh-CN" altLang="en-US" sz="2000">
                <a:solidFill>
                  <a:schemeClr val="bg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性价比</a:t>
            </a:r>
            <a:r>
              <a:rPr lang="en-US" altLang="zh-CN" sz="2000">
                <a:solidFill>
                  <a:schemeClr val="bg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+</a:t>
            </a:r>
            <a:r>
              <a:rPr lang="zh-CN" altLang="en-US" sz="2000">
                <a:solidFill>
                  <a:schemeClr val="bg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低配</a:t>
            </a:r>
            <a:r>
              <a:rPr lang="en-US" altLang="zh-CN" sz="2000">
                <a:solidFill>
                  <a:schemeClr val="bg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(</a:t>
            </a:r>
            <a:r>
              <a:rPr lang="zh-CN" altLang="en-US" sz="2000">
                <a:solidFill>
                  <a:schemeClr val="bg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虚标</a:t>
            </a:r>
            <a:r>
              <a:rPr lang="en-US" altLang="zh-CN" sz="2000">
                <a:solidFill>
                  <a:schemeClr val="bg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)</a:t>
            </a:r>
            <a:endParaRPr lang="zh-CN" altLang="en-US" sz="2000">
              <a:solidFill>
                <a:schemeClr val="bg1">
                  <a:lumMod val="75000"/>
                </a:schemeClr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私模定制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 +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品牌溢价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 → </a:t>
            </a:r>
            <a:r>
              <a:rPr lang="zh-CN" altLang="en-US" sz="200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技术投入</a:t>
            </a:r>
            <a:r>
              <a:rPr lang="en-US" altLang="zh-CN" sz="200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 + </a:t>
            </a:r>
            <a:r>
              <a:rPr lang="zh-CN" altLang="en-US" sz="200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品牌效应</a:t>
            </a:r>
            <a:endParaRPr lang="zh-CN" altLang="en-US" sz="200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2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135234" y="45175"/>
            <a:ext cx="11544300" cy="6451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zh-CN" altLang="en-US" sz="3600" b="1">
                <a:ln w="12700">
                  <a:noFill/>
                </a:ln>
                <a:solidFill>
                  <a:schemeClr val="bg1"/>
                </a:solidFill>
                <a:latin typeface="微软雅黑" charset="0"/>
                <a:ea typeface="微软雅黑" charset="0"/>
                <a:cs typeface="Source Han Sans CN Bold" panose="020B0800000000000000" charset="-122"/>
              </a:rPr>
              <a:t>单录定价差异分析</a:t>
            </a:r>
            <a:endParaRPr kumimoji="1" lang="zh-CN" altLang="en-US" sz="3600" b="1">
              <a:ln w="12700">
                <a:noFill/>
              </a:ln>
              <a:solidFill>
                <a:schemeClr val="bg1"/>
              </a:solidFill>
              <a:latin typeface="微软雅黑" charset="0"/>
              <a:ea typeface="微软雅黑" charset="0"/>
              <a:cs typeface="Source Han Sans CN Bold" panose="020B08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4540"/>
            <a:ext cx="12192000" cy="234061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48615" y="3492500"/>
            <a:ext cx="1085977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相同的分辨率配置，属相差异20RMB，售价差异20美金，整体评分不低，推测</a:t>
            </a:r>
            <a:r>
              <a:rPr lang="zh-CN" altLang="en-US" sz="200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营销策略问题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；</a:t>
            </a:r>
            <a:endParaRPr lang="zh-CN" altLang="en-US" sz="2000">
              <a:latin typeface="微软雅黑" charset="0"/>
              <a:ea typeface="微软雅黑" charset="0"/>
              <a:cs typeface="微软雅黑" charset="0"/>
            </a:endParaRPr>
          </a:p>
          <a:p>
            <a:endParaRPr lang="zh-CN" altLang="en-US" sz="2000">
              <a:latin typeface="微软雅黑" charset="0"/>
              <a:ea typeface="微软雅黑" charset="0"/>
              <a:cs typeface="微软雅黑" charset="0"/>
            </a:endParaRPr>
          </a:p>
          <a:p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VIPFO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高价款，采用索尼传感器，成本偏高，</a:t>
            </a:r>
            <a:r>
              <a:rPr lang="zh-CN" altLang="en-US" sz="200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技术投入</a:t>
            </a:r>
            <a:endParaRPr lang="zh-CN" altLang="en-US" sz="200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135234" y="45175"/>
            <a:ext cx="11544300" cy="6451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zh-CN" altLang="en-US" sz="3600" b="1">
                <a:ln w="12700">
                  <a:noFill/>
                </a:ln>
                <a:solidFill>
                  <a:schemeClr val="bg1"/>
                </a:solidFill>
                <a:latin typeface="微软雅黑" charset="0"/>
                <a:ea typeface="微软雅黑" charset="0"/>
                <a:cs typeface="Source Han Sans CN Bold" panose="020B0800000000000000" charset="-122"/>
              </a:rPr>
              <a:t>产品定位思考</a:t>
            </a:r>
            <a:endParaRPr kumimoji="1" lang="zh-CN" altLang="en-US" sz="3600" b="1">
              <a:ln w="12700">
                <a:noFill/>
              </a:ln>
              <a:solidFill>
                <a:schemeClr val="bg1"/>
              </a:solidFill>
              <a:latin typeface="微软雅黑" charset="0"/>
              <a:ea typeface="微软雅黑" charset="0"/>
              <a:cs typeface="Source Han Sans CN Bold" panose="020B0800000000000000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09575" y="965835"/>
            <a:ext cx="11395710" cy="56311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技术差异 → 价格差异</a:t>
            </a:r>
            <a:endParaRPr lang="en-US" altLang="zh-CN" sz="20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属性差异 → 成本差异 → 价格差异 </a:t>
            </a:r>
            <a:endParaRPr lang="en-US" altLang="zh-CN" sz="20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品牌溢价能力 → 价格差异</a:t>
            </a:r>
            <a:endParaRPr lang="en-US" altLang="zh-CN" sz="20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销售策略差异 → 影响价格差异</a:t>
            </a:r>
            <a:endParaRPr lang="en-US" altLang="zh-CN" sz="20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spc="15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问题点：</a:t>
            </a:r>
            <a:endParaRPr lang="en-US" altLang="zh-CN" sz="2000" spc="15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主控方案的选择、属性需求的取舍、低配(</a:t>
            </a:r>
            <a:r>
              <a:rPr lang="zh-CN" altLang="en-US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虚标</a:t>
            </a: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)</a:t>
            </a:r>
            <a:r>
              <a:rPr lang="zh-CN" altLang="en-US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权衡</a:t>
            </a: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、</a:t>
            </a:r>
            <a:r>
              <a:rPr lang="zh-CN" altLang="en-US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退货率低评分的接受度</a:t>
            </a: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、</a:t>
            </a:r>
            <a:r>
              <a:rPr lang="zh-CN" altLang="en-US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营销策略或</a:t>
            </a: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品牌定位等等</a:t>
            </a:r>
            <a:r>
              <a:rPr lang="zh-CN" altLang="en-US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；</a:t>
            </a:r>
            <a:endParaRPr lang="zh-CN" altLang="en-US" sz="20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如果做单录 → 面对什么用户群体，解决什么需求，能承受多少的成本？方案、属性功能取舍？</a:t>
            </a:r>
            <a:endParaRPr lang="en-US" altLang="zh-CN" sz="20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价格差异的背后关键点是否影响消费者需求的满足？</a:t>
            </a:r>
            <a:r>
              <a:rPr lang="zh-CN" altLang="en-US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这些</a:t>
            </a: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关键点卖家能否具备优势或者</a:t>
            </a:r>
            <a:r>
              <a:rPr lang="zh-CN" altLang="en-US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具备解决问题的能力？</a:t>
            </a:r>
            <a:endParaRPr lang="en-US" altLang="zh-CN" sz="20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9714914" y="4380914"/>
            <a:ext cx="4954172" cy="4954172"/>
          </a:xfrm>
          <a:prstGeom prst="ellipse">
            <a:avLst/>
          </a:prstGeom>
          <a:gradFill>
            <a:gsLst>
              <a:gs pos="0">
                <a:schemeClr val="accent1"/>
              </a:gs>
              <a:gs pos="15000">
                <a:srgbClr val="5BD1D7">
                  <a:alpha val="62000"/>
                </a:srgbClr>
              </a:gs>
              <a:gs pos="39000">
                <a:srgbClr val="5BD1D7">
                  <a:alpha val="28000"/>
                </a:srgb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1380958" y="842498"/>
            <a:ext cx="137942" cy="137942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1109628" y="842498"/>
            <a:ext cx="137942" cy="13794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0838298" y="842498"/>
            <a:ext cx="137942" cy="13794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4524854" y="3146971"/>
            <a:ext cx="6100408" cy="11546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zh-CN" altLang="en-US" sz="4800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  <a:cs typeface="Source Han Sans CN Bold" panose="020B0800000000000000" charset="-122"/>
              </a:rPr>
              <a:t>单录记录仪利润分析</a:t>
            </a:r>
            <a:endParaRPr kumimoji="1" lang="zh-CN" altLang="en-US" sz="4800">
              <a:ln w="127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微软雅黑" charset="0"/>
              <a:ea typeface="微软雅黑" charset="0"/>
              <a:cs typeface="Source Han Sans CN Bold" panose="020B0800000000000000" charset="-122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3431540" y="3141345"/>
            <a:ext cx="859790" cy="115443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4800" b="1">
                <a:ln w="12700">
                  <a:noFill/>
                </a:ln>
                <a:solidFill>
                  <a:schemeClr val="tx1"/>
                </a:solidFill>
                <a:latin typeface="微软雅黑" charset="0"/>
                <a:ea typeface="微软雅黑" charset="0"/>
                <a:cs typeface="Source Han Sans CN Bold" panose="020B0800000000000000" charset="-122"/>
              </a:rPr>
              <a:t>03</a:t>
            </a:r>
            <a:endParaRPr kumimoji="1" lang="en-US" altLang="zh-CN" sz="4800" b="1">
              <a:ln w="12700">
                <a:noFill/>
              </a:ln>
              <a:solidFill>
                <a:schemeClr val="tx1"/>
              </a:solidFill>
              <a:latin typeface="微软雅黑" charset="0"/>
              <a:ea typeface="微软雅黑" charset="0"/>
              <a:cs typeface="Source Han Sans CN Bold" panose="020B0800000000000000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-1327535" y="1157978"/>
            <a:ext cx="5257931" cy="5103228"/>
            <a:chOff x="-1327535" y="1157978"/>
            <a:chExt cx="5257931" cy="5103228"/>
          </a:xfrm>
        </p:grpSpPr>
        <p:sp>
          <p:nvSpPr>
            <p:cNvPr id="11" name="标题 1"/>
            <p:cNvSpPr txBox="1"/>
            <p:nvPr/>
          </p:nvSpPr>
          <p:spPr>
            <a:xfrm rot="12891944">
              <a:off x="1480553" y="1204082"/>
              <a:ext cx="1426351" cy="4028691"/>
            </a:xfrm>
            <a:custGeom>
              <a:avLst/>
              <a:gdLst>
                <a:gd name="connsiteX0" fmla="*/ 1053297 w 2106594"/>
                <a:gd name="connsiteY0" fmla="*/ 0 h 4629873"/>
                <a:gd name="connsiteX1" fmla="*/ 2106594 w 2106594"/>
                <a:gd name="connsiteY1" fmla="*/ 1053297 h 4629873"/>
                <a:gd name="connsiteX2" fmla="*/ 2101156 w 2106594"/>
                <a:gd name="connsiteY2" fmla="*/ 1160991 h 4629873"/>
                <a:gd name="connsiteX3" fmla="*/ 2095018 w 2106594"/>
                <a:gd name="connsiteY3" fmla="*/ 1201208 h 4629873"/>
                <a:gd name="connsiteX4" fmla="*/ 2095018 w 2106594"/>
                <a:gd name="connsiteY4" fmla="*/ 4629873 h 4629873"/>
                <a:gd name="connsiteX5" fmla="*/ 0 w 2106594"/>
                <a:gd name="connsiteY5" fmla="*/ 4629873 h 4629873"/>
                <a:gd name="connsiteX6" fmla="*/ 0 w 2106594"/>
                <a:gd name="connsiteY6" fmla="*/ 1053297 h 4629873"/>
                <a:gd name="connsiteX7" fmla="*/ 0 w 2106594"/>
                <a:gd name="connsiteY7" fmla="*/ 995423 h 4629873"/>
                <a:gd name="connsiteX8" fmla="*/ 2923 w 2106594"/>
                <a:gd name="connsiteY8" fmla="*/ 995423 h 4629873"/>
                <a:gd name="connsiteX9" fmla="*/ 5438 w 2106594"/>
                <a:gd name="connsiteY9" fmla="*/ 945604 h 4629873"/>
                <a:gd name="connsiteX10" fmla="*/ 1053297 w 2106594"/>
                <a:gd name="connsiteY10" fmla="*/ 0 h 4629873"/>
              </a:gdLst>
              <a:ahLst/>
              <a:cxnLst/>
              <a:rect l="l" t="t" r="r" b="b"/>
              <a:pathLst>
                <a:path w="2106594" h="4629873">
                  <a:moveTo>
                    <a:pt x="1053297" y="0"/>
                  </a:moveTo>
                  <a:cubicBezTo>
                    <a:pt x="1635017" y="0"/>
                    <a:pt x="2106594" y="471577"/>
                    <a:pt x="2106594" y="1053297"/>
                  </a:cubicBezTo>
                  <a:cubicBezTo>
                    <a:pt x="2106594" y="1089655"/>
                    <a:pt x="2104752" y="1125582"/>
                    <a:pt x="2101156" y="1160991"/>
                  </a:cubicBezTo>
                  <a:lnTo>
                    <a:pt x="2095018" y="1201208"/>
                  </a:lnTo>
                  <a:lnTo>
                    <a:pt x="2095018" y="4629873"/>
                  </a:lnTo>
                  <a:lnTo>
                    <a:pt x="0" y="4629873"/>
                  </a:lnTo>
                  <a:lnTo>
                    <a:pt x="0" y="1053297"/>
                  </a:lnTo>
                  <a:lnTo>
                    <a:pt x="0" y="995423"/>
                  </a:lnTo>
                  <a:lnTo>
                    <a:pt x="2923" y="995423"/>
                  </a:lnTo>
                  <a:lnTo>
                    <a:pt x="5438" y="945604"/>
                  </a:lnTo>
                  <a:cubicBezTo>
                    <a:pt x="59378" y="414472"/>
                    <a:pt x="507935" y="0"/>
                    <a:pt x="1053297" y="0"/>
                  </a:cubicBezTo>
                  <a:close/>
                </a:path>
              </a:pathLst>
            </a:custGeom>
            <a:gradFill>
              <a:gsLst>
                <a:gs pos="1000">
                  <a:schemeClr val="accent1">
                    <a:alpha val="0"/>
                  </a:schemeClr>
                </a:gs>
                <a:gs pos="72000">
                  <a:schemeClr val="accent1"/>
                </a:gs>
              </a:gsLst>
              <a:lin ang="1620000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标题 1"/>
            <p:cNvSpPr txBox="1"/>
            <p:nvPr/>
          </p:nvSpPr>
          <p:spPr>
            <a:xfrm rot="12891944" flipH="1" flipV="1">
              <a:off x="-339767" y="2072646"/>
              <a:ext cx="1824377" cy="4028690"/>
            </a:xfrm>
            <a:custGeom>
              <a:avLst/>
              <a:gdLst>
                <a:gd name="connsiteX0" fmla="*/ 1053297 w 2106594"/>
                <a:gd name="connsiteY0" fmla="*/ 0 h 4629873"/>
                <a:gd name="connsiteX1" fmla="*/ 2106594 w 2106594"/>
                <a:gd name="connsiteY1" fmla="*/ 1053297 h 4629873"/>
                <a:gd name="connsiteX2" fmla="*/ 2101156 w 2106594"/>
                <a:gd name="connsiteY2" fmla="*/ 1160991 h 4629873"/>
                <a:gd name="connsiteX3" fmla="*/ 2095018 w 2106594"/>
                <a:gd name="connsiteY3" fmla="*/ 1201208 h 4629873"/>
                <a:gd name="connsiteX4" fmla="*/ 2095018 w 2106594"/>
                <a:gd name="connsiteY4" fmla="*/ 4629873 h 4629873"/>
                <a:gd name="connsiteX5" fmla="*/ 0 w 2106594"/>
                <a:gd name="connsiteY5" fmla="*/ 4629873 h 4629873"/>
                <a:gd name="connsiteX6" fmla="*/ 0 w 2106594"/>
                <a:gd name="connsiteY6" fmla="*/ 1053297 h 4629873"/>
                <a:gd name="connsiteX7" fmla="*/ 0 w 2106594"/>
                <a:gd name="connsiteY7" fmla="*/ 995423 h 4629873"/>
                <a:gd name="connsiteX8" fmla="*/ 2923 w 2106594"/>
                <a:gd name="connsiteY8" fmla="*/ 995423 h 4629873"/>
                <a:gd name="connsiteX9" fmla="*/ 5438 w 2106594"/>
                <a:gd name="connsiteY9" fmla="*/ 945604 h 4629873"/>
                <a:gd name="connsiteX10" fmla="*/ 1053297 w 2106594"/>
                <a:gd name="connsiteY10" fmla="*/ 0 h 4629873"/>
              </a:gdLst>
              <a:ahLst/>
              <a:cxnLst/>
              <a:rect l="l" t="t" r="r" b="b"/>
              <a:pathLst>
                <a:path w="2106594" h="4629873">
                  <a:moveTo>
                    <a:pt x="1053297" y="0"/>
                  </a:moveTo>
                  <a:cubicBezTo>
                    <a:pt x="1635017" y="0"/>
                    <a:pt x="2106594" y="471577"/>
                    <a:pt x="2106594" y="1053297"/>
                  </a:cubicBezTo>
                  <a:cubicBezTo>
                    <a:pt x="2106594" y="1089655"/>
                    <a:pt x="2104752" y="1125582"/>
                    <a:pt x="2101156" y="1160991"/>
                  </a:cubicBezTo>
                  <a:lnTo>
                    <a:pt x="2095018" y="1201208"/>
                  </a:lnTo>
                  <a:lnTo>
                    <a:pt x="2095018" y="4629873"/>
                  </a:lnTo>
                  <a:lnTo>
                    <a:pt x="0" y="4629873"/>
                  </a:lnTo>
                  <a:lnTo>
                    <a:pt x="0" y="1053297"/>
                  </a:lnTo>
                  <a:lnTo>
                    <a:pt x="0" y="995423"/>
                  </a:lnTo>
                  <a:lnTo>
                    <a:pt x="2923" y="995423"/>
                  </a:lnTo>
                  <a:lnTo>
                    <a:pt x="5438" y="945604"/>
                  </a:lnTo>
                  <a:cubicBezTo>
                    <a:pt x="59378" y="414472"/>
                    <a:pt x="507935" y="0"/>
                    <a:pt x="1053297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2000">
                  <a:schemeClr val="accent1">
                    <a:lumMod val="75000"/>
                  </a:schemeClr>
                </a:gs>
              </a:gsLst>
              <a:lin ang="1620000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135234" y="45175"/>
            <a:ext cx="11544300" cy="6451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zh-CN" altLang="en-US" sz="3600" b="1">
                <a:ln w="12700">
                  <a:noFill/>
                </a:ln>
                <a:solidFill>
                  <a:schemeClr val="bg1"/>
                </a:solidFill>
                <a:latin typeface="微软雅黑" charset="0"/>
                <a:ea typeface="微软雅黑" charset="0"/>
                <a:cs typeface="Source Han Sans CN Bold" panose="020B0800000000000000" charset="-122"/>
              </a:rPr>
              <a:t>利润分析的目的</a:t>
            </a:r>
            <a:r>
              <a:rPr kumimoji="1" lang="zh-CN" altLang="en-US" sz="3600" b="1">
                <a:ln w="12700">
                  <a:noFill/>
                </a:ln>
                <a:solidFill>
                  <a:schemeClr val="bg1"/>
                </a:solidFill>
                <a:latin typeface="微软雅黑" charset="0"/>
                <a:ea typeface="微软雅黑" charset="0"/>
                <a:cs typeface="Source Han Sans CN Bold" panose="020B0800000000000000" charset="-122"/>
              </a:rPr>
              <a:t>及思路</a:t>
            </a:r>
            <a:r>
              <a:rPr kumimoji="1" lang="en-US" altLang="zh-CN" sz="2800" b="1">
                <a:ln w="12700">
                  <a:noFill/>
                </a:ln>
                <a:solidFill>
                  <a:schemeClr val="bg1"/>
                </a:solidFill>
                <a:latin typeface="微软雅黑" charset="0"/>
                <a:ea typeface="微软雅黑" charset="0"/>
                <a:cs typeface="Source Han Sans CN Bold" panose="020B0800000000000000" charset="-122"/>
              </a:rPr>
              <a:t>                                                          </a:t>
            </a:r>
            <a:endParaRPr kumimoji="1" lang="zh-CN" altLang="en-US" sz="2800" b="1">
              <a:ln w="12700">
                <a:noFill/>
              </a:ln>
              <a:solidFill>
                <a:schemeClr val="bg1"/>
              </a:solidFill>
              <a:latin typeface="微软雅黑" charset="0"/>
              <a:ea typeface="微软雅黑" charset="0"/>
              <a:cs typeface="Source Han Sans CN Bold" panose="020B0800000000000000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721360" y="915035"/>
            <a:ext cx="11005820" cy="41649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目的：</a:t>
            </a:r>
            <a:endParaRPr lang="en-US" altLang="zh-CN" sz="24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评估市场利润空间，</a:t>
            </a:r>
            <a:r>
              <a:rPr lang="zh-CN" altLang="en-US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判断是否符合选品或者推广的利润需求</a:t>
            </a: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；</a:t>
            </a:r>
            <a:endParaRPr lang="en-US" altLang="zh-CN" sz="24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4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分析思路</a:t>
            </a: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：</a:t>
            </a:r>
            <a:endParaRPr lang="en-US" altLang="zh-CN" sz="24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1. 确定市场准入的目标利润门槛</a:t>
            </a:r>
            <a:endParaRPr lang="en-US" altLang="zh-CN" sz="24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2. 了解产品定价结构及利润构成</a:t>
            </a:r>
            <a:endParaRPr lang="en-US" altLang="zh-CN" sz="24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3. 通过竞品利润</a:t>
            </a:r>
            <a:r>
              <a:rPr lang="zh-CN" altLang="en-US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及价格状态评估</a:t>
            </a:r>
            <a:r>
              <a:rPr lang="en-US" altLang="zh-CN" sz="24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市场准入机会</a:t>
            </a:r>
            <a:endParaRPr lang="en-US" altLang="zh-CN" sz="24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000" u="sng" spc="15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000" u="sng" spc="15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u="sng" spc="15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提问：</a:t>
            </a:r>
            <a:endParaRPr lang="zh-CN" altLang="en-US" sz="2400" u="sng" spc="15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u="sng" spc="15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如果不扣除广告费，这个类目毛利率在多少以上大家觉得是能进入的？</a:t>
            </a:r>
            <a:endParaRPr lang="en-US" altLang="zh-CN" sz="2400" spc="15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135234" y="45175"/>
            <a:ext cx="11544300" cy="6451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zh-CN" altLang="en-US" sz="3600" b="1">
                <a:ln w="12700">
                  <a:noFill/>
                </a:ln>
                <a:solidFill>
                  <a:schemeClr val="bg1"/>
                </a:solidFill>
                <a:latin typeface="微软雅黑" charset="0"/>
                <a:ea typeface="微软雅黑" charset="0"/>
                <a:cs typeface="Source Han Sans CN Bold" panose="020B0800000000000000" charset="-122"/>
              </a:rPr>
              <a:t>单录利润分析</a:t>
            </a:r>
            <a:r>
              <a:rPr kumimoji="1" lang="en-US" altLang="zh-CN" sz="3600" b="1">
                <a:ln w="12700">
                  <a:noFill/>
                </a:ln>
                <a:solidFill>
                  <a:schemeClr val="bg1"/>
                </a:solidFill>
                <a:latin typeface="微软雅黑" charset="0"/>
                <a:ea typeface="微软雅黑" charset="0"/>
                <a:cs typeface="Source Han Sans CN Bold" panose="020B0800000000000000" charset="-122"/>
              </a:rPr>
              <a:t> </a:t>
            </a:r>
            <a:r>
              <a:rPr kumimoji="1" lang="zh-CN" altLang="en-US" sz="3600" b="1">
                <a:ln w="12700">
                  <a:noFill/>
                </a:ln>
                <a:solidFill>
                  <a:schemeClr val="bg1"/>
                </a:solidFill>
                <a:latin typeface="微软雅黑" charset="0"/>
                <a:ea typeface="微软雅黑" charset="0"/>
                <a:cs typeface="Source Han Sans CN Bold" panose="020B0800000000000000" charset="-122"/>
              </a:rPr>
              <a:t>：定价表</a:t>
            </a:r>
            <a:endParaRPr kumimoji="1" lang="zh-CN" altLang="en-US" sz="3600" b="1">
              <a:ln w="12700">
                <a:noFill/>
              </a:ln>
              <a:solidFill>
                <a:schemeClr val="bg1"/>
              </a:solidFill>
              <a:latin typeface="微软雅黑" charset="0"/>
              <a:ea typeface="微软雅黑" charset="0"/>
              <a:cs typeface="Source Han Sans CN Bold" panose="020B08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734060"/>
            <a:ext cx="12192000" cy="61468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135234" y="45175"/>
            <a:ext cx="11544300" cy="6451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zh-CN" altLang="en-US" sz="3600" b="1">
                <a:ln w="12700">
                  <a:noFill/>
                </a:ln>
                <a:solidFill>
                  <a:schemeClr val="bg1"/>
                </a:solidFill>
                <a:latin typeface="微软雅黑" charset="0"/>
                <a:ea typeface="微软雅黑" charset="0"/>
                <a:cs typeface="Source Han Sans CN Bold" panose="020B0800000000000000" charset="-122"/>
              </a:rPr>
              <a:t>利润分析决策</a:t>
            </a:r>
            <a:r>
              <a:rPr kumimoji="1" lang="zh-CN" altLang="en-US" sz="3600" b="1">
                <a:ln w="12700">
                  <a:noFill/>
                </a:ln>
                <a:solidFill>
                  <a:schemeClr val="bg1"/>
                </a:solidFill>
                <a:latin typeface="微软雅黑" charset="0"/>
                <a:ea typeface="微软雅黑" charset="0"/>
                <a:cs typeface="Source Han Sans CN Bold" panose="020B0800000000000000" charset="-122"/>
              </a:rPr>
              <a:t>依据</a:t>
            </a:r>
            <a:endParaRPr kumimoji="1" lang="zh-CN" altLang="en-US" sz="3600" b="1">
              <a:ln w="12700">
                <a:noFill/>
              </a:ln>
              <a:solidFill>
                <a:schemeClr val="bg1"/>
              </a:solidFill>
              <a:latin typeface="微软雅黑" charset="0"/>
              <a:ea typeface="微软雅黑" charset="0"/>
              <a:cs typeface="Source Han Sans CN Bold" panose="020B08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5325" y="836930"/>
            <a:ext cx="11336655" cy="5723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2400">
                <a:latin typeface="微软雅黑" charset="0"/>
                <a:ea typeface="微软雅黑" charset="0"/>
              </a:rPr>
              <a:t>静态、</a:t>
            </a:r>
            <a:r>
              <a:rPr lang="zh-CN" altLang="en-US" sz="2400">
                <a:latin typeface="微软雅黑" charset="0"/>
                <a:ea typeface="微软雅黑" charset="0"/>
              </a:rPr>
              <a:t>动态相结合</a:t>
            </a:r>
            <a:endParaRPr lang="zh-CN" altLang="en-US" sz="2400">
              <a:latin typeface="微软雅黑" charset="0"/>
              <a:ea typeface="微软雅黑" charset="0"/>
            </a:endParaRP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>
                <a:latin typeface="微软雅黑" charset="0"/>
                <a:ea typeface="微软雅黑" charset="0"/>
              </a:rPr>
              <a:t>利润率目标</a:t>
            </a:r>
            <a:r>
              <a:rPr lang="en-US" altLang="zh-CN" sz="2400">
                <a:latin typeface="微软雅黑" charset="0"/>
                <a:ea typeface="微软雅黑" charset="0"/>
              </a:rPr>
              <a:t> </a:t>
            </a:r>
            <a:r>
              <a:rPr lang="zh-CN" altLang="en-US" sz="2400">
                <a:latin typeface="微软雅黑" charset="0"/>
                <a:ea typeface="微软雅黑" charset="0"/>
              </a:rPr>
              <a:t>：当前</a:t>
            </a:r>
            <a:endParaRPr lang="en-US" altLang="zh-CN" sz="2400">
              <a:latin typeface="微软雅黑" charset="0"/>
              <a:ea typeface="微软雅黑" charset="0"/>
            </a:endParaRP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>
                <a:latin typeface="微软雅黑" charset="0"/>
                <a:ea typeface="微软雅黑" charset="0"/>
              </a:rPr>
              <a:t>利润率范围</a:t>
            </a:r>
            <a:r>
              <a:rPr lang="en-US" altLang="zh-CN" sz="2400">
                <a:latin typeface="微软雅黑" charset="0"/>
                <a:ea typeface="微软雅黑" charset="0"/>
              </a:rPr>
              <a:t> </a:t>
            </a:r>
            <a:r>
              <a:rPr lang="zh-CN" altLang="en-US" sz="2400">
                <a:latin typeface="微软雅黑" charset="0"/>
                <a:ea typeface="微软雅黑" charset="0"/>
              </a:rPr>
              <a:t>：未来</a:t>
            </a:r>
            <a:endParaRPr lang="en-US" altLang="zh-CN" sz="2400">
              <a:latin typeface="微软雅黑" charset="0"/>
              <a:ea typeface="微软雅黑" charset="0"/>
            </a:endParaRP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>
                <a:latin typeface="微软雅黑" charset="0"/>
                <a:ea typeface="微软雅黑" charset="0"/>
              </a:rPr>
              <a:t>竞品低价情况</a:t>
            </a:r>
            <a:r>
              <a:rPr lang="en-US" altLang="zh-CN" sz="2400">
                <a:latin typeface="微软雅黑" charset="0"/>
                <a:ea typeface="微软雅黑" charset="0"/>
              </a:rPr>
              <a:t> </a:t>
            </a:r>
            <a:r>
              <a:rPr lang="zh-CN" altLang="en-US" sz="2400">
                <a:latin typeface="微软雅黑" charset="0"/>
                <a:ea typeface="微软雅黑" charset="0"/>
              </a:rPr>
              <a:t>：内卷</a:t>
            </a:r>
            <a:endParaRPr lang="zh-CN" altLang="en-US" sz="2400">
              <a:latin typeface="微软雅黑" charset="0"/>
              <a:ea typeface="微软雅黑" charset="0"/>
            </a:endParaRP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>
                <a:latin typeface="微软雅黑" charset="0"/>
                <a:ea typeface="微软雅黑" charset="0"/>
                <a:sym typeface="+mn-ea"/>
              </a:rPr>
              <a:t>大额优惠券情况</a:t>
            </a:r>
            <a:r>
              <a:rPr lang="en-US" altLang="zh-CN" sz="2400">
                <a:latin typeface="微软雅黑" charset="0"/>
                <a:ea typeface="微软雅黑" charset="0"/>
                <a:sym typeface="+mn-ea"/>
              </a:rPr>
              <a:t> </a:t>
            </a:r>
            <a:r>
              <a:rPr lang="zh-CN" altLang="en-US" sz="2400">
                <a:latin typeface="微软雅黑" charset="0"/>
                <a:ea typeface="微软雅黑" charset="0"/>
                <a:sym typeface="+mn-ea"/>
              </a:rPr>
              <a:t>：竞争</a:t>
            </a:r>
            <a:endParaRPr lang="zh-CN" altLang="en-US" sz="2400">
              <a:latin typeface="微软雅黑" charset="0"/>
              <a:ea typeface="微软雅黑" charset="0"/>
            </a:endParaRP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>
                <a:latin typeface="微软雅黑" charset="0"/>
                <a:ea typeface="微软雅黑" charset="0"/>
              </a:rPr>
              <a:t>竞品价格稳定情况</a:t>
            </a:r>
            <a:r>
              <a:rPr lang="en-US" altLang="zh-CN" sz="2400">
                <a:latin typeface="微软雅黑" charset="0"/>
                <a:ea typeface="微软雅黑" charset="0"/>
              </a:rPr>
              <a:t> </a:t>
            </a:r>
            <a:r>
              <a:rPr lang="zh-CN" altLang="en-US" sz="2400">
                <a:latin typeface="微软雅黑" charset="0"/>
                <a:ea typeface="微软雅黑" charset="0"/>
              </a:rPr>
              <a:t>：</a:t>
            </a:r>
            <a:r>
              <a:rPr lang="zh-CN" altLang="en-US" sz="2400">
                <a:latin typeface="微软雅黑" charset="0"/>
                <a:ea typeface="微软雅黑" charset="0"/>
              </a:rPr>
              <a:t>保障</a:t>
            </a:r>
            <a:endParaRPr lang="zh-CN" altLang="en-US" sz="2400">
              <a:latin typeface="微软雅黑" charset="0"/>
              <a:ea typeface="微软雅黑" charset="0"/>
            </a:endParaRPr>
          </a:p>
          <a:p>
            <a:pPr indent="0" fontAlgn="auto">
              <a:lnSpc>
                <a:spcPct val="150000"/>
              </a:lnSpc>
              <a:buFont typeface="+mj-lt"/>
              <a:buNone/>
            </a:pPr>
            <a:endParaRPr lang="zh-CN" altLang="en-US" sz="2000">
              <a:latin typeface="微软雅黑" charset="0"/>
              <a:ea typeface="微软雅黑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单录整体平均利润率大概在35%左右  </a:t>
            </a:r>
            <a:endParaRPr lang="en-US" altLang="zh-CN" sz="20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25%的链接(6/24)基本毛利率预估低于20%(稳住排名、推排名);</a:t>
            </a:r>
            <a:endParaRPr lang="en-US" altLang="zh-CN" sz="20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头部竞争较激烈，大额优惠券居多，10%-50%不等，且长期设置；</a:t>
            </a:r>
            <a:endParaRPr lang="en-US" altLang="zh-CN" sz="20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具备品牌溢价能力</a:t>
            </a:r>
            <a:r>
              <a:rPr lang="zh-CN" altLang="en-US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链接</a:t>
            </a:r>
            <a:r>
              <a:rPr lang="en-US" altLang="zh-CN" sz="2000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，利润空间可观；</a:t>
            </a:r>
            <a:endParaRPr lang="zh-CN" altLang="en-US" sz="2000"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135234" y="45175"/>
            <a:ext cx="11544300" cy="6451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zh-CN" altLang="en-US" sz="3600" b="1">
                <a:ln w="12700">
                  <a:noFill/>
                </a:ln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</a:rPr>
              <a:t>技巧拓展：费用拆解</a:t>
            </a:r>
            <a:r>
              <a:rPr kumimoji="1" lang="en-US" altLang="zh-CN" sz="3600" b="1">
                <a:ln w="12700">
                  <a:noFill/>
                </a:ln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</a:rPr>
              <a:t>  100%</a:t>
            </a:r>
            <a:r>
              <a:rPr kumimoji="1" lang="zh-CN" altLang="en-US" sz="3600" b="1">
                <a:ln w="12700">
                  <a:noFill/>
                </a:ln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</a:rPr>
              <a:t>配比</a:t>
            </a:r>
            <a:endParaRPr kumimoji="1" lang="zh-CN" altLang="en-US" sz="3600" b="1">
              <a:ln w="12700">
                <a:noFill/>
              </a:ln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5280" y="4938395"/>
            <a:ext cx="1162685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收入 </a:t>
            </a:r>
            <a:endParaRPr lang="zh-CN" altLang="en-US" sz="2000">
              <a:latin typeface="微软雅黑" charset="0"/>
              <a:ea typeface="微软雅黑" charset="0"/>
              <a:cs typeface="微软雅黑" charset="0"/>
            </a:endParaRPr>
          </a:p>
          <a:p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= 销售佣金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+FBA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配送费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+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仓储费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/Cupon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费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+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产品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BOM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成本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+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头程成本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+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退货成本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+</a:t>
            </a:r>
            <a:r>
              <a:rPr lang="zh-CN" altLang="en-US" sz="200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利润额</a:t>
            </a:r>
            <a:endParaRPr lang="zh-CN" altLang="en-US" sz="200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endParaRPr lang="zh-CN" altLang="en-US" sz="2000">
              <a:latin typeface="微软雅黑" charset="0"/>
              <a:ea typeface="微软雅黑" charset="0"/>
              <a:cs typeface="微软雅黑" charset="0"/>
            </a:endParaRPr>
          </a:p>
          <a:p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利润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%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 </a:t>
            </a:r>
            <a:endParaRPr lang="zh-CN" altLang="en-US" sz="2000">
              <a:latin typeface="微软雅黑" charset="0"/>
              <a:ea typeface="微软雅黑" charset="0"/>
              <a:cs typeface="微软雅黑" charset="0"/>
            </a:endParaRPr>
          </a:p>
          <a:p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= 收入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100%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 - 销售佣金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%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 - 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FBA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配送费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%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 - 仓储费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/Cupon%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 - 产品成本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%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 - 头程成本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%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-退货成本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%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 </a:t>
            </a:r>
            <a:endParaRPr lang="zh-CN" altLang="en-US" sz="2000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3025" y="1620520"/>
            <a:ext cx="7490460" cy="307467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91135" y="836930"/>
            <a:ext cx="107067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问题：什么是</a:t>
            </a:r>
            <a:r>
              <a:rPr lang="en-US" altLang="zh-CN" sz="240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100%</a:t>
            </a:r>
            <a:r>
              <a:rPr lang="zh-CN" altLang="en-US" sz="240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费用配比原则？</a:t>
            </a:r>
            <a:endParaRPr lang="zh-CN" altLang="en-US" sz="240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135234" y="45175"/>
            <a:ext cx="11544300" cy="6451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zh-CN" altLang="en-US" sz="3600" b="1">
                <a:ln w="12700">
                  <a:noFill/>
                </a:ln>
                <a:solidFill>
                  <a:schemeClr val="bg1"/>
                </a:solidFill>
                <a:latin typeface="微软雅黑" charset="0"/>
                <a:ea typeface="微软雅黑" charset="0"/>
                <a:cs typeface="Source Han Sans CN Bold" panose="020B0800000000000000" charset="-122"/>
              </a:rPr>
              <a:t>总结单录费用配比</a:t>
            </a:r>
            <a:endParaRPr kumimoji="1" lang="zh-CN" altLang="en-US" sz="3600" b="1">
              <a:ln w="12700">
                <a:noFill/>
              </a:ln>
              <a:solidFill>
                <a:schemeClr val="bg1"/>
              </a:solidFill>
              <a:latin typeface="微软雅黑" charset="0"/>
              <a:ea typeface="微软雅黑" charset="0"/>
              <a:cs typeface="Source Han Sans CN Bold" panose="020B08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9425" y="836930"/>
            <a:ext cx="10401935" cy="587565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135234" y="45175"/>
            <a:ext cx="11544300" cy="6451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zh-CN" altLang="en-US" sz="3600" b="1">
                <a:ln w="12700">
                  <a:noFill/>
                </a:ln>
                <a:solidFill>
                  <a:schemeClr val="bg1"/>
                </a:solidFill>
                <a:latin typeface="微软雅黑" charset="0"/>
                <a:ea typeface="微软雅黑" charset="0"/>
                <a:cs typeface="Source Han Sans CN Bold" panose="020B0800000000000000" charset="-122"/>
              </a:rPr>
              <a:t>批量分析类目利润：单录记录仪为例</a:t>
            </a:r>
            <a:endParaRPr kumimoji="1" lang="zh-CN" altLang="en-US" sz="3600" b="1">
              <a:ln w="12700">
                <a:noFill/>
              </a:ln>
              <a:solidFill>
                <a:schemeClr val="bg1"/>
              </a:solidFill>
              <a:latin typeface="微软雅黑" charset="0"/>
              <a:ea typeface="微软雅黑" charset="0"/>
              <a:cs typeface="Source Han Sans CN Bold" panose="020B08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7485" y="1412875"/>
            <a:ext cx="7620000" cy="35433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" y="765175"/>
            <a:ext cx="3564255" cy="60966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135234" y="45175"/>
            <a:ext cx="11544300" cy="6451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zh-CN" altLang="en-US" sz="3600" b="1">
                <a:ln w="12700">
                  <a:noFill/>
                </a:ln>
                <a:solidFill>
                  <a:schemeClr val="bg1"/>
                </a:solidFill>
                <a:latin typeface="微软雅黑" charset="0"/>
                <a:ea typeface="微软雅黑" charset="0"/>
                <a:cs typeface="Source Han Sans CN Bold" panose="020B0800000000000000" charset="-122"/>
                <a:sym typeface="+mn-ea"/>
              </a:rPr>
              <a:t>批量分析类目利润：单录记录仪为例</a:t>
            </a:r>
            <a:endParaRPr kumimoji="1" lang="zh-CN" altLang="en-US" sz="3600" b="1">
              <a:ln w="12700">
                <a:noFill/>
              </a:ln>
              <a:solidFill>
                <a:schemeClr val="bg1"/>
              </a:solidFill>
              <a:latin typeface="微软雅黑" charset="0"/>
              <a:ea typeface="微软雅黑" charset="0"/>
              <a:cs typeface="Source Han Sans CN Bold" panose="020B0800000000000000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07035" y="836930"/>
            <a:ext cx="11479530" cy="59334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135234" y="45175"/>
            <a:ext cx="11544300" cy="6451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lang="zh-CN" alt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总结与复盘</a:t>
            </a:r>
            <a:endParaRPr lang="zh-CN" altLang="en-US" sz="3600" b="1" dirty="0" smtClean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2135505" y="1700530"/>
            <a:ext cx="723392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3600">
                <a:latin typeface="微软雅黑" charset="0"/>
                <a:ea typeface="微软雅黑" charset="0"/>
                <a:cs typeface="微软雅黑" charset="0"/>
                <a:sym typeface="+mn-ea"/>
              </a:rPr>
              <a:t>提供高效的方法技巧</a:t>
            </a:r>
            <a:endParaRPr lang="zh-CN" altLang="en-US" sz="3600"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r>
              <a:rPr lang="zh-CN" altLang="en-US" sz="3600">
                <a:latin typeface="微软雅黑" charset="0"/>
                <a:ea typeface="微软雅黑" charset="0"/>
                <a:cs typeface="微软雅黑" charset="0"/>
                <a:sym typeface="+mn-ea"/>
              </a:rPr>
              <a:t>启发新的思路视角</a:t>
            </a:r>
            <a:endParaRPr lang="zh-CN" altLang="en-US" sz="3600">
              <a:latin typeface="微软雅黑" charset="0"/>
              <a:ea typeface="微软雅黑" charset="0"/>
              <a:cs typeface="微软雅黑" charset="0"/>
            </a:endParaRPr>
          </a:p>
          <a:p>
            <a:pPr indent="0" algn="ctr" fontAlgn="auto">
              <a:lnSpc>
                <a:spcPct val="150000"/>
              </a:lnSpc>
            </a:pPr>
            <a:r>
              <a:rPr lang="zh-CN" altLang="en-US" sz="3600">
                <a:latin typeface="微软雅黑" charset="0"/>
                <a:ea typeface="微软雅黑" charset="0"/>
                <a:cs typeface="微软雅黑" charset="0"/>
                <a:sym typeface="+mn-ea"/>
              </a:rPr>
              <a:t>建立更完善的分析思路</a:t>
            </a:r>
            <a:endParaRPr lang="en-US" altLang="zh-CN" sz="3600" spc="150">
              <a:solidFill>
                <a:srgbClr val="000000">
                  <a:lumMod val="75000"/>
                  <a:lumOff val="25000"/>
                </a:srgbClr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5400000">
            <a:off x="-85091" y="33657"/>
            <a:ext cx="6858002" cy="673608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26000"/>
                </a:schemeClr>
              </a:gs>
              <a:gs pos="72000">
                <a:schemeClr val="accent1">
                  <a:lumMod val="20000"/>
                  <a:lumOff val="80000"/>
                  <a:alpha val="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7442947" y="1401026"/>
            <a:ext cx="4749054" cy="4733074"/>
            <a:chOff x="7442947" y="1401026"/>
            <a:chExt cx="4749054" cy="4733074"/>
          </a:xfrm>
        </p:grpSpPr>
        <p:sp>
          <p:nvSpPr>
            <p:cNvPr id="4" name="标题 1"/>
            <p:cNvSpPr txBox="1"/>
            <p:nvPr/>
          </p:nvSpPr>
          <p:spPr>
            <a:xfrm rot="13528726">
              <a:off x="9204001" y="2056966"/>
              <a:ext cx="1824375" cy="4028692"/>
            </a:xfrm>
            <a:custGeom>
              <a:avLst/>
              <a:gdLst>
                <a:gd name="connsiteX0" fmla="*/ 1053297 w 2106594"/>
                <a:gd name="connsiteY0" fmla="*/ 0 h 4629873"/>
                <a:gd name="connsiteX1" fmla="*/ 2106594 w 2106594"/>
                <a:gd name="connsiteY1" fmla="*/ 1053297 h 4629873"/>
                <a:gd name="connsiteX2" fmla="*/ 2101156 w 2106594"/>
                <a:gd name="connsiteY2" fmla="*/ 1160991 h 4629873"/>
                <a:gd name="connsiteX3" fmla="*/ 2095018 w 2106594"/>
                <a:gd name="connsiteY3" fmla="*/ 1201208 h 4629873"/>
                <a:gd name="connsiteX4" fmla="*/ 2095018 w 2106594"/>
                <a:gd name="connsiteY4" fmla="*/ 4629873 h 4629873"/>
                <a:gd name="connsiteX5" fmla="*/ 0 w 2106594"/>
                <a:gd name="connsiteY5" fmla="*/ 4629873 h 4629873"/>
                <a:gd name="connsiteX6" fmla="*/ 0 w 2106594"/>
                <a:gd name="connsiteY6" fmla="*/ 1053297 h 4629873"/>
                <a:gd name="connsiteX7" fmla="*/ 0 w 2106594"/>
                <a:gd name="connsiteY7" fmla="*/ 995423 h 4629873"/>
                <a:gd name="connsiteX8" fmla="*/ 2923 w 2106594"/>
                <a:gd name="connsiteY8" fmla="*/ 995423 h 4629873"/>
                <a:gd name="connsiteX9" fmla="*/ 5438 w 2106594"/>
                <a:gd name="connsiteY9" fmla="*/ 945604 h 4629873"/>
                <a:gd name="connsiteX10" fmla="*/ 1053297 w 2106594"/>
                <a:gd name="connsiteY10" fmla="*/ 0 h 4629873"/>
              </a:gdLst>
              <a:ahLst/>
              <a:cxnLst/>
              <a:rect l="l" t="t" r="r" b="b"/>
              <a:pathLst>
                <a:path w="2106594" h="4629873">
                  <a:moveTo>
                    <a:pt x="1053297" y="0"/>
                  </a:moveTo>
                  <a:cubicBezTo>
                    <a:pt x="1635017" y="0"/>
                    <a:pt x="2106594" y="471577"/>
                    <a:pt x="2106594" y="1053297"/>
                  </a:cubicBezTo>
                  <a:cubicBezTo>
                    <a:pt x="2106594" y="1089655"/>
                    <a:pt x="2104752" y="1125582"/>
                    <a:pt x="2101156" y="1160991"/>
                  </a:cubicBezTo>
                  <a:lnTo>
                    <a:pt x="2095018" y="1201208"/>
                  </a:lnTo>
                  <a:lnTo>
                    <a:pt x="2095018" y="4629873"/>
                  </a:lnTo>
                  <a:lnTo>
                    <a:pt x="0" y="4629873"/>
                  </a:lnTo>
                  <a:lnTo>
                    <a:pt x="0" y="1053297"/>
                  </a:lnTo>
                  <a:lnTo>
                    <a:pt x="0" y="995423"/>
                  </a:lnTo>
                  <a:lnTo>
                    <a:pt x="2923" y="995423"/>
                  </a:lnTo>
                  <a:lnTo>
                    <a:pt x="5438" y="945604"/>
                  </a:lnTo>
                  <a:cubicBezTo>
                    <a:pt x="59378" y="414472"/>
                    <a:pt x="507935" y="0"/>
                    <a:pt x="1053297" y="0"/>
                  </a:cubicBezTo>
                  <a:close/>
                </a:path>
              </a:pathLst>
            </a:custGeom>
            <a:gradFill>
              <a:gsLst>
                <a:gs pos="1000">
                  <a:schemeClr val="accent1">
                    <a:alpha val="0"/>
                  </a:schemeClr>
                </a:gs>
                <a:gs pos="72000">
                  <a:schemeClr val="accent1"/>
                </a:gs>
              </a:gsLst>
              <a:lin ang="1620000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" name="标题 1"/>
            <p:cNvSpPr txBox="1"/>
            <p:nvPr/>
          </p:nvSpPr>
          <p:spPr>
            <a:xfrm rot="13528726" flipH="1" flipV="1">
              <a:off x="8606571" y="1449468"/>
              <a:ext cx="1824375" cy="4028692"/>
            </a:xfrm>
            <a:custGeom>
              <a:avLst/>
              <a:gdLst>
                <a:gd name="connsiteX0" fmla="*/ 1053297 w 2106594"/>
                <a:gd name="connsiteY0" fmla="*/ 0 h 4629873"/>
                <a:gd name="connsiteX1" fmla="*/ 2106594 w 2106594"/>
                <a:gd name="connsiteY1" fmla="*/ 1053297 h 4629873"/>
                <a:gd name="connsiteX2" fmla="*/ 2101156 w 2106594"/>
                <a:gd name="connsiteY2" fmla="*/ 1160991 h 4629873"/>
                <a:gd name="connsiteX3" fmla="*/ 2095018 w 2106594"/>
                <a:gd name="connsiteY3" fmla="*/ 1201208 h 4629873"/>
                <a:gd name="connsiteX4" fmla="*/ 2095018 w 2106594"/>
                <a:gd name="connsiteY4" fmla="*/ 4629873 h 4629873"/>
                <a:gd name="connsiteX5" fmla="*/ 0 w 2106594"/>
                <a:gd name="connsiteY5" fmla="*/ 4629873 h 4629873"/>
                <a:gd name="connsiteX6" fmla="*/ 0 w 2106594"/>
                <a:gd name="connsiteY6" fmla="*/ 1053297 h 4629873"/>
                <a:gd name="connsiteX7" fmla="*/ 0 w 2106594"/>
                <a:gd name="connsiteY7" fmla="*/ 995423 h 4629873"/>
                <a:gd name="connsiteX8" fmla="*/ 2923 w 2106594"/>
                <a:gd name="connsiteY8" fmla="*/ 995423 h 4629873"/>
                <a:gd name="connsiteX9" fmla="*/ 5438 w 2106594"/>
                <a:gd name="connsiteY9" fmla="*/ 945604 h 4629873"/>
                <a:gd name="connsiteX10" fmla="*/ 1053297 w 2106594"/>
                <a:gd name="connsiteY10" fmla="*/ 0 h 4629873"/>
              </a:gdLst>
              <a:ahLst/>
              <a:cxnLst/>
              <a:rect l="l" t="t" r="r" b="b"/>
              <a:pathLst>
                <a:path w="2106594" h="4629873">
                  <a:moveTo>
                    <a:pt x="1053297" y="0"/>
                  </a:moveTo>
                  <a:cubicBezTo>
                    <a:pt x="1635017" y="0"/>
                    <a:pt x="2106594" y="471577"/>
                    <a:pt x="2106594" y="1053297"/>
                  </a:cubicBezTo>
                  <a:cubicBezTo>
                    <a:pt x="2106594" y="1089655"/>
                    <a:pt x="2104752" y="1125582"/>
                    <a:pt x="2101156" y="1160991"/>
                  </a:cubicBezTo>
                  <a:lnTo>
                    <a:pt x="2095018" y="1201208"/>
                  </a:lnTo>
                  <a:lnTo>
                    <a:pt x="2095018" y="4629873"/>
                  </a:lnTo>
                  <a:lnTo>
                    <a:pt x="0" y="4629873"/>
                  </a:lnTo>
                  <a:lnTo>
                    <a:pt x="0" y="1053297"/>
                  </a:lnTo>
                  <a:lnTo>
                    <a:pt x="0" y="995423"/>
                  </a:lnTo>
                  <a:lnTo>
                    <a:pt x="2923" y="995423"/>
                  </a:lnTo>
                  <a:lnTo>
                    <a:pt x="5438" y="945604"/>
                  </a:lnTo>
                  <a:cubicBezTo>
                    <a:pt x="59378" y="414472"/>
                    <a:pt x="507935" y="0"/>
                    <a:pt x="1053297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2000">
                  <a:schemeClr val="accent1">
                    <a:lumMod val="75000"/>
                  </a:schemeClr>
                </a:gs>
              </a:gsLst>
              <a:lin ang="1620000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6" name="标题 1"/>
          <p:cNvSpPr txBox="1"/>
          <p:nvPr/>
        </p:nvSpPr>
        <p:spPr>
          <a:xfrm>
            <a:off x="9714914" y="4380914"/>
            <a:ext cx="4954172" cy="4954172"/>
          </a:xfrm>
          <a:prstGeom prst="ellipse">
            <a:avLst/>
          </a:prstGeom>
          <a:gradFill>
            <a:gsLst>
              <a:gs pos="0">
                <a:schemeClr val="accent1"/>
              </a:gs>
              <a:gs pos="15000">
                <a:srgbClr val="5BD1D7">
                  <a:alpha val="62000"/>
                </a:srgbClr>
              </a:gs>
              <a:gs pos="39000">
                <a:srgbClr val="5BD1D7">
                  <a:alpha val="28000"/>
                </a:srgb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60399" y="2670850"/>
            <a:ext cx="7200000" cy="18464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6600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  <a:cs typeface="Source Han Sans CN Bold" panose="020B0800000000000000" charset="-122"/>
              </a:rPr>
              <a:t>谢谢大家</a:t>
            </a:r>
            <a:endParaRPr kumimoji="1" lang="en-US" altLang="zh-CN" sz="6600">
              <a:ln w="127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微软雅黑" charset="0"/>
              <a:ea typeface="微软雅黑" charset="0"/>
              <a:cs typeface="Source Han Sans CN Bold" panose="020B0800000000000000" charset="-122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660400" y="5138636"/>
            <a:ext cx="2341880" cy="3530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800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汇报人：197</a:t>
            </a:r>
            <a:r>
              <a:rPr kumimoji="1" lang="zh-CN" altLang="en-US" sz="1800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号</a:t>
            </a:r>
            <a:r>
              <a:rPr kumimoji="1" lang="en-US" altLang="zh-CN" sz="1800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 </a:t>
            </a:r>
            <a:r>
              <a:rPr kumimoji="1" lang="en-US" altLang="zh-CN" sz="1800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GUGU</a:t>
            </a:r>
            <a:endParaRPr kumimoji="1" lang="en-US" altLang="zh-CN" sz="1800">
              <a:ln w="127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sp>
        <p:nvSpPr>
          <p:cNvPr id="16" name="标题 1"/>
          <p:cNvSpPr txBox="1"/>
          <p:nvPr/>
        </p:nvSpPr>
        <p:spPr>
          <a:xfrm>
            <a:off x="660400" y="5568315"/>
            <a:ext cx="2249170" cy="11811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660400" y="5980966"/>
            <a:ext cx="890676" cy="254734"/>
            <a:chOff x="660400" y="5980966"/>
            <a:chExt cx="890676" cy="254734"/>
          </a:xfrm>
        </p:grpSpPr>
        <p:sp>
          <p:nvSpPr>
            <p:cNvPr id="19" name="标题 1"/>
            <p:cNvSpPr txBox="1"/>
            <p:nvPr/>
          </p:nvSpPr>
          <p:spPr>
            <a:xfrm>
              <a:off x="660400" y="5980966"/>
              <a:ext cx="263227" cy="254734"/>
            </a:xfrm>
            <a:custGeom>
              <a:avLst/>
              <a:gdLst>
                <a:gd name="connsiteX0" fmla="*/ 311954 w 744004"/>
                <a:gd name="connsiteY0" fmla="*/ 337123 h 720001"/>
                <a:gd name="connsiteX1" fmla="*/ 168770 w 744004"/>
                <a:gd name="connsiteY1" fmla="*/ 337123 h 720001"/>
                <a:gd name="connsiteX2" fmla="*/ 49673 w 744004"/>
                <a:gd name="connsiteY2" fmla="*/ 287618 h 720001"/>
                <a:gd name="connsiteX3" fmla="*/ 167 w 744004"/>
                <a:gd name="connsiteY3" fmla="*/ 168520 h 720001"/>
                <a:gd name="connsiteX4" fmla="*/ 49590 w 744004"/>
                <a:gd name="connsiteY4" fmla="*/ 49507 h 720001"/>
                <a:gd name="connsiteX5" fmla="*/ 168687 w 744004"/>
                <a:gd name="connsiteY5" fmla="*/ 0 h 720001"/>
                <a:gd name="connsiteX6" fmla="*/ 287784 w 744004"/>
                <a:gd name="connsiteY6" fmla="*/ 49507 h 720001"/>
                <a:gd name="connsiteX7" fmla="*/ 337290 w 744004"/>
                <a:gd name="connsiteY7" fmla="*/ 168604 h 720001"/>
                <a:gd name="connsiteX8" fmla="*/ 337290 w 744004"/>
                <a:gd name="connsiteY8" fmla="*/ 311787 h 720001"/>
                <a:gd name="connsiteX9" fmla="*/ 311954 w 744004"/>
                <a:gd name="connsiteY9" fmla="*/ 337123 h 720001"/>
                <a:gd name="connsiteX10" fmla="*/ 575401 w 744004"/>
                <a:gd name="connsiteY10" fmla="*/ 337207 h 720001"/>
                <a:gd name="connsiteX11" fmla="*/ 432218 w 744004"/>
                <a:gd name="connsiteY11" fmla="*/ 337207 h 720001"/>
                <a:gd name="connsiteX12" fmla="*/ 406882 w 744004"/>
                <a:gd name="connsiteY12" fmla="*/ 311870 h 720001"/>
                <a:gd name="connsiteX13" fmla="*/ 406882 w 744004"/>
                <a:gd name="connsiteY13" fmla="*/ 168687 h 720001"/>
                <a:gd name="connsiteX14" fmla="*/ 456387 w 744004"/>
                <a:gd name="connsiteY14" fmla="*/ 49590 h 720001"/>
                <a:gd name="connsiteX15" fmla="*/ 575401 w 744004"/>
                <a:gd name="connsiteY15" fmla="*/ 0 h 720001"/>
                <a:gd name="connsiteX16" fmla="*/ 694498 w 744004"/>
                <a:gd name="connsiteY16" fmla="*/ 49507 h 720001"/>
                <a:gd name="connsiteX17" fmla="*/ 744004 w 744004"/>
                <a:gd name="connsiteY17" fmla="*/ 168604 h 720001"/>
                <a:gd name="connsiteX18" fmla="*/ 694498 w 744004"/>
                <a:gd name="connsiteY18" fmla="*/ 287701 h 720001"/>
                <a:gd name="connsiteX19" fmla="*/ 575401 w 744004"/>
                <a:gd name="connsiteY19" fmla="*/ 337207 h 720001"/>
                <a:gd name="connsiteX20" fmla="*/ 168604 w 744004"/>
                <a:gd name="connsiteY20" fmla="*/ 720001 h 720001"/>
                <a:gd name="connsiteX21" fmla="*/ 49507 w 744004"/>
                <a:gd name="connsiteY21" fmla="*/ 670495 h 720001"/>
                <a:gd name="connsiteX22" fmla="*/ 0 w 744004"/>
                <a:gd name="connsiteY22" fmla="*/ 551398 h 720001"/>
                <a:gd name="connsiteX23" fmla="*/ 49507 w 744004"/>
                <a:gd name="connsiteY23" fmla="*/ 432301 h 720001"/>
                <a:gd name="connsiteX24" fmla="*/ 168687 w 744004"/>
                <a:gd name="connsiteY24" fmla="*/ 382879 h 720001"/>
                <a:gd name="connsiteX25" fmla="*/ 311871 w 744004"/>
                <a:gd name="connsiteY25" fmla="*/ 382879 h 720001"/>
                <a:gd name="connsiteX26" fmla="*/ 337207 w 744004"/>
                <a:gd name="connsiteY26" fmla="*/ 408215 h 720001"/>
                <a:gd name="connsiteX27" fmla="*/ 337207 w 744004"/>
                <a:gd name="connsiteY27" fmla="*/ 551398 h 720001"/>
                <a:gd name="connsiteX28" fmla="*/ 287701 w 744004"/>
                <a:gd name="connsiteY28" fmla="*/ 670495 h 720001"/>
                <a:gd name="connsiteX29" fmla="*/ 168604 w 744004"/>
                <a:gd name="connsiteY29" fmla="*/ 720001 h 720001"/>
                <a:gd name="connsiteX30" fmla="*/ 575401 w 744004"/>
                <a:gd name="connsiteY30" fmla="*/ 720001 h 720001"/>
                <a:gd name="connsiteX31" fmla="*/ 456304 w 744004"/>
                <a:gd name="connsiteY31" fmla="*/ 670495 h 720001"/>
                <a:gd name="connsiteX32" fmla="*/ 406798 w 744004"/>
                <a:gd name="connsiteY32" fmla="*/ 551398 h 720001"/>
                <a:gd name="connsiteX33" fmla="*/ 406798 w 744004"/>
                <a:gd name="connsiteY33" fmla="*/ 408215 h 720001"/>
                <a:gd name="connsiteX34" fmla="*/ 432218 w 744004"/>
                <a:gd name="connsiteY34" fmla="*/ 382879 h 720001"/>
                <a:gd name="connsiteX35" fmla="*/ 575401 w 744004"/>
                <a:gd name="connsiteY35" fmla="*/ 382879 h 720001"/>
                <a:gd name="connsiteX36" fmla="*/ 694498 w 744004"/>
                <a:gd name="connsiteY36" fmla="*/ 432385 h 720001"/>
                <a:gd name="connsiteX37" fmla="*/ 744004 w 744004"/>
                <a:gd name="connsiteY37" fmla="*/ 551398 h 720001"/>
                <a:gd name="connsiteX38" fmla="*/ 694498 w 744004"/>
                <a:gd name="connsiteY38" fmla="*/ 670495 h 720001"/>
                <a:gd name="connsiteX39" fmla="*/ 575401 w 744004"/>
                <a:gd name="connsiteY39" fmla="*/ 720001 h 720001"/>
              </a:gdLst>
              <a:ahLst/>
              <a:cxnLst/>
              <a:rect l="l" t="t" r="r" b="b"/>
              <a:pathLst>
                <a:path w="744004" h="720001">
                  <a:moveTo>
                    <a:pt x="311954" y="337123"/>
                  </a:moveTo>
                  <a:lnTo>
                    <a:pt x="168770" y="337123"/>
                  </a:lnTo>
                  <a:cubicBezTo>
                    <a:pt x="123932" y="337123"/>
                    <a:pt x="81594" y="319538"/>
                    <a:pt x="49673" y="287618"/>
                  </a:cubicBezTo>
                  <a:cubicBezTo>
                    <a:pt x="17753" y="255697"/>
                    <a:pt x="167" y="213442"/>
                    <a:pt x="167" y="168520"/>
                  </a:cubicBezTo>
                  <a:cubicBezTo>
                    <a:pt x="167" y="123598"/>
                    <a:pt x="17669" y="81427"/>
                    <a:pt x="49590" y="49507"/>
                  </a:cubicBezTo>
                  <a:cubicBezTo>
                    <a:pt x="81510" y="17586"/>
                    <a:pt x="123848" y="0"/>
                    <a:pt x="168687" y="0"/>
                  </a:cubicBezTo>
                  <a:cubicBezTo>
                    <a:pt x="213526" y="0"/>
                    <a:pt x="255864" y="17586"/>
                    <a:pt x="287784" y="49507"/>
                  </a:cubicBezTo>
                  <a:cubicBezTo>
                    <a:pt x="319705" y="81427"/>
                    <a:pt x="337290" y="123682"/>
                    <a:pt x="337290" y="168604"/>
                  </a:cubicBezTo>
                  <a:lnTo>
                    <a:pt x="337290" y="311787"/>
                  </a:lnTo>
                  <a:cubicBezTo>
                    <a:pt x="337290" y="325789"/>
                    <a:pt x="325956" y="337123"/>
                    <a:pt x="311954" y="337123"/>
                  </a:cubicBezTo>
                  <a:close/>
                  <a:moveTo>
                    <a:pt x="575401" y="337207"/>
                  </a:moveTo>
                  <a:lnTo>
                    <a:pt x="432218" y="337207"/>
                  </a:lnTo>
                  <a:cubicBezTo>
                    <a:pt x="418216" y="337207"/>
                    <a:pt x="406882" y="325872"/>
                    <a:pt x="406882" y="311870"/>
                  </a:cubicBezTo>
                  <a:lnTo>
                    <a:pt x="406882" y="168687"/>
                  </a:lnTo>
                  <a:cubicBezTo>
                    <a:pt x="406882" y="123849"/>
                    <a:pt x="424467" y="81510"/>
                    <a:pt x="456387" y="49590"/>
                  </a:cubicBezTo>
                  <a:cubicBezTo>
                    <a:pt x="488308" y="17669"/>
                    <a:pt x="530563" y="0"/>
                    <a:pt x="575401" y="0"/>
                  </a:cubicBezTo>
                  <a:cubicBezTo>
                    <a:pt x="620240" y="0"/>
                    <a:pt x="662578" y="17586"/>
                    <a:pt x="694498" y="49507"/>
                  </a:cubicBezTo>
                  <a:cubicBezTo>
                    <a:pt x="726419" y="81427"/>
                    <a:pt x="744004" y="123765"/>
                    <a:pt x="744004" y="168604"/>
                  </a:cubicBezTo>
                  <a:cubicBezTo>
                    <a:pt x="744004" y="213442"/>
                    <a:pt x="726419" y="255780"/>
                    <a:pt x="694498" y="287701"/>
                  </a:cubicBezTo>
                  <a:cubicBezTo>
                    <a:pt x="662578" y="319621"/>
                    <a:pt x="620323" y="337207"/>
                    <a:pt x="575401" y="337207"/>
                  </a:cubicBezTo>
                  <a:close/>
                  <a:moveTo>
                    <a:pt x="168604" y="720001"/>
                  </a:moveTo>
                  <a:cubicBezTo>
                    <a:pt x="123682" y="720001"/>
                    <a:pt x="81427" y="702416"/>
                    <a:pt x="49507" y="670495"/>
                  </a:cubicBezTo>
                  <a:cubicBezTo>
                    <a:pt x="17586" y="638575"/>
                    <a:pt x="0" y="596320"/>
                    <a:pt x="0" y="551398"/>
                  </a:cubicBezTo>
                  <a:cubicBezTo>
                    <a:pt x="0" y="506476"/>
                    <a:pt x="17586" y="464221"/>
                    <a:pt x="49507" y="432301"/>
                  </a:cubicBezTo>
                  <a:cubicBezTo>
                    <a:pt x="81510" y="400464"/>
                    <a:pt x="123848" y="382879"/>
                    <a:pt x="168687" y="382879"/>
                  </a:cubicBezTo>
                  <a:lnTo>
                    <a:pt x="311871" y="382879"/>
                  </a:lnTo>
                  <a:cubicBezTo>
                    <a:pt x="325872" y="382879"/>
                    <a:pt x="337207" y="394297"/>
                    <a:pt x="337207" y="408215"/>
                  </a:cubicBezTo>
                  <a:lnTo>
                    <a:pt x="337207" y="551398"/>
                  </a:lnTo>
                  <a:cubicBezTo>
                    <a:pt x="337207" y="596237"/>
                    <a:pt x="319621" y="638575"/>
                    <a:pt x="287701" y="670495"/>
                  </a:cubicBezTo>
                  <a:cubicBezTo>
                    <a:pt x="255781" y="702416"/>
                    <a:pt x="213526" y="720001"/>
                    <a:pt x="168604" y="720001"/>
                  </a:cubicBezTo>
                  <a:close/>
                  <a:moveTo>
                    <a:pt x="575401" y="720001"/>
                  </a:moveTo>
                  <a:cubicBezTo>
                    <a:pt x="530563" y="720001"/>
                    <a:pt x="488224" y="702416"/>
                    <a:pt x="456304" y="670495"/>
                  </a:cubicBezTo>
                  <a:cubicBezTo>
                    <a:pt x="424383" y="638575"/>
                    <a:pt x="406798" y="596320"/>
                    <a:pt x="406798" y="551398"/>
                  </a:cubicBezTo>
                  <a:lnTo>
                    <a:pt x="406798" y="408215"/>
                  </a:lnTo>
                  <a:cubicBezTo>
                    <a:pt x="406882" y="394213"/>
                    <a:pt x="418216" y="382879"/>
                    <a:pt x="432218" y="382879"/>
                  </a:cubicBezTo>
                  <a:lnTo>
                    <a:pt x="575401" y="382879"/>
                  </a:lnTo>
                  <a:cubicBezTo>
                    <a:pt x="620240" y="382879"/>
                    <a:pt x="662578" y="400464"/>
                    <a:pt x="694498" y="432385"/>
                  </a:cubicBezTo>
                  <a:cubicBezTo>
                    <a:pt x="726419" y="464305"/>
                    <a:pt x="744004" y="506560"/>
                    <a:pt x="744004" y="551398"/>
                  </a:cubicBezTo>
                  <a:cubicBezTo>
                    <a:pt x="744004" y="596237"/>
                    <a:pt x="726419" y="638575"/>
                    <a:pt x="694498" y="670495"/>
                  </a:cubicBezTo>
                  <a:cubicBezTo>
                    <a:pt x="662578" y="702416"/>
                    <a:pt x="620323" y="720001"/>
                    <a:pt x="575401" y="720001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>
              <a:off x="1319298" y="5987827"/>
              <a:ext cx="231778" cy="241011"/>
            </a:xfrm>
            <a:custGeom>
              <a:avLst/>
              <a:gdLst>
                <a:gd name="connsiteX0" fmla="*/ 198153 w 692417"/>
                <a:gd name="connsiteY0" fmla="*/ 663680 h 720001"/>
                <a:gd name="connsiteX1" fmla="*/ 239787 w 692417"/>
                <a:gd name="connsiteY1" fmla="*/ 663680 h 720001"/>
                <a:gd name="connsiteX2" fmla="*/ 295235 w 692417"/>
                <a:gd name="connsiteY2" fmla="*/ 663680 h 720001"/>
                <a:gd name="connsiteX3" fmla="*/ 397182 w 692417"/>
                <a:gd name="connsiteY3" fmla="*/ 663680 h 720001"/>
                <a:gd name="connsiteX4" fmla="*/ 452630 w 692417"/>
                <a:gd name="connsiteY4" fmla="*/ 663680 h 720001"/>
                <a:gd name="connsiteX5" fmla="*/ 494264 w 692417"/>
                <a:gd name="connsiteY5" fmla="*/ 663680 h 720001"/>
                <a:gd name="connsiteX6" fmla="*/ 522425 w 692417"/>
                <a:gd name="connsiteY6" fmla="*/ 691841 h 720001"/>
                <a:gd name="connsiteX7" fmla="*/ 494264 w 692417"/>
                <a:gd name="connsiteY7" fmla="*/ 720001 h 720001"/>
                <a:gd name="connsiteX8" fmla="*/ 452630 w 692417"/>
                <a:gd name="connsiteY8" fmla="*/ 720001 h 720001"/>
                <a:gd name="connsiteX9" fmla="*/ 397182 w 692417"/>
                <a:gd name="connsiteY9" fmla="*/ 720001 h 720001"/>
                <a:gd name="connsiteX10" fmla="*/ 295235 w 692417"/>
                <a:gd name="connsiteY10" fmla="*/ 720001 h 720001"/>
                <a:gd name="connsiteX11" fmla="*/ 239787 w 692417"/>
                <a:gd name="connsiteY11" fmla="*/ 720001 h 720001"/>
                <a:gd name="connsiteX12" fmla="*/ 198153 w 692417"/>
                <a:gd name="connsiteY12" fmla="*/ 720001 h 720001"/>
                <a:gd name="connsiteX13" fmla="*/ 169992 w 692417"/>
                <a:gd name="connsiteY13" fmla="*/ 691841 h 720001"/>
                <a:gd name="connsiteX14" fmla="*/ 198153 w 692417"/>
                <a:gd name="connsiteY14" fmla="*/ 663680 h 720001"/>
                <a:gd name="connsiteX15" fmla="*/ 154400 w 692417"/>
                <a:gd name="connsiteY15" fmla="*/ 572143 h 720001"/>
                <a:gd name="connsiteX16" fmla="*/ 154241 w 692417"/>
                <a:gd name="connsiteY16" fmla="*/ 572597 h 720001"/>
                <a:gd name="connsiteX17" fmla="*/ 160423 w 692417"/>
                <a:gd name="connsiteY17" fmla="*/ 572597 h 720001"/>
                <a:gd name="connsiteX18" fmla="*/ 346215 w 692417"/>
                <a:gd name="connsiteY18" fmla="*/ 0 h 720001"/>
                <a:gd name="connsiteX19" fmla="*/ 456041 w 692417"/>
                <a:gd name="connsiteY19" fmla="*/ 22341 h 720001"/>
                <a:gd name="connsiteX20" fmla="*/ 545873 w 692417"/>
                <a:gd name="connsiteY20" fmla="*/ 82980 h 720001"/>
                <a:gd name="connsiteX21" fmla="*/ 606513 w 692417"/>
                <a:gd name="connsiteY21" fmla="*/ 172812 h 720001"/>
                <a:gd name="connsiteX22" fmla="*/ 628853 w 692417"/>
                <a:gd name="connsiteY22" fmla="*/ 282638 h 720001"/>
                <a:gd name="connsiteX23" fmla="*/ 628853 w 692417"/>
                <a:gd name="connsiteY23" fmla="*/ 493091 h 720001"/>
                <a:gd name="connsiteX24" fmla="*/ 687990 w 692417"/>
                <a:gd name="connsiteY24" fmla="*/ 585551 h 720001"/>
                <a:gd name="connsiteX25" fmla="*/ 688929 w 692417"/>
                <a:gd name="connsiteY25" fmla="*/ 614275 h 720001"/>
                <a:gd name="connsiteX26" fmla="*/ 664336 w 692417"/>
                <a:gd name="connsiteY26" fmla="*/ 628918 h 720001"/>
                <a:gd name="connsiteX27" fmla="*/ 28189 w 692417"/>
                <a:gd name="connsiteY27" fmla="*/ 628918 h 720001"/>
                <a:gd name="connsiteX28" fmla="*/ 3596 w 692417"/>
                <a:gd name="connsiteY28" fmla="*/ 614462 h 720001"/>
                <a:gd name="connsiteX29" fmla="*/ 4159 w 692417"/>
                <a:gd name="connsiteY29" fmla="*/ 585927 h 720001"/>
                <a:gd name="connsiteX30" fmla="*/ 63578 w 692417"/>
                <a:gd name="connsiteY30" fmla="*/ 489336 h 720001"/>
                <a:gd name="connsiteX31" fmla="*/ 63578 w 692417"/>
                <a:gd name="connsiteY31" fmla="*/ 282638 h 720001"/>
                <a:gd name="connsiteX32" fmla="*/ 85919 w 692417"/>
                <a:gd name="connsiteY32" fmla="*/ 172812 h 720001"/>
                <a:gd name="connsiteX33" fmla="*/ 146558 w 692417"/>
                <a:gd name="connsiteY33" fmla="*/ 82980 h 720001"/>
                <a:gd name="connsiteX34" fmla="*/ 236389 w 692417"/>
                <a:gd name="connsiteY34" fmla="*/ 22341 h 720001"/>
                <a:gd name="connsiteX35" fmla="*/ 346215 w 692417"/>
                <a:gd name="connsiteY35" fmla="*/ 0 h 720001"/>
              </a:gdLst>
              <a:ahLst/>
              <a:cxnLst/>
              <a:rect l="l" t="t" r="r" b="b"/>
              <a:pathLst>
                <a:path w="692417" h="720001">
                  <a:moveTo>
                    <a:pt x="198153" y="663680"/>
                  </a:moveTo>
                  <a:lnTo>
                    <a:pt x="239787" y="663680"/>
                  </a:lnTo>
                  <a:lnTo>
                    <a:pt x="295235" y="663680"/>
                  </a:lnTo>
                  <a:lnTo>
                    <a:pt x="397182" y="663680"/>
                  </a:lnTo>
                  <a:lnTo>
                    <a:pt x="452630" y="663680"/>
                  </a:lnTo>
                  <a:lnTo>
                    <a:pt x="494264" y="663680"/>
                  </a:lnTo>
                  <a:cubicBezTo>
                    <a:pt x="509847" y="663680"/>
                    <a:pt x="522425" y="676259"/>
                    <a:pt x="522425" y="691841"/>
                  </a:cubicBezTo>
                  <a:cubicBezTo>
                    <a:pt x="522425" y="707423"/>
                    <a:pt x="509753" y="720001"/>
                    <a:pt x="494264" y="720001"/>
                  </a:cubicBezTo>
                  <a:lnTo>
                    <a:pt x="452630" y="720001"/>
                  </a:lnTo>
                  <a:lnTo>
                    <a:pt x="397182" y="720001"/>
                  </a:lnTo>
                  <a:lnTo>
                    <a:pt x="295235" y="720001"/>
                  </a:lnTo>
                  <a:lnTo>
                    <a:pt x="239787" y="720001"/>
                  </a:lnTo>
                  <a:lnTo>
                    <a:pt x="198153" y="720001"/>
                  </a:lnTo>
                  <a:cubicBezTo>
                    <a:pt x="182571" y="720001"/>
                    <a:pt x="169992" y="707423"/>
                    <a:pt x="169992" y="691841"/>
                  </a:cubicBezTo>
                  <a:cubicBezTo>
                    <a:pt x="169992" y="676259"/>
                    <a:pt x="182571" y="663680"/>
                    <a:pt x="198153" y="663680"/>
                  </a:cubicBezTo>
                  <a:close/>
                  <a:moveTo>
                    <a:pt x="154400" y="572143"/>
                  </a:moveTo>
                  <a:lnTo>
                    <a:pt x="154241" y="572597"/>
                  </a:lnTo>
                  <a:lnTo>
                    <a:pt x="160423" y="572597"/>
                  </a:lnTo>
                  <a:close/>
                  <a:moveTo>
                    <a:pt x="346215" y="0"/>
                  </a:moveTo>
                  <a:cubicBezTo>
                    <a:pt x="384232" y="0"/>
                    <a:pt x="421122" y="7510"/>
                    <a:pt x="456041" y="22341"/>
                  </a:cubicBezTo>
                  <a:cubicBezTo>
                    <a:pt x="489646" y="36609"/>
                    <a:pt x="519872" y="57072"/>
                    <a:pt x="545873" y="82980"/>
                  </a:cubicBezTo>
                  <a:cubicBezTo>
                    <a:pt x="571875" y="108981"/>
                    <a:pt x="592245" y="139207"/>
                    <a:pt x="606513" y="172812"/>
                  </a:cubicBezTo>
                  <a:cubicBezTo>
                    <a:pt x="621344" y="207637"/>
                    <a:pt x="628853" y="244621"/>
                    <a:pt x="628853" y="282638"/>
                  </a:cubicBezTo>
                  <a:lnTo>
                    <a:pt x="628853" y="493091"/>
                  </a:lnTo>
                  <a:lnTo>
                    <a:pt x="687990" y="585551"/>
                  </a:lnTo>
                  <a:cubicBezTo>
                    <a:pt x="693528" y="594187"/>
                    <a:pt x="693904" y="605263"/>
                    <a:pt x="688929" y="614275"/>
                  </a:cubicBezTo>
                  <a:cubicBezTo>
                    <a:pt x="684048" y="623286"/>
                    <a:pt x="674567" y="628918"/>
                    <a:pt x="664336" y="628918"/>
                  </a:cubicBezTo>
                  <a:lnTo>
                    <a:pt x="28189" y="628918"/>
                  </a:lnTo>
                  <a:cubicBezTo>
                    <a:pt x="17958" y="628918"/>
                    <a:pt x="8571" y="623380"/>
                    <a:pt x="3596" y="614462"/>
                  </a:cubicBezTo>
                  <a:cubicBezTo>
                    <a:pt x="-1380" y="605545"/>
                    <a:pt x="-1192" y="594656"/>
                    <a:pt x="4159" y="585927"/>
                  </a:cubicBezTo>
                  <a:lnTo>
                    <a:pt x="63578" y="489336"/>
                  </a:lnTo>
                  <a:lnTo>
                    <a:pt x="63578" y="282638"/>
                  </a:lnTo>
                  <a:cubicBezTo>
                    <a:pt x="63578" y="244621"/>
                    <a:pt x="71087" y="207731"/>
                    <a:pt x="85919" y="172812"/>
                  </a:cubicBezTo>
                  <a:cubicBezTo>
                    <a:pt x="100186" y="139207"/>
                    <a:pt x="120650" y="108981"/>
                    <a:pt x="146558" y="82980"/>
                  </a:cubicBezTo>
                  <a:cubicBezTo>
                    <a:pt x="172465" y="56978"/>
                    <a:pt x="202785" y="36609"/>
                    <a:pt x="236389" y="22341"/>
                  </a:cubicBezTo>
                  <a:cubicBezTo>
                    <a:pt x="271214" y="7510"/>
                    <a:pt x="308199" y="0"/>
                    <a:pt x="346215" y="0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>
              <a:off x="1001433" y="5983117"/>
              <a:ext cx="224335" cy="243008"/>
            </a:xfrm>
            <a:custGeom>
              <a:avLst/>
              <a:gdLst>
                <a:gd name="connsiteX0" fmla="*/ 332293 w 664672"/>
                <a:gd name="connsiteY0" fmla="*/ 387672 h 720001"/>
                <a:gd name="connsiteX1" fmla="*/ 660804 w 664672"/>
                <a:gd name="connsiteY1" fmla="*/ 598902 h 720001"/>
                <a:gd name="connsiteX2" fmla="*/ 563560 w 664672"/>
                <a:gd name="connsiteY2" fmla="*/ 720001 h 720001"/>
                <a:gd name="connsiteX3" fmla="*/ 101112 w 664672"/>
                <a:gd name="connsiteY3" fmla="*/ 720001 h 720001"/>
                <a:gd name="connsiteX4" fmla="*/ 3868 w 664672"/>
                <a:gd name="connsiteY4" fmla="*/ 598902 h 720001"/>
                <a:gd name="connsiteX5" fmla="*/ 332293 w 664672"/>
                <a:gd name="connsiteY5" fmla="*/ 387672 h 720001"/>
                <a:gd name="connsiteX6" fmla="*/ 332293 w 664672"/>
                <a:gd name="connsiteY6" fmla="*/ 0 h 720001"/>
                <a:gd name="connsiteX7" fmla="*/ 509517 w 664672"/>
                <a:gd name="connsiteY7" fmla="*/ 177224 h 720001"/>
                <a:gd name="connsiteX8" fmla="*/ 332293 w 664672"/>
                <a:gd name="connsiteY8" fmla="*/ 354448 h 720001"/>
                <a:gd name="connsiteX9" fmla="*/ 155069 w 664672"/>
                <a:gd name="connsiteY9" fmla="*/ 177224 h 720001"/>
                <a:gd name="connsiteX10" fmla="*/ 332293 w 664672"/>
                <a:gd name="connsiteY10" fmla="*/ 0 h 720001"/>
              </a:gdLst>
              <a:ahLst/>
              <a:cxnLst/>
              <a:rect l="l" t="t" r="r" b="b"/>
              <a:pathLst>
                <a:path w="664672" h="720001">
                  <a:moveTo>
                    <a:pt x="332293" y="387672"/>
                  </a:moveTo>
                  <a:cubicBezTo>
                    <a:pt x="550549" y="387672"/>
                    <a:pt x="628448" y="491162"/>
                    <a:pt x="660804" y="598902"/>
                  </a:cubicBezTo>
                  <a:cubicBezTo>
                    <a:pt x="679021" y="659624"/>
                    <a:pt x="630616" y="720001"/>
                    <a:pt x="563560" y="720001"/>
                  </a:cubicBezTo>
                  <a:lnTo>
                    <a:pt x="101112" y="720001"/>
                  </a:lnTo>
                  <a:cubicBezTo>
                    <a:pt x="34057" y="720001"/>
                    <a:pt x="-14348" y="659624"/>
                    <a:pt x="3868" y="598902"/>
                  </a:cubicBezTo>
                  <a:cubicBezTo>
                    <a:pt x="36138" y="491162"/>
                    <a:pt x="114037" y="387672"/>
                    <a:pt x="332293" y="387672"/>
                  </a:cubicBezTo>
                  <a:close/>
                  <a:moveTo>
                    <a:pt x="332293" y="0"/>
                  </a:moveTo>
                  <a:cubicBezTo>
                    <a:pt x="430230" y="0"/>
                    <a:pt x="509604" y="79287"/>
                    <a:pt x="509517" y="177224"/>
                  </a:cubicBezTo>
                  <a:cubicBezTo>
                    <a:pt x="509517" y="275074"/>
                    <a:pt x="430144" y="354448"/>
                    <a:pt x="332293" y="354448"/>
                  </a:cubicBezTo>
                  <a:cubicBezTo>
                    <a:pt x="234442" y="354448"/>
                    <a:pt x="155069" y="275074"/>
                    <a:pt x="155069" y="177224"/>
                  </a:cubicBezTo>
                  <a:cubicBezTo>
                    <a:pt x="155069" y="79287"/>
                    <a:pt x="234442" y="0"/>
                    <a:pt x="332293" y="0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</p:grpSp>
      <p:sp>
        <p:nvSpPr>
          <p:cNvPr id="17" name="标题 1"/>
          <p:cNvSpPr txBox="1"/>
          <p:nvPr/>
        </p:nvSpPr>
        <p:spPr>
          <a:xfrm>
            <a:off x="11380958" y="842498"/>
            <a:ext cx="137942" cy="137942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p>
            <a:pPr algn="ctr"/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11109628" y="842498"/>
            <a:ext cx="137942" cy="13794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p>
            <a:pPr algn="ctr"/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10838298" y="842498"/>
            <a:ext cx="137942" cy="13794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p>
            <a:pPr algn="ctr"/>
            <a:endParaRPr kumimoji="1" lang="zh-CN" altLang="en-US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>
            <a:clrChange>
              <a:clrFrom>
                <a:srgbClr val="000000">
                  <a:alpha val="100000"/>
                </a:srgbClr>
              </a:clrFrom>
              <a:clrTo>
                <a:srgbClr val="000000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528955" y="-655955"/>
            <a:ext cx="2901950" cy="227520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>
                  <a:alpha val="100000"/>
                </a:srgbClr>
              </a:clrFrom>
              <a:clrTo>
                <a:srgbClr val="000000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37800" y="176530"/>
            <a:ext cx="1707515" cy="30924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commondata" val="eyJoZGlkIjoiZDg5NzNiYjQwMjA2MjRkZTg4MTg5NjMwMmUwMDFiNGI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8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3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4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6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7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8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2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3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4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5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6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7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9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4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3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0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1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2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16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17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18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19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2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21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29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30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5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20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2792</Words>
  <Application>WPS 演示</Application>
  <PresentationFormat/>
  <Paragraphs>210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30</vt:i4>
      </vt:variant>
      <vt:variant>
        <vt:lpstr>幻灯片标题</vt:lpstr>
      </vt:variant>
      <vt:variant>
        <vt:i4>32</vt:i4>
      </vt:variant>
    </vt:vector>
  </HeadingPairs>
  <TitlesOfParts>
    <vt:vector size="79" baseType="lpstr">
      <vt:lpstr>Arial</vt:lpstr>
      <vt:lpstr>宋体</vt:lpstr>
      <vt:lpstr>Wingdings</vt:lpstr>
      <vt:lpstr>微软雅黑</vt:lpstr>
      <vt:lpstr>汉仪旗黑</vt:lpstr>
      <vt:lpstr>微软雅黑</vt:lpstr>
      <vt:lpstr>Source Han Sans CN Bold</vt:lpstr>
      <vt:lpstr>Wingdings</vt:lpstr>
      <vt:lpstr>等线</vt:lpstr>
      <vt:lpstr>汉仪中等线KW</vt:lpstr>
      <vt:lpstr>宋体</vt:lpstr>
      <vt:lpstr>Arial Unicode MS</vt:lpstr>
      <vt:lpstr>Calibri</vt:lpstr>
      <vt:lpstr>Helvetica Neue</vt:lpstr>
      <vt:lpstr>汉仪书宋二KW</vt:lpstr>
      <vt:lpstr>苹方-简</vt:lpstr>
      <vt:lpstr>等线 Light</vt:lpstr>
      <vt:lpstr>Office 主题​​</vt:lpstr>
      <vt:lpstr>8_Office 主题​​</vt:lpstr>
      <vt:lpstr>23_Office 主题​​</vt:lpstr>
      <vt:lpstr>24_Office 主题​​</vt:lpstr>
      <vt:lpstr>26_Office 主题​​</vt:lpstr>
      <vt:lpstr>27_Office 主题​​</vt:lpstr>
      <vt:lpstr>28_Office 主题​​</vt:lpstr>
      <vt:lpstr>1_Office 主题​​</vt:lpstr>
      <vt:lpstr>22_Office 主题​​</vt:lpstr>
      <vt:lpstr>3_Office 主题​​</vt:lpstr>
      <vt:lpstr>4_Office 主题​​</vt:lpstr>
      <vt:lpstr>5_Office 主题​​</vt:lpstr>
      <vt:lpstr>6_Office 主题​​</vt:lpstr>
      <vt:lpstr>7_Office 主题​​</vt:lpstr>
      <vt:lpstr>9_Office 主题​​</vt:lpstr>
      <vt:lpstr>14_Office 主题​​</vt:lpstr>
      <vt:lpstr>13_Office 主题​​</vt:lpstr>
      <vt:lpstr>10_Office 主题​​</vt:lpstr>
      <vt:lpstr>11_Office 主题​​</vt:lpstr>
      <vt:lpstr>12_Office 主题​​</vt:lpstr>
      <vt:lpstr>16_Office 主题​​</vt:lpstr>
      <vt:lpstr>17_Office 主题​​</vt:lpstr>
      <vt:lpstr>18_Office 主题​​</vt:lpstr>
      <vt:lpstr>19_Office 主题​​</vt:lpstr>
      <vt:lpstr>2_Office 主题​​</vt:lpstr>
      <vt:lpstr>21_Office 主题​​</vt:lpstr>
      <vt:lpstr>29_Office 主题​​</vt:lpstr>
      <vt:lpstr>30_Office 主题​​</vt:lpstr>
      <vt:lpstr>15_Office 主题​​</vt:lpstr>
      <vt:lpstr>20_Office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Mandy</cp:lastModifiedBy>
  <cp:revision>203</cp:revision>
  <dcterms:created xsi:type="dcterms:W3CDTF">2024-04-13T00:39:07Z</dcterms:created>
  <dcterms:modified xsi:type="dcterms:W3CDTF">2024-04-13T00:39:07Z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263B956A7D9C4027A3E67AB1F8F10BDB_12</vt:lpwstr>
  </property>
  <property fmtid="{D5CDD505-2E9C-101B-9397-08002B2CF9AE}" pid="3" name="KSOProductBuildVer">
    <vt:lpwstr>2052-6.5.2.8766</vt:lpwstr>
  </property>
</Properties>
</file>
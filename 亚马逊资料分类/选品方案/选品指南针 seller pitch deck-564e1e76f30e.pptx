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media/image5.jpg" ContentType="image/jpeg"/>
  <Override PartName="/ppt/media/image6.jpg" ContentType="image/jpeg"/>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notesSlides/notesSlide1.xml" ContentType="application/vnd.openxmlformats-officedocument.presentationml.notesSlide+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3"/>
  </p:notesMasterIdLst>
  <p:sldIdLst>
    <p:sldId id="514" r:id="rId3"/>
    <p:sldId id="384" r:id="rId4"/>
    <p:sldId id="385" r:id="rId5"/>
    <p:sldId id="386" r:id="rId6"/>
    <p:sldId id="387" r:id="rId7"/>
    <p:sldId id="388" r:id="rId8"/>
    <p:sldId id="389" r:id="rId9"/>
    <p:sldId id="544" r:id="rId10"/>
    <p:sldId id="391" r:id="rId11"/>
    <p:sldId id="392" r:id="rId12"/>
    <p:sldId id="393" r:id="rId13"/>
    <p:sldId id="394" r:id="rId14"/>
    <p:sldId id="494" r:id="rId15"/>
    <p:sldId id="396" r:id="rId16"/>
    <p:sldId id="398" r:id="rId17"/>
    <p:sldId id="399" r:id="rId18"/>
    <p:sldId id="400" r:id="rId19"/>
    <p:sldId id="463" r:id="rId20"/>
    <p:sldId id="402" r:id="rId21"/>
    <p:sldId id="403" r:id="rId22"/>
    <p:sldId id="464" r:id="rId23"/>
    <p:sldId id="404" r:id="rId24"/>
    <p:sldId id="465" r:id="rId25"/>
    <p:sldId id="466" r:id="rId26"/>
    <p:sldId id="4321" r:id="rId27"/>
    <p:sldId id="4322" r:id="rId28"/>
    <p:sldId id="4323" r:id="rId29"/>
    <p:sldId id="4324" r:id="rId30"/>
    <p:sldId id="4325" r:id="rId31"/>
    <p:sldId id="4326"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78" d="100"/>
          <a:sy n="78" d="100"/>
        </p:scale>
        <p:origin x="66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710897-6C7A-4800-A3E2-44C5FE47BB85}" type="datetimeFigureOut">
              <a:rPr lang="zh-CN" altLang="en-US" smtClean="0"/>
              <a:t>2024/5/15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788000-E06D-4810-A45E-0F7A4AEB8235}" type="slidenum">
              <a:rPr lang="zh-CN" altLang="en-US" smtClean="0"/>
              <a:t>‹#›</a:t>
            </a:fld>
            <a:endParaRPr lang="zh-CN" altLang="en-US"/>
          </a:p>
        </p:txBody>
      </p:sp>
    </p:spTree>
    <p:extLst>
      <p:ext uri="{BB962C8B-B14F-4D97-AF65-F5344CB8AC3E}">
        <p14:creationId xmlns:p14="http://schemas.microsoft.com/office/powerpoint/2010/main" val="2121309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1C6BADF2-76D7-4865-A72C-9F3CD437B139}" type="slidenum">
              <a:rPr lang="zh-CN" altLang="en-US" smtClean="0"/>
              <a:t>18</a:t>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027B2D15-58D3-0A4E-9EE4-828ED5F867D4}" type="slidenum">
              <a:rPr kumimoji="1" lang="zh-CN" altLang="en-US" smtClean="0"/>
              <a:t>25</a:t>
            </a:fld>
            <a:endParaRPr kumimoji="1" lang="zh-CN" altLang="en-US"/>
          </a:p>
        </p:txBody>
      </p:sp>
    </p:spTree>
    <p:extLst>
      <p:ext uri="{BB962C8B-B14F-4D97-AF65-F5344CB8AC3E}">
        <p14:creationId xmlns:p14="http://schemas.microsoft.com/office/powerpoint/2010/main" val="3418029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027B2D15-58D3-0A4E-9EE4-828ED5F867D4}" type="slidenum">
              <a:rPr kumimoji="1" lang="zh-CN" altLang="en-US" smtClean="0"/>
              <a:t>26</a:t>
            </a:fld>
            <a:endParaRPr kumimoji="1" lang="zh-CN" altLang="en-US"/>
          </a:p>
        </p:txBody>
      </p:sp>
    </p:spTree>
    <p:extLst>
      <p:ext uri="{BB962C8B-B14F-4D97-AF65-F5344CB8AC3E}">
        <p14:creationId xmlns:p14="http://schemas.microsoft.com/office/powerpoint/2010/main" val="300097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027B2D15-58D3-0A4E-9EE4-828ED5F867D4}" type="slidenum">
              <a:rPr kumimoji="1" lang="zh-CN" altLang="en-US" smtClean="0"/>
              <a:t>27</a:t>
            </a:fld>
            <a:endParaRPr kumimoji="1" lang="zh-CN" altLang="en-US"/>
          </a:p>
        </p:txBody>
      </p:sp>
    </p:spTree>
    <p:extLst>
      <p:ext uri="{BB962C8B-B14F-4D97-AF65-F5344CB8AC3E}">
        <p14:creationId xmlns:p14="http://schemas.microsoft.com/office/powerpoint/2010/main" val="3045143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027B2D15-58D3-0A4E-9EE4-828ED5F867D4}" type="slidenum">
              <a:rPr kumimoji="1" lang="zh-CN" altLang="en-US" smtClean="0"/>
              <a:t>28</a:t>
            </a:fld>
            <a:endParaRPr kumimoji="1" lang="zh-CN" altLang="en-US"/>
          </a:p>
        </p:txBody>
      </p:sp>
    </p:spTree>
    <p:extLst>
      <p:ext uri="{BB962C8B-B14F-4D97-AF65-F5344CB8AC3E}">
        <p14:creationId xmlns:p14="http://schemas.microsoft.com/office/powerpoint/2010/main" val="1004292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027B2D15-58D3-0A4E-9EE4-828ED5F867D4}" type="slidenum">
              <a:rPr kumimoji="1" lang="zh-CN" altLang="en-US" smtClean="0"/>
              <a:t>29</a:t>
            </a:fld>
            <a:endParaRPr kumimoji="1" lang="zh-CN" altLang="en-US"/>
          </a:p>
        </p:txBody>
      </p:sp>
    </p:spTree>
    <p:extLst>
      <p:ext uri="{BB962C8B-B14F-4D97-AF65-F5344CB8AC3E}">
        <p14:creationId xmlns:p14="http://schemas.microsoft.com/office/powerpoint/2010/main" val="219877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027B2D15-58D3-0A4E-9EE4-828ED5F867D4}" type="slidenum">
              <a:rPr kumimoji="1" lang="zh-CN" altLang="en-US" smtClean="0"/>
              <a:t>30</a:t>
            </a:fld>
            <a:endParaRPr kumimoji="1" lang="zh-CN" altLang="en-US"/>
          </a:p>
        </p:txBody>
      </p:sp>
    </p:spTree>
    <p:extLst>
      <p:ext uri="{BB962C8B-B14F-4D97-AF65-F5344CB8AC3E}">
        <p14:creationId xmlns:p14="http://schemas.microsoft.com/office/powerpoint/2010/main" val="122509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0C5ED0-ADD5-460E-B961-461406BEBBE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FA762D1-F761-4059-A253-3977606529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2AA3B10-0B08-488C-8BB1-E7A600139B50}"/>
              </a:ext>
            </a:extLst>
          </p:cNvPr>
          <p:cNvSpPr>
            <a:spLocks noGrp="1"/>
          </p:cNvSpPr>
          <p:nvPr>
            <p:ph type="dt" sz="half" idx="10"/>
          </p:nvPr>
        </p:nvSpPr>
        <p:spPr/>
        <p:txBody>
          <a:bodyPr/>
          <a:lstStyle/>
          <a:p>
            <a:fld id="{52E66933-0F5A-4659-A281-14A85E9E6B75}"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06DCADFE-3E68-4DFC-9803-017B70D783E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63FB0D-2F72-4719-AE6D-8AFAEC7D16D1}"/>
              </a:ext>
            </a:extLst>
          </p:cNvPr>
          <p:cNvSpPr>
            <a:spLocks noGrp="1"/>
          </p:cNvSpPr>
          <p:nvPr>
            <p:ph type="sldNum" sz="quarter" idx="12"/>
          </p:nvPr>
        </p:nvSpPr>
        <p:spPr/>
        <p:txBody>
          <a:bodyPr/>
          <a:lstStyle/>
          <a:p>
            <a:fld id="{3007522D-5260-4B76-8E4F-2ACA64BC8466}" type="slidenum">
              <a:rPr lang="zh-CN" altLang="en-US" smtClean="0"/>
              <a:t>‹#›</a:t>
            </a:fld>
            <a:endParaRPr lang="zh-CN" altLang="en-US"/>
          </a:p>
        </p:txBody>
      </p:sp>
    </p:spTree>
    <p:extLst>
      <p:ext uri="{BB962C8B-B14F-4D97-AF65-F5344CB8AC3E}">
        <p14:creationId xmlns:p14="http://schemas.microsoft.com/office/powerpoint/2010/main" val="4283451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143108-10F0-4862-BCDA-0999E9BF367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9751633-C8C2-4F3A-A14D-781C0553B0D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9704DFE-C85D-4953-880F-D2E73863E90B}"/>
              </a:ext>
            </a:extLst>
          </p:cNvPr>
          <p:cNvSpPr>
            <a:spLocks noGrp="1"/>
          </p:cNvSpPr>
          <p:nvPr>
            <p:ph type="dt" sz="half" idx="10"/>
          </p:nvPr>
        </p:nvSpPr>
        <p:spPr/>
        <p:txBody>
          <a:bodyPr/>
          <a:lstStyle/>
          <a:p>
            <a:fld id="{52E66933-0F5A-4659-A281-14A85E9E6B75}"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13F3397B-FADE-4161-8867-85707DB0F4A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D3D1CC2-7C83-4DBF-8FDF-9AEB4E9E8818}"/>
              </a:ext>
            </a:extLst>
          </p:cNvPr>
          <p:cNvSpPr>
            <a:spLocks noGrp="1"/>
          </p:cNvSpPr>
          <p:nvPr>
            <p:ph type="sldNum" sz="quarter" idx="12"/>
          </p:nvPr>
        </p:nvSpPr>
        <p:spPr/>
        <p:txBody>
          <a:bodyPr/>
          <a:lstStyle/>
          <a:p>
            <a:fld id="{3007522D-5260-4B76-8E4F-2ACA64BC8466}" type="slidenum">
              <a:rPr lang="zh-CN" altLang="en-US" smtClean="0"/>
              <a:t>‹#›</a:t>
            </a:fld>
            <a:endParaRPr lang="zh-CN" altLang="en-US"/>
          </a:p>
        </p:txBody>
      </p:sp>
    </p:spTree>
    <p:extLst>
      <p:ext uri="{BB962C8B-B14F-4D97-AF65-F5344CB8AC3E}">
        <p14:creationId xmlns:p14="http://schemas.microsoft.com/office/powerpoint/2010/main" val="1007801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1D5ADB-EF81-487D-AFFA-E484714CA14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EFC0DFF-F579-4192-8412-C0A944CABC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5DDB586-BAB7-4A1A-AB07-7934B8FE04E3}"/>
              </a:ext>
            </a:extLst>
          </p:cNvPr>
          <p:cNvSpPr>
            <a:spLocks noGrp="1"/>
          </p:cNvSpPr>
          <p:nvPr>
            <p:ph type="dt" sz="half" idx="10"/>
          </p:nvPr>
        </p:nvSpPr>
        <p:spPr/>
        <p:txBody>
          <a:bodyPr/>
          <a:lstStyle/>
          <a:p>
            <a:fld id="{52E66933-0F5A-4659-A281-14A85E9E6B75}"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D7EE271C-778C-4877-9AEC-75594AF6705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4F40EE1-2C03-45E0-8C62-0D87760D090B}"/>
              </a:ext>
            </a:extLst>
          </p:cNvPr>
          <p:cNvSpPr>
            <a:spLocks noGrp="1"/>
          </p:cNvSpPr>
          <p:nvPr>
            <p:ph type="sldNum" sz="quarter" idx="12"/>
          </p:nvPr>
        </p:nvSpPr>
        <p:spPr/>
        <p:txBody>
          <a:bodyPr/>
          <a:lstStyle/>
          <a:p>
            <a:fld id="{3007522D-5260-4B76-8E4F-2ACA64BC8466}" type="slidenum">
              <a:rPr lang="zh-CN" altLang="en-US" smtClean="0"/>
              <a:t>‹#›</a:t>
            </a:fld>
            <a:endParaRPr lang="zh-CN" altLang="en-US"/>
          </a:p>
        </p:txBody>
      </p:sp>
    </p:spTree>
    <p:extLst>
      <p:ext uri="{BB962C8B-B14F-4D97-AF65-F5344CB8AC3E}">
        <p14:creationId xmlns:p14="http://schemas.microsoft.com/office/powerpoint/2010/main" val="4216997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0010E9-AC14-43B9-9FFD-F1F160FD9FB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4121254-DDFD-46CF-863C-32BFBE7B3D6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794ADE3-A7BA-46E6-9143-FDDD8F958EC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B98AB51-0088-45D4-BE0B-2DFC298F1DF3}"/>
              </a:ext>
            </a:extLst>
          </p:cNvPr>
          <p:cNvSpPr>
            <a:spLocks noGrp="1"/>
          </p:cNvSpPr>
          <p:nvPr>
            <p:ph type="dt" sz="half" idx="10"/>
          </p:nvPr>
        </p:nvSpPr>
        <p:spPr/>
        <p:txBody>
          <a:bodyPr/>
          <a:lstStyle/>
          <a:p>
            <a:fld id="{52E66933-0F5A-4659-A281-14A85E9E6B75}" type="datetimeFigureOut">
              <a:rPr lang="zh-CN" altLang="en-US" smtClean="0"/>
              <a:t>2024/5/15</a:t>
            </a:fld>
            <a:endParaRPr lang="zh-CN" altLang="en-US"/>
          </a:p>
        </p:txBody>
      </p:sp>
      <p:sp>
        <p:nvSpPr>
          <p:cNvPr id="6" name="页脚占位符 5">
            <a:extLst>
              <a:ext uri="{FF2B5EF4-FFF2-40B4-BE49-F238E27FC236}">
                <a16:creationId xmlns:a16="http://schemas.microsoft.com/office/drawing/2014/main" id="{3B2297AA-E1E2-4A35-81CF-2E4AFAB43A6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21CF52F-08FC-48DA-8DFA-1E35EC2E5393}"/>
              </a:ext>
            </a:extLst>
          </p:cNvPr>
          <p:cNvSpPr>
            <a:spLocks noGrp="1"/>
          </p:cNvSpPr>
          <p:nvPr>
            <p:ph type="sldNum" sz="quarter" idx="12"/>
          </p:nvPr>
        </p:nvSpPr>
        <p:spPr/>
        <p:txBody>
          <a:bodyPr/>
          <a:lstStyle/>
          <a:p>
            <a:fld id="{3007522D-5260-4B76-8E4F-2ACA64BC8466}" type="slidenum">
              <a:rPr lang="zh-CN" altLang="en-US" smtClean="0"/>
              <a:t>‹#›</a:t>
            </a:fld>
            <a:endParaRPr lang="zh-CN" altLang="en-US"/>
          </a:p>
        </p:txBody>
      </p:sp>
    </p:spTree>
    <p:extLst>
      <p:ext uri="{BB962C8B-B14F-4D97-AF65-F5344CB8AC3E}">
        <p14:creationId xmlns:p14="http://schemas.microsoft.com/office/powerpoint/2010/main" val="3032351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388728-2058-497F-8B83-44677BEC654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EE20662-F831-460B-8967-AAEDA0E8F3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A9F93AB-B1F3-45B6-A11A-91775765057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8EE70D0-C643-4018-BBD2-D85B67FB59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2C9C358-8125-495B-BB5D-AE5CD6B2B8C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8324BF7-2246-4CC6-B900-E4A9F2D52EDE}"/>
              </a:ext>
            </a:extLst>
          </p:cNvPr>
          <p:cNvSpPr>
            <a:spLocks noGrp="1"/>
          </p:cNvSpPr>
          <p:nvPr>
            <p:ph type="dt" sz="half" idx="10"/>
          </p:nvPr>
        </p:nvSpPr>
        <p:spPr/>
        <p:txBody>
          <a:bodyPr/>
          <a:lstStyle/>
          <a:p>
            <a:fld id="{52E66933-0F5A-4659-A281-14A85E9E6B75}" type="datetimeFigureOut">
              <a:rPr lang="zh-CN" altLang="en-US" smtClean="0"/>
              <a:t>2024/5/15</a:t>
            </a:fld>
            <a:endParaRPr lang="zh-CN" altLang="en-US"/>
          </a:p>
        </p:txBody>
      </p:sp>
      <p:sp>
        <p:nvSpPr>
          <p:cNvPr id="8" name="页脚占位符 7">
            <a:extLst>
              <a:ext uri="{FF2B5EF4-FFF2-40B4-BE49-F238E27FC236}">
                <a16:creationId xmlns:a16="http://schemas.microsoft.com/office/drawing/2014/main" id="{6D2279E4-0004-4369-A899-3374188C801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46434C8-FB55-48FC-A121-14C2EDD184EE}"/>
              </a:ext>
            </a:extLst>
          </p:cNvPr>
          <p:cNvSpPr>
            <a:spLocks noGrp="1"/>
          </p:cNvSpPr>
          <p:nvPr>
            <p:ph type="sldNum" sz="quarter" idx="12"/>
          </p:nvPr>
        </p:nvSpPr>
        <p:spPr/>
        <p:txBody>
          <a:bodyPr/>
          <a:lstStyle/>
          <a:p>
            <a:fld id="{3007522D-5260-4B76-8E4F-2ACA64BC8466}" type="slidenum">
              <a:rPr lang="zh-CN" altLang="en-US" smtClean="0"/>
              <a:t>‹#›</a:t>
            </a:fld>
            <a:endParaRPr lang="zh-CN" altLang="en-US"/>
          </a:p>
        </p:txBody>
      </p:sp>
    </p:spTree>
    <p:extLst>
      <p:ext uri="{BB962C8B-B14F-4D97-AF65-F5344CB8AC3E}">
        <p14:creationId xmlns:p14="http://schemas.microsoft.com/office/powerpoint/2010/main" val="2228773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0B83A1-48E3-4304-A6ED-6C89852B849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F514EF5-BB70-4CFA-8F89-D02A1F081A4E}"/>
              </a:ext>
            </a:extLst>
          </p:cNvPr>
          <p:cNvSpPr>
            <a:spLocks noGrp="1"/>
          </p:cNvSpPr>
          <p:nvPr>
            <p:ph type="dt" sz="half" idx="10"/>
          </p:nvPr>
        </p:nvSpPr>
        <p:spPr/>
        <p:txBody>
          <a:bodyPr/>
          <a:lstStyle/>
          <a:p>
            <a:fld id="{52E66933-0F5A-4659-A281-14A85E9E6B75}" type="datetimeFigureOut">
              <a:rPr lang="zh-CN" altLang="en-US" smtClean="0"/>
              <a:t>2024/5/15</a:t>
            </a:fld>
            <a:endParaRPr lang="zh-CN" altLang="en-US"/>
          </a:p>
        </p:txBody>
      </p:sp>
      <p:sp>
        <p:nvSpPr>
          <p:cNvPr id="4" name="页脚占位符 3">
            <a:extLst>
              <a:ext uri="{FF2B5EF4-FFF2-40B4-BE49-F238E27FC236}">
                <a16:creationId xmlns:a16="http://schemas.microsoft.com/office/drawing/2014/main" id="{97BB1C51-AA15-49F7-957F-CFCE16C0ACA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59C3F9F-433C-4947-9D72-B4AF8D09C66E}"/>
              </a:ext>
            </a:extLst>
          </p:cNvPr>
          <p:cNvSpPr>
            <a:spLocks noGrp="1"/>
          </p:cNvSpPr>
          <p:nvPr>
            <p:ph type="sldNum" sz="quarter" idx="12"/>
          </p:nvPr>
        </p:nvSpPr>
        <p:spPr/>
        <p:txBody>
          <a:bodyPr/>
          <a:lstStyle/>
          <a:p>
            <a:fld id="{3007522D-5260-4B76-8E4F-2ACA64BC8466}" type="slidenum">
              <a:rPr lang="zh-CN" altLang="en-US" smtClean="0"/>
              <a:t>‹#›</a:t>
            </a:fld>
            <a:endParaRPr lang="zh-CN" altLang="en-US"/>
          </a:p>
        </p:txBody>
      </p:sp>
    </p:spTree>
    <p:extLst>
      <p:ext uri="{BB962C8B-B14F-4D97-AF65-F5344CB8AC3E}">
        <p14:creationId xmlns:p14="http://schemas.microsoft.com/office/powerpoint/2010/main" val="259080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38E8685-CBDA-42B2-B88E-36E92EBF81B0}"/>
              </a:ext>
            </a:extLst>
          </p:cNvPr>
          <p:cNvSpPr>
            <a:spLocks noGrp="1"/>
          </p:cNvSpPr>
          <p:nvPr>
            <p:ph type="dt" sz="half" idx="10"/>
          </p:nvPr>
        </p:nvSpPr>
        <p:spPr/>
        <p:txBody>
          <a:bodyPr/>
          <a:lstStyle/>
          <a:p>
            <a:fld id="{52E66933-0F5A-4659-A281-14A85E9E6B75}" type="datetimeFigureOut">
              <a:rPr lang="zh-CN" altLang="en-US" smtClean="0"/>
              <a:t>2024/5/15</a:t>
            </a:fld>
            <a:endParaRPr lang="zh-CN" altLang="en-US"/>
          </a:p>
        </p:txBody>
      </p:sp>
      <p:sp>
        <p:nvSpPr>
          <p:cNvPr id="3" name="页脚占位符 2">
            <a:extLst>
              <a:ext uri="{FF2B5EF4-FFF2-40B4-BE49-F238E27FC236}">
                <a16:creationId xmlns:a16="http://schemas.microsoft.com/office/drawing/2014/main" id="{36A96EA9-A4D0-4589-BD22-EBD9223A212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06D6DCC-9C31-4F4C-A4C4-44FB7C54CE7A}"/>
              </a:ext>
            </a:extLst>
          </p:cNvPr>
          <p:cNvSpPr>
            <a:spLocks noGrp="1"/>
          </p:cNvSpPr>
          <p:nvPr>
            <p:ph type="sldNum" sz="quarter" idx="12"/>
          </p:nvPr>
        </p:nvSpPr>
        <p:spPr/>
        <p:txBody>
          <a:bodyPr/>
          <a:lstStyle/>
          <a:p>
            <a:fld id="{3007522D-5260-4B76-8E4F-2ACA64BC8466}" type="slidenum">
              <a:rPr lang="zh-CN" altLang="en-US" smtClean="0"/>
              <a:t>‹#›</a:t>
            </a:fld>
            <a:endParaRPr lang="zh-CN" altLang="en-US"/>
          </a:p>
        </p:txBody>
      </p:sp>
    </p:spTree>
    <p:extLst>
      <p:ext uri="{BB962C8B-B14F-4D97-AF65-F5344CB8AC3E}">
        <p14:creationId xmlns:p14="http://schemas.microsoft.com/office/powerpoint/2010/main" val="656481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8427AE-8EB0-4129-B03F-0EFCE4CEFF9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A4850C6-4F91-4DF1-AAC4-4EFB9EBC46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2B5E466-1E66-4FA1-AA9A-A5619BF706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E57A925-7D6D-43B5-963D-BDD69539A2D3}"/>
              </a:ext>
            </a:extLst>
          </p:cNvPr>
          <p:cNvSpPr>
            <a:spLocks noGrp="1"/>
          </p:cNvSpPr>
          <p:nvPr>
            <p:ph type="dt" sz="half" idx="10"/>
          </p:nvPr>
        </p:nvSpPr>
        <p:spPr/>
        <p:txBody>
          <a:bodyPr/>
          <a:lstStyle/>
          <a:p>
            <a:fld id="{52E66933-0F5A-4659-A281-14A85E9E6B75}" type="datetimeFigureOut">
              <a:rPr lang="zh-CN" altLang="en-US" smtClean="0"/>
              <a:t>2024/5/15</a:t>
            </a:fld>
            <a:endParaRPr lang="zh-CN" altLang="en-US"/>
          </a:p>
        </p:txBody>
      </p:sp>
      <p:sp>
        <p:nvSpPr>
          <p:cNvPr id="6" name="页脚占位符 5">
            <a:extLst>
              <a:ext uri="{FF2B5EF4-FFF2-40B4-BE49-F238E27FC236}">
                <a16:creationId xmlns:a16="http://schemas.microsoft.com/office/drawing/2014/main" id="{6846DC52-A0D7-4104-88CF-706DEBEB4CC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5816050-5218-41A4-B50B-FE34524FF2EA}"/>
              </a:ext>
            </a:extLst>
          </p:cNvPr>
          <p:cNvSpPr>
            <a:spLocks noGrp="1"/>
          </p:cNvSpPr>
          <p:nvPr>
            <p:ph type="sldNum" sz="quarter" idx="12"/>
          </p:nvPr>
        </p:nvSpPr>
        <p:spPr/>
        <p:txBody>
          <a:bodyPr/>
          <a:lstStyle/>
          <a:p>
            <a:fld id="{3007522D-5260-4B76-8E4F-2ACA64BC8466}" type="slidenum">
              <a:rPr lang="zh-CN" altLang="en-US" smtClean="0"/>
              <a:t>‹#›</a:t>
            </a:fld>
            <a:endParaRPr lang="zh-CN" altLang="en-US"/>
          </a:p>
        </p:txBody>
      </p:sp>
    </p:spTree>
    <p:extLst>
      <p:ext uri="{BB962C8B-B14F-4D97-AF65-F5344CB8AC3E}">
        <p14:creationId xmlns:p14="http://schemas.microsoft.com/office/powerpoint/2010/main" val="978543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90C520-84CA-490F-B344-188A878CCDE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2535FA6-C156-4484-AE23-8DAF9B8A88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98E3394-92E9-49F5-8982-4DF622ACA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98DADF2-6222-46B4-8BE6-9E761071261C}"/>
              </a:ext>
            </a:extLst>
          </p:cNvPr>
          <p:cNvSpPr>
            <a:spLocks noGrp="1"/>
          </p:cNvSpPr>
          <p:nvPr>
            <p:ph type="dt" sz="half" idx="10"/>
          </p:nvPr>
        </p:nvSpPr>
        <p:spPr/>
        <p:txBody>
          <a:bodyPr/>
          <a:lstStyle/>
          <a:p>
            <a:fld id="{52E66933-0F5A-4659-A281-14A85E9E6B75}" type="datetimeFigureOut">
              <a:rPr lang="zh-CN" altLang="en-US" smtClean="0"/>
              <a:t>2024/5/15</a:t>
            </a:fld>
            <a:endParaRPr lang="zh-CN" altLang="en-US"/>
          </a:p>
        </p:txBody>
      </p:sp>
      <p:sp>
        <p:nvSpPr>
          <p:cNvPr id="6" name="页脚占位符 5">
            <a:extLst>
              <a:ext uri="{FF2B5EF4-FFF2-40B4-BE49-F238E27FC236}">
                <a16:creationId xmlns:a16="http://schemas.microsoft.com/office/drawing/2014/main" id="{0834D3FF-5EA8-4FE5-8911-698945BC916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430CF81-C043-49AA-B937-5D6A89274A88}"/>
              </a:ext>
            </a:extLst>
          </p:cNvPr>
          <p:cNvSpPr>
            <a:spLocks noGrp="1"/>
          </p:cNvSpPr>
          <p:nvPr>
            <p:ph type="sldNum" sz="quarter" idx="12"/>
          </p:nvPr>
        </p:nvSpPr>
        <p:spPr/>
        <p:txBody>
          <a:bodyPr/>
          <a:lstStyle/>
          <a:p>
            <a:fld id="{3007522D-5260-4B76-8E4F-2ACA64BC8466}" type="slidenum">
              <a:rPr lang="zh-CN" altLang="en-US" smtClean="0"/>
              <a:t>‹#›</a:t>
            </a:fld>
            <a:endParaRPr lang="zh-CN" altLang="en-US"/>
          </a:p>
        </p:txBody>
      </p:sp>
    </p:spTree>
    <p:extLst>
      <p:ext uri="{BB962C8B-B14F-4D97-AF65-F5344CB8AC3E}">
        <p14:creationId xmlns:p14="http://schemas.microsoft.com/office/powerpoint/2010/main" val="2464044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A35D93-021A-44FF-8D09-292B835A95B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E50465C-154D-4B33-89CA-6C787488019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A7F5925-48CE-48A4-AF6F-C9B468E8CFC3}"/>
              </a:ext>
            </a:extLst>
          </p:cNvPr>
          <p:cNvSpPr>
            <a:spLocks noGrp="1"/>
          </p:cNvSpPr>
          <p:nvPr>
            <p:ph type="dt" sz="half" idx="10"/>
          </p:nvPr>
        </p:nvSpPr>
        <p:spPr/>
        <p:txBody>
          <a:bodyPr/>
          <a:lstStyle/>
          <a:p>
            <a:fld id="{52E66933-0F5A-4659-A281-14A85E9E6B75}"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9EF215BA-CEF1-4610-AA46-01053823B43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46129ED-B24B-400A-997F-501378351BBE}"/>
              </a:ext>
            </a:extLst>
          </p:cNvPr>
          <p:cNvSpPr>
            <a:spLocks noGrp="1"/>
          </p:cNvSpPr>
          <p:nvPr>
            <p:ph type="sldNum" sz="quarter" idx="12"/>
          </p:nvPr>
        </p:nvSpPr>
        <p:spPr/>
        <p:txBody>
          <a:bodyPr/>
          <a:lstStyle/>
          <a:p>
            <a:fld id="{3007522D-5260-4B76-8E4F-2ACA64BC8466}" type="slidenum">
              <a:rPr lang="zh-CN" altLang="en-US" smtClean="0"/>
              <a:t>‹#›</a:t>
            </a:fld>
            <a:endParaRPr lang="zh-CN" altLang="en-US"/>
          </a:p>
        </p:txBody>
      </p:sp>
    </p:spTree>
    <p:extLst>
      <p:ext uri="{BB962C8B-B14F-4D97-AF65-F5344CB8AC3E}">
        <p14:creationId xmlns:p14="http://schemas.microsoft.com/office/powerpoint/2010/main" val="1846703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AF18DF8-A218-4F6E-A0CC-A5E19303BBA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AA59D1F-FE65-4073-8CCF-D861B6E60BC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0332049-3B1F-46D6-A4EE-CEED65317091}"/>
              </a:ext>
            </a:extLst>
          </p:cNvPr>
          <p:cNvSpPr>
            <a:spLocks noGrp="1"/>
          </p:cNvSpPr>
          <p:nvPr>
            <p:ph type="dt" sz="half" idx="10"/>
          </p:nvPr>
        </p:nvSpPr>
        <p:spPr/>
        <p:txBody>
          <a:bodyPr/>
          <a:lstStyle/>
          <a:p>
            <a:fld id="{52E66933-0F5A-4659-A281-14A85E9E6B75}"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7C006F38-4427-4C0A-AA6E-EEA6CEAA1AA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560E09-982C-4078-A02A-6EE75944BAA1}"/>
              </a:ext>
            </a:extLst>
          </p:cNvPr>
          <p:cNvSpPr>
            <a:spLocks noGrp="1"/>
          </p:cNvSpPr>
          <p:nvPr>
            <p:ph type="sldNum" sz="quarter" idx="12"/>
          </p:nvPr>
        </p:nvSpPr>
        <p:spPr/>
        <p:txBody>
          <a:bodyPr/>
          <a:lstStyle/>
          <a:p>
            <a:fld id="{3007522D-5260-4B76-8E4F-2ACA64BC8466}" type="slidenum">
              <a:rPr lang="zh-CN" altLang="en-US" smtClean="0"/>
              <a:t>‹#›</a:t>
            </a:fld>
            <a:endParaRPr lang="zh-CN" altLang="en-US"/>
          </a:p>
        </p:txBody>
      </p:sp>
    </p:spTree>
    <p:extLst>
      <p:ext uri="{BB962C8B-B14F-4D97-AF65-F5344CB8AC3E}">
        <p14:creationId xmlns:p14="http://schemas.microsoft.com/office/powerpoint/2010/main" val="6336694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深色主题-封面页">
    <p:bg>
      <p:bgPr>
        <a:solidFill>
          <a:srgbClr val="000000"/>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2362367-92DE-5FCC-9748-FF4C3F2B5D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3473" cy="6858000"/>
          </a:xfrm>
          <a:prstGeom prst="rect">
            <a:avLst/>
          </a:prstGeom>
        </p:spPr>
      </p:pic>
      <p:pic>
        <p:nvPicPr>
          <p:cNvPr id="3" name="图片 2">
            <a:extLst>
              <a:ext uri="{FF2B5EF4-FFF2-40B4-BE49-F238E27FC236}">
                <a16:creationId xmlns:a16="http://schemas.microsoft.com/office/drawing/2014/main" id="{9D37A992-E7B7-A045-BE03-BD8144EB936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6882" y="-307411"/>
            <a:ext cx="2802238" cy="1976875"/>
          </a:xfrm>
          <a:prstGeom prst="rect">
            <a:avLst/>
          </a:prstGeom>
        </p:spPr>
      </p:pic>
      <p:sp>
        <p:nvSpPr>
          <p:cNvPr id="2" name="Rectangle 8">
            <a:extLst>
              <a:ext uri="{FF2B5EF4-FFF2-40B4-BE49-F238E27FC236}">
                <a16:creationId xmlns:a16="http://schemas.microsoft.com/office/drawing/2014/main" id="{C82C168E-ADB8-FBB1-209D-BD95E2136C02}"/>
              </a:ext>
            </a:extLst>
          </p:cNvPr>
          <p:cNvSpPr txBox="1"/>
          <p:nvPr userDrawn="1"/>
        </p:nvSpPr>
        <p:spPr>
          <a:xfrm>
            <a:off x="7271424" y="6522373"/>
            <a:ext cx="4920576"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800">
                <a:solidFill>
                  <a:srgbClr val="FFFFFF"/>
                </a:solidFill>
                <a:latin typeface="Amazon Ember"/>
                <a:ea typeface="Amazon Ember"/>
                <a:cs typeface="Amazon Ember"/>
                <a:sym typeface="Amazon Ember"/>
              </a:defRPr>
            </a:pPr>
            <a:r>
              <a:rPr dirty="0">
                <a:solidFill>
                  <a:srgbClr val="161E2D"/>
                </a:solidFill>
              </a:rPr>
              <a:t>Copyright © </a:t>
            </a:r>
            <a:r>
              <a:rPr lang="en-CN" dirty="0">
                <a:solidFill>
                  <a:srgbClr val="161E2D"/>
                </a:solidFill>
              </a:rPr>
              <a:t>2023</a:t>
            </a:r>
            <a:r>
              <a:rPr lang="en-US" altLang="zh-CN" dirty="0">
                <a:solidFill>
                  <a:srgbClr val="161E2D"/>
                </a:solidFill>
              </a:rPr>
              <a:t>-2024</a:t>
            </a:r>
            <a:r>
              <a:rPr lang="en-CN" dirty="0">
                <a:solidFill>
                  <a:srgbClr val="161E2D"/>
                </a:solidFill>
              </a:rPr>
              <a:t> </a:t>
            </a:r>
            <a:r>
              <a:rPr dirty="0">
                <a:solidFill>
                  <a:srgbClr val="161E2D"/>
                </a:solidFill>
              </a:rPr>
              <a:t>Amazon. All </a:t>
            </a:r>
            <a:r>
              <a:rPr lang="en-US" dirty="0">
                <a:solidFill>
                  <a:srgbClr val="161E2D"/>
                </a:solidFill>
              </a:rPr>
              <a:t>R</a:t>
            </a:r>
            <a:r>
              <a:rPr dirty="0">
                <a:solidFill>
                  <a:srgbClr val="161E2D"/>
                </a:solidFill>
              </a:rPr>
              <a:t>ights Reserved.︱</a:t>
            </a:r>
            <a:r>
              <a:rPr dirty="0">
                <a:solidFill>
                  <a:srgbClr val="161E2D"/>
                </a:solidFill>
                <a:latin typeface="Source Han Sans CN Medium"/>
                <a:ea typeface="Source Han Sans CN Medium"/>
                <a:cs typeface="Source Han Sans CN Medium"/>
                <a:sym typeface="Source Han Sans CN Medium"/>
              </a:rPr>
              <a:t>版权所有</a:t>
            </a:r>
            <a:r>
              <a:rPr lang="en-US" dirty="0">
                <a:solidFill>
                  <a:srgbClr val="161E2D"/>
                </a:solidFill>
                <a:latin typeface="Source Han Sans CN Medium"/>
                <a:ea typeface="Source Han Sans CN Medium"/>
                <a:cs typeface="Source Han Sans CN Medium"/>
                <a:sym typeface="Source Han Sans CN Medium"/>
              </a:rPr>
              <a:t> </a:t>
            </a:r>
            <a:r>
              <a:rPr dirty="0">
                <a:solidFill>
                  <a:srgbClr val="161E2D"/>
                </a:solidFill>
              </a:rPr>
              <a:t>© 202</a:t>
            </a:r>
            <a:r>
              <a:rPr lang="en-US" dirty="0">
                <a:solidFill>
                  <a:srgbClr val="161E2D"/>
                </a:solidFill>
              </a:rPr>
              <a:t>3</a:t>
            </a:r>
            <a:r>
              <a:rPr lang="en-US" altLang="zh-CN" dirty="0">
                <a:solidFill>
                  <a:srgbClr val="161E2D"/>
                </a:solidFill>
              </a:rPr>
              <a:t>-2024</a:t>
            </a:r>
            <a:r>
              <a:rPr lang="en-US" dirty="0">
                <a:solidFill>
                  <a:srgbClr val="161E2D"/>
                </a:solidFill>
              </a:rPr>
              <a:t> </a:t>
            </a:r>
            <a:r>
              <a:rPr dirty="0">
                <a:solidFill>
                  <a:srgbClr val="161E2D"/>
                </a:solidFill>
                <a:latin typeface="Source Han Sans CN Medium"/>
                <a:ea typeface="Source Han Sans CN Medium"/>
                <a:cs typeface="Source Han Sans CN Medium"/>
                <a:sym typeface="Source Han Sans CN Medium"/>
              </a:rPr>
              <a:t>亚马逊。保留所有权利。</a:t>
            </a:r>
          </a:p>
        </p:txBody>
      </p:sp>
    </p:spTree>
    <p:extLst>
      <p:ext uri="{BB962C8B-B14F-4D97-AF65-F5344CB8AC3E}">
        <p14:creationId xmlns:p14="http://schemas.microsoft.com/office/powerpoint/2010/main" val="459742889"/>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深色主题-封面页">
    <p:bg>
      <p:bgPr>
        <a:solidFill>
          <a:srgbClr val="000000"/>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2362367-92DE-5FCC-9748-FF4C3F2B5D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3473" cy="6858000"/>
          </a:xfrm>
          <a:prstGeom prst="rect">
            <a:avLst/>
          </a:prstGeom>
        </p:spPr>
      </p:pic>
      <p:pic>
        <p:nvPicPr>
          <p:cNvPr id="3" name="图片 2">
            <a:extLst>
              <a:ext uri="{FF2B5EF4-FFF2-40B4-BE49-F238E27FC236}">
                <a16:creationId xmlns:a16="http://schemas.microsoft.com/office/drawing/2014/main" id="{9D37A992-E7B7-A045-BE03-BD8144EB936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6882" y="-307411"/>
            <a:ext cx="2802238" cy="1976875"/>
          </a:xfrm>
          <a:prstGeom prst="rect">
            <a:avLst/>
          </a:prstGeom>
        </p:spPr>
      </p:pic>
      <p:sp>
        <p:nvSpPr>
          <p:cNvPr id="2" name="Rectangle 8">
            <a:extLst>
              <a:ext uri="{FF2B5EF4-FFF2-40B4-BE49-F238E27FC236}">
                <a16:creationId xmlns:a16="http://schemas.microsoft.com/office/drawing/2014/main" id="{C82C168E-ADB8-FBB1-209D-BD95E2136C02}"/>
              </a:ext>
            </a:extLst>
          </p:cNvPr>
          <p:cNvSpPr txBox="1"/>
          <p:nvPr userDrawn="1"/>
        </p:nvSpPr>
        <p:spPr>
          <a:xfrm>
            <a:off x="7271424" y="6522373"/>
            <a:ext cx="4920576"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800">
                <a:solidFill>
                  <a:srgbClr val="FFFFFF"/>
                </a:solidFill>
                <a:latin typeface="Amazon Ember"/>
                <a:ea typeface="Amazon Ember"/>
                <a:cs typeface="Amazon Ember"/>
                <a:sym typeface="Amazon Ember"/>
              </a:defRPr>
            </a:pPr>
            <a:r>
              <a:rPr dirty="0">
                <a:solidFill>
                  <a:srgbClr val="161E2D"/>
                </a:solidFill>
              </a:rPr>
              <a:t>Copyright © </a:t>
            </a:r>
            <a:r>
              <a:rPr lang="en-CN" dirty="0">
                <a:solidFill>
                  <a:srgbClr val="161E2D"/>
                </a:solidFill>
              </a:rPr>
              <a:t>2023</a:t>
            </a:r>
            <a:r>
              <a:rPr lang="en-US" altLang="zh-CN" dirty="0">
                <a:solidFill>
                  <a:srgbClr val="161E2D"/>
                </a:solidFill>
              </a:rPr>
              <a:t>-2024</a:t>
            </a:r>
            <a:r>
              <a:rPr lang="en-CN" dirty="0">
                <a:solidFill>
                  <a:srgbClr val="161E2D"/>
                </a:solidFill>
              </a:rPr>
              <a:t> </a:t>
            </a:r>
            <a:r>
              <a:rPr dirty="0">
                <a:solidFill>
                  <a:srgbClr val="161E2D"/>
                </a:solidFill>
              </a:rPr>
              <a:t>Amazon. All </a:t>
            </a:r>
            <a:r>
              <a:rPr lang="en-US" dirty="0">
                <a:solidFill>
                  <a:srgbClr val="161E2D"/>
                </a:solidFill>
              </a:rPr>
              <a:t>R</a:t>
            </a:r>
            <a:r>
              <a:rPr dirty="0">
                <a:solidFill>
                  <a:srgbClr val="161E2D"/>
                </a:solidFill>
              </a:rPr>
              <a:t>ights Reserved.︱</a:t>
            </a:r>
            <a:r>
              <a:rPr dirty="0">
                <a:solidFill>
                  <a:srgbClr val="161E2D"/>
                </a:solidFill>
                <a:latin typeface="Source Han Sans CN Medium"/>
                <a:ea typeface="Source Han Sans CN Medium"/>
                <a:cs typeface="Source Han Sans CN Medium"/>
                <a:sym typeface="Source Han Sans CN Medium"/>
              </a:rPr>
              <a:t>版权所有</a:t>
            </a:r>
            <a:r>
              <a:rPr lang="en-US" dirty="0">
                <a:solidFill>
                  <a:srgbClr val="161E2D"/>
                </a:solidFill>
                <a:latin typeface="Source Han Sans CN Medium"/>
                <a:ea typeface="Source Han Sans CN Medium"/>
                <a:cs typeface="Source Han Sans CN Medium"/>
                <a:sym typeface="Source Han Sans CN Medium"/>
              </a:rPr>
              <a:t> </a:t>
            </a:r>
            <a:r>
              <a:rPr dirty="0">
                <a:solidFill>
                  <a:srgbClr val="161E2D"/>
                </a:solidFill>
              </a:rPr>
              <a:t>© 202</a:t>
            </a:r>
            <a:r>
              <a:rPr lang="en-US" dirty="0">
                <a:solidFill>
                  <a:srgbClr val="161E2D"/>
                </a:solidFill>
              </a:rPr>
              <a:t>3</a:t>
            </a:r>
            <a:r>
              <a:rPr lang="en-US" altLang="zh-CN" dirty="0">
                <a:solidFill>
                  <a:srgbClr val="161E2D"/>
                </a:solidFill>
              </a:rPr>
              <a:t>-2024</a:t>
            </a:r>
            <a:r>
              <a:rPr lang="en-US" dirty="0">
                <a:solidFill>
                  <a:srgbClr val="161E2D"/>
                </a:solidFill>
              </a:rPr>
              <a:t> </a:t>
            </a:r>
            <a:r>
              <a:rPr dirty="0">
                <a:solidFill>
                  <a:srgbClr val="161E2D"/>
                </a:solidFill>
                <a:latin typeface="Source Han Sans CN Medium"/>
                <a:ea typeface="Source Han Sans CN Medium"/>
                <a:cs typeface="Source Han Sans CN Medium"/>
                <a:sym typeface="Source Han Sans CN Medium"/>
              </a:rPr>
              <a:t>亚马逊。保留所有权利。</a:t>
            </a:r>
          </a:p>
        </p:txBody>
      </p:sp>
    </p:spTree>
    <p:extLst>
      <p:ext uri="{BB962C8B-B14F-4D97-AF65-F5344CB8AC3E}">
        <p14:creationId xmlns:p14="http://schemas.microsoft.com/office/powerpoint/2010/main" val="2961654072"/>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reserve="1">
  <p:cSld name="1_深色主题-封面页">
    <p:bg>
      <p:bgPr>
        <a:solidFill>
          <a:srgbClr val="000000"/>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2362367-92DE-5FCC-9748-FF4C3F2B5D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3473" cy="6858000"/>
          </a:xfrm>
          <a:prstGeom prst="rect">
            <a:avLst/>
          </a:prstGeom>
        </p:spPr>
      </p:pic>
      <p:pic>
        <p:nvPicPr>
          <p:cNvPr id="3" name="图片 2">
            <a:extLst>
              <a:ext uri="{FF2B5EF4-FFF2-40B4-BE49-F238E27FC236}">
                <a16:creationId xmlns:a16="http://schemas.microsoft.com/office/drawing/2014/main" id="{9D37A992-E7B7-A045-BE03-BD8144EB936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6882" y="-307411"/>
            <a:ext cx="2802238" cy="1976875"/>
          </a:xfrm>
          <a:prstGeom prst="rect">
            <a:avLst/>
          </a:prstGeom>
        </p:spPr>
      </p:pic>
      <p:sp>
        <p:nvSpPr>
          <p:cNvPr id="2" name="Rectangle 8">
            <a:extLst>
              <a:ext uri="{FF2B5EF4-FFF2-40B4-BE49-F238E27FC236}">
                <a16:creationId xmlns:a16="http://schemas.microsoft.com/office/drawing/2014/main" id="{C82C168E-ADB8-FBB1-209D-BD95E2136C02}"/>
              </a:ext>
            </a:extLst>
          </p:cNvPr>
          <p:cNvSpPr txBox="1"/>
          <p:nvPr userDrawn="1"/>
        </p:nvSpPr>
        <p:spPr>
          <a:xfrm>
            <a:off x="7271424" y="6522373"/>
            <a:ext cx="4920576"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800">
                <a:solidFill>
                  <a:srgbClr val="FFFFFF"/>
                </a:solidFill>
                <a:latin typeface="Amazon Ember"/>
                <a:ea typeface="Amazon Ember"/>
                <a:cs typeface="Amazon Ember"/>
                <a:sym typeface="Amazon Ember"/>
              </a:defRPr>
            </a:pPr>
            <a:r>
              <a:rPr dirty="0">
                <a:solidFill>
                  <a:srgbClr val="161E2D"/>
                </a:solidFill>
              </a:rPr>
              <a:t>Copyright © </a:t>
            </a:r>
            <a:r>
              <a:rPr lang="en-CN" dirty="0">
                <a:solidFill>
                  <a:srgbClr val="161E2D"/>
                </a:solidFill>
              </a:rPr>
              <a:t>2023</a:t>
            </a:r>
            <a:r>
              <a:rPr lang="en-US" altLang="zh-CN" dirty="0">
                <a:solidFill>
                  <a:srgbClr val="161E2D"/>
                </a:solidFill>
              </a:rPr>
              <a:t>-2024</a:t>
            </a:r>
            <a:r>
              <a:rPr lang="en-CN" dirty="0">
                <a:solidFill>
                  <a:srgbClr val="161E2D"/>
                </a:solidFill>
              </a:rPr>
              <a:t> </a:t>
            </a:r>
            <a:r>
              <a:rPr dirty="0">
                <a:solidFill>
                  <a:srgbClr val="161E2D"/>
                </a:solidFill>
              </a:rPr>
              <a:t>Amazon. All </a:t>
            </a:r>
            <a:r>
              <a:rPr lang="en-US" dirty="0">
                <a:solidFill>
                  <a:srgbClr val="161E2D"/>
                </a:solidFill>
              </a:rPr>
              <a:t>R</a:t>
            </a:r>
            <a:r>
              <a:rPr dirty="0">
                <a:solidFill>
                  <a:srgbClr val="161E2D"/>
                </a:solidFill>
              </a:rPr>
              <a:t>ights Reserved.︱</a:t>
            </a:r>
            <a:r>
              <a:rPr dirty="0">
                <a:solidFill>
                  <a:srgbClr val="161E2D"/>
                </a:solidFill>
                <a:latin typeface="Source Han Sans CN Medium"/>
                <a:ea typeface="Source Han Sans CN Medium"/>
                <a:cs typeface="Source Han Sans CN Medium"/>
                <a:sym typeface="Source Han Sans CN Medium"/>
              </a:rPr>
              <a:t>版权所有</a:t>
            </a:r>
            <a:r>
              <a:rPr lang="en-US" dirty="0">
                <a:solidFill>
                  <a:srgbClr val="161E2D"/>
                </a:solidFill>
                <a:latin typeface="Source Han Sans CN Medium"/>
                <a:ea typeface="Source Han Sans CN Medium"/>
                <a:cs typeface="Source Han Sans CN Medium"/>
                <a:sym typeface="Source Han Sans CN Medium"/>
              </a:rPr>
              <a:t> </a:t>
            </a:r>
            <a:r>
              <a:rPr dirty="0">
                <a:solidFill>
                  <a:srgbClr val="161E2D"/>
                </a:solidFill>
              </a:rPr>
              <a:t>© 202</a:t>
            </a:r>
            <a:r>
              <a:rPr lang="en-US" dirty="0">
                <a:solidFill>
                  <a:srgbClr val="161E2D"/>
                </a:solidFill>
              </a:rPr>
              <a:t>3</a:t>
            </a:r>
            <a:r>
              <a:rPr lang="en-US" altLang="zh-CN" dirty="0">
                <a:solidFill>
                  <a:srgbClr val="161E2D"/>
                </a:solidFill>
              </a:rPr>
              <a:t>-2024</a:t>
            </a:r>
            <a:r>
              <a:rPr lang="en-US" dirty="0">
                <a:solidFill>
                  <a:srgbClr val="161E2D"/>
                </a:solidFill>
              </a:rPr>
              <a:t> </a:t>
            </a:r>
            <a:r>
              <a:rPr dirty="0">
                <a:solidFill>
                  <a:srgbClr val="161E2D"/>
                </a:solidFill>
                <a:latin typeface="Source Han Sans CN Medium"/>
                <a:ea typeface="Source Han Sans CN Medium"/>
                <a:cs typeface="Source Han Sans CN Medium"/>
                <a:sym typeface="Source Han Sans CN Medium"/>
              </a:rPr>
              <a:t>亚马逊。保留所有权利。</a:t>
            </a:r>
          </a:p>
        </p:txBody>
      </p:sp>
    </p:spTree>
    <p:extLst>
      <p:ext uri="{BB962C8B-B14F-4D97-AF65-F5344CB8AC3E}">
        <p14:creationId xmlns:p14="http://schemas.microsoft.com/office/powerpoint/2010/main" val="401877008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reserve="1">
  <p:cSld name="1_深色主题-内容页2">
    <p:bg>
      <p:bgPr>
        <a:solidFill>
          <a:srgbClr val="00000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41AD9B-DA3A-626C-A9DF-7B1C03DF18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204702" cy="6858000"/>
          </a:xfrm>
          <a:prstGeom prst="rect">
            <a:avLst/>
          </a:prstGeom>
        </p:spPr>
      </p:pic>
      <p:pic>
        <p:nvPicPr>
          <p:cNvPr id="9" name="图片 8">
            <a:extLst>
              <a:ext uri="{FF2B5EF4-FFF2-40B4-BE49-F238E27FC236}">
                <a16:creationId xmlns:a16="http://schemas.microsoft.com/office/drawing/2014/main" id="{BE2965F1-7752-7F9B-17A7-DE1CAE6BC1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300926" y="-301357"/>
            <a:ext cx="2802238" cy="1976875"/>
          </a:xfrm>
          <a:prstGeom prst="rect">
            <a:avLst/>
          </a:prstGeom>
        </p:spPr>
      </p:pic>
      <p:sp>
        <p:nvSpPr>
          <p:cNvPr id="2" name="Rectangle 8">
            <a:extLst>
              <a:ext uri="{FF2B5EF4-FFF2-40B4-BE49-F238E27FC236}">
                <a16:creationId xmlns:a16="http://schemas.microsoft.com/office/drawing/2014/main" id="{53D9FB7B-2220-151F-B6FD-E6B06C7A26FD}"/>
              </a:ext>
            </a:extLst>
          </p:cNvPr>
          <p:cNvSpPr txBox="1"/>
          <p:nvPr userDrawn="1"/>
        </p:nvSpPr>
        <p:spPr>
          <a:xfrm>
            <a:off x="7271424" y="6522373"/>
            <a:ext cx="4920576"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800">
                <a:solidFill>
                  <a:srgbClr val="FFFFFF"/>
                </a:solidFill>
                <a:latin typeface="Amazon Ember"/>
                <a:ea typeface="Amazon Ember"/>
                <a:cs typeface="Amazon Ember"/>
                <a:sym typeface="Amazon Ember"/>
              </a:defRPr>
            </a:pPr>
            <a:r>
              <a:rPr dirty="0">
                <a:solidFill>
                  <a:srgbClr val="161E2D"/>
                </a:solidFill>
              </a:rPr>
              <a:t>Copyright © </a:t>
            </a:r>
            <a:r>
              <a:rPr lang="en-CN" dirty="0">
                <a:solidFill>
                  <a:srgbClr val="161E2D"/>
                </a:solidFill>
              </a:rPr>
              <a:t>2023</a:t>
            </a:r>
            <a:r>
              <a:rPr lang="en-US" altLang="zh-CN" dirty="0">
                <a:solidFill>
                  <a:srgbClr val="161E2D"/>
                </a:solidFill>
              </a:rPr>
              <a:t>-2024</a:t>
            </a:r>
            <a:r>
              <a:rPr lang="en-CN" dirty="0">
                <a:solidFill>
                  <a:srgbClr val="161E2D"/>
                </a:solidFill>
              </a:rPr>
              <a:t> </a:t>
            </a:r>
            <a:r>
              <a:rPr dirty="0">
                <a:solidFill>
                  <a:srgbClr val="161E2D"/>
                </a:solidFill>
              </a:rPr>
              <a:t>Amazon. All </a:t>
            </a:r>
            <a:r>
              <a:rPr lang="en-US" dirty="0">
                <a:solidFill>
                  <a:srgbClr val="161E2D"/>
                </a:solidFill>
              </a:rPr>
              <a:t>R</a:t>
            </a:r>
            <a:r>
              <a:rPr dirty="0">
                <a:solidFill>
                  <a:srgbClr val="161E2D"/>
                </a:solidFill>
              </a:rPr>
              <a:t>ights Reserved.︱</a:t>
            </a:r>
            <a:r>
              <a:rPr dirty="0">
                <a:solidFill>
                  <a:srgbClr val="161E2D"/>
                </a:solidFill>
                <a:latin typeface="Source Han Sans CN Medium"/>
                <a:ea typeface="Source Han Sans CN Medium"/>
                <a:cs typeface="Source Han Sans CN Medium"/>
                <a:sym typeface="Source Han Sans CN Medium"/>
              </a:rPr>
              <a:t>版权所有</a:t>
            </a:r>
            <a:r>
              <a:rPr lang="en-US" dirty="0">
                <a:solidFill>
                  <a:srgbClr val="161E2D"/>
                </a:solidFill>
                <a:latin typeface="Source Han Sans CN Medium"/>
                <a:ea typeface="Source Han Sans CN Medium"/>
                <a:cs typeface="Source Han Sans CN Medium"/>
                <a:sym typeface="Source Han Sans CN Medium"/>
              </a:rPr>
              <a:t> </a:t>
            </a:r>
            <a:r>
              <a:rPr dirty="0">
                <a:solidFill>
                  <a:srgbClr val="161E2D"/>
                </a:solidFill>
              </a:rPr>
              <a:t>© 202</a:t>
            </a:r>
            <a:r>
              <a:rPr lang="en-US" dirty="0">
                <a:solidFill>
                  <a:srgbClr val="161E2D"/>
                </a:solidFill>
              </a:rPr>
              <a:t>3</a:t>
            </a:r>
            <a:r>
              <a:rPr lang="en-US" altLang="zh-CN" dirty="0">
                <a:solidFill>
                  <a:srgbClr val="161E2D"/>
                </a:solidFill>
              </a:rPr>
              <a:t>-2024</a:t>
            </a:r>
            <a:r>
              <a:rPr lang="en-US" dirty="0">
                <a:solidFill>
                  <a:srgbClr val="161E2D"/>
                </a:solidFill>
              </a:rPr>
              <a:t> </a:t>
            </a:r>
            <a:r>
              <a:rPr dirty="0">
                <a:solidFill>
                  <a:srgbClr val="161E2D"/>
                </a:solidFill>
                <a:latin typeface="Source Han Sans CN Medium"/>
                <a:ea typeface="Source Han Sans CN Medium"/>
                <a:cs typeface="Source Han Sans CN Medium"/>
                <a:sym typeface="Source Han Sans CN Medium"/>
              </a:rPr>
              <a:t>亚马逊。保留所有权利。</a:t>
            </a:r>
          </a:p>
        </p:txBody>
      </p:sp>
    </p:spTree>
    <p:extLst>
      <p:ext uri="{BB962C8B-B14F-4D97-AF65-F5344CB8AC3E}">
        <p14:creationId xmlns:p14="http://schemas.microsoft.com/office/powerpoint/2010/main" val="839266994"/>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内页＋logo">
    <p:spTree>
      <p:nvGrpSpPr>
        <p:cNvPr id="1" name=""/>
        <p:cNvGrpSpPr/>
        <p:nvPr/>
      </p:nvGrpSpPr>
      <p:grpSpPr>
        <a:xfrm>
          <a:off x="0" y="0"/>
          <a:ext cx="0" cy="0"/>
          <a:chOff x="0" y="0"/>
          <a:chExt cx="0" cy="0"/>
        </a:xfrm>
      </p:grpSpPr>
      <p:pic>
        <p:nvPicPr>
          <p:cNvPr id="2" name="图片 1" descr="asdasdasda"/>
          <p:cNvPicPr>
            <a:picLocks noChangeAspect="1"/>
          </p:cNvPicPr>
          <p:nvPr userDrawn="1">
            <p:custDataLst>
              <p:tags r:id="rId1"/>
            </p:custDataLst>
          </p:nvPr>
        </p:nvPicPr>
        <p:blipFill>
          <a:blip r:embed="rId3"/>
          <a:stretch>
            <a:fillRect/>
          </a:stretch>
        </p:blipFill>
        <p:spPr>
          <a:xfrm flipH="1">
            <a:off x="0" y="0"/>
            <a:ext cx="12192000" cy="6858000"/>
          </a:xfrm>
          <a:prstGeom prst="rect">
            <a:avLst/>
          </a:prstGeom>
        </p:spPr>
      </p:pic>
    </p:spTree>
    <p:extLst>
      <p:ext uri="{BB962C8B-B14F-4D97-AF65-F5344CB8AC3E}">
        <p14:creationId xmlns:p14="http://schemas.microsoft.com/office/powerpoint/2010/main" val="32031627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内页-不加logo">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文本框 4"/>
          <p:cNvSpPr txBox="1"/>
          <p:nvPr userDrawn="1"/>
        </p:nvSpPr>
        <p:spPr>
          <a:xfrm>
            <a:off x="6222381" y="6339324"/>
            <a:ext cx="5781922" cy="246221"/>
          </a:xfrm>
          <a:prstGeom prst="rect">
            <a:avLst/>
          </a:prstGeom>
          <a:noFill/>
        </p:spPr>
        <p:txBody>
          <a:bodyPr wrap="square" rtlCol="0">
            <a:spAutoFit/>
          </a:bodyPr>
          <a:lstStyle/>
          <a:p>
            <a:pPr algn="r"/>
            <a:r>
              <a:rPr lang="en-US" altLang="zh-CN" sz="1000" kern="1200" dirty="0">
                <a:solidFill>
                  <a:schemeClr val="tx1"/>
                </a:solidFill>
                <a:latin typeface="Amazon Ember" panose="020B0603020204020204" charset="0"/>
                <a:ea typeface="Amazon Ember" panose="020B0603020204020204" charset="0"/>
                <a:cs typeface="Amazon Ember" panose="020B0603020204020204" charset="0"/>
              </a:rPr>
              <a:t>Copyright © 2023 Amazon. All rights Reserved.</a:t>
            </a:r>
            <a:r>
              <a:rPr lang="zh-CN" altLang="zh-CN" sz="1000" kern="1200" dirty="0">
                <a:solidFill>
                  <a:schemeClr val="tx1"/>
                </a:solidFill>
                <a:latin typeface="Amazon Ember" panose="020B0603020204020204" charset="0"/>
                <a:ea typeface="+mn-ea"/>
                <a:cs typeface="Amazon Ember" panose="020B0603020204020204" charset="0"/>
              </a:rPr>
              <a:t>︱版权所有</a:t>
            </a:r>
            <a:r>
              <a:rPr lang="en-US" altLang="zh-CN" sz="1000" kern="1200" dirty="0">
                <a:solidFill>
                  <a:schemeClr val="tx1"/>
                </a:solidFill>
                <a:latin typeface="Amazon Ember" panose="020B0603020204020204" charset="0"/>
                <a:ea typeface="Amazon Ember" panose="020B0603020204020204" charset="0"/>
                <a:cs typeface="Amazon Ember" panose="020B0603020204020204" charset="0"/>
              </a:rPr>
              <a:t>© 2023 </a:t>
            </a:r>
            <a:r>
              <a:rPr lang="zh-CN" altLang="zh-CN" sz="1000" kern="1200" dirty="0">
                <a:solidFill>
                  <a:schemeClr val="tx1"/>
                </a:solidFill>
                <a:latin typeface="Amazon Ember" panose="020B0603020204020204" charset="0"/>
                <a:ea typeface="+mn-ea"/>
                <a:cs typeface="Amazon Ember" panose="020B0603020204020204" charset="0"/>
              </a:rPr>
              <a:t>亚马逊。保留所有权利。</a:t>
            </a:r>
            <a:endParaRPr lang="zh-CN" altLang="en-US" sz="1000" kern="1200" dirty="0">
              <a:solidFill>
                <a:schemeClr val="tx1"/>
              </a:solidFill>
              <a:latin typeface="Amazon Ember" panose="020B0603020204020204" charset="0"/>
              <a:ea typeface="思源黑体 Regular" panose="020B0500000000000000" charset="-122"/>
              <a:cs typeface="Amazon Ember" panose="020B0603020204020204" charset="0"/>
            </a:endParaRPr>
          </a:p>
        </p:txBody>
      </p:sp>
    </p:spTree>
    <p:extLst>
      <p:ext uri="{BB962C8B-B14F-4D97-AF65-F5344CB8AC3E}">
        <p14:creationId xmlns:p14="http://schemas.microsoft.com/office/powerpoint/2010/main" val="8755396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演讲主题页">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F627B08-8BCF-4615-97AE-D1FBAB73E39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图片 3">
            <a:extLst>
              <a:ext uri="{FF2B5EF4-FFF2-40B4-BE49-F238E27FC236}">
                <a16:creationId xmlns:a16="http://schemas.microsoft.com/office/drawing/2014/main" id="{254E70B3-53FE-41FC-AD4F-A4BACBB643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0766" y="372599"/>
            <a:ext cx="1293436" cy="538406"/>
          </a:xfrm>
          <a:prstGeom prst="rect">
            <a:avLst/>
          </a:prstGeom>
        </p:spPr>
      </p:pic>
    </p:spTree>
    <p:extLst>
      <p:ext uri="{BB962C8B-B14F-4D97-AF65-F5344CB8AC3E}">
        <p14:creationId xmlns:p14="http://schemas.microsoft.com/office/powerpoint/2010/main" val="295934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389AB11-DDB9-45FF-BF8D-ACA7572B3A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1B31A12-FCC7-4F11-BF84-D470E02894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A5DD03F-F7E7-49B3-9062-64E371A6CA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E66933-0F5A-4659-A281-14A85E9E6B75}" type="datetimeFigureOut">
              <a:rPr lang="zh-CN" altLang="en-US" smtClean="0"/>
              <a:t>2024/5/15</a:t>
            </a:fld>
            <a:endParaRPr lang="zh-CN" altLang="en-US"/>
          </a:p>
        </p:txBody>
      </p:sp>
      <p:sp>
        <p:nvSpPr>
          <p:cNvPr id="5" name="页脚占位符 4">
            <a:extLst>
              <a:ext uri="{FF2B5EF4-FFF2-40B4-BE49-F238E27FC236}">
                <a16:creationId xmlns:a16="http://schemas.microsoft.com/office/drawing/2014/main" id="{D622124B-B625-483D-9285-B02E11595C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12F03AB-AA00-4F3E-BBF6-4DB38CBFB6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07522D-5260-4B76-8E4F-2ACA64BC8466}" type="slidenum">
              <a:rPr lang="zh-CN" altLang="en-US" smtClean="0"/>
              <a:t>‹#›</a:t>
            </a:fld>
            <a:endParaRPr lang="zh-CN" altLang="en-US"/>
          </a:p>
        </p:txBody>
      </p:sp>
    </p:spTree>
    <p:extLst>
      <p:ext uri="{BB962C8B-B14F-4D97-AF65-F5344CB8AC3E}">
        <p14:creationId xmlns:p14="http://schemas.microsoft.com/office/powerpoint/2010/main" val="4205665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9A224F2-65BB-D9F5-EB21-1E55FF52FEAB}"/>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 y="0"/>
            <a:ext cx="12193473" cy="6858000"/>
          </a:xfrm>
          <a:prstGeom prst="rect">
            <a:avLst/>
          </a:prstGeom>
        </p:spPr>
      </p:pic>
      <p:pic>
        <p:nvPicPr>
          <p:cNvPr id="8" name="图片 7">
            <a:extLst>
              <a:ext uri="{FF2B5EF4-FFF2-40B4-BE49-F238E27FC236}">
                <a16:creationId xmlns:a16="http://schemas.microsoft.com/office/drawing/2014/main" id="{C383492B-8484-088E-8104-C2F3149A38B5}"/>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46882" y="-307411"/>
            <a:ext cx="2802238" cy="1976875"/>
          </a:xfrm>
          <a:prstGeom prst="rect">
            <a:avLst/>
          </a:prstGeom>
        </p:spPr>
      </p:pic>
      <p:sp>
        <p:nvSpPr>
          <p:cNvPr id="3" name="Rectangle 8">
            <a:extLst>
              <a:ext uri="{FF2B5EF4-FFF2-40B4-BE49-F238E27FC236}">
                <a16:creationId xmlns:a16="http://schemas.microsoft.com/office/drawing/2014/main" id="{0DDB92D1-6653-1EAF-720A-FEEBCF199966}"/>
              </a:ext>
            </a:extLst>
          </p:cNvPr>
          <p:cNvSpPr txBox="1"/>
          <p:nvPr userDrawn="1"/>
        </p:nvSpPr>
        <p:spPr>
          <a:xfrm>
            <a:off x="7271424" y="6522373"/>
            <a:ext cx="4920576"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800">
                <a:solidFill>
                  <a:srgbClr val="FFFFFF"/>
                </a:solidFill>
                <a:latin typeface="Amazon Ember"/>
                <a:ea typeface="Amazon Ember"/>
                <a:cs typeface="Amazon Ember"/>
                <a:sym typeface="Amazon Ember"/>
              </a:defRPr>
            </a:pPr>
            <a:r>
              <a:rPr dirty="0">
                <a:solidFill>
                  <a:srgbClr val="161E2D"/>
                </a:solidFill>
              </a:rPr>
              <a:t>Copyright © </a:t>
            </a:r>
            <a:r>
              <a:rPr lang="en-CN" dirty="0">
                <a:solidFill>
                  <a:srgbClr val="161E2D"/>
                </a:solidFill>
              </a:rPr>
              <a:t>2023</a:t>
            </a:r>
            <a:r>
              <a:rPr lang="en-US" altLang="zh-CN" dirty="0">
                <a:solidFill>
                  <a:srgbClr val="161E2D"/>
                </a:solidFill>
              </a:rPr>
              <a:t>-2024</a:t>
            </a:r>
            <a:r>
              <a:rPr lang="en-CN" dirty="0">
                <a:solidFill>
                  <a:srgbClr val="161E2D"/>
                </a:solidFill>
              </a:rPr>
              <a:t> </a:t>
            </a:r>
            <a:r>
              <a:rPr dirty="0">
                <a:solidFill>
                  <a:srgbClr val="161E2D"/>
                </a:solidFill>
              </a:rPr>
              <a:t>Amazon. All </a:t>
            </a:r>
            <a:r>
              <a:rPr lang="en-US" dirty="0">
                <a:solidFill>
                  <a:srgbClr val="161E2D"/>
                </a:solidFill>
              </a:rPr>
              <a:t>R</a:t>
            </a:r>
            <a:r>
              <a:rPr dirty="0">
                <a:solidFill>
                  <a:srgbClr val="161E2D"/>
                </a:solidFill>
              </a:rPr>
              <a:t>ights Reserved.︱</a:t>
            </a:r>
            <a:r>
              <a:rPr dirty="0">
                <a:solidFill>
                  <a:srgbClr val="161E2D"/>
                </a:solidFill>
                <a:latin typeface="Source Han Sans CN Medium"/>
                <a:ea typeface="Source Han Sans CN Medium"/>
                <a:cs typeface="Source Han Sans CN Medium"/>
                <a:sym typeface="Source Han Sans CN Medium"/>
              </a:rPr>
              <a:t>版权所有</a:t>
            </a:r>
            <a:r>
              <a:rPr lang="en-US" dirty="0">
                <a:solidFill>
                  <a:srgbClr val="161E2D"/>
                </a:solidFill>
                <a:latin typeface="Source Han Sans CN Medium"/>
                <a:ea typeface="Source Han Sans CN Medium"/>
                <a:cs typeface="Source Han Sans CN Medium"/>
                <a:sym typeface="Source Han Sans CN Medium"/>
              </a:rPr>
              <a:t> </a:t>
            </a:r>
            <a:r>
              <a:rPr dirty="0">
                <a:solidFill>
                  <a:srgbClr val="161E2D"/>
                </a:solidFill>
              </a:rPr>
              <a:t>© 202</a:t>
            </a:r>
            <a:r>
              <a:rPr lang="en-US" dirty="0">
                <a:solidFill>
                  <a:srgbClr val="161E2D"/>
                </a:solidFill>
              </a:rPr>
              <a:t>3</a:t>
            </a:r>
            <a:r>
              <a:rPr lang="en-US" altLang="zh-CN" dirty="0">
                <a:solidFill>
                  <a:srgbClr val="161E2D"/>
                </a:solidFill>
              </a:rPr>
              <a:t>-2024</a:t>
            </a:r>
            <a:r>
              <a:rPr lang="en-US" dirty="0">
                <a:solidFill>
                  <a:srgbClr val="161E2D"/>
                </a:solidFill>
              </a:rPr>
              <a:t> </a:t>
            </a:r>
            <a:r>
              <a:rPr dirty="0">
                <a:solidFill>
                  <a:srgbClr val="161E2D"/>
                </a:solidFill>
                <a:latin typeface="Source Han Sans CN Medium"/>
                <a:ea typeface="Source Han Sans CN Medium"/>
                <a:cs typeface="Source Han Sans CN Medium"/>
                <a:sym typeface="Source Han Sans CN Medium"/>
              </a:rPr>
              <a:t>亚马逊。保留所有权利。</a:t>
            </a:r>
          </a:p>
        </p:txBody>
      </p:sp>
    </p:spTree>
    <p:extLst>
      <p:ext uri="{BB962C8B-B14F-4D97-AF65-F5344CB8AC3E}">
        <p14:creationId xmlns:p14="http://schemas.microsoft.com/office/powerpoint/2010/main" val="257301217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6" r:id="rId4"/>
    <p:sldLayoutId id="2147483667" r:id="rId5"/>
    <p:sldLayoutId id="2147483668" r:id="rId6"/>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等线 Light"/>
          <a:ea typeface="等线 Light"/>
          <a:cs typeface="等线 Light"/>
          <a:sym typeface="等线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等线 Light"/>
          <a:ea typeface="等线 Light"/>
          <a:cs typeface="等线 Light"/>
          <a:sym typeface="等线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等线 Light"/>
          <a:ea typeface="等线 Light"/>
          <a:cs typeface="等线 Light"/>
          <a:sym typeface="等线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等线 Light"/>
          <a:ea typeface="等线 Light"/>
          <a:cs typeface="等线 Light"/>
          <a:sym typeface="等线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等线 Light"/>
          <a:ea typeface="等线 Light"/>
          <a:cs typeface="等线 Light"/>
          <a:sym typeface="等线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等线 Light"/>
          <a:ea typeface="等线 Light"/>
          <a:cs typeface="等线 Light"/>
          <a:sym typeface="等线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等线 Light"/>
          <a:ea typeface="等线 Light"/>
          <a:cs typeface="等线 Light"/>
          <a:sym typeface="等线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等线 Light"/>
          <a:ea typeface="等线 Light"/>
          <a:cs typeface="等线 Light"/>
          <a:sym typeface="等线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等线 Light"/>
          <a:ea typeface="等线 Light"/>
          <a:cs typeface="等线 Light"/>
          <a:sym typeface="等线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等线"/>
          <a:ea typeface="等线"/>
          <a:cs typeface="等线"/>
          <a:sym typeface="等线"/>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等线"/>
          <a:ea typeface="等线"/>
          <a:cs typeface="等线"/>
          <a:sym typeface="等线"/>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等线"/>
          <a:ea typeface="等线"/>
          <a:cs typeface="等线"/>
          <a:sym typeface="等线"/>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等线"/>
          <a:ea typeface="等线"/>
          <a:cs typeface="等线"/>
          <a:sym typeface="等线"/>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等线"/>
          <a:ea typeface="等线"/>
          <a:cs typeface="等线"/>
          <a:sym typeface="等线"/>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等线"/>
          <a:ea typeface="等线"/>
          <a:cs typeface="等线"/>
          <a:sym typeface="等线"/>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等线"/>
          <a:ea typeface="等线"/>
          <a:cs typeface="等线"/>
          <a:sym typeface="等线"/>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等线"/>
          <a:ea typeface="等线"/>
          <a:cs typeface="等线"/>
          <a:sym typeface="等线"/>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等线"/>
          <a:ea typeface="等线"/>
          <a:cs typeface="等线"/>
          <a:sym typeface="等线"/>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tags" Target="../tags/tag14.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tags" Target="../tags/tag35.xml"/><Relationship Id="rId18" Type="http://schemas.openxmlformats.org/officeDocument/2006/relationships/slideLayout" Target="../slideLayouts/slideLayout15.xml"/><Relationship Id="rId3" Type="http://schemas.openxmlformats.org/officeDocument/2006/relationships/tags" Target="../tags/tag25.xml"/><Relationship Id="rId21" Type="http://schemas.openxmlformats.org/officeDocument/2006/relationships/image" Target="../media/image11.png"/><Relationship Id="rId7" Type="http://schemas.openxmlformats.org/officeDocument/2006/relationships/tags" Target="../tags/tag29.xml"/><Relationship Id="rId12" Type="http://schemas.openxmlformats.org/officeDocument/2006/relationships/tags" Target="../tags/tag34.xml"/><Relationship Id="rId17" Type="http://schemas.openxmlformats.org/officeDocument/2006/relationships/tags" Target="../tags/tag39.xml"/><Relationship Id="rId2" Type="http://schemas.openxmlformats.org/officeDocument/2006/relationships/tags" Target="../tags/tag24.xml"/><Relationship Id="rId16" Type="http://schemas.openxmlformats.org/officeDocument/2006/relationships/tags" Target="../tags/tag38.xml"/><Relationship Id="rId20" Type="http://schemas.openxmlformats.org/officeDocument/2006/relationships/image" Target="../media/image10.png"/><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tags" Target="../tags/tag33.xml"/><Relationship Id="rId24" Type="http://schemas.openxmlformats.org/officeDocument/2006/relationships/image" Target="../media/image14.png"/><Relationship Id="rId5" Type="http://schemas.openxmlformats.org/officeDocument/2006/relationships/tags" Target="../tags/tag27.xml"/><Relationship Id="rId15" Type="http://schemas.openxmlformats.org/officeDocument/2006/relationships/tags" Target="../tags/tag37.xml"/><Relationship Id="rId23" Type="http://schemas.openxmlformats.org/officeDocument/2006/relationships/image" Target="../media/image13.png"/><Relationship Id="rId10" Type="http://schemas.openxmlformats.org/officeDocument/2006/relationships/tags" Target="../tags/tag32.xml"/><Relationship Id="rId19" Type="http://schemas.openxmlformats.org/officeDocument/2006/relationships/image" Target="../media/image9.png"/><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tags" Target="../tags/tag36.xml"/><Relationship Id="rId22"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tags" Target="../tags/tag52.xml"/><Relationship Id="rId18" Type="http://schemas.openxmlformats.org/officeDocument/2006/relationships/tags" Target="../tags/tag57.xml"/><Relationship Id="rId3" Type="http://schemas.openxmlformats.org/officeDocument/2006/relationships/tags" Target="../tags/tag42.xml"/><Relationship Id="rId7" Type="http://schemas.openxmlformats.org/officeDocument/2006/relationships/tags" Target="../tags/tag46.xml"/><Relationship Id="rId12" Type="http://schemas.openxmlformats.org/officeDocument/2006/relationships/tags" Target="../tags/tag51.xml"/><Relationship Id="rId17" Type="http://schemas.openxmlformats.org/officeDocument/2006/relationships/tags" Target="../tags/tag56.xml"/><Relationship Id="rId2" Type="http://schemas.openxmlformats.org/officeDocument/2006/relationships/tags" Target="../tags/tag41.xml"/><Relationship Id="rId16" Type="http://schemas.openxmlformats.org/officeDocument/2006/relationships/tags" Target="../tags/tag55.xml"/><Relationship Id="rId20" Type="http://schemas.openxmlformats.org/officeDocument/2006/relationships/slideLayout" Target="../slideLayouts/slideLayout15.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tags" Target="../tags/tag50.xml"/><Relationship Id="rId5" Type="http://schemas.openxmlformats.org/officeDocument/2006/relationships/tags" Target="../tags/tag44.xml"/><Relationship Id="rId15" Type="http://schemas.openxmlformats.org/officeDocument/2006/relationships/tags" Target="../tags/tag54.xml"/><Relationship Id="rId10" Type="http://schemas.openxmlformats.org/officeDocument/2006/relationships/tags" Target="../tags/tag49.xml"/><Relationship Id="rId19" Type="http://schemas.openxmlformats.org/officeDocument/2006/relationships/tags" Target="../tags/tag58.xml"/><Relationship Id="rId4" Type="http://schemas.openxmlformats.org/officeDocument/2006/relationships/tags" Target="../tags/tag43.xml"/><Relationship Id="rId9" Type="http://schemas.openxmlformats.org/officeDocument/2006/relationships/tags" Target="../tags/tag48.xml"/><Relationship Id="rId14" Type="http://schemas.openxmlformats.org/officeDocument/2006/relationships/tags" Target="../tags/tag53.xml"/></Relationships>
</file>

<file path=ppt/slides/_rels/slide6.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tags" Target="../tags/tag71.xml"/><Relationship Id="rId18" Type="http://schemas.openxmlformats.org/officeDocument/2006/relationships/tags" Target="../tags/tag76.xml"/><Relationship Id="rId3" Type="http://schemas.openxmlformats.org/officeDocument/2006/relationships/tags" Target="../tags/tag61.xml"/><Relationship Id="rId21" Type="http://schemas.openxmlformats.org/officeDocument/2006/relationships/tags" Target="../tags/tag79.xml"/><Relationship Id="rId7" Type="http://schemas.openxmlformats.org/officeDocument/2006/relationships/tags" Target="../tags/tag65.xml"/><Relationship Id="rId12" Type="http://schemas.openxmlformats.org/officeDocument/2006/relationships/tags" Target="../tags/tag70.xml"/><Relationship Id="rId17" Type="http://schemas.openxmlformats.org/officeDocument/2006/relationships/tags" Target="../tags/tag75.xml"/><Relationship Id="rId2" Type="http://schemas.openxmlformats.org/officeDocument/2006/relationships/tags" Target="../tags/tag60.xml"/><Relationship Id="rId16" Type="http://schemas.openxmlformats.org/officeDocument/2006/relationships/tags" Target="../tags/tag74.xml"/><Relationship Id="rId20" Type="http://schemas.openxmlformats.org/officeDocument/2006/relationships/tags" Target="../tags/tag78.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tags" Target="../tags/tag69.xml"/><Relationship Id="rId24" Type="http://schemas.openxmlformats.org/officeDocument/2006/relationships/slideLayout" Target="../slideLayouts/slideLayout15.xml"/><Relationship Id="rId5" Type="http://schemas.openxmlformats.org/officeDocument/2006/relationships/tags" Target="../tags/tag63.xml"/><Relationship Id="rId15" Type="http://schemas.openxmlformats.org/officeDocument/2006/relationships/tags" Target="../tags/tag73.xml"/><Relationship Id="rId23" Type="http://schemas.openxmlformats.org/officeDocument/2006/relationships/tags" Target="../tags/tag81.xml"/><Relationship Id="rId10" Type="http://schemas.openxmlformats.org/officeDocument/2006/relationships/tags" Target="../tags/tag68.xml"/><Relationship Id="rId19" Type="http://schemas.openxmlformats.org/officeDocument/2006/relationships/tags" Target="../tags/tag77.xml"/><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tags" Target="../tags/tag72.xml"/><Relationship Id="rId22" Type="http://schemas.openxmlformats.org/officeDocument/2006/relationships/tags" Target="../tags/tag80.xml"/></Relationships>
</file>

<file path=ppt/slides/_rels/slide7.xml.rels><?xml version="1.0" encoding="UTF-8" standalone="yes"?>
<Relationships xmlns="http://schemas.openxmlformats.org/package/2006/relationships"><Relationship Id="rId8" Type="http://schemas.openxmlformats.org/officeDocument/2006/relationships/tags" Target="../tags/tag89.xml"/><Relationship Id="rId13" Type="http://schemas.openxmlformats.org/officeDocument/2006/relationships/tags" Target="../tags/tag94.xml"/><Relationship Id="rId18" Type="http://schemas.openxmlformats.org/officeDocument/2006/relationships/image" Target="../media/image16.svg"/><Relationship Id="rId3" Type="http://schemas.openxmlformats.org/officeDocument/2006/relationships/tags" Target="../tags/tag84.xml"/><Relationship Id="rId7" Type="http://schemas.openxmlformats.org/officeDocument/2006/relationships/tags" Target="../tags/tag88.xml"/><Relationship Id="rId12" Type="http://schemas.openxmlformats.org/officeDocument/2006/relationships/tags" Target="../tags/tag93.xml"/><Relationship Id="rId17" Type="http://schemas.openxmlformats.org/officeDocument/2006/relationships/image" Target="../media/image15.png"/><Relationship Id="rId2" Type="http://schemas.openxmlformats.org/officeDocument/2006/relationships/tags" Target="../tags/tag83.xml"/><Relationship Id="rId16" Type="http://schemas.openxmlformats.org/officeDocument/2006/relationships/slideLayout" Target="../slideLayouts/slideLayout15.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tags" Target="../tags/tag92.xml"/><Relationship Id="rId5" Type="http://schemas.openxmlformats.org/officeDocument/2006/relationships/tags" Target="../tags/tag86.xml"/><Relationship Id="rId15" Type="http://schemas.openxmlformats.org/officeDocument/2006/relationships/tags" Target="../tags/tag96.xml"/><Relationship Id="rId10" Type="http://schemas.openxmlformats.org/officeDocument/2006/relationships/tags" Target="../tags/tag91.xml"/><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tags" Target="../tags/tag95.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tags" Target="../tags/tag99.xml"/><Relationship Id="rId7" Type="http://schemas.openxmlformats.org/officeDocument/2006/relationships/image" Target="../media/image17.png"/><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slideLayout" Target="../slideLayouts/slideLayout15.xml"/><Relationship Id="rId5" Type="http://schemas.openxmlformats.org/officeDocument/2006/relationships/tags" Target="../tags/tag101.xml"/><Relationship Id="rId4" Type="http://schemas.openxmlformats.org/officeDocument/2006/relationships/tags" Target="../tags/tag100.xml"/></Relationships>
</file>

<file path=ppt/slides/_rels/slide9.xml.rels><?xml version="1.0" encoding="UTF-8" standalone="yes"?>
<Relationships xmlns="http://schemas.openxmlformats.org/package/2006/relationships"><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image" Target="../media/image19.png"/><Relationship Id="rId5" Type="http://schemas.openxmlformats.org/officeDocument/2006/relationships/slideLayout" Target="../slideLayouts/slideLayout15.xml"/><Relationship Id="rId4" Type="http://schemas.openxmlformats.org/officeDocument/2006/relationships/tags" Target="../tags/tag105.xml"/></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108.xml"/><Relationship Id="rId7" Type="http://schemas.openxmlformats.org/officeDocument/2006/relationships/slideLayout" Target="../slideLayouts/slideLayout15.xml"/><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s>
</file>

<file path=ppt/slides/_rels/slide11.xml.rels><?xml version="1.0" encoding="UTF-8" standalone="yes"?>
<Relationships xmlns="http://schemas.openxmlformats.org/package/2006/relationships"><Relationship Id="rId3" Type="http://schemas.openxmlformats.org/officeDocument/2006/relationships/tags" Target="../tags/tag114.xml"/><Relationship Id="rId7" Type="http://schemas.openxmlformats.org/officeDocument/2006/relationships/slideLayout" Target="../slideLayouts/slideLayout15.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s>
</file>

<file path=ppt/slides/_rels/slide12.xml.rels><?xml version="1.0" encoding="UTF-8" standalone="yes"?>
<Relationships xmlns="http://schemas.openxmlformats.org/package/2006/relationships"><Relationship Id="rId8" Type="http://schemas.openxmlformats.org/officeDocument/2006/relationships/tags" Target="../tags/tag125.xml"/><Relationship Id="rId13" Type="http://schemas.openxmlformats.org/officeDocument/2006/relationships/tags" Target="../tags/tag130.xml"/><Relationship Id="rId18" Type="http://schemas.openxmlformats.org/officeDocument/2006/relationships/slideLayout" Target="../slideLayouts/slideLayout15.xml"/><Relationship Id="rId3" Type="http://schemas.openxmlformats.org/officeDocument/2006/relationships/tags" Target="../tags/tag120.xml"/><Relationship Id="rId7" Type="http://schemas.openxmlformats.org/officeDocument/2006/relationships/tags" Target="../tags/tag124.xml"/><Relationship Id="rId12" Type="http://schemas.openxmlformats.org/officeDocument/2006/relationships/tags" Target="../tags/tag129.xml"/><Relationship Id="rId17" Type="http://schemas.openxmlformats.org/officeDocument/2006/relationships/tags" Target="../tags/tag134.xml"/><Relationship Id="rId2" Type="http://schemas.openxmlformats.org/officeDocument/2006/relationships/tags" Target="../tags/tag119.xml"/><Relationship Id="rId16" Type="http://schemas.openxmlformats.org/officeDocument/2006/relationships/tags" Target="../tags/tag133.xml"/><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tags" Target="../tags/tag128.xml"/><Relationship Id="rId5" Type="http://schemas.openxmlformats.org/officeDocument/2006/relationships/tags" Target="../tags/tag122.xml"/><Relationship Id="rId15" Type="http://schemas.openxmlformats.org/officeDocument/2006/relationships/tags" Target="../tags/tag132.xml"/><Relationship Id="rId10" Type="http://schemas.openxmlformats.org/officeDocument/2006/relationships/tags" Target="../tags/tag127.xml"/><Relationship Id="rId4" Type="http://schemas.openxmlformats.org/officeDocument/2006/relationships/tags" Target="../tags/tag121.xml"/><Relationship Id="rId9" Type="http://schemas.openxmlformats.org/officeDocument/2006/relationships/tags" Target="../tags/tag126.xml"/><Relationship Id="rId14" Type="http://schemas.openxmlformats.org/officeDocument/2006/relationships/tags" Target="../tags/tag131.xml"/></Relationships>
</file>

<file path=ppt/slides/_rels/slide13.xml.rels><?xml version="1.0" encoding="UTF-8" standalone="yes"?>
<Relationships xmlns="http://schemas.openxmlformats.org/package/2006/relationships"><Relationship Id="rId8" Type="http://schemas.openxmlformats.org/officeDocument/2006/relationships/tags" Target="../tags/tag142.xml"/><Relationship Id="rId13" Type="http://schemas.openxmlformats.org/officeDocument/2006/relationships/tags" Target="../tags/tag147.xml"/><Relationship Id="rId18" Type="http://schemas.openxmlformats.org/officeDocument/2006/relationships/slideLayout" Target="../slideLayouts/slideLayout15.xml"/><Relationship Id="rId3" Type="http://schemas.openxmlformats.org/officeDocument/2006/relationships/tags" Target="../tags/tag137.xml"/><Relationship Id="rId7" Type="http://schemas.openxmlformats.org/officeDocument/2006/relationships/tags" Target="../tags/tag141.xml"/><Relationship Id="rId12" Type="http://schemas.openxmlformats.org/officeDocument/2006/relationships/tags" Target="../tags/tag146.xml"/><Relationship Id="rId17" Type="http://schemas.openxmlformats.org/officeDocument/2006/relationships/tags" Target="../tags/tag151.xml"/><Relationship Id="rId2" Type="http://schemas.openxmlformats.org/officeDocument/2006/relationships/tags" Target="../tags/tag136.xml"/><Relationship Id="rId16" Type="http://schemas.openxmlformats.org/officeDocument/2006/relationships/tags" Target="../tags/tag150.xml"/><Relationship Id="rId1" Type="http://schemas.openxmlformats.org/officeDocument/2006/relationships/tags" Target="../tags/tag135.xml"/><Relationship Id="rId6" Type="http://schemas.openxmlformats.org/officeDocument/2006/relationships/tags" Target="../tags/tag140.xml"/><Relationship Id="rId11" Type="http://schemas.openxmlformats.org/officeDocument/2006/relationships/tags" Target="../tags/tag145.xml"/><Relationship Id="rId5" Type="http://schemas.openxmlformats.org/officeDocument/2006/relationships/tags" Target="../tags/tag139.xml"/><Relationship Id="rId15" Type="http://schemas.openxmlformats.org/officeDocument/2006/relationships/tags" Target="../tags/tag149.xml"/><Relationship Id="rId10" Type="http://schemas.openxmlformats.org/officeDocument/2006/relationships/tags" Target="../tags/tag144.xml"/><Relationship Id="rId4" Type="http://schemas.openxmlformats.org/officeDocument/2006/relationships/tags" Target="../tags/tag138.xml"/><Relationship Id="rId9" Type="http://schemas.openxmlformats.org/officeDocument/2006/relationships/tags" Target="../tags/tag143.xml"/><Relationship Id="rId14" Type="http://schemas.openxmlformats.org/officeDocument/2006/relationships/tags" Target="../tags/tag148.xml"/></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tags" Target="../tags/tag154.xml"/><Relationship Id="rId7" Type="http://schemas.openxmlformats.org/officeDocument/2006/relationships/slideLayout" Target="../slideLayouts/slideLayout15.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tags" Target="../tags/tag155.xml"/></Relationships>
</file>

<file path=ppt/slides/_rels/slide15.xml.rels><?xml version="1.0" encoding="UTF-8" standalone="yes"?>
<Relationships xmlns="http://schemas.openxmlformats.org/package/2006/relationships"><Relationship Id="rId8" Type="http://schemas.openxmlformats.org/officeDocument/2006/relationships/tags" Target="../tags/tag165.xml"/><Relationship Id="rId13" Type="http://schemas.openxmlformats.org/officeDocument/2006/relationships/tags" Target="../tags/tag170.xml"/><Relationship Id="rId18" Type="http://schemas.openxmlformats.org/officeDocument/2006/relationships/slideLayout" Target="../slideLayouts/slideLayout15.xml"/><Relationship Id="rId3" Type="http://schemas.openxmlformats.org/officeDocument/2006/relationships/tags" Target="../tags/tag160.xml"/><Relationship Id="rId7" Type="http://schemas.openxmlformats.org/officeDocument/2006/relationships/tags" Target="../tags/tag164.xml"/><Relationship Id="rId12" Type="http://schemas.openxmlformats.org/officeDocument/2006/relationships/tags" Target="../tags/tag169.xml"/><Relationship Id="rId17" Type="http://schemas.openxmlformats.org/officeDocument/2006/relationships/tags" Target="../tags/tag174.xml"/><Relationship Id="rId2" Type="http://schemas.openxmlformats.org/officeDocument/2006/relationships/tags" Target="../tags/tag159.xml"/><Relationship Id="rId16" Type="http://schemas.openxmlformats.org/officeDocument/2006/relationships/tags" Target="../tags/tag173.xml"/><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tags" Target="../tags/tag168.xml"/><Relationship Id="rId5" Type="http://schemas.openxmlformats.org/officeDocument/2006/relationships/tags" Target="../tags/tag162.xml"/><Relationship Id="rId15" Type="http://schemas.openxmlformats.org/officeDocument/2006/relationships/tags" Target="../tags/tag172.xml"/><Relationship Id="rId10" Type="http://schemas.openxmlformats.org/officeDocument/2006/relationships/tags" Target="../tags/tag167.xml"/><Relationship Id="rId4" Type="http://schemas.openxmlformats.org/officeDocument/2006/relationships/tags" Target="../tags/tag161.xml"/><Relationship Id="rId9" Type="http://schemas.openxmlformats.org/officeDocument/2006/relationships/tags" Target="../tags/tag166.xml"/><Relationship Id="rId14" Type="http://schemas.openxmlformats.org/officeDocument/2006/relationships/tags" Target="../tags/tag171.xml"/></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tags" Target="../tags/tag177.xml"/><Relationship Id="rId7" Type="http://schemas.openxmlformats.org/officeDocument/2006/relationships/slideLayout" Target="../slideLayouts/slideLayout15.xml"/><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tags" Target="../tags/tag178.xml"/><Relationship Id="rId9" Type="http://schemas.openxmlformats.org/officeDocument/2006/relationships/image" Target="../media/image18.png"/></Relationships>
</file>

<file path=ppt/slides/_rels/slide1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tags" Target="../tags/tag183.xml"/><Relationship Id="rId7" Type="http://schemas.openxmlformats.org/officeDocument/2006/relationships/slideLayout" Target="../slideLayouts/slideLayout15.xml"/><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tags" Target="../tags/tag186.xml"/><Relationship Id="rId5" Type="http://schemas.openxmlformats.org/officeDocument/2006/relationships/tags" Target="../tags/tag185.xml"/><Relationship Id="rId4" Type="http://schemas.openxmlformats.org/officeDocument/2006/relationships/tags" Target="../tags/tag184.xml"/><Relationship Id="rId9" Type="http://schemas.openxmlformats.org/officeDocument/2006/relationships/image" Target="../media/image24.png"/></Relationships>
</file>

<file path=ppt/slides/_rels/slide18.xml.rels><?xml version="1.0" encoding="UTF-8" standalone="yes"?>
<Relationships xmlns="http://schemas.openxmlformats.org/package/2006/relationships"><Relationship Id="rId8" Type="http://schemas.openxmlformats.org/officeDocument/2006/relationships/tags" Target="../tags/tag194.xml"/><Relationship Id="rId13" Type="http://schemas.openxmlformats.org/officeDocument/2006/relationships/tags" Target="../tags/tag199.xml"/><Relationship Id="rId18" Type="http://schemas.openxmlformats.org/officeDocument/2006/relationships/notesSlide" Target="../notesSlides/notesSlide1.xml"/><Relationship Id="rId3" Type="http://schemas.openxmlformats.org/officeDocument/2006/relationships/tags" Target="../tags/tag189.xml"/><Relationship Id="rId7" Type="http://schemas.openxmlformats.org/officeDocument/2006/relationships/tags" Target="../tags/tag193.xml"/><Relationship Id="rId12" Type="http://schemas.openxmlformats.org/officeDocument/2006/relationships/tags" Target="../tags/tag198.xml"/><Relationship Id="rId17" Type="http://schemas.openxmlformats.org/officeDocument/2006/relationships/slideLayout" Target="../slideLayouts/slideLayout15.xml"/><Relationship Id="rId2" Type="http://schemas.openxmlformats.org/officeDocument/2006/relationships/tags" Target="../tags/tag188.xml"/><Relationship Id="rId16" Type="http://schemas.openxmlformats.org/officeDocument/2006/relationships/tags" Target="../tags/tag202.xml"/><Relationship Id="rId20" Type="http://schemas.openxmlformats.org/officeDocument/2006/relationships/image" Target="../media/image26.png"/><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tags" Target="../tags/tag197.xml"/><Relationship Id="rId5" Type="http://schemas.openxmlformats.org/officeDocument/2006/relationships/tags" Target="../tags/tag191.xml"/><Relationship Id="rId15" Type="http://schemas.openxmlformats.org/officeDocument/2006/relationships/tags" Target="../tags/tag201.xml"/><Relationship Id="rId10" Type="http://schemas.openxmlformats.org/officeDocument/2006/relationships/tags" Target="../tags/tag196.xml"/><Relationship Id="rId19" Type="http://schemas.openxmlformats.org/officeDocument/2006/relationships/image" Target="../media/image25.png"/><Relationship Id="rId4" Type="http://schemas.openxmlformats.org/officeDocument/2006/relationships/tags" Target="../tags/tag190.xml"/><Relationship Id="rId9" Type="http://schemas.openxmlformats.org/officeDocument/2006/relationships/tags" Target="../tags/tag195.xml"/><Relationship Id="rId14" Type="http://schemas.openxmlformats.org/officeDocument/2006/relationships/tags" Target="../tags/tag200.xml"/></Relationships>
</file>

<file path=ppt/slides/_rels/slide19.xml.rels><?xml version="1.0" encoding="UTF-8" standalone="yes"?>
<Relationships xmlns="http://schemas.openxmlformats.org/package/2006/relationships"><Relationship Id="rId8" Type="http://schemas.openxmlformats.org/officeDocument/2006/relationships/tags" Target="../tags/tag210.xml"/><Relationship Id="rId13" Type="http://schemas.openxmlformats.org/officeDocument/2006/relationships/tags" Target="../tags/tag215.xml"/><Relationship Id="rId18" Type="http://schemas.openxmlformats.org/officeDocument/2006/relationships/tags" Target="../tags/tag220.xml"/><Relationship Id="rId26" Type="http://schemas.openxmlformats.org/officeDocument/2006/relationships/tags" Target="../tags/tag228.xml"/><Relationship Id="rId3" Type="http://schemas.openxmlformats.org/officeDocument/2006/relationships/tags" Target="../tags/tag205.xml"/><Relationship Id="rId21" Type="http://schemas.openxmlformats.org/officeDocument/2006/relationships/tags" Target="../tags/tag223.xml"/><Relationship Id="rId7" Type="http://schemas.openxmlformats.org/officeDocument/2006/relationships/tags" Target="../tags/tag209.xml"/><Relationship Id="rId12" Type="http://schemas.openxmlformats.org/officeDocument/2006/relationships/tags" Target="../tags/tag214.xml"/><Relationship Id="rId17" Type="http://schemas.openxmlformats.org/officeDocument/2006/relationships/tags" Target="../tags/tag219.xml"/><Relationship Id="rId25" Type="http://schemas.openxmlformats.org/officeDocument/2006/relationships/tags" Target="../tags/tag227.xml"/><Relationship Id="rId2" Type="http://schemas.openxmlformats.org/officeDocument/2006/relationships/tags" Target="../tags/tag204.xml"/><Relationship Id="rId16" Type="http://schemas.openxmlformats.org/officeDocument/2006/relationships/tags" Target="../tags/tag218.xml"/><Relationship Id="rId20" Type="http://schemas.openxmlformats.org/officeDocument/2006/relationships/tags" Target="../tags/tag222.xml"/><Relationship Id="rId29" Type="http://schemas.openxmlformats.org/officeDocument/2006/relationships/slideLayout" Target="../slideLayouts/slideLayout15.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tags" Target="../tags/tag213.xml"/><Relationship Id="rId24" Type="http://schemas.openxmlformats.org/officeDocument/2006/relationships/tags" Target="../tags/tag226.xml"/><Relationship Id="rId5" Type="http://schemas.openxmlformats.org/officeDocument/2006/relationships/tags" Target="../tags/tag207.xml"/><Relationship Id="rId15" Type="http://schemas.openxmlformats.org/officeDocument/2006/relationships/tags" Target="../tags/tag217.xml"/><Relationship Id="rId23" Type="http://schemas.openxmlformats.org/officeDocument/2006/relationships/tags" Target="../tags/tag225.xml"/><Relationship Id="rId28" Type="http://schemas.openxmlformats.org/officeDocument/2006/relationships/tags" Target="../tags/tag230.xml"/><Relationship Id="rId10" Type="http://schemas.openxmlformats.org/officeDocument/2006/relationships/tags" Target="../tags/tag212.xml"/><Relationship Id="rId19" Type="http://schemas.openxmlformats.org/officeDocument/2006/relationships/tags" Target="../tags/tag221.xml"/><Relationship Id="rId31" Type="http://schemas.openxmlformats.org/officeDocument/2006/relationships/image" Target="../media/image26.png"/><Relationship Id="rId4" Type="http://schemas.openxmlformats.org/officeDocument/2006/relationships/tags" Target="../tags/tag206.xml"/><Relationship Id="rId9" Type="http://schemas.openxmlformats.org/officeDocument/2006/relationships/tags" Target="../tags/tag211.xml"/><Relationship Id="rId14" Type="http://schemas.openxmlformats.org/officeDocument/2006/relationships/tags" Target="../tags/tag216.xml"/><Relationship Id="rId22" Type="http://schemas.openxmlformats.org/officeDocument/2006/relationships/tags" Target="../tags/tag224.xml"/><Relationship Id="rId27" Type="http://schemas.openxmlformats.org/officeDocument/2006/relationships/tags" Target="../tags/tag229.xml"/><Relationship Id="rId30" Type="http://schemas.openxmlformats.org/officeDocument/2006/relationships/image" Target="../media/image25.png"/></Relationships>
</file>

<file path=ppt/slides/_rels/slide20.xml.rels><?xml version="1.0" encoding="UTF-8" standalone="yes"?>
<Relationships xmlns="http://schemas.openxmlformats.org/package/2006/relationships"><Relationship Id="rId8" Type="http://schemas.openxmlformats.org/officeDocument/2006/relationships/tags" Target="../tags/tag238.xml"/><Relationship Id="rId13" Type="http://schemas.openxmlformats.org/officeDocument/2006/relationships/tags" Target="../tags/tag243.xml"/><Relationship Id="rId18" Type="http://schemas.openxmlformats.org/officeDocument/2006/relationships/image" Target="../media/image26.png"/><Relationship Id="rId3" Type="http://schemas.openxmlformats.org/officeDocument/2006/relationships/tags" Target="../tags/tag233.xml"/><Relationship Id="rId7" Type="http://schemas.openxmlformats.org/officeDocument/2006/relationships/tags" Target="../tags/tag237.xml"/><Relationship Id="rId12" Type="http://schemas.openxmlformats.org/officeDocument/2006/relationships/tags" Target="../tags/tag242.xml"/><Relationship Id="rId17" Type="http://schemas.openxmlformats.org/officeDocument/2006/relationships/image" Target="../media/image28.png"/><Relationship Id="rId2" Type="http://schemas.openxmlformats.org/officeDocument/2006/relationships/tags" Target="../tags/tag232.xml"/><Relationship Id="rId16" Type="http://schemas.openxmlformats.org/officeDocument/2006/relationships/image" Target="../media/image27.png"/><Relationship Id="rId1" Type="http://schemas.openxmlformats.org/officeDocument/2006/relationships/tags" Target="../tags/tag231.xml"/><Relationship Id="rId6" Type="http://schemas.openxmlformats.org/officeDocument/2006/relationships/tags" Target="../tags/tag236.xml"/><Relationship Id="rId11" Type="http://schemas.openxmlformats.org/officeDocument/2006/relationships/tags" Target="../tags/tag241.xml"/><Relationship Id="rId5" Type="http://schemas.openxmlformats.org/officeDocument/2006/relationships/tags" Target="../tags/tag235.xml"/><Relationship Id="rId15" Type="http://schemas.openxmlformats.org/officeDocument/2006/relationships/slideLayout" Target="../slideLayouts/slideLayout15.xml"/><Relationship Id="rId10" Type="http://schemas.openxmlformats.org/officeDocument/2006/relationships/tags" Target="../tags/tag240.xml"/><Relationship Id="rId4" Type="http://schemas.openxmlformats.org/officeDocument/2006/relationships/tags" Target="../tags/tag234.xml"/><Relationship Id="rId9" Type="http://schemas.openxmlformats.org/officeDocument/2006/relationships/tags" Target="../tags/tag239.xml"/><Relationship Id="rId14" Type="http://schemas.openxmlformats.org/officeDocument/2006/relationships/tags" Target="../tags/tag244.xml"/></Relationships>
</file>

<file path=ppt/slides/_rels/slide21.xml.rels><?xml version="1.0" encoding="UTF-8" standalone="yes"?>
<Relationships xmlns="http://schemas.openxmlformats.org/package/2006/relationships"><Relationship Id="rId8" Type="http://schemas.openxmlformats.org/officeDocument/2006/relationships/tags" Target="../tags/tag252.xml"/><Relationship Id="rId13" Type="http://schemas.openxmlformats.org/officeDocument/2006/relationships/tags" Target="../tags/tag257.xml"/><Relationship Id="rId18" Type="http://schemas.openxmlformats.org/officeDocument/2006/relationships/image" Target="../media/image26.png"/><Relationship Id="rId3" Type="http://schemas.openxmlformats.org/officeDocument/2006/relationships/tags" Target="../tags/tag247.xml"/><Relationship Id="rId7" Type="http://schemas.openxmlformats.org/officeDocument/2006/relationships/tags" Target="../tags/tag251.xml"/><Relationship Id="rId12" Type="http://schemas.openxmlformats.org/officeDocument/2006/relationships/tags" Target="../tags/tag256.xml"/><Relationship Id="rId17" Type="http://schemas.openxmlformats.org/officeDocument/2006/relationships/image" Target="../media/image29.jpeg"/><Relationship Id="rId2" Type="http://schemas.openxmlformats.org/officeDocument/2006/relationships/tags" Target="../tags/tag246.xml"/><Relationship Id="rId16" Type="http://schemas.openxmlformats.org/officeDocument/2006/relationships/image" Target="../media/image28.png"/><Relationship Id="rId1" Type="http://schemas.openxmlformats.org/officeDocument/2006/relationships/tags" Target="../tags/tag245.xml"/><Relationship Id="rId6" Type="http://schemas.openxmlformats.org/officeDocument/2006/relationships/tags" Target="../tags/tag250.xml"/><Relationship Id="rId11" Type="http://schemas.openxmlformats.org/officeDocument/2006/relationships/tags" Target="../tags/tag255.xml"/><Relationship Id="rId5" Type="http://schemas.openxmlformats.org/officeDocument/2006/relationships/tags" Target="../tags/tag249.xml"/><Relationship Id="rId15" Type="http://schemas.openxmlformats.org/officeDocument/2006/relationships/image" Target="../media/image27.png"/><Relationship Id="rId10" Type="http://schemas.openxmlformats.org/officeDocument/2006/relationships/tags" Target="../tags/tag254.xml"/><Relationship Id="rId4" Type="http://schemas.openxmlformats.org/officeDocument/2006/relationships/tags" Target="../tags/tag248.xml"/><Relationship Id="rId9" Type="http://schemas.openxmlformats.org/officeDocument/2006/relationships/tags" Target="../tags/tag253.xml"/><Relationship Id="rId14"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8" Type="http://schemas.openxmlformats.org/officeDocument/2006/relationships/tags" Target="../tags/tag265.xml"/><Relationship Id="rId13" Type="http://schemas.openxmlformats.org/officeDocument/2006/relationships/slideLayout" Target="../slideLayouts/slideLayout15.xml"/><Relationship Id="rId3" Type="http://schemas.openxmlformats.org/officeDocument/2006/relationships/tags" Target="../tags/tag260.xml"/><Relationship Id="rId7" Type="http://schemas.openxmlformats.org/officeDocument/2006/relationships/tags" Target="../tags/tag264.xml"/><Relationship Id="rId12" Type="http://schemas.openxmlformats.org/officeDocument/2006/relationships/tags" Target="../tags/tag269.xml"/><Relationship Id="rId2" Type="http://schemas.openxmlformats.org/officeDocument/2006/relationships/tags" Target="../tags/tag259.xml"/><Relationship Id="rId1" Type="http://schemas.openxmlformats.org/officeDocument/2006/relationships/tags" Target="../tags/tag258.xml"/><Relationship Id="rId6" Type="http://schemas.openxmlformats.org/officeDocument/2006/relationships/tags" Target="../tags/tag263.xml"/><Relationship Id="rId11" Type="http://schemas.openxmlformats.org/officeDocument/2006/relationships/tags" Target="../tags/tag268.xml"/><Relationship Id="rId5" Type="http://schemas.openxmlformats.org/officeDocument/2006/relationships/tags" Target="../tags/tag262.xml"/><Relationship Id="rId15" Type="http://schemas.openxmlformats.org/officeDocument/2006/relationships/image" Target="../media/image26.png"/><Relationship Id="rId10" Type="http://schemas.openxmlformats.org/officeDocument/2006/relationships/tags" Target="../tags/tag267.xml"/><Relationship Id="rId4" Type="http://schemas.openxmlformats.org/officeDocument/2006/relationships/tags" Target="../tags/tag261.xml"/><Relationship Id="rId9" Type="http://schemas.openxmlformats.org/officeDocument/2006/relationships/tags" Target="../tags/tag266.xml"/><Relationship Id="rId14" Type="http://schemas.openxmlformats.org/officeDocument/2006/relationships/image" Target="../media/image30.png"/></Relationships>
</file>

<file path=ppt/slides/_rels/slide23.xml.rels><?xml version="1.0" encoding="UTF-8" standalone="yes"?>
<Relationships xmlns="http://schemas.openxmlformats.org/package/2006/relationships"><Relationship Id="rId8" Type="http://schemas.openxmlformats.org/officeDocument/2006/relationships/tags" Target="../tags/tag277.xml"/><Relationship Id="rId13" Type="http://schemas.openxmlformats.org/officeDocument/2006/relationships/image" Target="../media/image31.png"/><Relationship Id="rId3" Type="http://schemas.openxmlformats.org/officeDocument/2006/relationships/tags" Target="../tags/tag272.xml"/><Relationship Id="rId7" Type="http://schemas.openxmlformats.org/officeDocument/2006/relationships/tags" Target="../tags/tag276.xml"/><Relationship Id="rId12" Type="http://schemas.openxmlformats.org/officeDocument/2006/relationships/slideLayout" Target="../slideLayouts/slideLayout15.xml"/><Relationship Id="rId2" Type="http://schemas.openxmlformats.org/officeDocument/2006/relationships/tags" Target="../tags/tag271.xml"/><Relationship Id="rId1" Type="http://schemas.openxmlformats.org/officeDocument/2006/relationships/tags" Target="../tags/tag270.xml"/><Relationship Id="rId6" Type="http://schemas.openxmlformats.org/officeDocument/2006/relationships/tags" Target="../tags/tag275.xml"/><Relationship Id="rId11" Type="http://schemas.openxmlformats.org/officeDocument/2006/relationships/tags" Target="../tags/tag280.xml"/><Relationship Id="rId5" Type="http://schemas.openxmlformats.org/officeDocument/2006/relationships/tags" Target="../tags/tag274.xml"/><Relationship Id="rId10" Type="http://schemas.openxmlformats.org/officeDocument/2006/relationships/tags" Target="../tags/tag279.xml"/><Relationship Id="rId4" Type="http://schemas.openxmlformats.org/officeDocument/2006/relationships/tags" Target="../tags/tag273.xml"/><Relationship Id="rId9" Type="http://schemas.openxmlformats.org/officeDocument/2006/relationships/tags" Target="../tags/tag278.xml"/><Relationship Id="rId14" Type="http://schemas.openxmlformats.org/officeDocument/2006/relationships/image" Target="../media/image26.png"/></Relationships>
</file>

<file path=ppt/slides/_rels/slide24.xml.rels><?xml version="1.0" encoding="UTF-8" standalone="yes"?>
<Relationships xmlns="http://schemas.openxmlformats.org/package/2006/relationships"><Relationship Id="rId8" Type="http://schemas.openxmlformats.org/officeDocument/2006/relationships/tags" Target="../tags/tag288.xml"/><Relationship Id="rId13" Type="http://schemas.openxmlformats.org/officeDocument/2006/relationships/image" Target="../media/image33.jpeg"/><Relationship Id="rId3" Type="http://schemas.openxmlformats.org/officeDocument/2006/relationships/tags" Target="../tags/tag283.xml"/><Relationship Id="rId7" Type="http://schemas.openxmlformats.org/officeDocument/2006/relationships/tags" Target="../tags/tag287.xml"/><Relationship Id="rId12" Type="http://schemas.openxmlformats.org/officeDocument/2006/relationships/image" Target="../media/image32.png"/><Relationship Id="rId2" Type="http://schemas.openxmlformats.org/officeDocument/2006/relationships/tags" Target="../tags/tag282.xml"/><Relationship Id="rId1" Type="http://schemas.openxmlformats.org/officeDocument/2006/relationships/tags" Target="../tags/tag281.xml"/><Relationship Id="rId6" Type="http://schemas.openxmlformats.org/officeDocument/2006/relationships/tags" Target="../tags/tag286.xml"/><Relationship Id="rId11" Type="http://schemas.openxmlformats.org/officeDocument/2006/relationships/slideLayout" Target="../slideLayouts/slideLayout15.xml"/><Relationship Id="rId5" Type="http://schemas.openxmlformats.org/officeDocument/2006/relationships/tags" Target="../tags/tag285.xml"/><Relationship Id="rId10" Type="http://schemas.openxmlformats.org/officeDocument/2006/relationships/tags" Target="../tags/tag290.xml"/><Relationship Id="rId4" Type="http://schemas.openxmlformats.org/officeDocument/2006/relationships/tags" Target="../tags/tag284.xml"/><Relationship Id="rId9" Type="http://schemas.openxmlformats.org/officeDocument/2006/relationships/tags" Target="../tags/tag289.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15.xml"/><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bwMode="white">
          <a:xfrm>
            <a:off x="491490" y="2129790"/>
            <a:ext cx="4385310" cy="683264"/>
          </a:xfrm>
          <a:prstGeom prst="rect">
            <a:avLst/>
          </a:prstGeom>
          <a:noFill/>
        </p:spPr>
        <p:txBody>
          <a:bodyPr vert="horz" wrap="square" lIns="0" tIns="146304" rIns="182880" bIns="146304" rtlCol="0" anchor="t" anchorCtr="0">
            <a:spAutoFit/>
          </a:bodyPr>
          <a:lstStyle>
            <a:lvl1pPr algn="l" defTabSz="1097280" rtl="0" eaLnBrk="1" fontAlgn="base" hangingPunct="1">
              <a:lnSpc>
                <a:spcPct val="90000"/>
              </a:lnSpc>
              <a:spcBef>
                <a:spcPct val="0"/>
              </a:spcBef>
              <a:spcAft>
                <a:spcPct val="0"/>
              </a:spcAft>
              <a:defRPr lang="en-US" sz="5400" b="0" i="0" kern="1200" spc="-118"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marL="0" marR="0" lvl="0" indent="0" defTabSz="1097280" rtl="0" eaLnBrk="1" fontAlgn="base" latinLnBrk="0" hangingPunct="1">
              <a:lnSpc>
                <a:spcPct val="90000"/>
              </a:lnSpc>
              <a:spcBef>
                <a:spcPct val="0"/>
              </a:spcBef>
              <a:spcAft>
                <a:spcPct val="0"/>
              </a:spcAft>
              <a:buClrTx/>
              <a:buSzTx/>
              <a:buFontTx/>
              <a:buNone/>
              <a:defRPr/>
            </a:pPr>
            <a:r>
              <a:rPr kumimoji="0" lang="zh-CN" altLang="en-US" sz="2800" b="1" i="0" u="none" strike="noStrike" kern="1200" cap="none" spc="-118" normalizeH="0" baseline="0" noProof="0" dirty="0">
                <a:ln w="3175">
                  <a:noFill/>
                </a:ln>
                <a:solidFill>
                  <a:schemeClr val="tx1">
                    <a:lumMod val="85000"/>
                    <a:lumOff val="15000"/>
                  </a:schemeClr>
                </a:solidFill>
                <a:effectLst/>
                <a:uLnTx/>
                <a:uFillTx/>
                <a:latin typeface="思源黑体 CN Heavy" panose="020B0A00000000000000" pitchFamily="34" charset="-122"/>
                <a:ea typeface="思源黑体 CN Heavy" panose="020B0A00000000000000" pitchFamily="34" charset="-122"/>
                <a:cs typeface="Amazon Ember" panose="020B0603020204020204" charset="0"/>
              </a:rPr>
              <a:t>亚马逊官方选品工具</a:t>
            </a:r>
          </a:p>
        </p:txBody>
      </p:sp>
      <p:sp>
        <p:nvSpPr>
          <p:cNvPr id="2" name="Rectangle 1"/>
          <p:cNvSpPr/>
          <p:nvPr/>
        </p:nvSpPr>
        <p:spPr>
          <a:xfrm>
            <a:off x="467360" y="2818026"/>
            <a:ext cx="9499600" cy="923330"/>
          </a:xfrm>
          <a:prstGeom prst="rect">
            <a:avLst/>
          </a:prstGeom>
        </p:spPr>
        <p:txBody>
          <a:bodyPr wrap="square" lIns="0">
            <a:spAutoFit/>
          </a:bodyPr>
          <a:lstStyle/>
          <a:p>
            <a:r>
              <a:rPr lang="zh-CN" altLang="en-US" sz="5400" b="1" spc="-118" dirty="0">
                <a:ln w="3175">
                  <a:noFill/>
                </a:ln>
                <a:solidFill>
                  <a:srgbClr val="F89104"/>
                </a:solidFill>
                <a:latin typeface="Calibri" panose="020F0502020204030204" pitchFamily="34" charset="0"/>
                <a:ea typeface="思源黑体 CN Heavy" panose="020B0A00000000000000" pitchFamily="34" charset="-122"/>
                <a:cs typeface="Calibri" panose="020F0502020204030204" pitchFamily="34" charset="0"/>
              </a:rPr>
              <a:t>选品指南针</a:t>
            </a:r>
            <a:r>
              <a:rPr lang="zh-CN" altLang="en-US" sz="5400" b="1" spc="-118" dirty="0">
                <a:ln w="3175">
                  <a:noFill/>
                </a:ln>
                <a:latin typeface="Calibri" panose="020F0502020204030204" pitchFamily="34" charset="0"/>
                <a:ea typeface="思源黑体 CN Heavy" panose="020B0A00000000000000" pitchFamily="34" charset="-122"/>
                <a:cs typeface="Calibri" panose="020F0502020204030204" pitchFamily="34" charset="0"/>
              </a:rPr>
              <a:t>实操详解</a:t>
            </a:r>
          </a:p>
        </p:txBody>
      </p:sp>
      <p:cxnSp>
        <p:nvCxnSpPr>
          <p:cNvPr id="39" name="直接连接符 58"/>
          <p:cNvCxnSpPr/>
          <p:nvPr>
            <p:custDataLst>
              <p:tags r:id="rId1"/>
            </p:custDataLst>
          </p:nvPr>
        </p:nvCxnSpPr>
        <p:spPr>
          <a:xfrm>
            <a:off x="-48260" y="3975735"/>
            <a:ext cx="7568565" cy="0"/>
          </a:xfrm>
          <a:prstGeom prst="line">
            <a:avLst/>
          </a:prstGeom>
          <a:ln w="57150" cap="rnd">
            <a:gradFill flip="none" rotWithShape="1">
              <a:gsLst>
                <a:gs pos="100000">
                  <a:srgbClr val="FF9900">
                    <a:alpha val="100000"/>
                  </a:srgbClr>
                </a:gs>
                <a:gs pos="0">
                  <a:srgbClr val="FF9900">
                    <a:alpha val="20000"/>
                  </a:srgbClr>
                </a:gs>
              </a:gsLst>
              <a:lin ang="0" scaled="1"/>
              <a:tileRect/>
            </a:gradFill>
            <a:round/>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custDataLst>
              <p:tags r:id="rId1"/>
            </p:custDataLst>
          </p:nvPr>
        </p:nvSpPr>
        <p:spPr>
          <a:xfrm>
            <a:off x="494665" y="1301115"/>
            <a:ext cx="5258435" cy="4711065"/>
          </a:xfrm>
          <a:prstGeom prst="roundRect">
            <a:avLst>
              <a:gd name="adj" fmla="val 3922"/>
            </a:avLst>
          </a:prstGeom>
          <a:solidFill>
            <a:schemeClr val="bg1">
              <a:alpha val="50000"/>
            </a:schemeClr>
          </a:solidFill>
          <a:ln w="19050">
            <a:gradFill>
              <a:gsLst>
                <a:gs pos="0">
                  <a:schemeClr val="accent4"/>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2" name="Title 3"/>
          <p:cNvSpPr txBox="1"/>
          <p:nvPr/>
        </p:nvSpPr>
        <p:spPr>
          <a:xfrm>
            <a:off x="149913" y="219070"/>
            <a:ext cx="678815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什么是选品指南针？</a:t>
            </a:r>
          </a:p>
        </p:txBody>
      </p:sp>
      <p:sp>
        <p:nvSpPr>
          <p:cNvPr id="31" name="Rectangle 1"/>
          <p:cNvSpPr/>
          <p:nvPr>
            <p:custDataLst>
              <p:tags r:id="rId2"/>
            </p:custDataLst>
          </p:nvPr>
        </p:nvSpPr>
        <p:spPr>
          <a:xfrm>
            <a:off x="5966460" y="1301115"/>
            <a:ext cx="5683250" cy="4711065"/>
          </a:xfrm>
          <a:prstGeom prst="roundRect">
            <a:avLst>
              <a:gd name="adj" fmla="val 3922"/>
            </a:avLst>
          </a:prstGeom>
          <a:solidFill>
            <a:schemeClr val="bg1">
              <a:alpha val="50000"/>
            </a:schemeClr>
          </a:solidFill>
          <a:ln w="19050">
            <a:gradFill>
              <a:gsLst>
                <a:gs pos="0">
                  <a:schemeClr val="accent4"/>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3" name="文本框 2"/>
          <p:cNvSpPr txBox="1"/>
          <p:nvPr>
            <p:custDataLst>
              <p:tags r:id="rId3"/>
            </p:custDataLst>
          </p:nvPr>
        </p:nvSpPr>
        <p:spPr>
          <a:xfrm flipH="1">
            <a:off x="730250" y="2837815"/>
            <a:ext cx="4788000" cy="3021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indent="0" algn="just" defTabSz="825500" hangingPunct="0">
              <a:lnSpc>
                <a:spcPct val="150000"/>
              </a:lnSpc>
              <a:buNone/>
            </a:pPr>
            <a:r>
              <a:rPr lang="zh-CN" altLang="en-US" sz="1600" dirty="0">
                <a:solidFill>
                  <a:schemeClr val="tx1"/>
                </a:solidFill>
                <a:latin typeface="微软雅黑" panose="020B0503020204020204" pitchFamily="34" charset="-122"/>
                <a:ea typeface="微软雅黑" panose="020B0503020204020204" pitchFamily="34" charset="-122"/>
              </a:rPr>
              <a:t>选品指南针</a:t>
            </a:r>
            <a:r>
              <a:rPr lang="zh-CN" altLang="en-US" sz="1600" b="0" dirty="0">
                <a:solidFill>
                  <a:schemeClr val="tx1"/>
                </a:solidFill>
                <a:latin typeface="微软雅黑" panose="020B0503020204020204" pitchFamily="34" charset="-122"/>
                <a:ea typeface="微软雅黑" panose="020B0503020204020204" pitchFamily="34" charset="-122"/>
                <a:sym typeface="Amazon Ember" panose="020B0603020204020204" charset="0"/>
              </a:rPr>
              <a:t>是亚马逊官方为卖家定制的</a:t>
            </a:r>
            <a:r>
              <a:rPr lang="zh-CN" altLang="en-US" sz="1600" dirty="0">
                <a:solidFill>
                  <a:srgbClr val="F89104"/>
                </a:solidFill>
                <a:latin typeface="微软雅黑" panose="020B0503020204020204" pitchFamily="34" charset="-122"/>
                <a:ea typeface="微软雅黑" panose="020B0503020204020204" pitchFamily="34" charset="-122"/>
                <a:sym typeface="Amazon Ember" panose="020B0603020204020204" charset="0"/>
              </a:rPr>
              <a:t>免费选品工具</a:t>
            </a:r>
            <a:r>
              <a:rPr lang="zh-CN" altLang="en-US" sz="1600" b="0" dirty="0">
                <a:solidFill>
                  <a:schemeClr val="tx1"/>
                </a:solidFill>
                <a:latin typeface="微软雅黑" panose="020B0503020204020204" pitchFamily="34" charset="-122"/>
                <a:ea typeface="微软雅黑" panose="020B0503020204020204" pitchFamily="34" charset="-122"/>
                <a:sym typeface="Amazon Ember" panose="020B0603020204020204" charset="0"/>
              </a:rPr>
              <a:t>，帮助卖家探索、评估并且抓住全球扩张的最有利机会。</a:t>
            </a:r>
          </a:p>
          <a:p>
            <a:pPr indent="0" algn="just" defTabSz="825500" hangingPunct="0">
              <a:lnSpc>
                <a:spcPct val="150000"/>
              </a:lnSpc>
              <a:buNone/>
            </a:pPr>
            <a:r>
              <a:rPr lang="zh-CN" altLang="en-US" sz="1600" b="0" dirty="0">
                <a:solidFill>
                  <a:schemeClr val="tx1"/>
                </a:solidFill>
                <a:latin typeface="微软雅黑" panose="020B0503020204020204" pitchFamily="34" charset="-122"/>
                <a:ea typeface="微软雅黑" panose="020B0503020204020204" pitchFamily="34" charset="-122"/>
                <a:sym typeface="Amazon Ember" panose="020B0603020204020204" charset="0"/>
              </a:rPr>
              <a:t>基于卖家在主站点已有的产品类目，通过计算机会分数有针对性的为卖家推荐适合拓展的站点和国家，并为卖家提供本站和跨国其他站点的高需求商品推荐、客户的喜好、类目转化情况、退货情况及广告费等在内的一系列数据，有效帮助卖家进行跨站点决策。</a:t>
            </a:r>
          </a:p>
        </p:txBody>
      </p:sp>
      <p:sp>
        <p:nvSpPr>
          <p:cNvPr id="17" name="Rectangle: Rounded Corners 7"/>
          <p:cNvSpPr/>
          <p:nvPr>
            <p:custDataLst>
              <p:tags r:id="rId4"/>
            </p:custDataLst>
          </p:nvPr>
        </p:nvSpPr>
        <p:spPr>
          <a:xfrm>
            <a:off x="2121757" y="1074945"/>
            <a:ext cx="2004986" cy="41812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ctr">
              <a:buClr>
                <a:schemeClr val="bg2"/>
              </a:buClr>
              <a:buSzPct val="80000"/>
            </a:pPr>
            <a:r>
              <a:rPr lang="zh-CN" altLang="en-US" sz="2000" spc="300" dirty="0">
                <a:solidFill>
                  <a:schemeClr val="bg1"/>
                </a:solidFill>
                <a:latin typeface="微软雅黑" panose="020B0503020204020204" pitchFamily="34" charset="-122"/>
                <a:ea typeface="微软雅黑" panose="020B0503020204020204" pitchFamily="34" charset="-122"/>
                <a:cs typeface="Amazon Ember" panose="020B0603020204020204" charset="0"/>
              </a:rPr>
              <a:t>简要介绍</a:t>
            </a:r>
          </a:p>
        </p:txBody>
      </p:sp>
      <p:sp>
        <p:nvSpPr>
          <p:cNvPr id="6" name="Rectangle: Rounded Corners 7"/>
          <p:cNvSpPr/>
          <p:nvPr>
            <p:custDataLst>
              <p:tags r:id="rId5"/>
            </p:custDataLst>
          </p:nvPr>
        </p:nvSpPr>
        <p:spPr>
          <a:xfrm>
            <a:off x="7834167" y="1074945"/>
            <a:ext cx="2004986" cy="41812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ctr">
              <a:buClr>
                <a:schemeClr val="bg2"/>
              </a:buClr>
              <a:buSzPct val="80000"/>
              <a:buFontTx/>
            </a:pPr>
            <a:r>
              <a:rPr lang="zh-CN" altLang="en-US" sz="2000"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rPr>
              <a:t>三大亮点</a:t>
            </a:r>
          </a:p>
        </p:txBody>
      </p:sp>
      <p:sp>
        <p:nvSpPr>
          <p:cNvPr id="24" name="文本框 39"/>
          <p:cNvSpPr txBox="1"/>
          <p:nvPr>
            <p:custDataLst>
              <p:tags r:id="rId6"/>
            </p:custDataLst>
          </p:nvPr>
        </p:nvSpPr>
        <p:spPr>
          <a:xfrm>
            <a:off x="6261735" y="2058035"/>
            <a:ext cx="5148580" cy="7044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a:defRPr lang="zh-CN"/>
            </a:defPPr>
            <a:lvl1pPr>
              <a:defRPr sz="1400">
                <a:latin typeface="微软雅黑" panose="020B0503020204020204" pitchFamily="34" charset="-122"/>
                <a:ea typeface="微软雅黑" panose="020B0503020204020204" pitchFamily="34" charset="-122"/>
              </a:defRPr>
            </a:lvl1pPr>
          </a:lstStyle>
          <a:p>
            <a:pPr>
              <a:lnSpc>
                <a:spcPct val="150000"/>
              </a:lnSpc>
            </a:pPr>
            <a:r>
              <a:rPr lang="zh-CN" altLang="en-US" dirty="0">
                <a:solidFill>
                  <a:schemeClr val="tx1"/>
                </a:solidFill>
              </a:rPr>
              <a:t>提供的选品预测使用了</a:t>
            </a:r>
            <a:r>
              <a:rPr lang="en-US" altLang="zh-CN" dirty="0">
                <a:solidFill>
                  <a:schemeClr val="tx1"/>
                </a:solidFill>
              </a:rPr>
              <a:t>600</a:t>
            </a:r>
            <a:r>
              <a:rPr lang="zh-CN" altLang="en-US" dirty="0">
                <a:solidFill>
                  <a:schemeClr val="tx1"/>
                </a:solidFill>
              </a:rPr>
              <a:t>多个数据维度，预判商品在未来</a:t>
            </a:r>
            <a:r>
              <a:rPr lang="en-US" altLang="zh-CN" dirty="0">
                <a:solidFill>
                  <a:schemeClr val="tx1"/>
                </a:solidFill>
              </a:rPr>
              <a:t>120</a:t>
            </a:r>
            <a:r>
              <a:rPr lang="zh-CN" altLang="en-US" dirty="0">
                <a:solidFill>
                  <a:schemeClr val="tx1"/>
                </a:solidFill>
              </a:rPr>
              <a:t>天内的需求。</a:t>
            </a:r>
          </a:p>
        </p:txBody>
      </p:sp>
      <p:grpSp>
        <p:nvGrpSpPr>
          <p:cNvPr id="22" name="组合 21"/>
          <p:cNvGrpSpPr/>
          <p:nvPr/>
        </p:nvGrpSpPr>
        <p:grpSpPr>
          <a:xfrm>
            <a:off x="6377305" y="1642110"/>
            <a:ext cx="1715135" cy="368300"/>
            <a:chOff x="9203" y="2586"/>
            <a:chExt cx="2701" cy="580"/>
          </a:xfrm>
        </p:grpSpPr>
        <p:grpSp>
          <p:nvGrpSpPr>
            <p:cNvPr id="15" name="组合 14"/>
            <p:cNvGrpSpPr/>
            <p:nvPr/>
          </p:nvGrpSpPr>
          <p:grpSpPr>
            <a:xfrm>
              <a:off x="9203" y="2591"/>
              <a:ext cx="567" cy="567"/>
              <a:chOff x="1478" y="7138"/>
              <a:chExt cx="567" cy="567"/>
            </a:xfrm>
          </p:grpSpPr>
          <p:sp>
            <p:nvSpPr>
              <p:cNvPr id="9" name="泪滴形 8"/>
              <p:cNvSpPr>
                <a:spLocks noChangeAspect="1"/>
              </p:cNvSpPr>
              <p:nvPr/>
            </p:nvSpPr>
            <p:spPr>
              <a:xfrm rot="8100000">
                <a:off x="1478" y="7138"/>
                <a:ext cx="567" cy="567"/>
              </a:xfrm>
              <a:prstGeom prst="teardrop">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ctr">
                  <a:buClr>
                    <a:schemeClr val="bg2"/>
                  </a:buClr>
                  <a:buSzPct val="80000"/>
                  <a:buFontTx/>
                </a:pPr>
                <a:endParaRPr lang="zh-CN" altLang="en-US" sz="2000" b="1"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10" name="文本框 9"/>
              <p:cNvSpPr txBox="1"/>
              <p:nvPr/>
            </p:nvSpPr>
            <p:spPr>
              <a:xfrm>
                <a:off x="1478" y="7156"/>
                <a:ext cx="567" cy="531"/>
              </a:xfrm>
              <a:prstGeom prst="rect">
                <a:avLst/>
              </a:prstGeom>
              <a:noFill/>
            </p:spPr>
            <p:txBody>
              <a:bodyPr wrap="square" lIns="0" rIns="0" rtlCol="0" anchor="t">
                <a:spAutoFit/>
              </a:bodyPr>
              <a:lstStyle/>
              <a:p>
                <a:pPr algn="ctr"/>
                <a:r>
                  <a:rPr lang="en-US" altLang="zh-CN" sz="1600" b="1"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01</a:t>
                </a:r>
              </a:p>
            </p:txBody>
          </p:sp>
        </p:grpSp>
        <p:sp>
          <p:nvSpPr>
            <p:cNvPr id="20" name="文本框 19"/>
            <p:cNvSpPr txBox="1"/>
            <p:nvPr/>
          </p:nvSpPr>
          <p:spPr>
            <a:xfrm>
              <a:off x="9863" y="2586"/>
              <a:ext cx="2041" cy="580"/>
            </a:xfrm>
            <a:prstGeom prst="rect">
              <a:avLst/>
            </a:prstGeom>
            <a:noFill/>
          </p:spPr>
          <p:txBody>
            <a:bodyPr wrap="square" rtlCol="0" anchor="t">
              <a:spAutoFit/>
            </a:bodyPr>
            <a:lstStyle/>
            <a:p>
              <a:pPr algn="l"/>
              <a:r>
                <a:rPr lang="zh-CN" altLang="en-US"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sym typeface="+mn-ea"/>
                </a:rPr>
                <a:t>需求预判</a:t>
              </a:r>
              <a:endParaRPr lang="zh-CN" altLang="en-US" b="1" spc="300"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cs typeface="Amazon Ember" panose="020B0603020204020204" charset="0"/>
                <a:sym typeface="+mn-ea"/>
              </a:endParaRPr>
            </a:p>
          </p:txBody>
        </p:sp>
      </p:grpSp>
      <p:sp>
        <p:nvSpPr>
          <p:cNvPr id="26" name="文本框 41"/>
          <p:cNvSpPr txBox="1"/>
          <p:nvPr>
            <p:custDataLst>
              <p:tags r:id="rId7"/>
            </p:custDataLst>
          </p:nvPr>
        </p:nvSpPr>
        <p:spPr>
          <a:xfrm>
            <a:off x="6261735" y="3258820"/>
            <a:ext cx="5148580" cy="753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noAutofit/>
          </a:bodyPr>
          <a:lstStyle/>
          <a:p>
            <a:pPr>
              <a:lnSpc>
                <a:spcPct val="150000"/>
              </a:lnSpc>
            </a:pPr>
            <a:r>
              <a:rPr lang="zh-CN" altLang="en-US" sz="1400" dirty="0">
                <a:solidFill>
                  <a:schemeClr val="tx1"/>
                </a:solidFill>
                <a:latin typeface="微软雅黑" panose="020B0503020204020204" pitchFamily="34" charset="-122"/>
                <a:ea typeface="微软雅黑" panose="020B0503020204020204" pitchFamily="34" charset="-122"/>
              </a:rPr>
              <a:t>每周更新商品需求推荐，并提供机会分数，精准把握目标商城的需求波动。</a:t>
            </a:r>
          </a:p>
        </p:txBody>
      </p:sp>
      <p:grpSp>
        <p:nvGrpSpPr>
          <p:cNvPr id="28" name="组合 27"/>
          <p:cNvGrpSpPr/>
          <p:nvPr/>
        </p:nvGrpSpPr>
        <p:grpSpPr>
          <a:xfrm>
            <a:off x="6377305" y="2842895"/>
            <a:ext cx="1715135" cy="368300"/>
            <a:chOff x="7313" y="7132"/>
            <a:chExt cx="2701" cy="580"/>
          </a:xfrm>
        </p:grpSpPr>
        <p:grpSp>
          <p:nvGrpSpPr>
            <p:cNvPr id="18" name="组合 17"/>
            <p:cNvGrpSpPr/>
            <p:nvPr/>
          </p:nvGrpSpPr>
          <p:grpSpPr>
            <a:xfrm>
              <a:off x="7313" y="7138"/>
              <a:ext cx="567" cy="567"/>
              <a:chOff x="2446" y="7194"/>
              <a:chExt cx="567" cy="567"/>
            </a:xfrm>
          </p:grpSpPr>
          <p:sp>
            <p:nvSpPr>
              <p:cNvPr id="11" name="泪滴形 10"/>
              <p:cNvSpPr>
                <a:spLocks noChangeAspect="1"/>
              </p:cNvSpPr>
              <p:nvPr>
                <p:custDataLst>
                  <p:tags r:id="rId12"/>
                </p:custDataLst>
              </p:nvPr>
            </p:nvSpPr>
            <p:spPr>
              <a:xfrm rot="8100000">
                <a:off x="2446" y="7194"/>
                <a:ext cx="567" cy="567"/>
              </a:xfrm>
              <a:prstGeom prst="teardrop">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ctr">
                  <a:buClr>
                    <a:schemeClr val="bg2"/>
                  </a:buClr>
                  <a:buSzPct val="80000"/>
                  <a:buFontTx/>
                </a:pPr>
                <a:endParaRPr lang="zh-CN" altLang="en-US" sz="2000" b="1"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12" name="文本框 11"/>
              <p:cNvSpPr txBox="1"/>
              <p:nvPr>
                <p:custDataLst>
                  <p:tags r:id="rId13"/>
                </p:custDataLst>
              </p:nvPr>
            </p:nvSpPr>
            <p:spPr>
              <a:xfrm>
                <a:off x="2446" y="7212"/>
                <a:ext cx="567" cy="531"/>
              </a:xfrm>
              <a:prstGeom prst="rect">
                <a:avLst/>
              </a:prstGeom>
              <a:noFill/>
            </p:spPr>
            <p:txBody>
              <a:bodyPr wrap="square" lIns="0" rIns="0" rtlCol="0" anchor="t">
                <a:spAutoFit/>
              </a:bodyPr>
              <a:lstStyle/>
              <a:p>
                <a:pPr algn="ctr"/>
                <a:r>
                  <a:rPr lang="en-US" altLang="zh-CN" sz="1600" b="1"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02</a:t>
                </a:r>
              </a:p>
            </p:txBody>
          </p:sp>
        </p:grpSp>
        <p:sp>
          <p:nvSpPr>
            <p:cNvPr id="21" name="文本框 20"/>
            <p:cNvSpPr txBox="1"/>
            <p:nvPr/>
          </p:nvSpPr>
          <p:spPr>
            <a:xfrm>
              <a:off x="7973" y="7132"/>
              <a:ext cx="2041" cy="580"/>
            </a:xfrm>
            <a:prstGeom prst="rect">
              <a:avLst/>
            </a:prstGeom>
            <a:noFill/>
          </p:spPr>
          <p:txBody>
            <a:bodyPr wrap="square" rtlCol="0" anchor="t">
              <a:spAutoFit/>
            </a:bodyPr>
            <a:lstStyle/>
            <a:p>
              <a:pPr algn="l">
                <a:buClr>
                  <a:schemeClr val="bg2"/>
                </a:buClr>
                <a:buSzPct val="80000"/>
              </a:pPr>
              <a:r>
                <a:rPr lang="zh-CN" altLang="en-US"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sym typeface="+mn-ea"/>
                </a:rPr>
                <a:t>商品推荐</a:t>
              </a:r>
              <a:endParaRPr lang="zh-CN" altLang="en-US" b="1" spc="300"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cs typeface="Amazon Ember" panose="020B0603020204020204" charset="0"/>
                <a:sym typeface="+mn-ea"/>
              </a:endParaRPr>
            </a:p>
          </p:txBody>
        </p:sp>
      </p:grpSp>
      <p:sp>
        <p:nvSpPr>
          <p:cNvPr id="25" name="文本框 40"/>
          <p:cNvSpPr txBox="1"/>
          <p:nvPr>
            <p:custDataLst>
              <p:tags r:id="rId8"/>
            </p:custDataLst>
          </p:nvPr>
        </p:nvSpPr>
        <p:spPr>
          <a:xfrm>
            <a:off x="6261735" y="4475480"/>
            <a:ext cx="5148580" cy="1383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50000"/>
              </a:lnSpc>
            </a:pPr>
            <a:r>
              <a:rPr lang="zh-CN" altLang="en-US" sz="1400" dirty="0">
                <a:solidFill>
                  <a:schemeClr val="tx1"/>
                </a:solidFill>
                <a:latin typeface="微软雅黑" panose="020B0503020204020204" pitchFamily="34" charset="-122"/>
                <a:ea typeface="微软雅黑" panose="020B0503020204020204" pitchFamily="34" charset="-122"/>
              </a:rPr>
              <a:t>提供推荐</a:t>
            </a:r>
            <a:r>
              <a:rPr lang="en-US" altLang="zh-CN" sz="1400" dirty="0">
                <a:solidFill>
                  <a:schemeClr val="tx1"/>
                </a:solidFill>
                <a:latin typeface="微软雅黑" panose="020B0503020204020204" pitchFamily="34" charset="-122"/>
                <a:ea typeface="微软雅黑" panose="020B0503020204020204" pitchFamily="34" charset="-122"/>
              </a:rPr>
              <a:t>ASIN</a:t>
            </a:r>
            <a:r>
              <a:rPr lang="zh-CN" altLang="en-US" sz="1400" dirty="0">
                <a:solidFill>
                  <a:schemeClr val="tx1"/>
                </a:solidFill>
                <a:latin typeface="微软雅黑" panose="020B0503020204020204" pitchFamily="34" charset="-122"/>
                <a:ea typeface="微软雅黑" panose="020B0503020204020204" pitchFamily="34" charset="-122"/>
              </a:rPr>
              <a:t>在目标市场</a:t>
            </a:r>
            <a:r>
              <a:rPr lang="zh-CN" altLang="en-US" sz="1400" dirty="0">
                <a:solidFill>
                  <a:srgbClr val="F89104"/>
                </a:solidFill>
                <a:latin typeface="微软雅黑" panose="020B0503020204020204" pitchFamily="34" charset="-122"/>
                <a:ea typeface="微软雅黑" panose="020B0503020204020204" pitchFamily="34" charset="-122"/>
              </a:rPr>
              <a:t>搜索量、点击量及热门搜索关键词</a:t>
            </a:r>
            <a:r>
              <a:rPr lang="zh-CN" altLang="en-US" sz="1400" dirty="0">
                <a:solidFill>
                  <a:schemeClr val="tx1"/>
                </a:solidFill>
                <a:latin typeface="微软雅黑" panose="020B0503020204020204" pitchFamily="34" charset="-122"/>
                <a:ea typeface="微软雅黑" panose="020B0503020204020204" pitchFamily="34" charset="-122"/>
              </a:rPr>
              <a:t>等重要信息，提供包括</a:t>
            </a:r>
            <a:r>
              <a:rPr lang="zh-CN" altLang="en-US" sz="1400" dirty="0">
                <a:solidFill>
                  <a:srgbClr val="F89104"/>
                </a:solidFill>
                <a:latin typeface="微软雅黑" panose="020B0503020204020204" pitchFamily="34" charset="-122"/>
                <a:ea typeface="微软雅黑" panose="020B0503020204020204" pitchFamily="34" charset="-122"/>
              </a:rPr>
              <a:t>销售数量，购买转化比，价格带，颜色，材料，广告支出</a:t>
            </a:r>
            <a:r>
              <a:rPr lang="zh-CN" altLang="en-US" sz="1400" dirty="0">
                <a:solidFill>
                  <a:schemeClr val="tx1"/>
                </a:solidFill>
                <a:latin typeface="微软雅黑" panose="020B0503020204020204" pitchFamily="34" charset="-122"/>
                <a:ea typeface="微软雅黑" panose="020B0503020204020204" pitchFamily="34" charset="-122"/>
              </a:rPr>
              <a:t>等在内的一系列类目数据，帮助卖家更加精准的把握目标市场情况，完成全球跨站点上新。</a:t>
            </a:r>
          </a:p>
        </p:txBody>
      </p:sp>
      <p:grpSp>
        <p:nvGrpSpPr>
          <p:cNvPr id="23" name="组合 22"/>
          <p:cNvGrpSpPr/>
          <p:nvPr/>
        </p:nvGrpSpPr>
        <p:grpSpPr>
          <a:xfrm>
            <a:off x="6357620" y="4059555"/>
            <a:ext cx="1740535" cy="368300"/>
            <a:chOff x="9172" y="6338"/>
            <a:chExt cx="2741" cy="580"/>
          </a:xfrm>
        </p:grpSpPr>
        <p:grpSp>
          <p:nvGrpSpPr>
            <p:cNvPr id="19" name="组合 18"/>
            <p:cNvGrpSpPr/>
            <p:nvPr/>
          </p:nvGrpSpPr>
          <p:grpSpPr>
            <a:xfrm>
              <a:off x="9172" y="6343"/>
              <a:ext cx="575" cy="567"/>
              <a:chOff x="3414" y="7231"/>
              <a:chExt cx="567" cy="567"/>
            </a:xfrm>
          </p:grpSpPr>
          <p:sp>
            <p:nvSpPr>
              <p:cNvPr id="13" name="泪滴形 12"/>
              <p:cNvSpPr>
                <a:spLocks noChangeAspect="1"/>
              </p:cNvSpPr>
              <p:nvPr>
                <p:custDataLst>
                  <p:tags r:id="rId10"/>
                </p:custDataLst>
              </p:nvPr>
            </p:nvSpPr>
            <p:spPr>
              <a:xfrm rot="8100000">
                <a:off x="3414" y="7231"/>
                <a:ext cx="567" cy="567"/>
              </a:xfrm>
              <a:prstGeom prst="teardrop">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ctr">
                  <a:buClr>
                    <a:schemeClr val="bg2"/>
                  </a:buClr>
                  <a:buSzPct val="80000"/>
                  <a:buFontTx/>
                </a:pPr>
                <a:endParaRPr lang="zh-CN" altLang="en-US" sz="2000" b="1"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14" name="文本框 13"/>
              <p:cNvSpPr txBox="1"/>
              <p:nvPr>
                <p:custDataLst>
                  <p:tags r:id="rId11"/>
                </p:custDataLst>
              </p:nvPr>
            </p:nvSpPr>
            <p:spPr>
              <a:xfrm>
                <a:off x="3414" y="7249"/>
                <a:ext cx="567" cy="531"/>
              </a:xfrm>
              <a:prstGeom prst="rect">
                <a:avLst/>
              </a:prstGeom>
              <a:noFill/>
            </p:spPr>
            <p:txBody>
              <a:bodyPr wrap="square" lIns="0" rIns="0" rtlCol="0" anchor="t">
                <a:spAutoFit/>
              </a:bodyPr>
              <a:lstStyle/>
              <a:p>
                <a:pPr algn="ctr"/>
                <a:r>
                  <a:rPr lang="en-US" altLang="zh-CN" sz="1600" b="1"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03</a:t>
                </a:r>
              </a:p>
            </p:txBody>
          </p:sp>
        </p:grpSp>
        <p:sp>
          <p:nvSpPr>
            <p:cNvPr id="27" name="文本框 26"/>
            <p:cNvSpPr txBox="1"/>
            <p:nvPr/>
          </p:nvSpPr>
          <p:spPr>
            <a:xfrm>
              <a:off x="9842" y="6338"/>
              <a:ext cx="2071" cy="580"/>
            </a:xfrm>
            <a:prstGeom prst="rect">
              <a:avLst/>
            </a:prstGeom>
            <a:noFill/>
          </p:spPr>
          <p:txBody>
            <a:bodyPr wrap="square" rtlCol="0" anchor="t">
              <a:spAutoFit/>
            </a:bodyPr>
            <a:lstStyle/>
            <a:p>
              <a:pPr algn="l">
                <a:buClr>
                  <a:schemeClr val="bg2"/>
                </a:buClr>
                <a:buSzPct val="80000"/>
              </a:pPr>
              <a:r>
                <a:rPr lang="zh-CN" altLang="en-US"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sym typeface="+mn-ea"/>
                </a:rPr>
                <a:t>市场洞察</a:t>
              </a:r>
              <a:endParaRPr lang="zh-CN" altLang="en-US" b="1" spc="300"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cs typeface="Amazon Ember" panose="020B0603020204020204" charset="0"/>
                <a:sym typeface="+mn-ea"/>
              </a:endParaRPr>
            </a:p>
          </p:txBody>
        </p:sp>
      </p:grpSp>
      <p:grpSp>
        <p:nvGrpSpPr>
          <p:cNvPr id="61" name="组合 60"/>
          <p:cNvGrpSpPr/>
          <p:nvPr/>
        </p:nvGrpSpPr>
        <p:grpSpPr>
          <a:xfrm>
            <a:off x="2657525" y="1758950"/>
            <a:ext cx="933450" cy="933450"/>
            <a:chOff x="3788" y="2885"/>
            <a:chExt cx="1274" cy="1274"/>
          </a:xfrm>
        </p:grpSpPr>
        <p:sp>
          <p:nvSpPr>
            <p:cNvPr id="30" name="椭圆 29"/>
            <p:cNvSpPr/>
            <p:nvPr/>
          </p:nvSpPr>
          <p:spPr>
            <a:xfrm>
              <a:off x="3788" y="2885"/>
              <a:ext cx="1275" cy="1275"/>
            </a:xfrm>
            <a:prstGeom prst="ellipse">
              <a:avLst/>
            </a:prstGeom>
            <a:noFill/>
            <a:ln w="22225" cap="flat" cmpd="sng" algn="ctr">
              <a:gradFill>
                <a:gsLst>
                  <a:gs pos="0">
                    <a:schemeClr val="accent4"/>
                  </a:gs>
                  <a:gs pos="100000">
                    <a:srgbClr val="FF9900"/>
                  </a:gs>
                </a:gsLst>
                <a:lin ang="5400000" scaled="1"/>
              </a:grad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ctr">
                <a:buClr>
                  <a:schemeClr val="bg2"/>
                </a:buClr>
                <a:buSzPct val="80000"/>
                <a:buFontTx/>
              </a:pPr>
              <a:endParaRPr lang="zh-CN" altLang="en-US" sz="2000"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54" name="椭圆 53"/>
            <p:cNvSpPr/>
            <p:nvPr/>
          </p:nvSpPr>
          <p:spPr>
            <a:xfrm>
              <a:off x="3881" y="2978"/>
              <a:ext cx="1089" cy="1089"/>
            </a:xfrm>
            <a:prstGeom prst="ellipse">
              <a:avLst/>
            </a:prstGeom>
            <a:noFill/>
            <a:ln w="12700" cap="flat" cmpd="sng" algn="ctr">
              <a:gradFill>
                <a:gsLst>
                  <a:gs pos="0">
                    <a:schemeClr val="accent4"/>
                  </a:gs>
                  <a:gs pos="100000">
                    <a:srgbClr val="FF9900"/>
                  </a:gs>
                </a:gsLst>
                <a:lin ang="5400000" scaled="1"/>
              </a:grad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ctr">
                <a:buClr>
                  <a:schemeClr val="bg2"/>
                </a:buClr>
                <a:buSzPct val="80000"/>
                <a:buFontTx/>
              </a:pPr>
              <a:endParaRPr lang="zh-CN" altLang="en-US" sz="2000"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55" name="流程图: 决策 54"/>
            <p:cNvSpPr/>
            <p:nvPr/>
          </p:nvSpPr>
          <p:spPr>
            <a:xfrm rot="1320000">
              <a:off x="4366" y="3092"/>
              <a:ext cx="120" cy="862"/>
            </a:xfrm>
            <a:prstGeom prst="flowChartDecision">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ctr">
                <a:buClr>
                  <a:schemeClr val="bg2"/>
                </a:buClr>
                <a:buSzPct val="80000"/>
                <a:buFontTx/>
              </a:pPr>
              <a:endParaRPr lang="zh-CN" altLang="en-US" sz="2000"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59" name="任意多边形 58"/>
            <p:cNvSpPr/>
            <p:nvPr/>
          </p:nvSpPr>
          <p:spPr>
            <a:xfrm rot="8100000">
              <a:off x="3964" y="3061"/>
              <a:ext cx="923" cy="923"/>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il" t="il" r="ir" b="ib"/>
              <a:pathLst>
                <a:path w="923" h="923">
                  <a:moveTo>
                    <a:pt x="433" y="781"/>
                  </a:moveTo>
                  <a:cubicBezTo>
                    <a:pt x="433" y="766"/>
                    <a:pt x="446" y="753"/>
                    <a:pt x="461" y="753"/>
                  </a:cubicBezTo>
                  <a:cubicBezTo>
                    <a:pt x="477" y="753"/>
                    <a:pt x="490" y="766"/>
                    <a:pt x="490" y="781"/>
                  </a:cubicBezTo>
                  <a:lnTo>
                    <a:pt x="490" y="895"/>
                  </a:lnTo>
                  <a:cubicBezTo>
                    <a:pt x="490" y="910"/>
                    <a:pt x="477" y="923"/>
                    <a:pt x="461" y="923"/>
                  </a:cubicBezTo>
                  <a:cubicBezTo>
                    <a:pt x="446" y="923"/>
                    <a:pt x="433" y="910"/>
                    <a:pt x="433" y="895"/>
                  </a:cubicBezTo>
                  <a:lnTo>
                    <a:pt x="433" y="781"/>
                  </a:lnTo>
                  <a:close/>
                  <a:moveTo>
                    <a:pt x="433" y="28"/>
                  </a:moveTo>
                  <a:cubicBezTo>
                    <a:pt x="433" y="13"/>
                    <a:pt x="446" y="0"/>
                    <a:pt x="461" y="0"/>
                  </a:cubicBezTo>
                  <a:cubicBezTo>
                    <a:pt x="477" y="0"/>
                    <a:pt x="490" y="13"/>
                    <a:pt x="490" y="28"/>
                  </a:cubicBezTo>
                  <a:lnTo>
                    <a:pt x="490" y="142"/>
                  </a:lnTo>
                  <a:cubicBezTo>
                    <a:pt x="490" y="157"/>
                    <a:pt x="477" y="170"/>
                    <a:pt x="461" y="170"/>
                  </a:cubicBezTo>
                  <a:cubicBezTo>
                    <a:pt x="446" y="170"/>
                    <a:pt x="433" y="157"/>
                    <a:pt x="433" y="142"/>
                  </a:cubicBezTo>
                  <a:lnTo>
                    <a:pt x="433" y="28"/>
                  </a:lnTo>
                  <a:close/>
                  <a:moveTo>
                    <a:pt x="781" y="490"/>
                  </a:moveTo>
                  <a:cubicBezTo>
                    <a:pt x="766" y="490"/>
                    <a:pt x="753" y="477"/>
                    <a:pt x="753" y="462"/>
                  </a:cubicBezTo>
                  <a:cubicBezTo>
                    <a:pt x="753" y="446"/>
                    <a:pt x="766" y="433"/>
                    <a:pt x="781" y="433"/>
                  </a:cubicBezTo>
                  <a:lnTo>
                    <a:pt x="895" y="433"/>
                  </a:lnTo>
                  <a:cubicBezTo>
                    <a:pt x="910" y="433"/>
                    <a:pt x="923" y="446"/>
                    <a:pt x="923" y="462"/>
                  </a:cubicBezTo>
                  <a:cubicBezTo>
                    <a:pt x="923" y="477"/>
                    <a:pt x="910" y="490"/>
                    <a:pt x="895" y="490"/>
                  </a:cubicBezTo>
                  <a:lnTo>
                    <a:pt x="781" y="490"/>
                  </a:lnTo>
                  <a:close/>
                  <a:moveTo>
                    <a:pt x="28" y="490"/>
                  </a:moveTo>
                  <a:cubicBezTo>
                    <a:pt x="13" y="490"/>
                    <a:pt x="0" y="477"/>
                    <a:pt x="0" y="462"/>
                  </a:cubicBezTo>
                  <a:cubicBezTo>
                    <a:pt x="0" y="446"/>
                    <a:pt x="13" y="433"/>
                    <a:pt x="28" y="433"/>
                  </a:cubicBezTo>
                  <a:lnTo>
                    <a:pt x="142" y="433"/>
                  </a:lnTo>
                  <a:cubicBezTo>
                    <a:pt x="157" y="433"/>
                    <a:pt x="170" y="446"/>
                    <a:pt x="170" y="462"/>
                  </a:cubicBezTo>
                  <a:cubicBezTo>
                    <a:pt x="170" y="477"/>
                    <a:pt x="157" y="490"/>
                    <a:pt x="142" y="490"/>
                  </a:cubicBezTo>
                  <a:lnTo>
                    <a:pt x="28" y="490"/>
                  </a:lnTo>
                  <a:close/>
                  <a:moveTo>
                    <a:pt x="667" y="708"/>
                  </a:moveTo>
                  <a:cubicBezTo>
                    <a:pt x="657" y="697"/>
                    <a:pt x="657" y="679"/>
                    <a:pt x="667" y="668"/>
                  </a:cubicBezTo>
                  <a:cubicBezTo>
                    <a:pt x="679" y="657"/>
                    <a:pt x="697" y="657"/>
                    <a:pt x="708" y="667"/>
                  </a:cubicBezTo>
                  <a:lnTo>
                    <a:pt x="788" y="748"/>
                  </a:lnTo>
                  <a:cubicBezTo>
                    <a:pt x="799" y="759"/>
                    <a:pt x="799" y="777"/>
                    <a:pt x="788" y="788"/>
                  </a:cubicBezTo>
                  <a:cubicBezTo>
                    <a:pt x="777" y="799"/>
                    <a:pt x="759" y="799"/>
                    <a:pt x="748" y="788"/>
                  </a:cubicBezTo>
                  <a:lnTo>
                    <a:pt x="667" y="708"/>
                  </a:lnTo>
                  <a:close/>
                  <a:moveTo>
                    <a:pt x="135" y="175"/>
                  </a:moveTo>
                  <a:cubicBezTo>
                    <a:pt x="124" y="164"/>
                    <a:pt x="124" y="146"/>
                    <a:pt x="135" y="136"/>
                  </a:cubicBezTo>
                  <a:cubicBezTo>
                    <a:pt x="146" y="124"/>
                    <a:pt x="164" y="124"/>
                    <a:pt x="175" y="135"/>
                  </a:cubicBezTo>
                  <a:lnTo>
                    <a:pt x="256" y="216"/>
                  </a:lnTo>
                  <a:cubicBezTo>
                    <a:pt x="266" y="226"/>
                    <a:pt x="266" y="244"/>
                    <a:pt x="255" y="256"/>
                  </a:cubicBezTo>
                  <a:cubicBezTo>
                    <a:pt x="244" y="266"/>
                    <a:pt x="226" y="266"/>
                    <a:pt x="216" y="256"/>
                  </a:cubicBezTo>
                  <a:lnTo>
                    <a:pt x="135" y="175"/>
                  </a:lnTo>
                  <a:close/>
                  <a:moveTo>
                    <a:pt x="708" y="255"/>
                  </a:moveTo>
                  <a:cubicBezTo>
                    <a:pt x="697" y="267"/>
                    <a:pt x="679" y="267"/>
                    <a:pt x="668" y="255"/>
                  </a:cubicBezTo>
                  <a:cubicBezTo>
                    <a:pt x="657" y="244"/>
                    <a:pt x="657" y="226"/>
                    <a:pt x="668" y="215"/>
                  </a:cubicBezTo>
                  <a:lnTo>
                    <a:pt x="748" y="135"/>
                  </a:lnTo>
                  <a:cubicBezTo>
                    <a:pt x="759" y="124"/>
                    <a:pt x="777" y="124"/>
                    <a:pt x="788" y="135"/>
                  </a:cubicBezTo>
                  <a:cubicBezTo>
                    <a:pt x="799" y="146"/>
                    <a:pt x="799" y="164"/>
                    <a:pt x="788" y="175"/>
                  </a:cubicBezTo>
                  <a:lnTo>
                    <a:pt x="708" y="255"/>
                  </a:lnTo>
                  <a:close/>
                  <a:moveTo>
                    <a:pt x="175" y="788"/>
                  </a:moveTo>
                  <a:cubicBezTo>
                    <a:pt x="164" y="799"/>
                    <a:pt x="146" y="799"/>
                    <a:pt x="135" y="788"/>
                  </a:cubicBezTo>
                  <a:cubicBezTo>
                    <a:pt x="124" y="777"/>
                    <a:pt x="124" y="759"/>
                    <a:pt x="135" y="748"/>
                  </a:cubicBezTo>
                  <a:lnTo>
                    <a:pt x="215" y="668"/>
                  </a:lnTo>
                  <a:cubicBezTo>
                    <a:pt x="226" y="657"/>
                    <a:pt x="244" y="657"/>
                    <a:pt x="255" y="668"/>
                  </a:cubicBezTo>
                  <a:cubicBezTo>
                    <a:pt x="267" y="679"/>
                    <a:pt x="267" y="697"/>
                    <a:pt x="255" y="708"/>
                  </a:cubicBezTo>
                  <a:lnTo>
                    <a:pt x="175" y="788"/>
                  </a:lnTo>
                  <a:close/>
                </a:path>
              </a:pathLst>
            </a:cu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wrap="square" rtlCol="0" anchor="ctr">
              <a:noAutofit/>
            </a:bodyPr>
            <a:lstStyle/>
            <a:p>
              <a:pPr lvl="0" algn="ctr">
                <a:buClr>
                  <a:schemeClr val="bg2"/>
                </a:buClr>
                <a:buSzPct val="80000"/>
                <a:buFontTx/>
              </a:pPr>
              <a:endParaRPr lang="zh-CN" altLang="en-US" sz="2000"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60" name="椭圆 59"/>
            <p:cNvSpPr/>
            <p:nvPr>
              <p:custDataLst>
                <p:tags r:id="rId9"/>
              </p:custDataLst>
            </p:nvPr>
          </p:nvSpPr>
          <p:spPr>
            <a:xfrm>
              <a:off x="4337" y="3434"/>
              <a:ext cx="177" cy="177"/>
            </a:xfrm>
            <a:prstGeom prst="ellipse">
              <a:avLst/>
            </a:prstGeom>
            <a:gradFill flip="none" rotWithShape="1">
              <a:gsLst>
                <a:gs pos="0">
                  <a:srgbClr val="FF8F00"/>
                </a:gs>
                <a:gs pos="100000">
                  <a:srgbClr val="FFC010"/>
                </a:gs>
              </a:gsLst>
              <a:lin ang="0" scaled="0"/>
              <a:tileRect/>
            </a:gradFill>
            <a:ln w="12700" cap="flat" cmpd="sng" algn="ctr">
              <a:gradFill>
                <a:gsLst>
                  <a:gs pos="0">
                    <a:schemeClr val="accent4"/>
                  </a:gs>
                  <a:gs pos="100000">
                    <a:srgbClr val="FF9900"/>
                  </a:gs>
                </a:gsLst>
                <a:lin ang="5400000" scaled="1"/>
              </a:grad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ctr">
                <a:buClr>
                  <a:schemeClr val="bg2"/>
                </a:buClr>
                <a:buSzPct val="80000"/>
                <a:buFontTx/>
              </a:pPr>
              <a:endParaRPr lang="zh-CN" altLang="en-US" sz="2000"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endParaRPr>
            </a:p>
          </p:txBody>
        </p:sp>
      </p:gr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0" name="直接连接符 58"/>
          <p:cNvCxnSpPr/>
          <p:nvPr/>
        </p:nvCxnSpPr>
        <p:spPr>
          <a:xfrm>
            <a:off x="16185" y="1206183"/>
            <a:ext cx="12204000" cy="0"/>
          </a:xfrm>
          <a:prstGeom prst="line">
            <a:avLst/>
          </a:prstGeom>
          <a:ln w="25400" cap="rnd">
            <a:gradFill flip="none" rotWithShape="1">
              <a:gsLst>
                <a:gs pos="0">
                  <a:srgbClr val="F6C62D"/>
                </a:gs>
                <a:gs pos="100000">
                  <a:srgbClr val="FF9900"/>
                </a:gs>
              </a:gsLst>
              <a:lin ang="0" scaled="1"/>
              <a:tileRect/>
            </a:gradFill>
            <a:prstDash val="sysDot"/>
            <a:round/>
          </a:ln>
        </p:spPr>
        <p:style>
          <a:lnRef idx="1">
            <a:schemeClr val="accent1"/>
          </a:lnRef>
          <a:fillRef idx="0">
            <a:schemeClr val="accent1"/>
          </a:fillRef>
          <a:effectRef idx="0">
            <a:schemeClr val="accent1"/>
          </a:effectRef>
          <a:fontRef idx="minor">
            <a:schemeClr val="tx1"/>
          </a:fontRef>
        </p:style>
      </p:cxnSp>
      <p:sp>
        <p:nvSpPr>
          <p:cNvPr id="2" name="Title 3"/>
          <p:cNvSpPr txBox="1"/>
          <p:nvPr/>
        </p:nvSpPr>
        <p:spPr>
          <a:xfrm>
            <a:off x="149913" y="219070"/>
            <a:ext cx="678815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选品指南针一览</a:t>
            </a:r>
          </a:p>
        </p:txBody>
      </p:sp>
      <p:sp>
        <p:nvSpPr>
          <p:cNvPr id="31" name="Rectangle 1"/>
          <p:cNvSpPr/>
          <p:nvPr>
            <p:custDataLst>
              <p:tags r:id="rId1"/>
            </p:custDataLst>
          </p:nvPr>
        </p:nvSpPr>
        <p:spPr>
          <a:xfrm>
            <a:off x="650218" y="1675635"/>
            <a:ext cx="3624580" cy="2214245"/>
          </a:xfrm>
          <a:prstGeom prst="roundRect">
            <a:avLst>
              <a:gd name="adj" fmla="val 7389"/>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pitchFamily="34" charset="-122"/>
              <a:ea typeface="微软雅黑" panose="020B0503020204020204" pitchFamily="34" charset="-122"/>
              <a:sym typeface="+mn-ea"/>
            </a:endParaRPr>
          </a:p>
        </p:txBody>
      </p:sp>
      <p:sp>
        <p:nvSpPr>
          <p:cNvPr id="8" name="文本框 18"/>
          <p:cNvSpPr txBox="1"/>
          <p:nvPr>
            <p:custDataLst>
              <p:tags r:id="rId2"/>
            </p:custDataLst>
          </p:nvPr>
        </p:nvSpPr>
        <p:spPr>
          <a:xfrm>
            <a:off x="824843" y="2040125"/>
            <a:ext cx="3275965" cy="18097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825500" hangingPunct="0">
              <a:lnSpc>
                <a:spcPct val="150000"/>
              </a:lnSpc>
            </a:pPr>
            <a:r>
              <a:rPr lang="zh-CN" altLang="en-US" b="1"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sym typeface="+mn-ea"/>
              </a:rPr>
              <a:t>类目分析</a:t>
            </a:r>
          </a:p>
          <a:p>
            <a:pPr algn="ctr" defTabSz="825500" hangingPunct="0">
              <a:lnSpc>
                <a:spcPct val="150000"/>
              </a:lnSpc>
            </a:pPr>
            <a:r>
              <a:rPr lang="zh-CN" altLang="en-US" sz="1400" dirty="0">
                <a:latin typeface="微软雅黑" panose="020B0503020204020204" pitchFamily="34" charset="-122"/>
                <a:ea typeface="微软雅黑" panose="020B0503020204020204" pitchFamily="34" charset="-122"/>
                <a:sym typeface="+mn-ea"/>
              </a:rPr>
              <a:t>目前已在美国、英国、德国和日本站上线</a:t>
            </a:r>
            <a:r>
              <a:rPr lang="en-US" altLang="zh-CN" sz="1400" dirty="0">
                <a:latin typeface="微软雅黑" panose="020B0503020204020204" pitchFamily="34" charset="-122"/>
                <a:ea typeface="微软雅黑" panose="020B0503020204020204" pitchFamily="34" charset="-122"/>
                <a:sym typeface="+mn-ea"/>
              </a:rPr>
              <a:t>, </a:t>
            </a:r>
            <a:r>
              <a:rPr lang="zh-CN" altLang="en-US" sz="1400" dirty="0">
                <a:latin typeface="微软雅黑" panose="020B0503020204020204" pitchFamily="34" charset="-122"/>
                <a:ea typeface="微软雅黑" panose="020B0503020204020204" pitchFamily="34" charset="-122"/>
                <a:sym typeface="+mn-ea"/>
              </a:rPr>
              <a:t>它为卖家推荐有高需求的</a:t>
            </a:r>
            <a:r>
              <a:rPr lang="en-GB" altLang="zh-CN" sz="1400" dirty="0">
                <a:latin typeface="微软雅黑" panose="020B0503020204020204" pitchFamily="34" charset="-122"/>
                <a:ea typeface="微软雅黑" panose="020B0503020204020204" pitchFamily="34" charset="-122"/>
                <a:sym typeface="+mn-ea"/>
              </a:rPr>
              <a:t>ASIN</a:t>
            </a:r>
            <a:r>
              <a:rPr lang="zh-CN" altLang="en-US" sz="1400" dirty="0">
                <a:latin typeface="微软雅黑" panose="020B0503020204020204" pitchFamily="34" charset="-122"/>
                <a:ea typeface="微软雅黑" panose="020B0503020204020204" pitchFamily="34" charset="-122"/>
                <a:sym typeface="+mn-ea"/>
              </a:rPr>
              <a:t>和最受买家喜好的产品特点。</a:t>
            </a:r>
            <a:endParaRPr kumimoji="0" lang="zh-CN" altLang="en-US" sz="14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思源黑体 Light" panose="020B0300000000000000" charset="-122"/>
              <a:sym typeface="思源黑体 Light" panose="020B0300000000000000" charset="-122"/>
            </a:endParaRPr>
          </a:p>
          <a:p>
            <a:pPr algn="ctr" defTabSz="825500" hangingPunct="0">
              <a:lnSpc>
                <a:spcPct val="150000"/>
              </a:lnSpc>
            </a:pPr>
            <a:endParaRPr kumimoji="0" lang="zh-CN" altLang="en-US" sz="1400" b="1" i="0" spc="-20" baseline="0" dirty="0">
              <a:ln>
                <a:noFill/>
              </a:ln>
              <a:solidFill>
                <a:schemeClr val="tx1"/>
              </a:solidFill>
              <a:effectLst/>
              <a:uFillTx/>
              <a:latin typeface="微软雅黑" panose="020B0503020204020204" pitchFamily="34" charset="-122"/>
              <a:ea typeface="微软雅黑" panose="020B0503020204020204" pitchFamily="34" charset="-122"/>
              <a:cs typeface="思源黑体 Light" panose="020B0300000000000000" charset="-122"/>
              <a:sym typeface="思源黑体 Light" panose="020B0300000000000000" charset="-122"/>
            </a:endParaRPr>
          </a:p>
        </p:txBody>
      </p:sp>
      <p:sp>
        <p:nvSpPr>
          <p:cNvPr id="82" name="椭圆 81"/>
          <p:cNvSpPr>
            <a:spLocks noChangeAspect="1"/>
          </p:cNvSpPr>
          <p:nvPr>
            <p:custDataLst>
              <p:tags r:id="rId3"/>
            </p:custDataLst>
          </p:nvPr>
        </p:nvSpPr>
        <p:spPr>
          <a:xfrm>
            <a:off x="2264388" y="1779140"/>
            <a:ext cx="396240" cy="396240"/>
          </a:xfrm>
          <a:prstGeom prst="ellipse">
            <a:avLst/>
          </a:prstGeom>
          <a:gradFill>
            <a:gsLst>
              <a:gs pos="7000">
                <a:srgbClr val="FF9900"/>
              </a:gs>
              <a:gs pos="64000">
                <a:srgbClr val="FFC000"/>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b="1" dirty="0">
                <a:latin typeface="微软雅黑" panose="020B0503020204020204" pitchFamily="34" charset="-122"/>
                <a:ea typeface="微软雅黑" panose="020B0503020204020204" pitchFamily="34" charset="-122"/>
                <a:cs typeface="Amazon Ember" panose="020B0603020204020204" charset="0"/>
              </a:rPr>
              <a:t>1</a:t>
            </a:r>
          </a:p>
        </p:txBody>
      </p:sp>
      <p:sp>
        <p:nvSpPr>
          <p:cNvPr id="3" name="Rectangle 1"/>
          <p:cNvSpPr/>
          <p:nvPr>
            <p:custDataLst>
              <p:tags r:id="rId4"/>
            </p:custDataLst>
          </p:nvPr>
        </p:nvSpPr>
        <p:spPr>
          <a:xfrm>
            <a:off x="650218" y="4117004"/>
            <a:ext cx="3624580" cy="2214245"/>
          </a:xfrm>
          <a:prstGeom prst="roundRect">
            <a:avLst>
              <a:gd name="adj" fmla="val 7389"/>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pitchFamily="34" charset="-122"/>
              <a:ea typeface="微软雅黑" panose="020B0503020204020204" pitchFamily="34" charset="-122"/>
              <a:sym typeface="+mn-ea"/>
            </a:endParaRPr>
          </a:p>
        </p:txBody>
      </p:sp>
      <p:sp>
        <p:nvSpPr>
          <p:cNvPr id="9" name="文本框 19"/>
          <p:cNvSpPr txBox="1"/>
          <p:nvPr>
            <p:custDataLst>
              <p:tags r:id="rId5"/>
            </p:custDataLst>
          </p:nvPr>
        </p:nvSpPr>
        <p:spPr>
          <a:xfrm>
            <a:off x="824843" y="4546264"/>
            <a:ext cx="3275965" cy="15792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825500" hangingPunct="0">
              <a:lnSpc>
                <a:spcPct val="130000"/>
              </a:lnSpc>
            </a:pPr>
            <a:r>
              <a:rPr lang="zh-CN" altLang="en-US" b="1"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sym typeface="+mn-ea"/>
              </a:rPr>
              <a:t>全球选品需求</a:t>
            </a:r>
            <a:endParaRPr lang="zh-CN" altLang="en-US" b="1"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endParaRPr>
          </a:p>
          <a:p>
            <a:pPr algn="ctr" defTabSz="825500" hangingPunct="0">
              <a:lnSpc>
                <a:spcPct val="130000"/>
              </a:lnSpc>
            </a:pPr>
            <a:r>
              <a:rPr lang="zh-CN" altLang="en-US" sz="1400" spc="-20" dirty="0">
                <a:uFillTx/>
                <a:latin typeface="微软雅黑" panose="020B0503020204020204" pitchFamily="34" charset="-122"/>
                <a:ea typeface="微软雅黑" panose="020B0503020204020204" pitchFamily="34" charset="-122"/>
                <a:sym typeface="+mn-ea"/>
              </a:rPr>
              <a:t>为美国站的卖家开放，该工具从卖家已在美国上架的商品</a:t>
            </a:r>
            <a:r>
              <a:rPr lang="en-GB" altLang="zh-CN" sz="1400" spc="-20" dirty="0">
                <a:uFillTx/>
                <a:latin typeface="微软雅黑" panose="020B0503020204020204" pitchFamily="34" charset="-122"/>
                <a:ea typeface="微软雅黑" panose="020B0503020204020204" pitchFamily="34" charset="-122"/>
                <a:sym typeface="+mn-ea"/>
              </a:rPr>
              <a:t>ASIN</a:t>
            </a:r>
            <a:r>
              <a:rPr lang="zh-CN" altLang="en-US" sz="1400" spc="-20" dirty="0">
                <a:uFillTx/>
                <a:latin typeface="微软雅黑" panose="020B0503020204020204" pitchFamily="34" charset="-122"/>
                <a:ea typeface="微软雅黑" panose="020B0503020204020204" pitchFamily="34" charset="-122"/>
                <a:sym typeface="+mn-ea"/>
              </a:rPr>
              <a:t>中挑选并推荐在英国、德国、西班牙、法国、意大利和日本有高需求量的产品。</a:t>
            </a:r>
            <a:endParaRPr kumimoji="0" lang="zh-CN" altLang="en-US" sz="14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思源黑体 Light" panose="020B0300000000000000" charset="-122"/>
              <a:sym typeface="思源黑体 Light" panose="020B0300000000000000" charset="-122"/>
            </a:endParaRPr>
          </a:p>
        </p:txBody>
      </p:sp>
      <p:sp>
        <p:nvSpPr>
          <p:cNvPr id="83" name="椭圆 82"/>
          <p:cNvSpPr>
            <a:spLocks noChangeAspect="1"/>
          </p:cNvSpPr>
          <p:nvPr>
            <p:custDataLst>
              <p:tags r:id="rId6"/>
            </p:custDataLst>
          </p:nvPr>
        </p:nvSpPr>
        <p:spPr>
          <a:xfrm>
            <a:off x="2264388" y="4220509"/>
            <a:ext cx="396240" cy="396240"/>
          </a:xfrm>
          <a:prstGeom prst="ellipse">
            <a:avLst/>
          </a:prstGeom>
          <a:gradFill>
            <a:gsLst>
              <a:gs pos="7000">
                <a:srgbClr val="FF9900"/>
              </a:gs>
              <a:gs pos="64000">
                <a:srgbClr val="FFC000"/>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b="1" dirty="0">
                <a:latin typeface="微软雅黑" panose="020B0503020204020204" pitchFamily="34" charset="-122"/>
                <a:ea typeface="微软雅黑" panose="020B0503020204020204" pitchFamily="34" charset="-122"/>
                <a:cs typeface="Amazon Ember" panose="020B0603020204020204" charset="0"/>
              </a:rPr>
              <a:t>2</a:t>
            </a:r>
          </a:p>
        </p:txBody>
      </p:sp>
      <p:sp>
        <p:nvSpPr>
          <p:cNvPr id="17" name="Rectangle: Rounded Corners 7"/>
          <p:cNvSpPr/>
          <p:nvPr>
            <p:custDataLst>
              <p:tags r:id="rId7"/>
            </p:custDataLst>
          </p:nvPr>
        </p:nvSpPr>
        <p:spPr>
          <a:xfrm>
            <a:off x="3050858" y="998855"/>
            <a:ext cx="6090285" cy="417830"/>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ctr"/>
            <a:r>
              <a:rPr lang="zh-CN" altLang="en-US" sz="2000"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微软雅黑" panose="020B0503020204020204" pitchFamily="34" charset="-122"/>
              </a:rPr>
              <a:t>选品指南针专项</a:t>
            </a:r>
            <a:r>
              <a:rPr lang="en-US" sz="2000" spc="300" dirty="0" err="1">
                <a:solidFill>
                  <a:schemeClr val="bg1"/>
                </a:solidFill>
                <a:latin typeface="微软雅黑" panose="020B0503020204020204" pitchFamily="34" charset="-122"/>
                <a:ea typeface="微软雅黑" panose="020B0503020204020204" pitchFamily="34" charset="-122"/>
                <a:cs typeface="Amazon Ember" panose="020B0603020204020204" charset="0"/>
                <a:sym typeface="微软雅黑" panose="020B0503020204020204" pitchFamily="34" charset="-122"/>
              </a:rPr>
              <a:t>解决方案</a:t>
            </a:r>
            <a:endParaRPr lang="zh-CN" altLang="en-US" sz="2000" spc="300" dirty="0">
              <a:solidFill>
                <a:schemeClr val="bg1"/>
              </a:solidFill>
              <a:latin typeface="微软雅黑" panose="020B0503020204020204" pitchFamily="34" charset="-122"/>
              <a:ea typeface="微软雅黑" panose="020B0503020204020204" pitchFamily="34" charset="-122"/>
              <a:cs typeface="Amazon Ember" panose="020B0603020204020204" charset="0"/>
            </a:endParaRPr>
          </a:p>
        </p:txBody>
      </p:sp>
      <p:pic>
        <p:nvPicPr>
          <p:cNvPr id="6" name="Picture 5">
            <a:extLst>
              <a:ext uri="{FF2B5EF4-FFF2-40B4-BE49-F238E27FC236}">
                <a16:creationId xmlns:a16="http://schemas.microsoft.com/office/drawing/2014/main" id="{3F1478C0-3FCF-47A6-9444-D8E379588F5A}"/>
              </a:ext>
            </a:extLst>
          </p:cNvPr>
          <p:cNvPicPr>
            <a:picLocks noChangeAspect="1"/>
          </p:cNvPicPr>
          <p:nvPr/>
        </p:nvPicPr>
        <p:blipFill>
          <a:blip r:embed="rId9"/>
          <a:stretch>
            <a:fillRect/>
          </a:stretch>
        </p:blipFill>
        <p:spPr>
          <a:xfrm>
            <a:off x="4491464" y="1904608"/>
            <a:ext cx="7132974" cy="4127508"/>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p:nvPr>
            <p:custDataLst>
              <p:tags r:id="rId1"/>
            </p:custDataLst>
          </p:nvPr>
        </p:nvSpPr>
        <p:spPr>
          <a:xfrm>
            <a:off x="4253230" y="1153795"/>
            <a:ext cx="3666490" cy="4952365"/>
          </a:xfrm>
          <a:prstGeom prst="roundRect">
            <a:avLst>
              <a:gd name="adj" fmla="val 0"/>
            </a:avLst>
          </a:prstGeom>
          <a:solidFill>
            <a:schemeClr val="bg1">
              <a:lumMod val="85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6" name="Rectangle 1"/>
          <p:cNvSpPr/>
          <p:nvPr>
            <p:custDataLst>
              <p:tags r:id="rId2"/>
            </p:custDataLst>
          </p:nvPr>
        </p:nvSpPr>
        <p:spPr>
          <a:xfrm>
            <a:off x="8105140" y="1153795"/>
            <a:ext cx="3666490" cy="4952365"/>
          </a:xfrm>
          <a:prstGeom prst="roundRect">
            <a:avLst>
              <a:gd name="adj" fmla="val 0"/>
            </a:avLst>
          </a:prstGeom>
          <a:solidFill>
            <a:schemeClr val="bg1">
              <a:lumMod val="85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3" name="Rectangle 1"/>
          <p:cNvSpPr/>
          <p:nvPr>
            <p:custDataLst>
              <p:tags r:id="rId3"/>
            </p:custDataLst>
          </p:nvPr>
        </p:nvSpPr>
        <p:spPr>
          <a:xfrm>
            <a:off x="401320" y="1153795"/>
            <a:ext cx="3666490" cy="4952365"/>
          </a:xfrm>
          <a:prstGeom prst="roundRect">
            <a:avLst>
              <a:gd name="adj" fmla="val 0"/>
            </a:avLst>
          </a:prstGeom>
          <a:solidFill>
            <a:schemeClr val="bg1">
              <a:lumMod val="85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2" name="Title 3"/>
          <p:cNvSpPr txBox="1"/>
          <p:nvPr/>
        </p:nvSpPr>
        <p:spPr>
          <a:xfrm>
            <a:off x="149913" y="219070"/>
            <a:ext cx="678815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如何访问选品指南针</a:t>
            </a:r>
          </a:p>
        </p:txBody>
      </p:sp>
      <p:grpSp>
        <p:nvGrpSpPr>
          <p:cNvPr id="11" name="组合 10"/>
          <p:cNvGrpSpPr/>
          <p:nvPr/>
        </p:nvGrpSpPr>
        <p:grpSpPr>
          <a:xfrm>
            <a:off x="553720" y="2721928"/>
            <a:ext cx="3361690" cy="2499360"/>
            <a:chOff x="872" y="4375"/>
            <a:chExt cx="5294" cy="3936"/>
          </a:xfrm>
        </p:grpSpPr>
        <p:pic>
          <p:nvPicPr>
            <p:cNvPr id="22" name="Picture 3"/>
            <p:cNvPicPr>
              <a:picLocks noChangeAspect="1"/>
            </p:cNvPicPr>
            <p:nvPr>
              <p:custDataLst>
                <p:tags r:id="rId16"/>
              </p:custDataLst>
            </p:nvPr>
          </p:nvPicPr>
          <p:blipFill>
            <a:blip r:embed="rId19"/>
            <a:stretch>
              <a:fillRect/>
            </a:stretch>
          </p:blipFill>
          <p:spPr>
            <a:xfrm>
              <a:off x="872" y="4375"/>
              <a:ext cx="5294" cy="3936"/>
            </a:xfrm>
            <a:prstGeom prst="rect">
              <a:avLst/>
            </a:prstGeom>
            <a:ln>
              <a:solidFill>
                <a:schemeClr val="bg2">
                  <a:lumMod val="90000"/>
                </a:schemeClr>
              </a:solidFill>
            </a:ln>
          </p:spPr>
        </p:pic>
        <p:sp>
          <p:nvSpPr>
            <p:cNvPr id="26" name="Rectangle 6"/>
            <p:cNvSpPr/>
            <p:nvPr>
              <p:custDataLst>
                <p:tags r:id="rId17"/>
              </p:custDataLst>
            </p:nvPr>
          </p:nvSpPr>
          <p:spPr>
            <a:xfrm>
              <a:off x="3176" y="6623"/>
              <a:ext cx="2935" cy="330"/>
            </a:xfrm>
            <a:prstGeom prst="rect">
              <a:avLst/>
            </a:prstGeom>
            <a:noFill/>
            <a:ln w="25400">
              <a:solidFill>
                <a:srgbClr val="FF991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2" name="组合 11"/>
          <p:cNvGrpSpPr/>
          <p:nvPr/>
        </p:nvGrpSpPr>
        <p:grpSpPr>
          <a:xfrm>
            <a:off x="4550410" y="2165985"/>
            <a:ext cx="3138170" cy="3687445"/>
            <a:chOff x="7166" y="3426"/>
            <a:chExt cx="4942" cy="5807"/>
          </a:xfrm>
        </p:grpSpPr>
        <p:grpSp>
          <p:nvGrpSpPr>
            <p:cNvPr id="9" name="组合 8"/>
            <p:cNvGrpSpPr/>
            <p:nvPr/>
          </p:nvGrpSpPr>
          <p:grpSpPr>
            <a:xfrm>
              <a:off x="7305" y="3989"/>
              <a:ext cx="4664" cy="2865"/>
              <a:chOff x="7133" y="4124"/>
              <a:chExt cx="4664" cy="2865"/>
            </a:xfrm>
          </p:grpSpPr>
          <p:pic>
            <p:nvPicPr>
              <p:cNvPr id="24" name="Picture 4"/>
              <p:cNvPicPr>
                <a:picLocks noChangeAspect="1"/>
              </p:cNvPicPr>
              <p:nvPr>
                <p:custDataLst>
                  <p:tags r:id="rId14"/>
                </p:custDataLst>
              </p:nvPr>
            </p:nvPicPr>
            <p:blipFill rotWithShape="1">
              <a:blip r:embed="rId20"/>
              <a:srcRect b="22852"/>
              <a:stretch>
                <a:fillRect/>
              </a:stretch>
            </p:blipFill>
            <p:spPr>
              <a:xfrm>
                <a:off x="7133" y="4124"/>
                <a:ext cx="4664" cy="2865"/>
              </a:xfrm>
              <a:prstGeom prst="rect">
                <a:avLst/>
              </a:prstGeom>
              <a:ln>
                <a:solidFill>
                  <a:schemeClr val="bg2">
                    <a:lumMod val="90000"/>
                  </a:schemeClr>
                </a:solidFill>
              </a:ln>
            </p:spPr>
          </p:pic>
          <p:sp>
            <p:nvSpPr>
              <p:cNvPr id="27" name="Rectangle 16"/>
              <p:cNvSpPr/>
              <p:nvPr>
                <p:custDataLst>
                  <p:tags r:id="rId15"/>
                </p:custDataLst>
              </p:nvPr>
            </p:nvSpPr>
            <p:spPr>
              <a:xfrm>
                <a:off x="9210" y="4916"/>
                <a:ext cx="2561" cy="352"/>
              </a:xfrm>
              <a:prstGeom prst="rect">
                <a:avLst/>
              </a:prstGeom>
              <a:noFill/>
              <a:ln w="25400">
                <a:solidFill>
                  <a:srgbClr val="FF991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fromWordArt="0" anchor="ctr" anchorCtr="0" forceAA="0" compatLnSpc="1">
                <a:noAutofit/>
              </a:bodyPr>
              <a:lstStyle/>
              <a:p>
                <a:pPr lvl="0" algn="ctr" defTabSz="825500" hangingPunct="0">
                  <a:spcBef>
                    <a:spcPts val="0"/>
                  </a:spcBef>
                  <a:spcAft>
                    <a:spcPts val="0"/>
                  </a:spcAft>
                  <a:buClrTx/>
                  <a:buSzTx/>
                  <a:buFontTx/>
                </a:pPr>
                <a:endParaRPr lang="zh-CN" altLang="en-US" sz="320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0" name="组合 9"/>
            <p:cNvGrpSpPr/>
            <p:nvPr/>
          </p:nvGrpSpPr>
          <p:grpSpPr>
            <a:xfrm>
              <a:off x="7305" y="7641"/>
              <a:ext cx="4664" cy="1592"/>
              <a:chOff x="7133" y="7701"/>
              <a:chExt cx="4664" cy="1592"/>
            </a:xfrm>
          </p:grpSpPr>
          <p:pic>
            <p:nvPicPr>
              <p:cNvPr id="25" name="Picture 5"/>
              <p:cNvPicPr>
                <a:picLocks noChangeAspect="1"/>
              </p:cNvPicPr>
              <p:nvPr>
                <p:custDataLst>
                  <p:tags r:id="rId12"/>
                </p:custDataLst>
              </p:nvPr>
            </p:nvPicPr>
            <p:blipFill rotWithShape="1">
              <a:blip r:embed="rId21"/>
              <a:srcRect l="-1" t="14501" r="38614"/>
              <a:stretch>
                <a:fillRect/>
              </a:stretch>
            </p:blipFill>
            <p:spPr>
              <a:xfrm>
                <a:off x="7133" y="7701"/>
                <a:ext cx="4664" cy="1592"/>
              </a:xfrm>
              <a:prstGeom prst="rect">
                <a:avLst/>
              </a:prstGeom>
              <a:ln>
                <a:solidFill>
                  <a:schemeClr val="bg2">
                    <a:lumMod val="90000"/>
                  </a:schemeClr>
                </a:solidFill>
              </a:ln>
            </p:spPr>
          </p:pic>
          <p:sp>
            <p:nvSpPr>
              <p:cNvPr id="28" name="Rectangle 17"/>
              <p:cNvSpPr/>
              <p:nvPr>
                <p:custDataLst>
                  <p:tags r:id="rId13"/>
                </p:custDataLst>
              </p:nvPr>
            </p:nvSpPr>
            <p:spPr>
              <a:xfrm>
                <a:off x="10440" y="7702"/>
                <a:ext cx="692" cy="278"/>
              </a:xfrm>
              <a:prstGeom prst="rect">
                <a:avLst/>
              </a:prstGeom>
              <a:noFill/>
              <a:ln w="25400">
                <a:solidFill>
                  <a:srgbClr val="FF991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0" tIns="0" rIns="0" bIns="0" numCol="1" spcCol="38100" rtlCol="0" fromWordArt="0" anchor="ctr" anchorCtr="0" forceAA="0" compatLnSpc="1">
                <a:noAutofit/>
              </a:bodyPr>
              <a:lstStyle/>
              <a:p>
                <a:pPr lvl="0" algn="ctr" defTabSz="825500" hangingPunct="0">
                  <a:spcBef>
                    <a:spcPts val="0"/>
                  </a:spcBef>
                  <a:spcAft>
                    <a:spcPts val="0"/>
                  </a:spcAft>
                  <a:buClrTx/>
                  <a:buSzTx/>
                  <a:buFontTx/>
                </a:pPr>
                <a:endParaRPr lang="zh-CN" altLang="en-US" sz="320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9" name="Rectangle 8"/>
            <p:cNvSpPr txBox="1"/>
            <p:nvPr>
              <p:custDataLst>
                <p:tags r:id="rId10"/>
              </p:custDataLst>
            </p:nvPr>
          </p:nvSpPr>
          <p:spPr>
            <a:xfrm>
              <a:off x="7166" y="3426"/>
              <a:ext cx="4942" cy="483"/>
            </a:xfrm>
            <a:prstGeom prst="rect">
              <a:avLst/>
            </a:prstGeom>
            <a:noFill/>
          </p:spPr>
          <p:txBody>
            <a:bodyPr rot="0" spcFirstLastPara="0" vert="horz" wrap="square" lIns="91440" tIns="45720" rIns="91440" bIns="45720" numCol="1" spcCol="0" rtlCol="0" anchor="t">
              <a:spAutoFit/>
            </a:bodyPr>
            <a:lstStyle/>
            <a:p>
              <a:pPr marL="342900" lvl="0" indent="-342900" algn="l">
                <a:buClr>
                  <a:srgbClr val="FFC000"/>
                </a:buClr>
                <a:buSzPct val="80000"/>
                <a:buFont typeface="Wingdings" panose="05000000000000000000" charset="0"/>
                <a:buChar char="l"/>
              </a:pPr>
              <a:r>
                <a:rPr lang="zh-CN" altLang="en-US" sz="14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微软雅黑" panose="020B0503020204020204" pitchFamily="34" charset="-122"/>
                </a:rPr>
                <a:t>先进入“全球销售”页面</a:t>
              </a:r>
            </a:p>
          </p:txBody>
        </p:sp>
        <p:sp>
          <p:nvSpPr>
            <p:cNvPr id="30" name="Rectangle 22"/>
            <p:cNvSpPr txBox="1"/>
            <p:nvPr>
              <p:custDataLst>
                <p:tags r:id="rId11"/>
              </p:custDataLst>
            </p:nvPr>
          </p:nvSpPr>
          <p:spPr>
            <a:xfrm>
              <a:off x="7166" y="6920"/>
              <a:ext cx="4942" cy="477"/>
            </a:xfrm>
            <a:prstGeom prst="rect">
              <a:avLst/>
            </a:prstGeom>
            <a:noFill/>
          </p:spPr>
          <p:txBody>
            <a:bodyPr rot="0" spcFirstLastPara="0" vert="horz" wrap="square" lIns="91440" tIns="45720" rIns="91440" bIns="45720" numCol="1" spcCol="0" rtlCol="0" anchor="t">
              <a:noAutofit/>
            </a:bodyPr>
            <a:lstStyle/>
            <a:p>
              <a:pPr marL="342900" lvl="0" indent="-342900" algn="l">
                <a:buClr>
                  <a:srgbClr val="FFC000"/>
                </a:buClr>
                <a:buSzPct val="80000"/>
                <a:buFont typeface="Wingdings" panose="05000000000000000000" charset="0"/>
                <a:buChar char="l"/>
              </a:pPr>
              <a:r>
                <a:rPr lang="zh-CN" altLang="en-US" sz="14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微软雅黑" panose="020B0503020204020204" pitchFamily="34" charset="-122"/>
                </a:rPr>
                <a:t>再从上方菜单进入“选品指南针”</a:t>
              </a:r>
            </a:p>
          </p:txBody>
        </p:sp>
      </p:grpSp>
      <p:grpSp>
        <p:nvGrpSpPr>
          <p:cNvPr id="31" name="Group 12"/>
          <p:cNvGrpSpPr/>
          <p:nvPr/>
        </p:nvGrpSpPr>
        <p:grpSpPr>
          <a:xfrm>
            <a:off x="8266430" y="2838450"/>
            <a:ext cx="3343910" cy="2266315"/>
            <a:chOff x="7649167" y="2015315"/>
            <a:chExt cx="4056611" cy="2749696"/>
          </a:xfrm>
        </p:grpSpPr>
        <p:pic>
          <p:nvPicPr>
            <p:cNvPr id="32" name="Picture 9"/>
            <p:cNvPicPr>
              <a:picLocks noChangeAspect="1"/>
            </p:cNvPicPr>
            <p:nvPr>
              <p:custDataLst>
                <p:tags r:id="rId7"/>
              </p:custDataLst>
            </p:nvPr>
          </p:nvPicPr>
          <p:blipFill>
            <a:blip r:embed="rId22"/>
            <a:stretch>
              <a:fillRect/>
            </a:stretch>
          </p:blipFill>
          <p:spPr>
            <a:xfrm>
              <a:off x="7649167" y="2015315"/>
              <a:ext cx="4056611" cy="2749696"/>
            </a:xfrm>
            <a:prstGeom prst="rect">
              <a:avLst/>
            </a:prstGeom>
            <a:ln>
              <a:solidFill>
                <a:schemeClr val="bg2">
                  <a:lumMod val="90000"/>
                </a:schemeClr>
              </a:solidFill>
            </a:ln>
          </p:spPr>
        </p:pic>
        <p:pic>
          <p:nvPicPr>
            <p:cNvPr id="33" name="Picture 10"/>
            <p:cNvPicPr>
              <a:picLocks noChangeAspect="1"/>
            </p:cNvPicPr>
            <p:nvPr>
              <p:custDataLst>
                <p:tags r:id="rId8"/>
              </p:custDataLst>
            </p:nvPr>
          </p:nvPicPr>
          <p:blipFill>
            <a:blip r:embed="rId23"/>
            <a:stretch>
              <a:fillRect/>
            </a:stretch>
          </p:blipFill>
          <p:spPr>
            <a:xfrm>
              <a:off x="7678663" y="2707157"/>
              <a:ext cx="1923868" cy="2000061"/>
            </a:xfrm>
            <a:prstGeom prst="rect">
              <a:avLst/>
            </a:prstGeom>
          </p:spPr>
        </p:pic>
        <p:pic>
          <p:nvPicPr>
            <p:cNvPr id="34" name="Picture 11"/>
            <p:cNvPicPr>
              <a:picLocks noChangeAspect="1"/>
            </p:cNvPicPr>
            <p:nvPr>
              <p:custDataLst>
                <p:tags r:id="rId9"/>
              </p:custDataLst>
            </p:nvPr>
          </p:nvPicPr>
          <p:blipFill>
            <a:blip r:embed="rId24"/>
            <a:stretch>
              <a:fillRect/>
            </a:stretch>
          </p:blipFill>
          <p:spPr>
            <a:xfrm>
              <a:off x="9732464" y="2687493"/>
              <a:ext cx="1924154" cy="2019725"/>
            </a:xfrm>
            <a:prstGeom prst="rect">
              <a:avLst/>
            </a:prstGeom>
          </p:spPr>
        </p:pic>
      </p:grpSp>
      <p:sp>
        <p:nvSpPr>
          <p:cNvPr id="13" name="Round Same Side Corner Rectangle 3"/>
          <p:cNvSpPr/>
          <p:nvPr>
            <p:custDataLst>
              <p:tags r:id="rId4"/>
            </p:custDataLst>
          </p:nvPr>
        </p:nvSpPr>
        <p:spPr>
          <a:xfrm>
            <a:off x="410845" y="1345565"/>
            <a:ext cx="3100705" cy="738505"/>
          </a:xfrm>
          <a:prstGeom prst="round1Rect">
            <a:avLst/>
          </a:prstGeom>
          <a:solidFill>
            <a:srgbClr val="41B3F1"/>
          </a:solidFill>
          <a:ln w="25400" cap="flat" cmpd="sng" algn="ctr">
            <a:noFill/>
            <a:prstDash val="solid"/>
          </a:ln>
          <a:effectLst/>
        </p:spPr>
        <p:txBody>
          <a:bodyPr tIns="0" bIns="0" rtlCol="0" anchor="ctr">
            <a:noAutofit/>
          </a:bodyPr>
          <a:lstStyle/>
          <a:p>
            <a:pPr algn="l">
              <a:buClr>
                <a:schemeClr val="bg2"/>
              </a:buClr>
              <a:buSzPct val="80000"/>
            </a:pPr>
            <a:r>
              <a:rPr lang="zh-CN" altLang="en-US" sz="2000" b="1" i="1"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rPr>
              <a:t>01</a:t>
            </a:r>
            <a:endParaRPr lang="en-US" altLang="zh-CN" sz="2000" b="1"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endParaRPr>
          </a:p>
          <a:p>
            <a:pPr algn="l">
              <a:buClr>
                <a:schemeClr val="bg2"/>
              </a:buClr>
              <a:buSzPct val="80000"/>
            </a:pPr>
            <a:r>
              <a:rPr lang="zh-CN" altLang="en-US" sz="2000" dirty="0">
                <a:solidFill>
                  <a:schemeClr val="bg1"/>
                </a:solidFill>
                <a:latin typeface="微软雅黑" panose="020B0503020204020204" pitchFamily="34" charset="-122"/>
                <a:ea typeface="微软雅黑" panose="020B0503020204020204" pitchFamily="34" charset="-122"/>
                <a:cs typeface="思源黑体 Medium" panose="020B0600000000000000" charset="-122"/>
                <a:sym typeface="+mn-ea"/>
              </a:rPr>
              <a:t>卖家平台“增长”菜单</a:t>
            </a:r>
          </a:p>
        </p:txBody>
      </p:sp>
      <p:sp>
        <p:nvSpPr>
          <p:cNvPr id="15" name="Round Same Side Corner Rectangle 3"/>
          <p:cNvSpPr/>
          <p:nvPr>
            <p:custDataLst>
              <p:tags r:id="rId5"/>
            </p:custDataLst>
          </p:nvPr>
        </p:nvSpPr>
        <p:spPr>
          <a:xfrm>
            <a:off x="4253230" y="1345565"/>
            <a:ext cx="3100705" cy="738505"/>
          </a:xfrm>
          <a:prstGeom prst="round1Rect">
            <a:avLst/>
          </a:prstGeom>
          <a:solidFill>
            <a:srgbClr val="F6C62C"/>
          </a:solidFill>
          <a:ln w="25400" cap="flat" cmpd="sng" algn="ctr">
            <a:noFill/>
            <a:prstDash val="solid"/>
          </a:ln>
          <a:effectLst/>
        </p:spPr>
        <p:txBody>
          <a:bodyPr tIns="0" bIns="0" rtlCol="0" anchor="ctr">
            <a:noAutofit/>
          </a:bodyPr>
          <a:lstStyle/>
          <a:p>
            <a:pPr algn="l">
              <a:buClr>
                <a:schemeClr val="bg2"/>
              </a:buClr>
              <a:buSzPct val="80000"/>
            </a:pPr>
            <a:r>
              <a:rPr lang="zh-CN" altLang="en-US" sz="2000" b="1" i="1"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rPr>
              <a:t>0</a:t>
            </a:r>
            <a:r>
              <a:rPr lang="en-US" altLang="zh-CN" sz="2000" b="1" i="1"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rPr>
              <a:t>2</a:t>
            </a:r>
            <a:endParaRPr lang="en-US" altLang="zh-CN" sz="2000" b="1"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endParaRPr>
          </a:p>
          <a:p>
            <a:pPr lvl="0" algn="l">
              <a:buClr>
                <a:schemeClr val="bg2"/>
              </a:buClr>
              <a:buSzPct val="80000"/>
              <a:buFontTx/>
            </a:pPr>
            <a:r>
              <a:rPr lang="zh-CN" altLang="en-US" sz="2000" dirty="0">
                <a:solidFill>
                  <a:schemeClr val="bg1"/>
                </a:solidFill>
                <a:latin typeface="微软雅黑" panose="020B0503020204020204" pitchFamily="34" charset="-122"/>
                <a:ea typeface="微软雅黑" panose="020B0503020204020204" pitchFamily="34" charset="-122"/>
                <a:cs typeface="思源黑体 Medium" panose="020B0600000000000000" charset="-122"/>
                <a:sym typeface="+mn-ea"/>
              </a:rPr>
              <a:t>卖家平台“库存”菜单</a:t>
            </a:r>
          </a:p>
        </p:txBody>
      </p:sp>
      <p:sp>
        <p:nvSpPr>
          <p:cNvPr id="16" name="Round Same Side Corner Rectangle 3"/>
          <p:cNvSpPr/>
          <p:nvPr>
            <p:custDataLst>
              <p:tags r:id="rId6"/>
            </p:custDataLst>
          </p:nvPr>
        </p:nvSpPr>
        <p:spPr>
          <a:xfrm>
            <a:off x="8105140" y="1345565"/>
            <a:ext cx="3100705" cy="738505"/>
          </a:xfrm>
          <a:prstGeom prst="round1Rect">
            <a:avLst/>
          </a:prstGeom>
          <a:solidFill>
            <a:srgbClr val="0065FC"/>
          </a:solidFill>
          <a:ln w="25400" cap="flat" cmpd="sng" algn="ctr">
            <a:noFill/>
            <a:prstDash val="solid"/>
          </a:ln>
          <a:effectLst/>
        </p:spPr>
        <p:txBody>
          <a:bodyPr tIns="0" bIns="0" rtlCol="0" anchor="ctr">
            <a:noAutofit/>
          </a:bodyPr>
          <a:lstStyle/>
          <a:p>
            <a:pPr algn="l">
              <a:buClr>
                <a:schemeClr val="bg2"/>
              </a:buClr>
              <a:buSzPct val="80000"/>
            </a:pPr>
            <a:r>
              <a:rPr lang="en-US" altLang="zh-CN" sz="2000" b="1" i="1"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rPr>
              <a:t>03</a:t>
            </a:r>
            <a:endParaRPr lang="en-US" altLang="zh-CN" sz="2000" b="1"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endParaRPr>
          </a:p>
          <a:p>
            <a:pPr lvl="0" algn="l">
              <a:buClr>
                <a:schemeClr val="bg2"/>
              </a:buClr>
              <a:buSzPct val="80000"/>
              <a:buFontTx/>
            </a:pPr>
            <a:r>
              <a:rPr lang="zh-CN" altLang="en-US" sz="2000" dirty="0">
                <a:solidFill>
                  <a:schemeClr val="bg1"/>
                </a:solidFill>
                <a:latin typeface="微软雅黑" panose="020B0503020204020204" pitchFamily="34" charset="-122"/>
                <a:ea typeface="微软雅黑" panose="020B0503020204020204" pitchFamily="34" charset="-122"/>
                <a:cs typeface="思源黑体 Medium" panose="020B0600000000000000" charset="-122"/>
                <a:sym typeface="+mn-ea"/>
              </a:rPr>
              <a:t>卖家平台主页卡直接访问</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
          <p:cNvSpPr txBox="1"/>
          <p:nvPr>
            <p:custDataLst>
              <p:tags r:id="rId1"/>
            </p:custDataLst>
          </p:nvPr>
        </p:nvSpPr>
        <p:spPr>
          <a:xfrm>
            <a:off x="1875790" y="1594485"/>
            <a:ext cx="9475470" cy="955967"/>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ctr">
              <a:lnSpc>
                <a:spcPct val="150000"/>
              </a:lnSpc>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思源黑体 Light" panose="020B0300000000000000" charset="-122"/>
              </a:rPr>
              <a:t>手把手带您解锁</a:t>
            </a:r>
            <a:r>
              <a:rPr lang="zh-CN" altLang="en-US" sz="3200" spc="0" dirty="0">
                <a:gradFill>
                  <a:gsLst>
                    <a:gs pos="0">
                      <a:srgbClr val="FF8F00"/>
                    </a:gs>
                    <a:gs pos="100000">
                      <a:srgbClr val="FFC010"/>
                    </a:gs>
                  </a:gsLst>
                  <a:lin ang="0" scaled="0"/>
                </a:gradFill>
                <a:latin typeface="微软雅黑" panose="020B0503020204020204" pitchFamily="34" charset="-122"/>
                <a:ea typeface="微软雅黑" panose="020B0503020204020204" pitchFamily="34" charset="-122"/>
                <a:cs typeface="Amazon Ember" panose="020B0603020204020204" charset="0"/>
                <a:sym typeface="思源黑体 Light" panose="020B0300000000000000" charset="-122"/>
              </a:rPr>
              <a:t>类目分析</a:t>
            </a: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思源黑体 Light" panose="020B0300000000000000" charset="-122"/>
              </a:rPr>
              <a:t>，进行数据化选品</a:t>
            </a:r>
          </a:p>
        </p:txBody>
      </p:sp>
      <p:cxnSp>
        <p:nvCxnSpPr>
          <p:cNvPr id="39" name="直接连接符 58"/>
          <p:cNvCxnSpPr/>
          <p:nvPr>
            <p:custDataLst>
              <p:tags r:id="rId2"/>
            </p:custDataLst>
          </p:nvPr>
        </p:nvCxnSpPr>
        <p:spPr>
          <a:xfrm>
            <a:off x="-96195" y="2891473"/>
            <a:ext cx="12360910" cy="0"/>
          </a:xfrm>
          <a:prstGeom prst="line">
            <a:avLst/>
          </a:prstGeom>
          <a:ln w="44450" cap="rnd">
            <a:gradFill flip="none" rotWithShape="1">
              <a:gsLst>
                <a:gs pos="0">
                  <a:srgbClr val="FF9900">
                    <a:alpha val="100000"/>
                  </a:srgbClr>
                </a:gs>
                <a:gs pos="53000">
                  <a:srgbClr val="FF9900">
                    <a:alpha val="20000"/>
                  </a:srgbClr>
                </a:gs>
                <a:gs pos="100000">
                  <a:srgbClr val="FF9900"/>
                </a:gs>
              </a:gsLst>
              <a:lin ang="0" scaled="1"/>
              <a:tileRect/>
            </a:gradFill>
            <a:round/>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3"/>
            </p:custDataLst>
          </p:nvPr>
        </p:nvSpPr>
        <p:spPr>
          <a:xfrm>
            <a:off x="1604010" y="3925570"/>
            <a:ext cx="1889125" cy="422552"/>
          </a:xfrm>
          <a:prstGeom prst="rect">
            <a:avLst/>
          </a:prstGeom>
          <a:noFill/>
        </p:spPr>
        <p:txBody>
          <a:bodyPr wrap="square" rtlCol="0" anchor="t">
            <a:spAutoFit/>
          </a:bodyPr>
          <a:lstStyle/>
          <a:p>
            <a:pPr lvl="0" algn="ctr">
              <a:lnSpc>
                <a:spcPct val="150000"/>
              </a:lnSpc>
              <a:buClr>
                <a:schemeClr val="bg2"/>
              </a:buClr>
              <a:buSzPct val="80000"/>
              <a:buFontTx/>
            </a:pPr>
            <a:r>
              <a:rPr lang="zh-CN" altLang="en-US" sz="16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类目分析是什么？</a:t>
            </a:r>
          </a:p>
        </p:txBody>
      </p:sp>
      <p:sp>
        <p:nvSpPr>
          <p:cNvPr id="9" name="文本框 8"/>
          <p:cNvSpPr txBox="1"/>
          <p:nvPr>
            <p:custDataLst>
              <p:tags r:id="rId4"/>
            </p:custDataLst>
          </p:nvPr>
        </p:nvSpPr>
        <p:spPr>
          <a:xfrm>
            <a:off x="8117825" y="5177155"/>
            <a:ext cx="2194560" cy="422552"/>
          </a:xfrm>
          <a:prstGeom prst="rect">
            <a:avLst/>
          </a:prstGeom>
          <a:noFill/>
        </p:spPr>
        <p:txBody>
          <a:bodyPr wrap="square" rtlCol="0" anchor="t">
            <a:spAutoFit/>
          </a:bodyPr>
          <a:lstStyle/>
          <a:p>
            <a:pPr lvl="0" algn="ctr">
              <a:lnSpc>
                <a:spcPct val="150000"/>
              </a:lnSpc>
              <a:buClr>
                <a:schemeClr val="bg2"/>
              </a:buClr>
              <a:buSzPct val="80000"/>
              <a:buFontTx/>
            </a:pPr>
            <a:r>
              <a:rPr lang="zh-CN" altLang="en-US" sz="1600" dirty="0">
                <a:latin typeface="微软雅黑" panose="020B0503020204020204" pitchFamily="34" charset="-122"/>
                <a:ea typeface="微软雅黑" panose="020B0503020204020204" pitchFamily="34" charset="-122"/>
                <a:cs typeface="Amazon Ember" panose="020B0603020204020204" charset="0"/>
                <a:sym typeface="+mn-ea"/>
              </a:rPr>
              <a:t>挖掘产品特征趋势</a:t>
            </a:r>
          </a:p>
        </p:txBody>
      </p:sp>
      <p:sp>
        <p:nvSpPr>
          <p:cNvPr id="8" name="文本框 7"/>
          <p:cNvSpPr txBox="1"/>
          <p:nvPr>
            <p:custDataLst>
              <p:tags r:id="rId5"/>
            </p:custDataLst>
          </p:nvPr>
        </p:nvSpPr>
        <p:spPr>
          <a:xfrm>
            <a:off x="4511387" y="5177155"/>
            <a:ext cx="3119755" cy="791883"/>
          </a:xfrm>
          <a:prstGeom prst="rect">
            <a:avLst/>
          </a:prstGeom>
          <a:noFill/>
        </p:spPr>
        <p:txBody>
          <a:bodyPr wrap="square" rtlCol="0" anchor="t">
            <a:spAutoFit/>
          </a:bodyPr>
          <a:lstStyle/>
          <a:p>
            <a:pPr lvl="0" algn="ctr">
              <a:lnSpc>
                <a:spcPct val="150000"/>
              </a:lnSpc>
              <a:buClr>
                <a:schemeClr val="bg2"/>
              </a:buClr>
              <a:buSzPct val="80000"/>
              <a:buFontTx/>
            </a:pPr>
            <a:r>
              <a:rPr lang="zh-CN" altLang="en-US" sz="1600" dirty="0">
                <a:latin typeface="微软雅黑" panose="020B0503020204020204" pitchFamily="34" charset="-122"/>
                <a:ea typeface="微软雅黑" panose="020B0503020204020204" pitchFamily="34" charset="-122"/>
                <a:cs typeface="Amazon Ember" panose="020B0603020204020204" charset="0"/>
                <a:sym typeface="+mn-ea"/>
              </a:rPr>
              <a:t>解锁已选分类节点更多</a:t>
            </a:r>
          </a:p>
          <a:p>
            <a:pPr lvl="0" algn="ctr">
              <a:lnSpc>
                <a:spcPct val="150000"/>
              </a:lnSpc>
              <a:buClr>
                <a:schemeClr val="bg2"/>
              </a:buClr>
              <a:buSzPct val="80000"/>
              <a:buFontTx/>
            </a:pPr>
            <a:r>
              <a:rPr lang="zh-CN" altLang="en-US" sz="1600" dirty="0">
                <a:latin typeface="微软雅黑" panose="020B0503020204020204" pitchFamily="34" charset="-122"/>
                <a:ea typeface="微软雅黑" panose="020B0503020204020204" pitchFamily="34" charset="-122"/>
                <a:cs typeface="Amazon Ember" panose="020B0603020204020204" charset="0"/>
                <a:sym typeface="+mn-ea"/>
              </a:rPr>
              <a:t>数据信息</a:t>
            </a:r>
          </a:p>
        </p:txBody>
      </p:sp>
      <p:sp>
        <p:nvSpPr>
          <p:cNvPr id="7" name="文本框 6"/>
          <p:cNvSpPr txBox="1"/>
          <p:nvPr>
            <p:custDataLst>
              <p:tags r:id="rId6"/>
            </p:custDataLst>
          </p:nvPr>
        </p:nvSpPr>
        <p:spPr>
          <a:xfrm>
            <a:off x="1562432" y="5177155"/>
            <a:ext cx="2728595" cy="422552"/>
          </a:xfrm>
          <a:prstGeom prst="rect">
            <a:avLst/>
          </a:prstGeom>
          <a:noFill/>
        </p:spPr>
        <p:txBody>
          <a:bodyPr wrap="square" rtlCol="0" anchor="t">
            <a:spAutoFit/>
          </a:bodyPr>
          <a:lstStyle/>
          <a:p>
            <a:pPr lvl="0" algn="ctr">
              <a:lnSpc>
                <a:spcPct val="150000"/>
              </a:lnSpc>
              <a:buClr>
                <a:schemeClr val="bg2"/>
              </a:buClr>
              <a:buSzPct val="80000"/>
              <a:buFontTx/>
            </a:pPr>
            <a:r>
              <a:rPr lang="zh-CN" altLang="en-US" sz="1600" dirty="0">
                <a:latin typeface="微软雅黑" panose="020B0503020204020204" pitchFamily="34" charset="-122"/>
                <a:ea typeface="微软雅黑" panose="020B0503020204020204" pitchFamily="34" charset="-122"/>
                <a:cs typeface="Amazon Ember" panose="020B0603020204020204" charset="0"/>
                <a:sym typeface="+mn-ea"/>
              </a:rPr>
              <a:t>解锁已选分类节点产品表现</a:t>
            </a:r>
          </a:p>
        </p:txBody>
      </p:sp>
      <p:sp>
        <p:nvSpPr>
          <p:cNvPr id="6" name="文本框 5"/>
          <p:cNvSpPr txBox="1"/>
          <p:nvPr>
            <p:custDataLst>
              <p:tags r:id="rId7"/>
            </p:custDataLst>
          </p:nvPr>
        </p:nvSpPr>
        <p:spPr>
          <a:xfrm>
            <a:off x="8572183" y="3925570"/>
            <a:ext cx="2042160" cy="422552"/>
          </a:xfrm>
          <a:prstGeom prst="rect">
            <a:avLst/>
          </a:prstGeom>
          <a:noFill/>
        </p:spPr>
        <p:txBody>
          <a:bodyPr wrap="square" rtlCol="0" anchor="t">
            <a:spAutoFit/>
          </a:bodyPr>
          <a:lstStyle/>
          <a:p>
            <a:pPr lvl="0" algn="ctr">
              <a:lnSpc>
                <a:spcPct val="150000"/>
              </a:lnSpc>
              <a:buClr>
                <a:schemeClr val="bg2"/>
              </a:buClr>
              <a:buSzPct val="80000"/>
              <a:buFontTx/>
            </a:pPr>
            <a:r>
              <a:rPr lang="zh-CN" altLang="en-US" sz="1600" dirty="0">
                <a:latin typeface="微软雅黑" panose="020B0503020204020204" pitchFamily="34" charset="-122"/>
                <a:ea typeface="微软雅黑" panose="020B0503020204020204" pitchFamily="34" charset="-122"/>
                <a:cs typeface="Amazon Ember" panose="020B0603020204020204" charset="0"/>
                <a:sym typeface="+mn-ea"/>
              </a:rPr>
              <a:t>定制您的筛选条件</a:t>
            </a:r>
          </a:p>
        </p:txBody>
      </p:sp>
      <p:sp>
        <p:nvSpPr>
          <p:cNvPr id="5" name="文本框 4"/>
          <p:cNvSpPr txBox="1"/>
          <p:nvPr>
            <p:custDataLst>
              <p:tags r:id="rId8"/>
            </p:custDataLst>
          </p:nvPr>
        </p:nvSpPr>
        <p:spPr>
          <a:xfrm>
            <a:off x="5805170" y="3925570"/>
            <a:ext cx="2879725" cy="422552"/>
          </a:xfrm>
          <a:prstGeom prst="rect">
            <a:avLst/>
          </a:prstGeom>
          <a:noFill/>
        </p:spPr>
        <p:txBody>
          <a:bodyPr wrap="square" rtlCol="0" anchor="t">
            <a:spAutoFit/>
          </a:bodyPr>
          <a:lstStyle/>
          <a:p>
            <a:pPr lvl="0" algn="ctr">
              <a:lnSpc>
                <a:spcPct val="150000"/>
              </a:lnSpc>
              <a:buClr>
                <a:schemeClr val="bg2"/>
              </a:buClr>
              <a:buSzPct val="80000"/>
              <a:buFontTx/>
            </a:pPr>
            <a:r>
              <a:rPr lang="zh-CN" altLang="en-US" sz="1600" dirty="0">
                <a:latin typeface="微软雅黑" panose="020B0503020204020204" pitchFamily="34" charset="-122"/>
                <a:ea typeface="微软雅黑" panose="020B0503020204020204" pitchFamily="34" charset="-122"/>
                <a:cs typeface="Amazon Ember" panose="020B0603020204020204" charset="0"/>
                <a:sym typeface="+mn-ea"/>
              </a:rPr>
              <a:t>谁可以使用？</a:t>
            </a:r>
          </a:p>
        </p:txBody>
      </p:sp>
      <p:sp>
        <p:nvSpPr>
          <p:cNvPr id="3" name="文本框 2"/>
          <p:cNvSpPr txBox="1"/>
          <p:nvPr>
            <p:custDataLst>
              <p:tags r:id="rId9"/>
            </p:custDataLst>
          </p:nvPr>
        </p:nvSpPr>
        <p:spPr>
          <a:xfrm>
            <a:off x="3456940" y="3925570"/>
            <a:ext cx="2879725" cy="422552"/>
          </a:xfrm>
          <a:prstGeom prst="rect">
            <a:avLst/>
          </a:prstGeom>
          <a:noFill/>
        </p:spPr>
        <p:txBody>
          <a:bodyPr wrap="square" rtlCol="0" anchor="t">
            <a:spAutoFit/>
          </a:bodyPr>
          <a:lstStyle/>
          <a:p>
            <a:pPr lvl="0" algn="ctr">
              <a:lnSpc>
                <a:spcPct val="150000"/>
              </a:lnSpc>
              <a:buClr>
                <a:schemeClr val="bg2"/>
              </a:buClr>
              <a:buSzPct val="80000"/>
              <a:buFontTx/>
            </a:pPr>
            <a:r>
              <a:rPr lang="zh-CN" altLang="en-US" sz="1600" dirty="0">
                <a:latin typeface="微软雅黑" panose="020B0503020204020204" pitchFamily="34" charset="-122"/>
                <a:ea typeface="微软雅黑" panose="020B0503020204020204" pitchFamily="34" charset="-122"/>
                <a:cs typeface="Amazon Ember" panose="020B0603020204020204" charset="0"/>
                <a:sym typeface="+mn-ea"/>
              </a:rPr>
              <a:t>为什么使用？</a:t>
            </a:r>
          </a:p>
        </p:txBody>
      </p:sp>
      <p:sp>
        <p:nvSpPr>
          <p:cNvPr id="77" name="Round Same Side Corner Rectangle 3"/>
          <p:cNvSpPr/>
          <p:nvPr>
            <p:custDataLst>
              <p:tags r:id="rId10"/>
            </p:custDataLst>
          </p:nvPr>
        </p:nvSpPr>
        <p:spPr>
          <a:xfrm>
            <a:off x="1522730" y="3556000"/>
            <a:ext cx="2051685" cy="360045"/>
          </a:xfrm>
          <a:prstGeom prst="round2SameRect">
            <a:avLst>
              <a:gd name="adj1" fmla="val 50000"/>
              <a:gd name="adj2"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tIns="45720" bIns="45720" rtlCol="0" anchor="ctr">
            <a:noAutofit/>
          </a:bodyPr>
          <a:lstStyle/>
          <a:p>
            <a:pPr lvl="0" algn="ctr">
              <a:buClr>
                <a:schemeClr val="bg2"/>
              </a:buClr>
              <a:buSzPct val="80000"/>
              <a:buFontTx/>
            </a:pPr>
            <a:r>
              <a:rPr lang="en-US" altLang="zh-CN" sz="1600" b="1" kern="0" spc="1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step 01</a:t>
            </a:r>
          </a:p>
        </p:txBody>
      </p:sp>
      <p:sp>
        <p:nvSpPr>
          <p:cNvPr id="78" name="Round Same Side Corner Rectangle 3"/>
          <p:cNvSpPr/>
          <p:nvPr>
            <p:custDataLst>
              <p:tags r:id="rId11"/>
            </p:custDataLst>
          </p:nvPr>
        </p:nvSpPr>
        <p:spPr>
          <a:xfrm>
            <a:off x="7811800" y="4798695"/>
            <a:ext cx="2807970" cy="360045"/>
          </a:xfrm>
          <a:prstGeom prst="round2SameRect">
            <a:avLst>
              <a:gd name="adj1" fmla="val 50000"/>
              <a:gd name="adj2"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tIns="45720" bIns="45720" rtlCol="0" anchor="ctr">
            <a:noAutofit/>
          </a:bodyPr>
          <a:lstStyle/>
          <a:p>
            <a:pPr lvl="0" algn="ctr">
              <a:buClr>
                <a:schemeClr val="bg2"/>
              </a:buClr>
              <a:buSzPct val="80000"/>
              <a:buFontTx/>
            </a:pPr>
            <a:r>
              <a:rPr lang="en-US" altLang="zh-CN" sz="1600" b="1" kern="0" spc="1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step 07 </a:t>
            </a:r>
          </a:p>
        </p:txBody>
      </p:sp>
      <p:sp>
        <p:nvSpPr>
          <p:cNvPr id="79" name="Round Same Side Corner Rectangle 3"/>
          <p:cNvSpPr/>
          <p:nvPr>
            <p:custDataLst>
              <p:tags r:id="rId12"/>
            </p:custDataLst>
          </p:nvPr>
        </p:nvSpPr>
        <p:spPr>
          <a:xfrm>
            <a:off x="4667280" y="4798695"/>
            <a:ext cx="2807970" cy="360045"/>
          </a:xfrm>
          <a:prstGeom prst="round2SameRect">
            <a:avLst>
              <a:gd name="adj1" fmla="val 50000"/>
              <a:gd name="adj2"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tIns="45720" bIns="45720" rtlCol="0" anchor="ctr">
            <a:noAutofit/>
          </a:bodyPr>
          <a:lstStyle/>
          <a:p>
            <a:pPr lvl="0" algn="ctr">
              <a:buClr>
                <a:schemeClr val="bg2"/>
              </a:buClr>
              <a:buSzPct val="80000"/>
              <a:buFontTx/>
            </a:pPr>
            <a:r>
              <a:rPr lang="en-US" altLang="zh-CN" sz="1600" b="1" kern="0" spc="1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step 06</a:t>
            </a:r>
          </a:p>
        </p:txBody>
      </p:sp>
      <p:sp>
        <p:nvSpPr>
          <p:cNvPr id="80" name="Round Same Side Corner Rectangle 3"/>
          <p:cNvSpPr/>
          <p:nvPr>
            <p:custDataLst>
              <p:tags r:id="rId13"/>
            </p:custDataLst>
          </p:nvPr>
        </p:nvSpPr>
        <p:spPr>
          <a:xfrm>
            <a:off x="1522730" y="4798695"/>
            <a:ext cx="2808000" cy="360045"/>
          </a:xfrm>
          <a:prstGeom prst="round2SameRect">
            <a:avLst>
              <a:gd name="adj1" fmla="val 50000"/>
              <a:gd name="adj2"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tIns="45720" bIns="45720" rtlCol="0" anchor="ctr">
            <a:noAutofit/>
          </a:bodyPr>
          <a:lstStyle/>
          <a:p>
            <a:pPr lvl="0" algn="ctr">
              <a:buClr>
                <a:schemeClr val="bg2"/>
              </a:buClr>
              <a:buSzPct val="80000"/>
              <a:buFontTx/>
            </a:pPr>
            <a:r>
              <a:rPr lang="en-US" altLang="zh-CN" sz="1600" b="1" kern="0" spc="1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step 05</a:t>
            </a:r>
          </a:p>
        </p:txBody>
      </p:sp>
      <p:sp>
        <p:nvSpPr>
          <p:cNvPr id="81" name="Round Same Side Corner Rectangle 3"/>
          <p:cNvSpPr/>
          <p:nvPr>
            <p:custDataLst>
              <p:tags r:id="rId14"/>
            </p:custDataLst>
          </p:nvPr>
        </p:nvSpPr>
        <p:spPr>
          <a:xfrm>
            <a:off x="8567420" y="3536950"/>
            <a:ext cx="2051685" cy="360045"/>
          </a:xfrm>
          <a:prstGeom prst="round2SameRect">
            <a:avLst>
              <a:gd name="adj1" fmla="val 50000"/>
              <a:gd name="adj2"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tIns="45720" bIns="45720" rtlCol="0" anchor="ctr">
            <a:noAutofit/>
          </a:bodyPr>
          <a:lstStyle/>
          <a:p>
            <a:pPr lvl="0" algn="ctr">
              <a:buClr>
                <a:schemeClr val="bg2"/>
              </a:buClr>
              <a:buSzPct val="80000"/>
              <a:buFontTx/>
            </a:pPr>
            <a:r>
              <a:rPr lang="en-US" altLang="zh-CN" sz="1600" b="1" kern="0" spc="1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step 04</a:t>
            </a:r>
          </a:p>
        </p:txBody>
      </p:sp>
      <p:sp>
        <p:nvSpPr>
          <p:cNvPr id="82" name="Round Same Side Corner Rectangle 3"/>
          <p:cNvSpPr/>
          <p:nvPr>
            <p:custDataLst>
              <p:tags r:id="rId15"/>
            </p:custDataLst>
          </p:nvPr>
        </p:nvSpPr>
        <p:spPr>
          <a:xfrm>
            <a:off x="6219190" y="3548380"/>
            <a:ext cx="2051685" cy="360045"/>
          </a:xfrm>
          <a:prstGeom prst="round2SameRect">
            <a:avLst>
              <a:gd name="adj1" fmla="val 50000"/>
              <a:gd name="adj2"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tIns="45720" bIns="45720" rtlCol="0" anchor="ctr">
            <a:noAutofit/>
          </a:bodyPr>
          <a:lstStyle/>
          <a:p>
            <a:pPr lvl="0" algn="ctr">
              <a:buClr>
                <a:schemeClr val="bg2"/>
              </a:buClr>
              <a:buSzPct val="80000"/>
              <a:buFontTx/>
            </a:pPr>
            <a:r>
              <a:rPr lang="en-US" altLang="zh-CN" sz="1600" b="1" kern="0" spc="1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step 03</a:t>
            </a:r>
          </a:p>
        </p:txBody>
      </p:sp>
      <p:sp>
        <p:nvSpPr>
          <p:cNvPr id="83" name="Round Same Side Corner Rectangle 3"/>
          <p:cNvSpPr/>
          <p:nvPr>
            <p:custDataLst>
              <p:tags r:id="rId16"/>
            </p:custDataLst>
          </p:nvPr>
        </p:nvSpPr>
        <p:spPr>
          <a:xfrm>
            <a:off x="3870960" y="3548380"/>
            <a:ext cx="2051685" cy="360000"/>
          </a:xfrm>
          <a:prstGeom prst="round2SameRect">
            <a:avLst>
              <a:gd name="adj1" fmla="val 50000"/>
              <a:gd name="adj2"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tIns="45720" bIns="45720" rtlCol="0" anchor="ctr">
            <a:noAutofit/>
          </a:bodyPr>
          <a:lstStyle/>
          <a:p>
            <a:pPr lvl="0" algn="ctr">
              <a:buClr>
                <a:schemeClr val="bg2"/>
              </a:buClr>
              <a:buSzPct val="80000"/>
              <a:buFontTx/>
            </a:pPr>
            <a:r>
              <a:rPr lang="en-US" altLang="zh-CN" sz="1600" b="1" kern="0" spc="1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step 02 </a:t>
            </a:r>
          </a:p>
        </p:txBody>
      </p:sp>
      <p:sp>
        <p:nvSpPr>
          <p:cNvPr id="95" name="矩形 46"/>
          <p:cNvSpPr>
            <a:spLocks noChangeAspect="1"/>
          </p:cNvSpPr>
          <p:nvPr>
            <p:custDataLst>
              <p:tags r:id="rId17"/>
            </p:custDataLst>
          </p:nvPr>
        </p:nvSpPr>
        <p:spPr>
          <a:xfrm rot="5400000">
            <a:off x="1495425" y="1633220"/>
            <a:ext cx="1040765" cy="1039495"/>
          </a:xfrm>
          <a:prstGeom prst="roundRect">
            <a:avLst>
              <a:gd name="adj" fmla="val 50000"/>
            </a:avLst>
          </a:prstGeom>
          <a:solidFill>
            <a:schemeClr val="bg2">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rIns="91440"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96" name="矩形 46"/>
          <p:cNvSpPr/>
          <p:nvPr>
            <p:custDataLst>
              <p:tags r:id="rId18"/>
            </p:custDataLst>
          </p:nvPr>
        </p:nvSpPr>
        <p:spPr>
          <a:xfrm>
            <a:off x="1570355" y="1707515"/>
            <a:ext cx="890270" cy="890905"/>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p:spPr>
        <p:txBody>
          <a:bodyPr lIns="91440" tIns="45720" rIns="91440" bIns="45720" rtlCol="0" anchor="ctr" anchorCtr="0">
            <a:noAutofit/>
          </a:bodyPr>
          <a:lstStyle/>
          <a:p>
            <a:pPr lvl="0" algn="ctr">
              <a:buClr>
                <a:schemeClr val="bg2"/>
              </a:buClr>
              <a:buSzPct val="80000"/>
              <a:buFontTx/>
            </a:pPr>
            <a:endPar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100" name="chart_167909"/>
          <p:cNvSpPr>
            <a:spLocks noChangeAspect="1"/>
          </p:cNvSpPr>
          <p:nvPr>
            <p:custDataLst>
              <p:tags r:id="rId19"/>
            </p:custDataLst>
          </p:nvPr>
        </p:nvSpPr>
        <p:spPr>
          <a:xfrm>
            <a:off x="1701165" y="1838325"/>
            <a:ext cx="629920" cy="628650"/>
          </a:xfrm>
          <a:custGeom>
            <a:avLst/>
            <a:gdLst>
              <a:gd name="connsiteX0" fmla="*/ 308018 w 608697"/>
              <a:gd name="connsiteY0" fmla="*/ 459875 h 607780"/>
              <a:gd name="connsiteX1" fmla="*/ 459098 w 608697"/>
              <a:gd name="connsiteY1" fmla="*/ 459875 h 607780"/>
              <a:gd name="connsiteX2" fmla="*/ 459098 w 608697"/>
              <a:gd name="connsiteY2" fmla="*/ 485702 h 607780"/>
              <a:gd name="connsiteX3" fmla="*/ 308018 w 608697"/>
              <a:gd name="connsiteY3" fmla="*/ 485702 h 607780"/>
              <a:gd name="connsiteX4" fmla="*/ 394249 w 608697"/>
              <a:gd name="connsiteY4" fmla="*/ 416759 h 607780"/>
              <a:gd name="connsiteX5" fmla="*/ 423040 w 608697"/>
              <a:gd name="connsiteY5" fmla="*/ 416759 h 607780"/>
              <a:gd name="connsiteX6" fmla="*/ 423040 w 608697"/>
              <a:gd name="connsiteY6" fmla="*/ 442586 h 607780"/>
              <a:gd name="connsiteX7" fmla="*/ 394249 w 608697"/>
              <a:gd name="connsiteY7" fmla="*/ 442586 h 607780"/>
              <a:gd name="connsiteX8" fmla="*/ 351204 w 608697"/>
              <a:gd name="connsiteY8" fmla="*/ 416759 h 607780"/>
              <a:gd name="connsiteX9" fmla="*/ 379995 w 608697"/>
              <a:gd name="connsiteY9" fmla="*/ 416759 h 607780"/>
              <a:gd name="connsiteX10" fmla="*/ 379995 w 608697"/>
              <a:gd name="connsiteY10" fmla="*/ 442586 h 607780"/>
              <a:gd name="connsiteX11" fmla="*/ 351204 w 608697"/>
              <a:gd name="connsiteY11" fmla="*/ 442586 h 607780"/>
              <a:gd name="connsiteX12" fmla="*/ 308018 w 608697"/>
              <a:gd name="connsiteY12" fmla="*/ 416759 h 607780"/>
              <a:gd name="connsiteX13" fmla="*/ 336809 w 608697"/>
              <a:gd name="connsiteY13" fmla="*/ 416759 h 607780"/>
              <a:gd name="connsiteX14" fmla="*/ 336809 w 608697"/>
              <a:gd name="connsiteY14" fmla="*/ 442586 h 607780"/>
              <a:gd name="connsiteX15" fmla="*/ 308018 w 608697"/>
              <a:gd name="connsiteY15" fmla="*/ 442586 h 607780"/>
              <a:gd name="connsiteX16" fmla="*/ 327698 w 608697"/>
              <a:gd name="connsiteY16" fmla="*/ 342003 h 607780"/>
              <a:gd name="connsiteX17" fmla="*/ 152667 w 608697"/>
              <a:gd name="connsiteY17" fmla="*/ 516798 h 607780"/>
              <a:gd name="connsiteX18" fmla="*/ 322361 w 608697"/>
              <a:gd name="connsiteY18" fmla="*/ 582007 h 607780"/>
              <a:gd name="connsiteX19" fmla="*/ 575303 w 608697"/>
              <a:gd name="connsiteY19" fmla="*/ 342003 h 607780"/>
              <a:gd name="connsiteX20" fmla="*/ 322361 w 608697"/>
              <a:gd name="connsiteY20" fmla="*/ 316133 h 607780"/>
              <a:gd name="connsiteX21" fmla="*/ 588595 w 608697"/>
              <a:gd name="connsiteY21" fmla="*/ 316133 h 607780"/>
              <a:gd name="connsiteX22" fmla="*/ 601499 w 608697"/>
              <a:gd name="connsiteY22" fmla="*/ 329116 h 607780"/>
              <a:gd name="connsiteX23" fmla="*/ 322361 w 608697"/>
              <a:gd name="connsiteY23" fmla="*/ 607780 h 607780"/>
              <a:gd name="connsiteX24" fmla="*/ 125015 w 608697"/>
              <a:gd name="connsiteY24" fmla="*/ 526100 h 607780"/>
              <a:gd name="connsiteX25" fmla="*/ 121231 w 608697"/>
              <a:gd name="connsiteY25" fmla="*/ 516992 h 607780"/>
              <a:gd name="connsiteX26" fmla="*/ 125015 w 608697"/>
              <a:gd name="connsiteY26" fmla="*/ 507884 h 607780"/>
              <a:gd name="connsiteX27" fmla="*/ 313144 w 608697"/>
              <a:gd name="connsiteY27" fmla="*/ 319912 h 607780"/>
              <a:gd name="connsiteX28" fmla="*/ 322361 w 608697"/>
              <a:gd name="connsiteY28" fmla="*/ 316133 h 607780"/>
              <a:gd name="connsiteX29" fmla="*/ 192785 w 608697"/>
              <a:gd name="connsiteY29" fmla="*/ 230043 h 607780"/>
              <a:gd name="connsiteX30" fmla="*/ 221646 w 608697"/>
              <a:gd name="connsiteY30" fmla="*/ 230043 h 607780"/>
              <a:gd name="connsiteX31" fmla="*/ 221646 w 608697"/>
              <a:gd name="connsiteY31" fmla="*/ 255799 h 607780"/>
              <a:gd name="connsiteX32" fmla="*/ 192785 w 608697"/>
              <a:gd name="connsiteY32" fmla="*/ 255799 h 607780"/>
              <a:gd name="connsiteX33" fmla="*/ 149599 w 608697"/>
              <a:gd name="connsiteY33" fmla="*/ 230043 h 607780"/>
              <a:gd name="connsiteX34" fmla="*/ 178460 w 608697"/>
              <a:gd name="connsiteY34" fmla="*/ 230043 h 607780"/>
              <a:gd name="connsiteX35" fmla="*/ 178460 w 608697"/>
              <a:gd name="connsiteY35" fmla="*/ 255799 h 607780"/>
              <a:gd name="connsiteX36" fmla="*/ 149599 w 608697"/>
              <a:gd name="connsiteY36" fmla="*/ 255799 h 607780"/>
              <a:gd name="connsiteX37" fmla="*/ 106413 w 608697"/>
              <a:gd name="connsiteY37" fmla="*/ 230043 h 607780"/>
              <a:gd name="connsiteX38" fmla="*/ 135274 w 608697"/>
              <a:gd name="connsiteY38" fmla="*/ 230043 h 607780"/>
              <a:gd name="connsiteX39" fmla="*/ 135274 w 608697"/>
              <a:gd name="connsiteY39" fmla="*/ 255799 h 607780"/>
              <a:gd name="connsiteX40" fmla="*/ 106413 w 608697"/>
              <a:gd name="connsiteY40" fmla="*/ 255799 h 607780"/>
              <a:gd name="connsiteX41" fmla="*/ 342535 w 608697"/>
              <a:gd name="connsiteY41" fmla="*/ 211323 h 607780"/>
              <a:gd name="connsiteX42" fmla="*/ 342535 w 608697"/>
              <a:gd name="connsiteY42" fmla="*/ 265776 h 607780"/>
              <a:gd name="connsiteX43" fmla="*/ 582498 w 608697"/>
              <a:gd name="connsiteY43" fmla="*/ 265776 h 607780"/>
              <a:gd name="connsiteX44" fmla="*/ 573668 w 608697"/>
              <a:gd name="connsiteY44" fmla="*/ 211323 h 607780"/>
              <a:gd name="connsiteX45" fmla="*/ 106413 w 608697"/>
              <a:gd name="connsiteY45" fmla="*/ 186716 h 607780"/>
              <a:gd name="connsiteX46" fmla="*/ 221646 w 608697"/>
              <a:gd name="connsiteY46" fmla="*/ 186716 h 607780"/>
              <a:gd name="connsiteX47" fmla="*/ 221646 w 608697"/>
              <a:gd name="connsiteY47" fmla="*/ 212614 h 607780"/>
              <a:gd name="connsiteX48" fmla="*/ 106413 w 608697"/>
              <a:gd name="connsiteY48" fmla="*/ 212614 h 607780"/>
              <a:gd name="connsiteX49" fmla="*/ 142472 w 608697"/>
              <a:gd name="connsiteY49" fmla="*/ 143671 h 607780"/>
              <a:gd name="connsiteX50" fmla="*/ 221646 w 608697"/>
              <a:gd name="connsiteY50" fmla="*/ 143671 h 607780"/>
              <a:gd name="connsiteX51" fmla="*/ 221646 w 608697"/>
              <a:gd name="connsiteY51" fmla="*/ 169498 h 607780"/>
              <a:gd name="connsiteX52" fmla="*/ 142472 w 608697"/>
              <a:gd name="connsiteY52" fmla="*/ 169498 h 607780"/>
              <a:gd name="connsiteX53" fmla="*/ 342535 w 608697"/>
              <a:gd name="connsiteY53" fmla="*/ 115399 h 607780"/>
              <a:gd name="connsiteX54" fmla="*/ 342535 w 608697"/>
              <a:gd name="connsiteY54" fmla="*/ 185452 h 607780"/>
              <a:gd name="connsiteX55" fmla="*/ 564935 w 608697"/>
              <a:gd name="connsiteY55" fmla="*/ 185452 h 607780"/>
              <a:gd name="connsiteX56" fmla="*/ 522726 w 608697"/>
              <a:gd name="connsiteY56" fmla="*/ 115399 h 607780"/>
              <a:gd name="connsiteX57" fmla="*/ 266162 w 608697"/>
              <a:gd name="connsiteY57" fmla="*/ 39354 h 607780"/>
              <a:gd name="connsiteX58" fmla="*/ 25908 w 608697"/>
              <a:gd name="connsiteY58" fmla="*/ 292020 h 607780"/>
              <a:gd name="connsiteX59" fmla="*/ 91211 w 608697"/>
              <a:gd name="connsiteY59" fmla="*/ 461370 h 607780"/>
              <a:gd name="connsiteX60" fmla="*/ 266162 w 608697"/>
              <a:gd name="connsiteY60" fmla="*/ 286692 h 607780"/>
              <a:gd name="connsiteX61" fmla="*/ 342535 w 608697"/>
              <a:gd name="connsiteY61" fmla="*/ 26161 h 607780"/>
              <a:gd name="connsiteX62" fmla="*/ 342535 w 608697"/>
              <a:gd name="connsiteY62" fmla="*/ 89529 h 607780"/>
              <a:gd name="connsiteX63" fmla="*/ 497497 w 608697"/>
              <a:gd name="connsiteY63" fmla="*/ 89529 h 607780"/>
              <a:gd name="connsiteX64" fmla="*/ 342535 w 608697"/>
              <a:gd name="connsiteY64" fmla="*/ 26161 h 607780"/>
              <a:gd name="connsiteX65" fmla="*/ 279165 w 608697"/>
              <a:gd name="connsiteY65" fmla="*/ 13196 h 607780"/>
              <a:gd name="connsiteX66" fmla="*/ 292070 w 608697"/>
              <a:gd name="connsiteY66" fmla="*/ 26081 h 607780"/>
              <a:gd name="connsiteX67" fmla="*/ 292070 w 608697"/>
              <a:gd name="connsiteY67" fmla="*/ 292020 h 607780"/>
              <a:gd name="connsiteX68" fmla="*/ 288286 w 608697"/>
              <a:gd name="connsiteY68" fmla="*/ 301127 h 607780"/>
              <a:gd name="connsiteX69" fmla="*/ 100138 w 608697"/>
              <a:gd name="connsiteY69" fmla="*/ 488981 h 607780"/>
              <a:gd name="connsiteX70" fmla="*/ 90920 w 608697"/>
              <a:gd name="connsiteY70" fmla="*/ 492759 h 607780"/>
              <a:gd name="connsiteX71" fmla="*/ 81799 w 608697"/>
              <a:gd name="connsiteY71" fmla="*/ 488981 h 607780"/>
              <a:gd name="connsiteX72" fmla="*/ 0 w 608697"/>
              <a:gd name="connsiteY72" fmla="*/ 292020 h 607780"/>
              <a:gd name="connsiteX73" fmla="*/ 279165 w 608697"/>
              <a:gd name="connsiteY73" fmla="*/ 13196 h 607780"/>
              <a:gd name="connsiteX74" fmla="*/ 329629 w 608697"/>
              <a:gd name="connsiteY74" fmla="*/ 0 h 607780"/>
              <a:gd name="connsiteX75" fmla="*/ 538348 w 608697"/>
              <a:gd name="connsiteY75" fmla="*/ 93889 h 607780"/>
              <a:gd name="connsiteX76" fmla="*/ 595598 w 608697"/>
              <a:gd name="connsiteY76" fmla="*/ 194366 h 607780"/>
              <a:gd name="connsiteX77" fmla="*/ 608697 w 608697"/>
              <a:gd name="connsiteY77" fmla="*/ 278760 h 607780"/>
              <a:gd name="connsiteX78" fmla="*/ 595792 w 608697"/>
              <a:gd name="connsiteY78" fmla="*/ 291647 h 607780"/>
              <a:gd name="connsiteX79" fmla="*/ 329629 w 608697"/>
              <a:gd name="connsiteY79" fmla="*/ 291647 h 607780"/>
              <a:gd name="connsiteX80" fmla="*/ 316627 w 608697"/>
              <a:gd name="connsiteY80" fmla="*/ 278760 h 607780"/>
              <a:gd name="connsiteX81" fmla="*/ 316627 w 608697"/>
              <a:gd name="connsiteY81" fmla="*/ 12886 h 607780"/>
              <a:gd name="connsiteX82" fmla="*/ 329629 w 608697"/>
              <a:gd name="connsiteY82"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608697" h="607780">
                <a:moveTo>
                  <a:pt x="308018" y="459875"/>
                </a:moveTo>
                <a:lnTo>
                  <a:pt x="459098" y="459875"/>
                </a:lnTo>
                <a:lnTo>
                  <a:pt x="459098" y="485702"/>
                </a:lnTo>
                <a:lnTo>
                  <a:pt x="308018" y="485702"/>
                </a:lnTo>
                <a:close/>
                <a:moveTo>
                  <a:pt x="394249" y="416759"/>
                </a:moveTo>
                <a:lnTo>
                  <a:pt x="423040" y="416759"/>
                </a:lnTo>
                <a:lnTo>
                  <a:pt x="423040" y="442586"/>
                </a:lnTo>
                <a:lnTo>
                  <a:pt x="394249" y="442586"/>
                </a:lnTo>
                <a:close/>
                <a:moveTo>
                  <a:pt x="351204" y="416759"/>
                </a:moveTo>
                <a:lnTo>
                  <a:pt x="379995" y="416759"/>
                </a:lnTo>
                <a:lnTo>
                  <a:pt x="379995" y="442586"/>
                </a:lnTo>
                <a:lnTo>
                  <a:pt x="351204" y="442586"/>
                </a:lnTo>
                <a:close/>
                <a:moveTo>
                  <a:pt x="308018" y="416759"/>
                </a:moveTo>
                <a:lnTo>
                  <a:pt x="336809" y="416759"/>
                </a:lnTo>
                <a:lnTo>
                  <a:pt x="336809" y="442586"/>
                </a:lnTo>
                <a:lnTo>
                  <a:pt x="308018" y="442586"/>
                </a:lnTo>
                <a:close/>
                <a:moveTo>
                  <a:pt x="327698" y="342003"/>
                </a:moveTo>
                <a:lnTo>
                  <a:pt x="152667" y="516798"/>
                </a:lnTo>
                <a:cubicBezTo>
                  <a:pt x="199335" y="558946"/>
                  <a:pt x="259102" y="582007"/>
                  <a:pt x="322361" y="582007"/>
                </a:cubicBezTo>
                <a:cubicBezTo>
                  <a:pt x="457710" y="582007"/>
                  <a:pt x="568608" y="475425"/>
                  <a:pt x="575303" y="342003"/>
                </a:cubicBezTo>
                <a:close/>
                <a:moveTo>
                  <a:pt x="322361" y="316133"/>
                </a:moveTo>
                <a:lnTo>
                  <a:pt x="588595" y="316133"/>
                </a:lnTo>
                <a:cubicBezTo>
                  <a:pt x="595775" y="316133"/>
                  <a:pt x="601499" y="321946"/>
                  <a:pt x="601499" y="329116"/>
                </a:cubicBezTo>
                <a:cubicBezTo>
                  <a:pt x="601499" y="482789"/>
                  <a:pt x="476241" y="607780"/>
                  <a:pt x="322361" y="607780"/>
                </a:cubicBezTo>
                <a:cubicBezTo>
                  <a:pt x="247847" y="607780"/>
                  <a:pt x="177796" y="578809"/>
                  <a:pt x="125015" y="526100"/>
                </a:cubicBezTo>
                <a:cubicBezTo>
                  <a:pt x="122589" y="523677"/>
                  <a:pt x="121231" y="520383"/>
                  <a:pt x="121231" y="516992"/>
                </a:cubicBezTo>
                <a:cubicBezTo>
                  <a:pt x="121231" y="513601"/>
                  <a:pt x="122589" y="510306"/>
                  <a:pt x="125015" y="507884"/>
                </a:cubicBezTo>
                <a:lnTo>
                  <a:pt x="313144" y="319912"/>
                </a:lnTo>
                <a:cubicBezTo>
                  <a:pt x="315570" y="317489"/>
                  <a:pt x="318869" y="316133"/>
                  <a:pt x="322361" y="316133"/>
                </a:cubicBezTo>
                <a:close/>
                <a:moveTo>
                  <a:pt x="192785" y="230043"/>
                </a:moveTo>
                <a:lnTo>
                  <a:pt x="221646" y="230043"/>
                </a:lnTo>
                <a:lnTo>
                  <a:pt x="221646" y="255799"/>
                </a:lnTo>
                <a:lnTo>
                  <a:pt x="192785" y="255799"/>
                </a:lnTo>
                <a:close/>
                <a:moveTo>
                  <a:pt x="149599" y="230043"/>
                </a:moveTo>
                <a:lnTo>
                  <a:pt x="178460" y="230043"/>
                </a:lnTo>
                <a:lnTo>
                  <a:pt x="178460" y="255799"/>
                </a:lnTo>
                <a:lnTo>
                  <a:pt x="149599" y="255799"/>
                </a:lnTo>
                <a:close/>
                <a:moveTo>
                  <a:pt x="106413" y="230043"/>
                </a:moveTo>
                <a:lnTo>
                  <a:pt x="135274" y="230043"/>
                </a:lnTo>
                <a:lnTo>
                  <a:pt x="135274" y="255799"/>
                </a:lnTo>
                <a:lnTo>
                  <a:pt x="106413" y="255799"/>
                </a:lnTo>
                <a:close/>
                <a:moveTo>
                  <a:pt x="342535" y="211323"/>
                </a:moveTo>
                <a:lnTo>
                  <a:pt x="342535" y="265776"/>
                </a:lnTo>
                <a:lnTo>
                  <a:pt x="582498" y="265776"/>
                </a:lnTo>
                <a:cubicBezTo>
                  <a:pt x="581625" y="247173"/>
                  <a:pt x="578617" y="228957"/>
                  <a:pt x="573668" y="211323"/>
                </a:cubicBezTo>
                <a:close/>
                <a:moveTo>
                  <a:pt x="106413" y="186716"/>
                </a:moveTo>
                <a:lnTo>
                  <a:pt x="221646" y="186716"/>
                </a:lnTo>
                <a:lnTo>
                  <a:pt x="221646" y="212614"/>
                </a:lnTo>
                <a:lnTo>
                  <a:pt x="106413" y="212614"/>
                </a:lnTo>
                <a:close/>
                <a:moveTo>
                  <a:pt x="142472" y="143671"/>
                </a:moveTo>
                <a:lnTo>
                  <a:pt x="221646" y="143671"/>
                </a:lnTo>
                <a:lnTo>
                  <a:pt x="221646" y="169498"/>
                </a:lnTo>
                <a:lnTo>
                  <a:pt x="142472" y="169498"/>
                </a:lnTo>
                <a:close/>
                <a:moveTo>
                  <a:pt x="342535" y="115399"/>
                </a:moveTo>
                <a:lnTo>
                  <a:pt x="342535" y="185452"/>
                </a:lnTo>
                <a:lnTo>
                  <a:pt x="564935" y="185452"/>
                </a:lnTo>
                <a:cubicBezTo>
                  <a:pt x="554844" y="160066"/>
                  <a:pt x="540483" y="136231"/>
                  <a:pt x="522726" y="115399"/>
                </a:cubicBezTo>
                <a:close/>
                <a:moveTo>
                  <a:pt x="266162" y="39354"/>
                </a:moveTo>
                <a:cubicBezTo>
                  <a:pt x="132547" y="46135"/>
                  <a:pt x="25908" y="156871"/>
                  <a:pt x="25908" y="292020"/>
                </a:cubicBezTo>
                <a:cubicBezTo>
                  <a:pt x="25908" y="355187"/>
                  <a:pt x="49002" y="414866"/>
                  <a:pt x="91211" y="461370"/>
                </a:cubicBezTo>
                <a:lnTo>
                  <a:pt x="266162" y="286692"/>
                </a:lnTo>
                <a:close/>
                <a:moveTo>
                  <a:pt x="342535" y="26161"/>
                </a:moveTo>
                <a:lnTo>
                  <a:pt x="342535" y="89529"/>
                </a:lnTo>
                <a:lnTo>
                  <a:pt x="497497" y="89529"/>
                </a:lnTo>
                <a:cubicBezTo>
                  <a:pt x="454608" y="51547"/>
                  <a:pt x="399979" y="29068"/>
                  <a:pt x="342535" y="26161"/>
                </a:cubicBezTo>
                <a:close/>
                <a:moveTo>
                  <a:pt x="279165" y="13196"/>
                </a:moveTo>
                <a:cubicBezTo>
                  <a:pt x="286248" y="13196"/>
                  <a:pt x="292070" y="19009"/>
                  <a:pt x="292070" y="26081"/>
                </a:cubicBezTo>
                <a:lnTo>
                  <a:pt x="292070" y="292020"/>
                </a:lnTo>
                <a:cubicBezTo>
                  <a:pt x="292070" y="295411"/>
                  <a:pt x="290712" y="298705"/>
                  <a:pt x="288286" y="301127"/>
                </a:cubicBezTo>
                <a:lnTo>
                  <a:pt x="100138" y="488981"/>
                </a:lnTo>
                <a:cubicBezTo>
                  <a:pt x="97712" y="491403"/>
                  <a:pt x="94413" y="492759"/>
                  <a:pt x="90920" y="492759"/>
                </a:cubicBezTo>
                <a:cubicBezTo>
                  <a:pt x="87524" y="492759"/>
                  <a:pt x="84225" y="491403"/>
                  <a:pt x="81799" y="488981"/>
                </a:cubicBezTo>
                <a:cubicBezTo>
                  <a:pt x="29013" y="436374"/>
                  <a:pt x="0" y="366425"/>
                  <a:pt x="0" y="292020"/>
                </a:cubicBezTo>
                <a:cubicBezTo>
                  <a:pt x="0" y="138270"/>
                  <a:pt x="125173" y="13196"/>
                  <a:pt x="279165" y="13196"/>
                </a:cubicBezTo>
                <a:close/>
                <a:moveTo>
                  <a:pt x="329629" y="0"/>
                </a:moveTo>
                <a:cubicBezTo>
                  <a:pt x="409294" y="0"/>
                  <a:pt x="485465" y="34203"/>
                  <a:pt x="538348" y="93889"/>
                </a:cubicBezTo>
                <a:cubicBezTo>
                  <a:pt x="564159" y="122860"/>
                  <a:pt x="583954" y="157547"/>
                  <a:pt x="595598" y="194366"/>
                </a:cubicBezTo>
                <a:cubicBezTo>
                  <a:pt x="604330" y="221303"/>
                  <a:pt x="608697" y="249692"/>
                  <a:pt x="608697" y="278760"/>
                </a:cubicBezTo>
                <a:cubicBezTo>
                  <a:pt x="608697" y="285833"/>
                  <a:pt x="602972" y="291647"/>
                  <a:pt x="595792" y="291647"/>
                </a:cubicBezTo>
                <a:lnTo>
                  <a:pt x="329629" y="291647"/>
                </a:lnTo>
                <a:cubicBezTo>
                  <a:pt x="322449" y="291647"/>
                  <a:pt x="316627" y="285833"/>
                  <a:pt x="316627" y="278760"/>
                </a:cubicBezTo>
                <a:lnTo>
                  <a:pt x="316627" y="12886"/>
                </a:lnTo>
                <a:cubicBezTo>
                  <a:pt x="316627" y="5813"/>
                  <a:pt x="322449" y="0"/>
                  <a:pt x="32962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effectLst/>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1"/>
          <p:cNvSpPr/>
          <p:nvPr>
            <p:custDataLst>
              <p:tags r:id="rId1"/>
            </p:custDataLst>
          </p:nvPr>
        </p:nvSpPr>
        <p:spPr>
          <a:xfrm>
            <a:off x="554355" y="1071880"/>
            <a:ext cx="11083290" cy="5086350"/>
          </a:xfrm>
          <a:prstGeom prst="roundRect">
            <a:avLst>
              <a:gd name="adj" fmla="val 3620"/>
            </a:avLst>
          </a:prstGeom>
          <a:solidFill>
            <a:schemeClr val="bg1">
              <a:lumMod val="95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2" name="Title 3"/>
          <p:cNvSpPr txBox="1"/>
          <p:nvPr/>
        </p:nvSpPr>
        <p:spPr>
          <a:xfrm>
            <a:off x="149913" y="219070"/>
            <a:ext cx="678815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第一步：类目分析是什么？</a:t>
            </a:r>
          </a:p>
        </p:txBody>
      </p:sp>
      <p:sp>
        <p:nvSpPr>
          <p:cNvPr id="13" name="TextBox 14"/>
          <p:cNvSpPr txBox="1"/>
          <p:nvPr>
            <p:custDataLst>
              <p:tags r:id="rId2"/>
            </p:custDataLst>
          </p:nvPr>
        </p:nvSpPr>
        <p:spPr>
          <a:xfrm>
            <a:off x="929640" y="1238250"/>
            <a:ext cx="10431780" cy="932180"/>
          </a:xfrm>
          <a:prstGeom prst="rect">
            <a:avLst/>
          </a:prstGeom>
        </p:spPr>
        <p:txBody>
          <a:bodyPr vert="horz" lIns="243840" tIns="121920" rIns="243840" bIns="121920" rtlCol="0" anchor="ctr">
            <a:noAutofit/>
          </a:bodyPr>
          <a:lstStyle>
            <a:lvl1pPr defTabSz="685800">
              <a:spcBef>
                <a:spcPct val="0"/>
              </a:spcBef>
              <a:buNone/>
              <a:defRPr sz="1200" b="0" i="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nSpc>
                <a:spcPct val="150000"/>
              </a:lnSpc>
            </a:pPr>
            <a:r>
              <a:rPr lang="zh-CN" altLang="zh-CN" sz="1800" b="1" dirty="0">
                <a:solidFill>
                  <a:schemeClr val="tx1"/>
                </a:solidFill>
                <a:latin typeface="微软雅黑" panose="020B0503020204020204" pitchFamily="34" charset="-122"/>
                <a:ea typeface="微软雅黑" panose="020B0503020204020204" pitchFamily="34" charset="-122"/>
                <a:cs typeface="Amazon Ember" panose="020B0603020204020204" charset="0"/>
              </a:rPr>
              <a:t>类目分析</a:t>
            </a:r>
            <a:r>
              <a:rPr lang="zh-CN" altLang="zh-CN" sz="1800" dirty="0">
                <a:solidFill>
                  <a:schemeClr val="tx1"/>
                </a:solidFill>
                <a:latin typeface="微软雅黑" panose="020B0503020204020204" pitchFamily="34" charset="-122"/>
                <a:ea typeface="微软雅黑" panose="020B0503020204020204" pitchFamily="34" charset="-122"/>
                <a:cs typeface="Amazon Ember" panose="020B0603020204020204" charset="0"/>
              </a:rPr>
              <a:t>主要提供美国、英国、德国、日本</a:t>
            </a:r>
            <a:r>
              <a:rPr lang="zh-CN" altLang="en-US" sz="1800" dirty="0">
                <a:solidFill>
                  <a:schemeClr val="tx1"/>
                </a:solidFill>
                <a:latin typeface="微软雅黑" panose="020B0503020204020204" pitchFamily="34" charset="-122"/>
                <a:ea typeface="微软雅黑" panose="020B0503020204020204" pitchFamily="34" charset="-122"/>
                <a:cs typeface="Amazon Ember" panose="020B0603020204020204" charset="0"/>
              </a:rPr>
              <a:t>站点</a:t>
            </a:r>
            <a:r>
              <a:rPr lang="zh-CN" altLang="zh-CN" sz="1800" dirty="0">
                <a:solidFill>
                  <a:schemeClr val="tx1"/>
                </a:solidFill>
                <a:latin typeface="微软雅黑" panose="020B0503020204020204" pitchFamily="34" charset="-122"/>
                <a:ea typeface="微软雅黑" panose="020B0503020204020204" pitchFamily="34" charset="-122"/>
                <a:cs typeface="Amazon Ember" panose="020B0603020204020204" charset="0"/>
              </a:rPr>
              <a:t>的各分类中各个类目关键词维度的数据指标，帮助</a:t>
            </a:r>
            <a:r>
              <a:rPr lang="zh-CN" altLang="en-US" sz="1800" dirty="0">
                <a:solidFill>
                  <a:schemeClr val="tx1"/>
                </a:solidFill>
                <a:latin typeface="微软雅黑" panose="020B0503020204020204" pitchFamily="34" charset="-122"/>
                <a:ea typeface="微软雅黑" panose="020B0503020204020204" pitchFamily="34" charset="-122"/>
                <a:cs typeface="Amazon Ember" panose="020B0603020204020204" charset="0"/>
              </a:rPr>
              <a:t>您</a:t>
            </a:r>
            <a:r>
              <a:rPr lang="zh-CN" altLang="zh-CN" sz="1800" dirty="0">
                <a:solidFill>
                  <a:schemeClr val="tx1"/>
                </a:solidFill>
                <a:latin typeface="微软雅黑" panose="020B0503020204020204" pitchFamily="34" charset="-122"/>
                <a:ea typeface="微软雅黑" panose="020B0503020204020204" pitchFamily="34" charset="-122"/>
                <a:cs typeface="Amazon Ember" panose="020B0603020204020204" charset="0"/>
              </a:rPr>
              <a:t>轻松挖掘消费者最喜欢购买的产品具备的特征。</a:t>
            </a:r>
          </a:p>
        </p:txBody>
      </p:sp>
      <p:grpSp>
        <p:nvGrpSpPr>
          <p:cNvPr id="119" name="组合 118"/>
          <p:cNvGrpSpPr/>
          <p:nvPr/>
        </p:nvGrpSpPr>
        <p:grpSpPr>
          <a:xfrm>
            <a:off x="989965" y="2430780"/>
            <a:ext cx="10213340" cy="3416300"/>
            <a:chOff x="1558" y="5032"/>
            <a:chExt cx="16084" cy="5380"/>
          </a:xfrm>
        </p:grpSpPr>
        <p:sp>
          <p:nvSpPr>
            <p:cNvPr id="4" name="矩形 3"/>
            <p:cNvSpPr/>
            <p:nvPr/>
          </p:nvSpPr>
          <p:spPr>
            <a:xfrm>
              <a:off x="1558" y="5634"/>
              <a:ext cx="16084" cy="4774"/>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1558" y="5032"/>
              <a:ext cx="16084" cy="125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 name="文本框 5"/>
            <p:cNvSpPr txBox="1"/>
            <p:nvPr/>
          </p:nvSpPr>
          <p:spPr>
            <a:xfrm>
              <a:off x="1805" y="5124"/>
              <a:ext cx="5796" cy="531"/>
            </a:xfrm>
            <a:prstGeom prst="rect">
              <a:avLst/>
            </a:prstGeom>
            <a:noFill/>
          </p:spPr>
          <p:txBody>
            <a:bodyPr wrap="square" rtlCol="0" anchor="t">
              <a:spAutoFit/>
            </a:bodyPr>
            <a:lstStyle/>
            <a:p>
              <a:r>
                <a:rPr lang="zh-CN" altLang="en-US" sz="16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类目分析</a:t>
              </a:r>
            </a:p>
          </p:txBody>
        </p:sp>
        <p:sp>
          <p:nvSpPr>
            <p:cNvPr id="8" name="文本框 7"/>
            <p:cNvSpPr txBox="1"/>
            <p:nvPr/>
          </p:nvSpPr>
          <p:spPr>
            <a:xfrm>
              <a:off x="1977" y="7284"/>
              <a:ext cx="2465" cy="434"/>
            </a:xfrm>
            <a:prstGeom prst="rect">
              <a:avLst/>
            </a:prstGeom>
            <a:noFill/>
          </p:spPr>
          <p:txBody>
            <a:bodyPr wrap="square" lIns="0" rtlCol="0" anchor="t">
              <a:spAutoFit/>
            </a:bodyPr>
            <a:lstStyle/>
            <a:p>
              <a:r>
                <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商店名称</a:t>
              </a:r>
            </a:p>
          </p:txBody>
        </p:sp>
        <p:sp>
          <p:nvSpPr>
            <p:cNvPr id="9" name="文本框 8"/>
            <p:cNvSpPr txBox="1"/>
            <p:nvPr/>
          </p:nvSpPr>
          <p:spPr>
            <a:xfrm>
              <a:off x="5538" y="7284"/>
              <a:ext cx="3557" cy="434"/>
            </a:xfrm>
            <a:prstGeom prst="rect">
              <a:avLst/>
            </a:prstGeom>
            <a:noFill/>
          </p:spPr>
          <p:txBody>
            <a:bodyPr wrap="square" lIns="0" rtlCol="0" anchor="t">
              <a:spAutoFit/>
            </a:bodyPr>
            <a:lstStyle/>
            <a:p>
              <a:r>
                <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类别</a:t>
              </a:r>
            </a:p>
          </p:txBody>
        </p:sp>
        <p:sp>
          <p:nvSpPr>
            <p:cNvPr id="3" name="文本框 2"/>
            <p:cNvSpPr txBox="1"/>
            <p:nvPr/>
          </p:nvSpPr>
          <p:spPr>
            <a:xfrm>
              <a:off x="10019" y="7284"/>
              <a:ext cx="3277" cy="434"/>
            </a:xfrm>
            <a:prstGeom prst="rect">
              <a:avLst/>
            </a:prstGeom>
            <a:noFill/>
          </p:spPr>
          <p:txBody>
            <a:bodyPr wrap="square" lIns="0" rtlCol="0" anchor="t">
              <a:spAutoFit/>
            </a:bodyPr>
            <a:lstStyle/>
            <a:p>
              <a:r>
                <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商品类型</a:t>
              </a:r>
            </a:p>
          </p:txBody>
        </p:sp>
        <p:sp>
          <p:nvSpPr>
            <p:cNvPr id="11" name="文本框 10"/>
            <p:cNvSpPr txBox="1"/>
            <p:nvPr/>
          </p:nvSpPr>
          <p:spPr>
            <a:xfrm>
              <a:off x="13982" y="7284"/>
              <a:ext cx="3311" cy="434"/>
            </a:xfrm>
            <a:prstGeom prst="rect">
              <a:avLst/>
            </a:prstGeom>
            <a:noFill/>
          </p:spPr>
          <p:txBody>
            <a:bodyPr wrap="square" lIns="0" rtlCol="0" anchor="t">
              <a:spAutoFit/>
            </a:bodyPr>
            <a:lstStyle/>
            <a:p>
              <a:r>
                <a:rPr lang="zh-CN" altLang="en-US" sz="1200" b="1" dirty="0">
                  <a:latin typeface="微软雅黑" panose="020B0503020204020204" pitchFamily="34" charset="-122"/>
                  <a:ea typeface="微软雅黑" panose="020B0503020204020204" pitchFamily="34" charset="-122"/>
                  <a:cs typeface="Amazon Ember" panose="020B0603020204020204" charset="0"/>
                  <a:sym typeface="+mn-ea"/>
                </a:rPr>
                <a:t>商品类型关键词</a:t>
              </a:r>
            </a:p>
          </p:txBody>
        </p:sp>
        <p:sp>
          <p:nvSpPr>
            <p:cNvPr id="12" name="文本框 11"/>
            <p:cNvSpPr txBox="1"/>
            <p:nvPr/>
          </p:nvSpPr>
          <p:spPr>
            <a:xfrm>
              <a:off x="1805" y="5603"/>
              <a:ext cx="15619" cy="531"/>
            </a:xfrm>
            <a:prstGeom prst="rect">
              <a:avLst/>
            </a:prstGeom>
            <a:noFill/>
          </p:spPr>
          <p:txBody>
            <a:bodyPr wrap="square" rtlCol="0" anchor="t">
              <a:spAutoFit/>
            </a:bodyPr>
            <a:lstStyle/>
            <a:p>
              <a:r>
                <a:rPr lang="en-US" altLang="zh-CN" sz="800" dirty="0">
                  <a:solidFill>
                    <a:schemeClr val="tx1">
                      <a:lumMod val="50000"/>
                      <a:lumOff val="50000"/>
                    </a:schemeClr>
                  </a:solidFill>
                  <a:latin typeface="微软雅黑" panose="020B0503020204020204" pitchFamily="34" charset="-122"/>
                  <a:ea typeface="微软雅黑" panose="020B0503020204020204" pitchFamily="34" charset="-122"/>
                  <a:cs typeface="思源黑体 Normal" panose="020B0400000000000000" charset="-122"/>
                  <a:sym typeface="+mn-ea"/>
                </a:rPr>
                <a:t>“</a:t>
              </a: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思源黑体 Normal" panose="020B0400000000000000" charset="-122"/>
                  <a:sym typeface="+mn-ea"/>
                </a:rPr>
                <a:t>品类透视</a:t>
              </a:r>
              <a:r>
                <a:rPr lang="en-US" altLang="zh-CN" sz="800" dirty="0">
                  <a:solidFill>
                    <a:schemeClr val="tx1">
                      <a:lumMod val="50000"/>
                      <a:lumOff val="50000"/>
                    </a:schemeClr>
                  </a:solidFill>
                  <a:latin typeface="微软雅黑" panose="020B0503020204020204" pitchFamily="34" charset="-122"/>
                  <a:ea typeface="微软雅黑" panose="020B0503020204020204" pitchFamily="34" charset="-122"/>
                  <a:cs typeface="思源黑体 Normal" panose="020B0400000000000000" charset="-122"/>
                  <a:sym typeface="+mn-ea"/>
                </a:rPr>
                <a:t>”</a:t>
              </a: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思源黑体 Normal" panose="020B0400000000000000" charset="-122"/>
                  <a:sym typeface="+mn-ea"/>
                </a:rPr>
                <a:t>为您提供目前在您开展销售的商城的各种分类中，买家的首选、精选以及优惠力度的数据记录。作为卖家，您可以根据一下的透视观点，用合适的商品拓展您的商品分类。此页面上的信息面向亚马逊上所有复合条件的销售合作伙伴提供。</a:t>
              </a:r>
            </a:p>
          </p:txBody>
        </p:sp>
        <p:sp>
          <p:nvSpPr>
            <p:cNvPr id="14" name="文本框 13"/>
            <p:cNvSpPr txBox="1"/>
            <p:nvPr/>
          </p:nvSpPr>
          <p:spPr>
            <a:xfrm>
              <a:off x="2108" y="7754"/>
              <a:ext cx="1417" cy="337"/>
            </a:xfrm>
            <a:prstGeom prst="rect">
              <a:avLst/>
            </a:prstGeom>
            <a:noFill/>
          </p:spPr>
          <p:txBody>
            <a:bodyPr wrap="square" rtlCol="0" anchor="t">
              <a:spAutoFit/>
            </a:bodyPr>
            <a:lstStyle/>
            <a:p>
              <a:r>
                <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Germamy</a:t>
              </a:r>
            </a:p>
          </p:txBody>
        </p:sp>
        <p:sp>
          <p:nvSpPr>
            <p:cNvPr id="16" name="矩形 15"/>
            <p:cNvSpPr/>
            <p:nvPr>
              <p:custDataLst>
                <p:tags r:id="rId3"/>
              </p:custDataLst>
            </p:nvPr>
          </p:nvSpPr>
          <p:spPr>
            <a:xfrm>
              <a:off x="3469" y="7848"/>
              <a:ext cx="1530"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18" name="矩形 17"/>
            <p:cNvSpPr/>
            <p:nvPr>
              <p:custDataLst>
                <p:tags r:id="rId4"/>
              </p:custDataLst>
            </p:nvPr>
          </p:nvSpPr>
          <p:spPr>
            <a:xfrm>
              <a:off x="3469" y="8277"/>
              <a:ext cx="1417"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19" name="矩形 18"/>
            <p:cNvSpPr/>
            <p:nvPr>
              <p:custDataLst>
                <p:tags r:id="rId5"/>
              </p:custDataLst>
            </p:nvPr>
          </p:nvSpPr>
          <p:spPr>
            <a:xfrm>
              <a:off x="3469" y="8706"/>
              <a:ext cx="1361"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20" name="椭圆 19"/>
            <p:cNvSpPr>
              <a:spLocks noChangeAspect="1"/>
            </p:cNvSpPr>
            <p:nvPr/>
          </p:nvSpPr>
          <p:spPr>
            <a:xfrm>
              <a:off x="2004" y="7874"/>
              <a:ext cx="109" cy="109"/>
            </a:xfrm>
            <a:prstGeom prst="ellipse">
              <a:avLst/>
            </a:prstGeom>
            <a:solidFill>
              <a:schemeClr val="bg1"/>
            </a:solidFill>
            <a:ln w="4445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21" name="椭圆 20"/>
            <p:cNvSpPr>
              <a:spLocks noChangeAspect="1"/>
            </p:cNvSpPr>
            <p:nvPr/>
          </p:nvSpPr>
          <p:spPr>
            <a:xfrm>
              <a:off x="1977" y="8262"/>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22" name="椭圆 21"/>
            <p:cNvSpPr>
              <a:spLocks noChangeAspect="1"/>
            </p:cNvSpPr>
            <p:nvPr/>
          </p:nvSpPr>
          <p:spPr>
            <a:xfrm>
              <a:off x="1977" y="8705"/>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23" name="椭圆 22"/>
            <p:cNvSpPr>
              <a:spLocks noChangeAspect="1"/>
            </p:cNvSpPr>
            <p:nvPr/>
          </p:nvSpPr>
          <p:spPr>
            <a:xfrm>
              <a:off x="1977" y="9149"/>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2108" y="8191"/>
              <a:ext cx="1417" cy="337"/>
            </a:xfrm>
            <a:prstGeom prst="rect">
              <a:avLst/>
            </a:prstGeom>
            <a:noFill/>
          </p:spPr>
          <p:txBody>
            <a:bodyPr wrap="square" rtlCol="0" anchor="t">
              <a:spAutoFit/>
            </a:bodyPr>
            <a:lstStyle/>
            <a:p>
              <a:r>
                <a:rPr lang="en-US" altLang="zh-CN" sz="800" dirty="0">
                  <a:latin typeface="微软雅黑" panose="020B0503020204020204" pitchFamily="34" charset="-122"/>
                  <a:ea typeface="微软雅黑" panose="020B0503020204020204" pitchFamily="34" charset="-122"/>
                  <a:cs typeface="Amazon Ember" panose="020B0603020204020204" charset="0"/>
                  <a:sym typeface="+mn-ea"/>
                </a:rPr>
                <a:t>United States</a:t>
              </a:r>
            </a:p>
          </p:txBody>
        </p:sp>
        <p:sp>
          <p:nvSpPr>
            <p:cNvPr id="26" name="文本框 25"/>
            <p:cNvSpPr txBox="1"/>
            <p:nvPr/>
          </p:nvSpPr>
          <p:spPr>
            <a:xfrm>
              <a:off x="2108" y="8627"/>
              <a:ext cx="1417" cy="531"/>
            </a:xfrm>
            <a:prstGeom prst="rect">
              <a:avLst/>
            </a:prstGeom>
            <a:noFill/>
          </p:spPr>
          <p:txBody>
            <a:bodyPr wrap="square" rtlCol="0" anchor="t">
              <a:spAutoFit/>
            </a:bodyPr>
            <a:lstStyle/>
            <a:p>
              <a:r>
                <a:rPr lang="en-US" altLang="zh-CN" sz="800" dirty="0">
                  <a:latin typeface="微软雅黑" panose="020B0503020204020204" pitchFamily="34" charset="-122"/>
                  <a:ea typeface="微软雅黑" panose="020B0503020204020204" pitchFamily="34" charset="-122"/>
                  <a:cs typeface="Amazon Ember" panose="020B0603020204020204" charset="0"/>
                  <a:sym typeface="+mn-ea"/>
                </a:rPr>
                <a:t>United Kingdom</a:t>
              </a:r>
            </a:p>
          </p:txBody>
        </p:sp>
        <p:sp>
          <p:nvSpPr>
            <p:cNvPr id="27" name="文本框 26"/>
            <p:cNvSpPr txBox="1"/>
            <p:nvPr/>
          </p:nvSpPr>
          <p:spPr>
            <a:xfrm>
              <a:off x="2108" y="9064"/>
              <a:ext cx="1417" cy="337"/>
            </a:xfrm>
            <a:prstGeom prst="rect">
              <a:avLst/>
            </a:prstGeom>
            <a:noFill/>
          </p:spPr>
          <p:txBody>
            <a:bodyPr wrap="square" rtlCol="0" anchor="t">
              <a:spAutoFit/>
            </a:bodyPr>
            <a:lstStyle/>
            <a:p>
              <a:r>
                <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Japan</a:t>
              </a:r>
            </a:p>
          </p:txBody>
        </p:sp>
        <p:sp>
          <p:nvSpPr>
            <p:cNvPr id="29" name="文本框 28"/>
            <p:cNvSpPr txBox="1"/>
            <p:nvPr/>
          </p:nvSpPr>
          <p:spPr>
            <a:xfrm>
              <a:off x="5669" y="7759"/>
              <a:ext cx="1417" cy="337"/>
            </a:xfrm>
            <a:prstGeom prst="rect">
              <a:avLst/>
            </a:prstGeom>
            <a:noFill/>
          </p:spPr>
          <p:txBody>
            <a:bodyPr wrap="square" rtlCol="0" anchor="t">
              <a:spAutoFit/>
            </a:bodyPr>
            <a:lstStyle/>
            <a:p>
              <a:r>
                <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Home</a:t>
              </a:r>
            </a:p>
          </p:txBody>
        </p:sp>
        <p:sp>
          <p:nvSpPr>
            <p:cNvPr id="30" name="矩形 29"/>
            <p:cNvSpPr/>
            <p:nvPr>
              <p:custDataLst>
                <p:tags r:id="rId6"/>
              </p:custDataLst>
            </p:nvPr>
          </p:nvSpPr>
          <p:spPr>
            <a:xfrm>
              <a:off x="7030" y="7853"/>
              <a:ext cx="1530"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7" name="矩形 6"/>
            <p:cNvSpPr/>
            <p:nvPr>
              <p:custDataLst>
                <p:tags r:id="rId7"/>
              </p:custDataLst>
            </p:nvPr>
          </p:nvSpPr>
          <p:spPr>
            <a:xfrm>
              <a:off x="7030" y="8289"/>
              <a:ext cx="1077"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32" name="矩形 31"/>
            <p:cNvSpPr/>
            <p:nvPr>
              <p:custDataLst>
                <p:tags r:id="rId8"/>
              </p:custDataLst>
            </p:nvPr>
          </p:nvSpPr>
          <p:spPr>
            <a:xfrm>
              <a:off x="7030" y="8725"/>
              <a:ext cx="907"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61" name="椭圆 60"/>
            <p:cNvSpPr>
              <a:spLocks noChangeAspect="1"/>
            </p:cNvSpPr>
            <p:nvPr/>
          </p:nvSpPr>
          <p:spPr>
            <a:xfrm>
              <a:off x="5565" y="7879"/>
              <a:ext cx="109" cy="109"/>
            </a:xfrm>
            <a:prstGeom prst="ellipse">
              <a:avLst/>
            </a:prstGeom>
            <a:solidFill>
              <a:schemeClr val="bg1"/>
            </a:solidFill>
            <a:ln w="4445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62" name="椭圆 61"/>
            <p:cNvSpPr>
              <a:spLocks noChangeAspect="1"/>
            </p:cNvSpPr>
            <p:nvPr/>
          </p:nvSpPr>
          <p:spPr>
            <a:xfrm>
              <a:off x="5538" y="8267"/>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63" name="椭圆 62"/>
            <p:cNvSpPr>
              <a:spLocks noChangeAspect="1"/>
            </p:cNvSpPr>
            <p:nvPr/>
          </p:nvSpPr>
          <p:spPr>
            <a:xfrm>
              <a:off x="5538" y="8711"/>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64" name="椭圆 63"/>
            <p:cNvSpPr>
              <a:spLocks noChangeAspect="1"/>
            </p:cNvSpPr>
            <p:nvPr/>
          </p:nvSpPr>
          <p:spPr>
            <a:xfrm>
              <a:off x="5538" y="9154"/>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65" name="椭圆 64"/>
            <p:cNvSpPr>
              <a:spLocks noChangeAspect="1"/>
            </p:cNvSpPr>
            <p:nvPr/>
          </p:nvSpPr>
          <p:spPr>
            <a:xfrm>
              <a:off x="5538" y="9598"/>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66" name="文本框 65"/>
            <p:cNvSpPr txBox="1"/>
            <p:nvPr/>
          </p:nvSpPr>
          <p:spPr>
            <a:xfrm>
              <a:off x="5669" y="8116"/>
              <a:ext cx="1417" cy="533"/>
            </a:xfrm>
            <a:prstGeom prst="rect">
              <a:avLst/>
            </a:prstGeom>
            <a:noFill/>
          </p:spPr>
          <p:txBody>
            <a:bodyPr wrap="square" rtlCol="0" anchor="t">
              <a:spAutoFit/>
            </a:bodyPr>
            <a:lstStyle/>
            <a:p>
              <a:r>
                <a:rPr lang="en-US" altLang="zh-CN" sz="800" dirty="0">
                  <a:latin typeface="微软雅黑" panose="020B0503020204020204" pitchFamily="34" charset="-122"/>
                  <a:ea typeface="微软雅黑" panose="020B0503020204020204" pitchFamily="34" charset="-122"/>
                  <a:cs typeface="Amazon Ember" panose="020B0603020204020204" charset="0"/>
                  <a:sym typeface="+mn-ea"/>
                </a:rPr>
                <a:t>Home Improvement</a:t>
              </a:r>
              <a:endPar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67" name="文本框 66"/>
            <p:cNvSpPr txBox="1"/>
            <p:nvPr/>
          </p:nvSpPr>
          <p:spPr>
            <a:xfrm>
              <a:off x="5669" y="8632"/>
              <a:ext cx="1417" cy="337"/>
            </a:xfrm>
            <a:prstGeom prst="rect">
              <a:avLst/>
            </a:prstGeom>
            <a:noFill/>
          </p:spPr>
          <p:txBody>
            <a:bodyPr wrap="square" rtlCol="0" anchor="t">
              <a:spAutoFit/>
            </a:bodyPr>
            <a:lstStyle/>
            <a:p>
              <a:r>
                <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Clothing</a:t>
              </a:r>
            </a:p>
          </p:txBody>
        </p:sp>
        <p:sp>
          <p:nvSpPr>
            <p:cNvPr id="68" name="文本框 67"/>
            <p:cNvSpPr txBox="1"/>
            <p:nvPr/>
          </p:nvSpPr>
          <p:spPr>
            <a:xfrm>
              <a:off x="5669" y="9069"/>
              <a:ext cx="1417" cy="337"/>
            </a:xfrm>
            <a:prstGeom prst="rect">
              <a:avLst/>
            </a:prstGeom>
            <a:noFill/>
          </p:spPr>
          <p:txBody>
            <a:bodyPr wrap="square" rtlCol="0" anchor="t">
              <a:spAutoFit/>
            </a:bodyPr>
            <a:lstStyle/>
            <a:p>
              <a:r>
                <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Toys Baby</a:t>
              </a:r>
            </a:p>
          </p:txBody>
        </p:sp>
        <p:sp>
          <p:nvSpPr>
            <p:cNvPr id="69" name="文本框 68"/>
            <p:cNvSpPr txBox="1"/>
            <p:nvPr/>
          </p:nvSpPr>
          <p:spPr>
            <a:xfrm>
              <a:off x="5674" y="9410"/>
              <a:ext cx="1417" cy="531"/>
            </a:xfrm>
            <a:prstGeom prst="rect">
              <a:avLst/>
            </a:prstGeom>
            <a:noFill/>
          </p:spPr>
          <p:txBody>
            <a:bodyPr wrap="square" rtlCol="0" anchor="t">
              <a:spAutoFit/>
            </a:bodyPr>
            <a:lstStyle/>
            <a:p>
              <a:r>
                <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Consumer Electeonics</a:t>
              </a:r>
            </a:p>
          </p:txBody>
        </p:sp>
        <p:sp>
          <p:nvSpPr>
            <p:cNvPr id="70" name="椭圆 69"/>
            <p:cNvSpPr>
              <a:spLocks noChangeAspect="1"/>
            </p:cNvSpPr>
            <p:nvPr/>
          </p:nvSpPr>
          <p:spPr>
            <a:xfrm>
              <a:off x="5538" y="10026"/>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72" name="文本框 71"/>
            <p:cNvSpPr txBox="1"/>
            <p:nvPr/>
          </p:nvSpPr>
          <p:spPr>
            <a:xfrm>
              <a:off x="5669" y="9881"/>
              <a:ext cx="1417" cy="531"/>
            </a:xfrm>
            <a:prstGeom prst="rect">
              <a:avLst/>
            </a:prstGeom>
            <a:noFill/>
          </p:spPr>
          <p:txBody>
            <a:bodyPr wrap="square" rtlCol="0" anchor="t">
              <a:spAutoFit/>
            </a:bodyPr>
            <a:lstStyle/>
            <a:p>
              <a:r>
                <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Health And Personal Care</a:t>
              </a:r>
            </a:p>
          </p:txBody>
        </p:sp>
        <p:sp>
          <p:nvSpPr>
            <p:cNvPr id="74" name="矩形 73"/>
            <p:cNvSpPr/>
            <p:nvPr>
              <p:custDataLst>
                <p:tags r:id="rId9"/>
              </p:custDataLst>
            </p:nvPr>
          </p:nvSpPr>
          <p:spPr>
            <a:xfrm>
              <a:off x="7030" y="9161"/>
              <a:ext cx="907"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75" name="矩形 74"/>
            <p:cNvSpPr/>
            <p:nvPr>
              <p:custDataLst>
                <p:tags r:id="rId10"/>
              </p:custDataLst>
            </p:nvPr>
          </p:nvSpPr>
          <p:spPr>
            <a:xfrm>
              <a:off x="7030" y="9597"/>
              <a:ext cx="737"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76" name="矩形 75"/>
            <p:cNvSpPr/>
            <p:nvPr>
              <p:custDataLst>
                <p:tags r:id="rId11"/>
              </p:custDataLst>
            </p:nvPr>
          </p:nvSpPr>
          <p:spPr>
            <a:xfrm>
              <a:off x="7030" y="10032"/>
              <a:ext cx="624"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grpSp>
          <p:nvGrpSpPr>
            <p:cNvPr id="78" name="组合 77"/>
            <p:cNvGrpSpPr/>
            <p:nvPr/>
          </p:nvGrpSpPr>
          <p:grpSpPr>
            <a:xfrm>
              <a:off x="8750" y="7849"/>
              <a:ext cx="248" cy="2551"/>
              <a:chOff x="8617" y="5658"/>
              <a:chExt cx="257" cy="2646"/>
            </a:xfrm>
          </p:grpSpPr>
          <p:sp>
            <p:nvSpPr>
              <p:cNvPr id="79" name="矩形 78"/>
              <p:cNvSpPr/>
              <p:nvPr/>
            </p:nvSpPr>
            <p:spPr>
              <a:xfrm>
                <a:off x="8617" y="5658"/>
                <a:ext cx="257" cy="26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80" name="矩形 79"/>
              <p:cNvSpPr/>
              <p:nvPr/>
            </p:nvSpPr>
            <p:spPr>
              <a:xfrm>
                <a:off x="8617" y="5908"/>
                <a:ext cx="257" cy="957"/>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81" name="燕尾形 80"/>
              <p:cNvSpPr>
                <a:spLocks noChangeAspect="1"/>
              </p:cNvSpPr>
              <p:nvPr/>
            </p:nvSpPr>
            <p:spPr>
              <a:xfrm rot="16200000">
                <a:off x="8689" y="5736"/>
                <a:ext cx="113" cy="139"/>
              </a:xfrm>
              <a:prstGeom prst="chevron">
                <a:avLst>
                  <a:gd name="adj" fmla="val 5647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dirty="0">
                  <a:latin typeface="微软雅黑" panose="020B0503020204020204" pitchFamily="34" charset="-122"/>
                  <a:ea typeface="微软雅黑" panose="020B0503020204020204" pitchFamily="34" charset="-122"/>
                  <a:sym typeface="+mn-ea"/>
                </a:endParaRPr>
              </a:p>
            </p:txBody>
          </p:sp>
        </p:grpSp>
        <p:sp>
          <p:nvSpPr>
            <p:cNvPr id="101" name="矩形 100"/>
            <p:cNvSpPr/>
            <p:nvPr/>
          </p:nvSpPr>
          <p:spPr>
            <a:xfrm>
              <a:off x="13454" y="6695"/>
              <a:ext cx="4021" cy="417"/>
            </a:xfrm>
            <a:prstGeom prst="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rPr>
                <a:t>搜索类别和关键词</a:t>
              </a:r>
            </a:p>
          </p:txBody>
        </p:sp>
        <p:cxnSp>
          <p:nvCxnSpPr>
            <p:cNvPr id="43" name="直接连接符 42"/>
            <p:cNvCxnSpPr/>
            <p:nvPr/>
          </p:nvCxnSpPr>
          <p:spPr>
            <a:xfrm>
              <a:off x="1714" y="7265"/>
              <a:ext cx="15761" cy="0"/>
            </a:xfrm>
            <a:prstGeom prst="line">
              <a:avLst/>
            </a:prstGeom>
            <a:ln w="12700">
              <a:solidFill>
                <a:srgbClr val="00A4B4"/>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0124" y="7701"/>
              <a:ext cx="1474" cy="725"/>
            </a:xfrm>
            <a:prstGeom prst="rect">
              <a:avLst/>
            </a:prstGeom>
            <a:noFill/>
          </p:spPr>
          <p:txBody>
            <a:bodyPr wrap="square" rtlCol="0" anchor="t">
              <a:spAutoFit/>
            </a:bodyPr>
            <a:lstStyle/>
            <a:p>
              <a:r>
                <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Home Furniture And Decor</a:t>
              </a:r>
            </a:p>
          </p:txBody>
        </p:sp>
        <p:sp>
          <p:nvSpPr>
            <p:cNvPr id="17" name="矩形 16"/>
            <p:cNvSpPr/>
            <p:nvPr>
              <p:custDataLst>
                <p:tags r:id="rId12"/>
              </p:custDataLst>
            </p:nvPr>
          </p:nvSpPr>
          <p:spPr>
            <a:xfrm>
              <a:off x="11485" y="7853"/>
              <a:ext cx="1530"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24" name="矩形 23"/>
            <p:cNvSpPr/>
            <p:nvPr>
              <p:custDataLst>
                <p:tags r:id="rId13"/>
              </p:custDataLst>
            </p:nvPr>
          </p:nvSpPr>
          <p:spPr>
            <a:xfrm>
              <a:off x="11485" y="8289"/>
              <a:ext cx="1361"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33" name="矩形 32"/>
            <p:cNvSpPr/>
            <p:nvPr>
              <p:custDataLst>
                <p:tags r:id="rId14"/>
              </p:custDataLst>
            </p:nvPr>
          </p:nvSpPr>
          <p:spPr>
            <a:xfrm>
              <a:off x="11485" y="8725"/>
              <a:ext cx="1134"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34" name="椭圆 33"/>
            <p:cNvSpPr>
              <a:spLocks noChangeAspect="1"/>
            </p:cNvSpPr>
            <p:nvPr/>
          </p:nvSpPr>
          <p:spPr>
            <a:xfrm>
              <a:off x="10020" y="7879"/>
              <a:ext cx="109" cy="109"/>
            </a:xfrm>
            <a:prstGeom prst="ellipse">
              <a:avLst/>
            </a:prstGeom>
            <a:solidFill>
              <a:schemeClr val="bg1"/>
            </a:solidFill>
            <a:ln w="4445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35" name="椭圆 34"/>
            <p:cNvSpPr>
              <a:spLocks noChangeAspect="1"/>
            </p:cNvSpPr>
            <p:nvPr/>
          </p:nvSpPr>
          <p:spPr>
            <a:xfrm>
              <a:off x="9993" y="8267"/>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36" name="椭圆 35"/>
            <p:cNvSpPr>
              <a:spLocks noChangeAspect="1"/>
            </p:cNvSpPr>
            <p:nvPr/>
          </p:nvSpPr>
          <p:spPr>
            <a:xfrm>
              <a:off x="9993" y="8711"/>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37" name="椭圆 36"/>
            <p:cNvSpPr>
              <a:spLocks noChangeAspect="1"/>
            </p:cNvSpPr>
            <p:nvPr/>
          </p:nvSpPr>
          <p:spPr>
            <a:xfrm>
              <a:off x="9993" y="9154"/>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38" name="椭圆 37"/>
            <p:cNvSpPr>
              <a:spLocks noChangeAspect="1"/>
            </p:cNvSpPr>
            <p:nvPr/>
          </p:nvSpPr>
          <p:spPr>
            <a:xfrm>
              <a:off x="9993" y="9598"/>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10124" y="8196"/>
              <a:ext cx="1417" cy="337"/>
            </a:xfrm>
            <a:prstGeom prst="rect">
              <a:avLst/>
            </a:prstGeom>
            <a:noFill/>
          </p:spPr>
          <p:txBody>
            <a:bodyPr wrap="square" rtlCol="0" anchor="t">
              <a:spAutoFit/>
            </a:bodyPr>
            <a:lstStyle/>
            <a:p>
              <a:r>
                <a:rPr lang="en-US" altLang="zh-CN" sz="800" dirty="0">
                  <a:latin typeface="微软雅黑" panose="020B0503020204020204" pitchFamily="34" charset="-122"/>
                  <a:ea typeface="微软雅黑" panose="020B0503020204020204" pitchFamily="34" charset="-122"/>
                  <a:cs typeface="Amazon Ember" panose="020B0603020204020204" charset="0"/>
                  <a:sym typeface="+mn-ea"/>
                </a:rPr>
                <a:t>Home </a:t>
              </a:r>
              <a:endPar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40" name="文本框 39"/>
            <p:cNvSpPr txBox="1"/>
            <p:nvPr/>
          </p:nvSpPr>
          <p:spPr>
            <a:xfrm>
              <a:off x="10124" y="8541"/>
              <a:ext cx="1417" cy="531"/>
            </a:xfrm>
            <a:prstGeom prst="rect">
              <a:avLst/>
            </a:prstGeom>
            <a:noFill/>
          </p:spPr>
          <p:txBody>
            <a:bodyPr wrap="square" rtlCol="0" anchor="t">
              <a:spAutoFit/>
            </a:bodyPr>
            <a:lstStyle/>
            <a:p>
              <a:r>
                <a:rPr lang="en-US" altLang="zh-CN" sz="800" dirty="0">
                  <a:latin typeface="微软雅黑" panose="020B0503020204020204" pitchFamily="34" charset="-122"/>
                  <a:ea typeface="微软雅黑" panose="020B0503020204020204" pitchFamily="34" charset="-122"/>
                  <a:cs typeface="Amazon Ember" panose="020B0603020204020204" charset="0"/>
                  <a:sym typeface="+mn-ea"/>
                </a:rPr>
                <a:t>Home Bed And Bath</a:t>
              </a:r>
              <a:endPar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41" name="文本框 40"/>
            <p:cNvSpPr txBox="1"/>
            <p:nvPr/>
          </p:nvSpPr>
          <p:spPr>
            <a:xfrm>
              <a:off x="10124" y="9069"/>
              <a:ext cx="1417" cy="337"/>
            </a:xfrm>
            <a:prstGeom prst="rect">
              <a:avLst/>
            </a:prstGeom>
            <a:noFill/>
          </p:spPr>
          <p:txBody>
            <a:bodyPr wrap="square" rtlCol="0" anchor="t">
              <a:spAutoFit/>
            </a:bodyPr>
            <a:lstStyle/>
            <a:p>
              <a:r>
                <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Chair</a:t>
              </a:r>
            </a:p>
          </p:txBody>
        </p:sp>
        <p:sp>
          <p:nvSpPr>
            <p:cNvPr id="42" name="文本框 41"/>
            <p:cNvSpPr txBox="1"/>
            <p:nvPr/>
          </p:nvSpPr>
          <p:spPr>
            <a:xfrm>
              <a:off x="10124" y="9506"/>
              <a:ext cx="1417" cy="337"/>
            </a:xfrm>
            <a:prstGeom prst="rect">
              <a:avLst/>
            </a:prstGeom>
            <a:noFill/>
          </p:spPr>
          <p:txBody>
            <a:bodyPr wrap="square" rtlCol="0" anchor="t">
              <a:spAutoFit/>
            </a:bodyPr>
            <a:lstStyle/>
            <a:p>
              <a:r>
                <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Rug</a:t>
              </a:r>
            </a:p>
          </p:txBody>
        </p:sp>
        <p:sp>
          <p:nvSpPr>
            <p:cNvPr id="44" name="椭圆 43"/>
            <p:cNvSpPr>
              <a:spLocks noChangeAspect="1"/>
            </p:cNvSpPr>
            <p:nvPr/>
          </p:nvSpPr>
          <p:spPr>
            <a:xfrm>
              <a:off x="9993" y="10026"/>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45" name="文本框 44"/>
            <p:cNvSpPr txBox="1"/>
            <p:nvPr/>
          </p:nvSpPr>
          <p:spPr>
            <a:xfrm>
              <a:off x="10124" y="9941"/>
              <a:ext cx="1417" cy="337"/>
            </a:xfrm>
            <a:prstGeom prst="rect">
              <a:avLst/>
            </a:prstGeom>
            <a:noFill/>
          </p:spPr>
          <p:txBody>
            <a:bodyPr wrap="square" rtlCol="0" anchor="t">
              <a:spAutoFit/>
            </a:bodyPr>
            <a:lstStyle/>
            <a:p>
              <a:r>
                <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Cabinet</a:t>
              </a:r>
            </a:p>
          </p:txBody>
        </p:sp>
        <p:sp>
          <p:nvSpPr>
            <p:cNvPr id="46" name="矩形 45"/>
            <p:cNvSpPr/>
            <p:nvPr>
              <p:custDataLst>
                <p:tags r:id="rId15"/>
              </p:custDataLst>
            </p:nvPr>
          </p:nvSpPr>
          <p:spPr>
            <a:xfrm>
              <a:off x="11485" y="9161"/>
              <a:ext cx="907"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47" name="矩形 46"/>
            <p:cNvSpPr/>
            <p:nvPr>
              <p:custDataLst>
                <p:tags r:id="rId16"/>
              </p:custDataLst>
            </p:nvPr>
          </p:nvSpPr>
          <p:spPr>
            <a:xfrm>
              <a:off x="11485" y="9597"/>
              <a:ext cx="794"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48" name="矩形 47"/>
            <p:cNvSpPr/>
            <p:nvPr>
              <p:custDataLst>
                <p:tags r:id="rId17"/>
              </p:custDataLst>
            </p:nvPr>
          </p:nvSpPr>
          <p:spPr>
            <a:xfrm>
              <a:off x="11485" y="10032"/>
              <a:ext cx="737"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grpSp>
          <p:nvGrpSpPr>
            <p:cNvPr id="49" name="组合 48"/>
            <p:cNvGrpSpPr/>
            <p:nvPr/>
          </p:nvGrpSpPr>
          <p:grpSpPr>
            <a:xfrm>
              <a:off x="13205" y="7849"/>
              <a:ext cx="248" cy="2551"/>
              <a:chOff x="8617" y="5658"/>
              <a:chExt cx="257" cy="2646"/>
            </a:xfrm>
          </p:grpSpPr>
          <p:sp>
            <p:nvSpPr>
              <p:cNvPr id="50" name="矩形 49"/>
              <p:cNvSpPr/>
              <p:nvPr/>
            </p:nvSpPr>
            <p:spPr>
              <a:xfrm>
                <a:off x="8617" y="5658"/>
                <a:ext cx="257" cy="26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51" name="矩形 50"/>
              <p:cNvSpPr/>
              <p:nvPr/>
            </p:nvSpPr>
            <p:spPr>
              <a:xfrm>
                <a:off x="8617" y="5908"/>
                <a:ext cx="257" cy="957"/>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52" name="燕尾形 51"/>
              <p:cNvSpPr>
                <a:spLocks noChangeAspect="1"/>
              </p:cNvSpPr>
              <p:nvPr/>
            </p:nvSpPr>
            <p:spPr>
              <a:xfrm rot="16200000">
                <a:off x="8689" y="5736"/>
                <a:ext cx="113" cy="139"/>
              </a:xfrm>
              <a:prstGeom prst="chevron">
                <a:avLst>
                  <a:gd name="adj" fmla="val 5647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dirty="0">
                  <a:latin typeface="微软雅黑" panose="020B0503020204020204" pitchFamily="34" charset="-122"/>
                  <a:ea typeface="微软雅黑" panose="020B0503020204020204" pitchFamily="34" charset="-122"/>
                  <a:sym typeface="+mn-ea"/>
                </a:endParaRPr>
              </a:p>
            </p:txBody>
          </p:sp>
        </p:grpSp>
        <p:sp>
          <p:nvSpPr>
            <p:cNvPr id="53" name="文本框 52"/>
            <p:cNvSpPr txBox="1"/>
            <p:nvPr/>
          </p:nvSpPr>
          <p:spPr>
            <a:xfrm>
              <a:off x="14148" y="7759"/>
              <a:ext cx="1417" cy="339"/>
            </a:xfrm>
            <a:prstGeom prst="rect">
              <a:avLst/>
            </a:prstGeom>
            <a:noFill/>
          </p:spPr>
          <p:txBody>
            <a:bodyPr wrap="square" rtlCol="0" anchor="t">
              <a:spAutoFit/>
            </a:bodyPr>
            <a:lstStyle/>
            <a:p>
              <a:r>
                <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Picture Frames</a:t>
              </a:r>
            </a:p>
          </p:txBody>
        </p:sp>
        <p:sp>
          <p:nvSpPr>
            <p:cNvPr id="54" name="矩形 53"/>
            <p:cNvSpPr/>
            <p:nvPr>
              <p:custDataLst>
                <p:tags r:id="rId18"/>
              </p:custDataLst>
            </p:nvPr>
          </p:nvSpPr>
          <p:spPr>
            <a:xfrm>
              <a:off x="15509" y="7853"/>
              <a:ext cx="1530"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55" name="矩形 54"/>
            <p:cNvSpPr/>
            <p:nvPr>
              <p:custDataLst>
                <p:tags r:id="rId19"/>
              </p:custDataLst>
            </p:nvPr>
          </p:nvSpPr>
          <p:spPr>
            <a:xfrm>
              <a:off x="15509" y="8289"/>
              <a:ext cx="1134"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56" name="矩形 55"/>
            <p:cNvSpPr/>
            <p:nvPr>
              <p:custDataLst>
                <p:tags r:id="rId20"/>
              </p:custDataLst>
            </p:nvPr>
          </p:nvSpPr>
          <p:spPr>
            <a:xfrm>
              <a:off x="15509" y="8823"/>
              <a:ext cx="1134"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57" name="椭圆 56"/>
            <p:cNvSpPr>
              <a:spLocks noChangeAspect="1"/>
            </p:cNvSpPr>
            <p:nvPr/>
          </p:nvSpPr>
          <p:spPr>
            <a:xfrm>
              <a:off x="14044" y="7879"/>
              <a:ext cx="109" cy="109"/>
            </a:xfrm>
            <a:prstGeom prst="ellipse">
              <a:avLst/>
            </a:prstGeom>
            <a:solidFill>
              <a:schemeClr val="bg1"/>
            </a:solidFill>
            <a:ln w="4445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58" name="椭圆 57"/>
            <p:cNvSpPr>
              <a:spLocks noChangeAspect="1"/>
            </p:cNvSpPr>
            <p:nvPr/>
          </p:nvSpPr>
          <p:spPr>
            <a:xfrm>
              <a:off x="14017" y="8267"/>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59" name="椭圆 58"/>
            <p:cNvSpPr>
              <a:spLocks noChangeAspect="1"/>
            </p:cNvSpPr>
            <p:nvPr/>
          </p:nvSpPr>
          <p:spPr>
            <a:xfrm>
              <a:off x="14017" y="8809"/>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60" name="椭圆 59"/>
            <p:cNvSpPr>
              <a:spLocks noChangeAspect="1"/>
            </p:cNvSpPr>
            <p:nvPr/>
          </p:nvSpPr>
          <p:spPr>
            <a:xfrm>
              <a:off x="14017" y="9399"/>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102" name="椭圆 101"/>
            <p:cNvSpPr>
              <a:spLocks noChangeAspect="1"/>
            </p:cNvSpPr>
            <p:nvPr/>
          </p:nvSpPr>
          <p:spPr>
            <a:xfrm>
              <a:off x="14017" y="9941"/>
              <a:ext cx="164" cy="164"/>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103" name="文本框 102"/>
            <p:cNvSpPr txBox="1"/>
            <p:nvPr/>
          </p:nvSpPr>
          <p:spPr>
            <a:xfrm>
              <a:off x="14148" y="8105"/>
              <a:ext cx="1417" cy="531"/>
            </a:xfrm>
            <a:prstGeom prst="rect">
              <a:avLst/>
            </a:prstGeom>
            <a:noFill/>
          </p:spPr>
          <p:txBody>
            <a:bodyPr wrap="square" rtlCol="0" anchor="t">
              <a:spAutoFit/>
            </a:bodyPr>
            <a:lstStyle/>
            <a:p>
              <a:r>
                <a:rPr lang="en-US" altLang="zh-CN" sz="800" dirty="0">
                  <a:latin typeface="微软雅黑" panose="020B0503020204020204" pitchFamily="34" charset="-122"/>
                  <a:ea typeface="微软雅黑" panose="020B0503020204020204" pitchFamily="34" charset="-122"/>
                  <a:cs typeface="Amazon Ember" panose="020B0603020204020204" charset="0"/>
                  <a:sym typeface="+mn-ea"/>
                </a:rPr>
                <a:t>Bathroon Furniture Sets</a:t>
              </a:r>
              <a:endPar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104" name="文本框 103"/>
            <p:cNvSpPr txBox="1"/>
            <p:nvPr/>
          </p:nvSpPr>
          <p:spPr>
            <a:xfrm>
              <a:off x="14148" y="8639"/>
              <a:ext cx="1474" cy="725"/>
            </a:xfrm>
            <a:prstGeom prst="rect">
              <a:avLst/>
            </a:prstGeom>
            <a:noFill/>
          </p:spPr>
          <p:txBody>
            <a:bodyPr wrap="square" rtlCol="0" anchor="t">
              <a:spAutoFit/>
            </a:bodyPr>
            <a:lstStyle/>
            <a:p>
              <a:r>
                <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Novelty Holiday Decorations</a:t>
              </a:r>
            </a:p>
          </p:txBody>
        </p:sp>
        <p:sp>
          <p:nvSpPr>
            <p:cNvPr id="105" name="文本框 104"/>
            <p:cNvSpPr txBox="1"/>
            <p:nvPr/>
          </p:nvSpPr>
          <p:spPr>
            <a:xfrm>
              <a:off x="14148" y="9223"/>
              <a:ext cx="1417" cy="531"/>
            </a:xfrm>
            <a:prstGeom prst="rect">
              <a:avLst/>
            </a:prstGeom>
            <a:noFill/>
          </p:spPr>
          <p:txBody>
            <a:bodyPr wrap="square" rtlCol="0" anchor="t">
              <a:spAutoFit/>
            </a:bodyPr>
            <a:lstStyle/>
            <a:p>
              <a:r>
                <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Quilting Cutting Mats</a:t>
              </a:r>
            </a:p>
          </p:txBody>
        </p:sp>
        <p:sp>
          <p:nvSpPr>
            <p:cNvPr id="106" name="文本框 105"/>
            <p:cNvSpPr txBox="1"/>
            <p:nvPr/>
          </p:nvSpPr>
          <p:spPr>
            <a:xfrm>
              <a:off x="14148" y="9849"/>
              <a:ext cx="1417" cy="337"/>
            </a:xfrm>
            <a:prstGeom prst="rect">
              <a:avLst/>
            </a:prstGeom>
            <a:noFill/>
          </p:spPr>
          <p:txBody>
            <a:bodyPr wrap="square" rtlCol="0" anchor="t">
              <a:spAutoFit/>
            </a:bodyPr>
            <a:lstStyle/>
            <a:p>
              <a:r>
                <a:rPr lang="en-US" altLang="zh-CN" sz="8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Vanities</a:t>
              </a:r>
            </a:p>
          </p:txBody>
        </p:sp>
        <p:sp>
          <p:nvSpPr>
            <p:cNvPr id="109" name="矩形 108"/>
            <p:cNvSpPr/>
            <p:nvPr>
              <p:custDataLst>
                <p:tags r:id="rId21"/>
              </p:custDataLst>
            </p:nvPr>
          </p:nvSpPr>
          <p:spPr>
            <a:xfrm>
              <a:off x="15509" y="9406"/>
              <a:ext cx="964"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110" name="矩形 109"/>
            <p:cNvSpPr/>
            <p:nvPr>
              <p:custDataLst>
                <p:tags r:id="rId22"/>
              </p:custDataLst>
            </p:nvPr>
          </p:nvSpPr>
          <p:spPr>
            <a:xfrm>
              <a:off x="15509" y="9940"/>
              <a:ext cx="850"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grpSp>
          <p:nvGrpSpPr>
            <p:cNvPr id="112" name="组合 111"/>
            <p:cNvGrpSpPr/>
            <p:nvPr/>
          </p:nvGrpSpPr>
          <p:grpSpPr>
            <a:xfrm>
              <a:off x="17229" y="7849"/>
              <a:ext cx="248" cy="2551"/>
              <a:chOff x="8617" y="5658"/>
              <a:chExt cx="257" cy="2646"/>
            </a:xfrm>
          </p:grpSpPr>
          <p:sp>
            <p:nvSpPr>
              <p:cNvPr id="113" name="矩形 112"/>
              <p:cNvSpPr/>
              <p:nvPr/>
            </p:nvSpPr>
            <p:spPr>
              <a:xfrm>
                <a:off x="8617" y="5658"/>
                <a:ext cx="257" cy="26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114" name="矩形 113"/>
              <p:cNvSpPr/>
              <p:nvPr/>
            </p:nvSpPr>
            <p:spPr>
              <a:xfrm>
                <a:off x="8617" y="5908"/>
                <a:ext cx="257" cy="957"/>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115" name="燕尾形 114"/>
              <p:cNvSpPr>
                <a:spLocks noChangeAspect="1"/>
              </p:cNvSpPr>
              <p:nvPr/>
            </p:nvSpPr>
            <p:spPr>
              <a:xfrm rot="16200000">
                <a:off x="8689" y="5736"/>
                <a:ext cx="113" cy="139"/>
              </a:xfrm>
              <a:prstGeom prst="chevron">
                <a:avLst>
                  <a:gd name="adj" fmla="val 5647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dirty="0">
                  <a:latin typeface="微软雅黑" panose="020B0503020204020204" pitchFamily="34" charset="-122"/>
                  <a:ea typeface="微软雅黑" panose="020B0503020204020204" pitchFamily="34" charset="-122"/>
                  <a:sym typeface="+mn-ea"/>
                </a:endParaRPr>
              </a:p>
            </p:txBody>
          </p:sp>
        </p:grpSp>
        <p:sp>
          <p:nvSpPr>
            <p:cNvPr id="116" name="矩形 115"/>
            <p:cNvSpPr/>
            <p:nvPr>
              <p:custDataLst>
                <p:tags r:id="rId23"/>
              </p:custDataLst>
            </p:nvPr>
          </p:nvSpPr>
          <p:spPr>
            <a:xfrm>
              <a:off x="3469" y="9149"/>
              <a:ext cx="1361" cy="164"/>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117" name="文本框 116"/>
            <p:cNvSpPr txBox="1"/>
            <p:nvPr/>
          </p:nvSpPr>
          <p:spPr>
            <a:xfrm>
              <a:off x="1805" y="6359"/>
              <a:ext cx="5796" cy="434"/>
            </a:xfrm>
            <a:prstGeom prst="rect">
              <a:avLst/>
            </a:prstGeom>
            <a:noFill/>
          </p:spPr>
          <p:txBody>
            <a:bodyPr wrap="square" rtlCol="0" anchor="t">
              <a:spAutoFit/>
            </a:bodyPr>
            <a:lstStyle/>
            <a:p>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Amazon Ember" panose="020B0603020204020204" charset="0"/>
                  <a:sym typeface="+mn-ea"/>
                </a:rPr>
                <a:t>筛选条件</a:t>
              </a:r>
            </a:p>
          </p:txBody>
        </p:sp>
        <p:sp>
          <p:nvSpPr>
            <p:cNvPr id="118" name="文本框 117"/>
            <p:cNvSpPr txBox="1"/>
            <p:nvPr/>
          </p:nvSpPr>
          <p:spPr>
            <a:xfrm>
              <a:off x="1805" y="6733"/>
              <a:ext cx="11040" cy="337"/>
            </a:xfrm>
            <a:prstGeom prst="rect">
              <a:avLst/>
            </a:prstGeom>
            <a:noFill/>
          </p:spPr>
          <p:txBody>
            <a:bodyPr wrap="square" rtlCol="0" anchor="t">
              <a:spAutoFit/>
            </a:bodyPr>
            <a:lstStyle/>
            <a:p>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思源黑体 Normal" panose="020B0400000000000000" charset="-122"/>
                  <a:sym typeface="+mn-ea"/>
                </a:rPr>
                <a:t>在下面的列表中进行选择以便查看性能数据。类别</a:t>
              </a:r>
              <a:r>
                <a:rPr lang="en-US" altLang="zh-CN" sz="800" dirty="0">
                  <a:solidFill>
                    <a:schemeClr val="tx1">
                      <a:lumMod val="50000"/>
                      <a:lumOff val="50000"/>
                    </a:schemeClr>
                  </a:solidFill>
                  <a:latin typeface="微软雅黑" panose="020B0503020204020204" pitchFamily="34" charset="-122"/>
                  <a:ea typeface="微软雅黑" panose="020B0503020204020204" pitchFamily="34" charset="-122"/>
                  <a:cs typeface="思源黑体 Normal" panose="020B0400000000000000" charset="-122"/>
                  <a:sym typeface="+mn-ea"/>
                </a:rPr>
                <a:t>/</a:t>
              </a: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思源黑体 Normal" panose="020B0400000000000000" charset="-122"/>
                  <a:sym typeface="+mn-ea"/>
                </a:rPr>
                <a:t>商品类型</a:t>
              </a:r>
              <a:r>
                <a:rPr lang="en-US" altLang="zh-CN" sz="800" dirty="0">
                  <a:solidFill>
                    <a:schemeClr val="tx1">
                      <a:lumMod val="50000"/>
                      <a:lumOff val="50000"/>
                    </a:schemeClr>
                  </a:solidFill>
                  <a:latin typeface="微软雅黑" panose="020B0503020204020204" pitchFamily="34" charset="-122"/>
                  <a:ea typeface="微软雅黑" panose="020B0503020204020204" pitchFamily="34" charset="-122"/>
                  <a:cs typeface="思源黑体 Normal" panose="020B0400000000000000" charset="-122"/>
                  <a:sym typeface="+mn-ea"/>
                </a:rPr>
                <a:t>/</a:t>
              </a: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思源黑体 Normal" panose="020B0400000000000000" charset="-122"/>
                  <a:sym typeface="+mn-ea"/>
                </a:rPr>
                <a:t>分类节点的条形长度表示其中的商品在交易站点中的以往</a:t>
              </a:r>
              <a:r>
                <a:rPr lang="zh-CN" altLang="en-US" sz="800" b="1" dirty="0">
                  <a:solidFill>
                    <a:srgbClr val="00A4B4"/>
                  </a:solidFill>
                  <a:latin typeface="微软雅黑" panose="020B0503020204020204" pitchFamily="34" charset="-122"/>
                  <a:ea typeface="微软雅黑" panose="020B0503020204020204" pitchFamily="34" charset="-122"/>
                  <a:cs typeface="思源黑体 Normal" panose="020B0400000000000000" charset="-122"/>
                  <a:sym typeface="+mn-ea"/>
                </a:rPr>
                <a:t>需求量</a:t>
              </a:r>
              <a:r>
                <a:rPr lang="zh-CN" altLang="en-US" sz="800" dirty="0">
                  <a:solidFill>
                    <a:schemeClr val="tx1">
                      <a:lumMod val="50000"/>
                      <a:lumOff val="50000"/>
                    </a:schemeClr>
                  </a:solidFill>
                  <a:latin typeface="微软雅黑" panose="020B0503020204020204" pitchFamily="34" charset="-122"/>
                  <a:ea typeface="微软雅黑" panose="020B0503020204020204" pitchFamily="34" charset="-122"/>
                  <a:cs typeface="思源黑体 Normal" panose="020B0400000000000000" charset="-122"/>
                  <a:sym typeface="+mn-ea"/>
                </a:rPr>
                <a:t>。</a:t>
              </a:r>
            </a:p>
          </p:txBody>
        </p:sp>
      </p:gr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圆角矩形"/>
          <p:cNvSpPr/>
          <p:nvPr>
            <p:custDataLst>
              <p:tags r:id="rId1"/>
            </p:custDataLst>
          </p:nvPr>
        </p:nvSpPr>
        <p:spPr>
          <a:xfrm>
            <a:off x="1045210" y="1451610"/>
            <a:ext cx="4595495" cy="1922780"/>
          </a:xfrm>
          <a:prstGeom prst="roundRect">
            <a:avLst>
              <a:gd name="adj" fmla="val 7356"/>
            </a:avLst>
          </a:prstGeom>
          <a:gradFill>
            <a:gsLst>
              <a:gs pos="50005">
                <a:srgbClr val="E7E6E6">
                  <a:alpha val="10000"/>
                </a:srgbClr>
              </a:gs>
              <a:gs pos="1000">
                <a:schemeClr val="bg2">
                  <a:alpha val="20000"/>
                </a:schemeClr>
              </a:gs>
              <a:gs pos="100000">
                <a:schemeClr val="bg2">
                  <a:alpha val="20000"/>
                </a:schemeClr>
              </a:gs>
            </a:gsLst>
            <a:lin ang="3000000" scaled="0"/>
          </a:gradFill>
          <a:ln w="19050">
            <a:gradFill>
              <a:gsLst>
                <a:gs pos="0">
                  <a:schemeClr val="accent4"/>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lt"/>
            </a:endParaRPr>
          </a:p>
        </p:txBody>
      </p:sp>
      <p:sp>
        <p:nvSpPr>
          <p:cNvPr id="72" name="圆角矩形"/>
          <p:cNvSpPr/>
          <p:nvPr>
            <p:custDataLst>
              <p:tags r:id="rId2"/>
            </p:custDataLst>
          </p:nvPr>
        </p:nvSpPr>
        <p:spPr>
          <a:xfrm>
            <a:off x="5989320" y="1451610"/>
            <a:ext cx="4595495" cy="1922780"/>
          </a:xfrm>
          <a:prstGeom prst="roundRect">
            <a:avLst>
              <a:gd name="adj" fmla="val 5361"/>
            </a:avLst>
          </a:prstGeom>
          <a:gradFill>
            <a:gsLst>
              <a:gs pos="50005">
                <a:srgbClr val="E7E6E6">
                  <a:alpha val="10000"/>
                </a:srgbClr>
              </a:gs>
              <a:gs pos="1000">
                <a:schemeClr val="bg2">
                  <a:alpha val="20000"/>
                </a:schemeClr>
              </a:gs>
              <a:gs pos="100000">
                <a:schemeClr val="bg2">
                  <a:alpha val="20000"/>
                </a:schemeClr>
              </a:gs>
            </a:gsLst>
            <a:lin ang="3000000" scaled="0"/>
          </a:gradFill>
          <a:ln w="19050">
            <a:gradFill>
              <a:gsLst>
                <a:gs pos="0">
                  <a:schemeClr val="accent4"/>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45720" bIns="45720"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lt"/>
            </a:endParaRPr>
          </a:p>
        </p:txBody>
      </p:sp>
      <p:sp>
        <p:nvSpPr>
          <p:cNvPr id="73" name="圆角矩形"/>
          <p:cNvSpPr/>
          <p:nvPr>
            <p:custDataLst>
              <p:tags r:id="rId3"/>
            </p:custDataLst>
          </p:nvPr>
        </p:nvSpPr>
        <p:spPr>
          <a:xfrm>
            <a:off x="1045210" y="3705860"/>
            <a:ext cx="4595495" cy="1922780"/>
          </a:xfrm>
          <a:prstGeom prst="roundRect">
            <a:avLst>
              <a:gd name="adj" fmla="val 6690"/>
            </a:avLst>
          </a:prstGeom>
          <a:gradFill>
            <a:gsLst>
              <a:gs pos="50005">
                <a:srgbClr val="E7E6E6">
                  <a:alpha val="10000"/>
                </a:srgbClr>
              </a:gs>
              <a:gs pos="1000">
                <a:schemeClr val="bg2">
                  <a:alpha val="20000"/>
                </a:schemeClr>
              </a:gs>
              <a:gs pos="100000">
                <a:schemeClr val="bg2">
                  <a:alpha val="20000"/>
                </a:schemeClr>
              </a:gs>
            </a:gsLst>
            <a:lin ang="3000000" scaled="0"/>
          </a:gradFill>
          <a:ln w="19050">
            <a:gradFill>
              <a:gsLst>
                <a:gs pos="0">
                  <a:schemeClr val="accent4"/>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lt"/>
            </a:endParaRPr>
          </a:p>
        </p:txBody>
      </p:sp>
      <p:sp>
        <p:nvSpPr>
          <p:cNvPr id="74" name="圆角矩形"/>
          <p:cNvSpPr/>
          <p:nvPr>
            <p:custDataLst>
              <p:tags r:id="rId4"/>
            </p:custDataLst>
          </p:nvPr>
        </p:nvSpPr>
        <p:spPr>
          <a:xfrm>
            <a:off x="5989320" y="3705860"/>
            <a:ext cx="4595495" cy="1922780"/>
          </a:xfrm>
          <a:prstGeom prst="roundRect">
            <a:avLst>
              <a:gd name="adj" fmla="val 10014"/>
            </a:avLst>
          </a:prstGeom>
          <a:gradFill>
            <a:gsLst>
              <a:gs pos="50005">
                <a:srgbClr val="E7E6E6">
                  <a:alpha val="10000"/>
                </a:srgbClr>
              </a:gs>
              <a:gs pos="1000">
                <a:schemeClr val="bg2">
                  <a:alpha val="20000"/>
                </a:schemeClr>
              </a:gs>
              <a:gs pos="100000">
                <a:schemeClr val="bg2">
                  <a:alpha val="20000"/>
                </a:schemeClr>
              </a:gs>
            </a:gsLst>
            <a:lin ang="3000000" scaled="0"/>
          </a:gradFill>
          <a:ln w="19050">
            <a:gradFill>
              <a:gsLst>
                <a:gs pos="0">
                  <a:schemeClr val="accent4"/>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lt"/>
            </a:endParaRPr>
          </a:p>
        </p:txBody>
      </p:sp>
      <p:sp>
        <p:nvSpPr>
          <p:cNvPr id="2" name="Title 3"/>
          <p:cNvSpPr txBox="1"/>
          <p:nvPr/>
        </p:nvSpPr>
        <p:spPr>
          <a:xfrm>
            <a:off x="149913" y="219070"/>
            <a:ext cx="678815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第二步：为什么使用？</a:t>
            </a:r>
          </a:p>
        </p:txBody>
      </p:sp>
      <p:sp>
        <p:nvSpPr>
          <p:cNvPr id="13" name="TextBox 14"/>
          <p:cNvSpPr txBox="1"/>
          <p:nvPr>
            <p:custDataLst>
              <p:tags r:id="rId5"/>
            </p:custDataLst>
          </p:nvPr>
        </p:nvSpPr>
        <p:spPr>
          <a:xfrm>
            <a:off x="6760845" y="4317048"/>
            <a:ext cx="3333115" cy="1061720"/>
          </a:xfrm>
          <a:prstGeom prst="rect">
            <a:avLst/>
          </a:prstGeom>
        </p:spPr>
        <p:txBody>
          <a:bodyPr vert="horz" wrap="square" lIns="0" tIns="0" rIns="0" bIns="0" rtlCol="0" anchor="ctr">
            <a:spAutoFit/>
          </a:bodyPr>
          <a:lstStyle>
            <a:lvl1pPr defTabSz="685800">
              <a:spcBef>
                <a:spcPct val="0"/>
              </a:spcBef>
              <a:buNone/>
              <a:defRPr sz="1200" b="0" i="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indent="0" algn="r" defTabSz="825500" hangingPunct="0">
              <a:lnSpc>
                <a:spcPct val="150000"/>
              </a:lnSpc>
              <a:buClr>
                <a:srgbClr val="0099D9"/>
              </a:buClr>
            </a:pPr>
            <a:r>
              <a:rPr lang="zh-CN" altLang="en-US" sz="1800" spc="-20" dirty="0">
                <a:gradFill>
                  <a:gsLst>
                    <a:gs pos="0">
                      <a:srgbClr val="FF9911"/>
                    </a:gs>
                    <a:gs pos="100000">
                      <a:srgbClr val="F6C62C"/>
                    </a:gs>
                  </a:gsLst>
                  <a:lin ang="0" scaled="0"/>
                </a:gradFill>
                <a:latin typeface="微软雅黑" panose="020B0503020204020204" pitchFamily="34" charset="-122"/>
                <a:ea typeface="微软雅黑" panose="020B0503020204020204" pitchFamily="34" charset="-122"/>
                <a:cs typeface="+mn-cs"/>
              </a:rPr>
              <a:t>需求指数</a:t>
            </a:r>
          </a:p>
          <a:p>
            <a:pPr indent="0" algn="r" defTabSz="825500" hangingPunct="0">
              <a:lnSpc>
                <a:spcPct val="150000"/>
              </a:lnSpc>
              <a:buClr>
                <a:srgbClr val="0099D9"/>
              </a:buClr>
            </a:pPr>
            <a:r>
              <a:rPr lang="zh-CN" altLang="en-US" sz="1400" spc="-20" dirty="0">
                <a:solidFill>
                  <a:schemeClr val="tx1"/>
                </a:solidFill>
                <a:uFillTx/>
                <a:latin typeface="微软雅黑" panose="020B0503020204020204" pitchFamily="34" charset="-122"/>
                <a:ea typeface="微软雅黑" panose="020B0503020204020204" pitchFamily="34" charset="-122"/>
                <a:cs typeface="+mn-cs"/>
              </a:rPr>
              <a:t>能帮助卖家了解过去30天、6个月、12个月的需求分配、退货率跟搜索购买率。</a:t>
            </a:r>
          </a:p>
        </p:txBody>
      </p:sp>
      <p:sp>
        <p:nvSpPr>
          <p:cNvPr id="3" name="TextBox 14"/>
          <p:cNvSpPr txBox="1"/>
          <p:nvPr>
            <p:custDataLst>
              <p:tags r:id="rId6"/>
            </p:custDataLst>
          </p:nvPr>
        </p:nvSpPr>
        <p:spPr>
          <a:xfrm>
            <a:off x="1363980" y="4317365"/>
            <a:ext cx="3340100" cy="1061720"/>
          </a:xfrm>
          <a:prstGeom prst="rect">
            <a:avLst/>
          </a:prstGeom>
        </p:spPr>
        <p:txBody>
          <a:bodyPr vert="horz" wrap="square" lIns="0" tIns="0" rIns="0" bIns="0" rtlCol="0" anchor="ctr">
            <a:spAutoFit/>
          </a:bodyPr>
          <a:lstStyle>
            <a:lvl1pPr defTabSz="685800">
              <a:spcBef>
                <a:spcPct val="0"/>
              </a:spcBef>
              <a:buNone/>
              <a:defRPr sz="1200" b="0" i="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indent="0" defTabSz="825500" hangingPunct="0">
              <a:lnSpc>
                <a:spcPct val="150000"/>
              </a:lnSpc>
              <a:buClr>
                <a:srgbClr val="0099D9"/>
              </a:buClr>
            </a:pPr>
            <a:r>
              <a:rPr lang="zh-CN" altLang="en-US" sz="1800" spc="-20" dirty="0">
                <a:gradFill>
                  <a:gsLst>
                    <a:gs pos="0">
                      <a:srgbClr val="FF9911"/>
                    </a:gs>
                    <a:gs pos="100000">
                      <a:srgbClr val="F6C62C"/>
                    </a:gs>
                  </a:gsLst>
                  <a:lin ang="0" scaled="0"/>
                </a:gradFill>
                <a:latin typeface="微软雅黑" panose="020B0503020204020204" pitchFamily="34" charset="-122"/>
                <a:ea typeface="微软雅黑" panose="020B0503020204020204" pitchFamily="34" charset="-122"/>
                <a:cs typeface="+mn-cs"/>
              </a:rPr>
              <a:t>筛选条件</a:t>
            </a:r>
          </a:p>
          <a:p>
            <a:pPr indent="0" algn="l" defTabSz="825500" hangingPunct="0">
              <a:lnSpc>
                <a:spcPct val="150000"/>
              </a:lnSpc>
              <a:buClr>
                <a:srgbClr val="0099D9"/>
              </a:buClr>
            </a:pPr>
            <a:r>
              <a:rPr lang="zh-CN" altLang="en-US" sz="1400" spc="-20" dirty="0">
                <a:solidFill>
                  <a:schemeClr val="tx1"/>
                </a:solidFill>
                <a:uFillTx/>
                <a:latin typeface="微软雅黑" panose="020B0503020204020204" pitchFamily="34" charset="-122"/>
                <a:ea typeface="微软雅黑" panose="020B0503020204020204" pitchFamily="34" charset="-122"/>
                <a:cs typeface="+mn-cs"/>
              </a:rPr>
              <a:t>根据需求跟竞争分数来排序，以便卖家查看高潜力类目。绿色值越长代表需求越高</a:t>
            </a:r>
          </a:p>
        </p:txBody>
      </p:sp>
      <p:sp>
        <p:nvSpPr>
          <p:cNvPr id="4" name="TextBox 14"/>
          <p:cNvSpPr txBox="1"/>
          <p:nvPr>
            <p:custDataLst>
              <p:tags r:id="rId7"/>
            </p:custDataLst>
          </p:nvPr>
        </p:nvSpPr>
        <p:spPr>
          <a:xfrm>
            <a:off x="1363980" y="2024380"/>
            <a:ext cx="3399790" cy="1153795"/>
          </a:xfrm>
          <a:prstGeom prst="rect">
            <a:avLst/>
          </a:prstGeom>
        </p:spPr>
        <p:txBody>
          <a:bodyPr vert="horz" wrap="square" lIns="0" tIns="0" rIns="0" bIns="0" rtlCol="0" anchor="ctr" anchorCtr="0">
            <a:noAutofit/>
          </a:bodyPr>
          <a:lstStyle>
            <a:lvl1pPr defTabSz="685800">
              <a:spcBef>
                <a:spcPct val="0"/>
              </a:spcBef>
              <a:buNone/>
              <a:defRPr sz="1200" b="0" i="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lvl="0" algn="l" defTabSz="825500" hangingPunct="0">
              <a:lnSpc>
                <a:spcPct val="150000"/>
              </a:lnSpc>
              <a:buClr>
                <a:srgbClr val="0099D9"/>
              </a:buClr>
              <a:buSzTx/>
              <a:buFontTx/>
            </a:pPr>
            <a:r>
              <a:rPr lang="zh-CN" altLang="en-US" sz="1800" spc="-20" dirty="0">
                <a:gradFill>
                  <a:gsLst>
                    <a:gs pos="0">
                      <a:srgbClr val="FF9911"/>
                    </a:gs>
                    <a:gs pos="100000">
                      <a:srgbClr val="F6C62C"/>
                    </a:gs>
                  </a:gsLst>
                  <a:lin ang="0" scaled="0"/>
                </a:gradFill>
                <a:uFillTx/>
                <a:latin typeface="微软雅黑" panose="020B0503020204020204" pitchFamily="34" charset="-122"/>
                <a:ea typeface="微软雅黑" panose="020B0503020204020204" pitchFamily="34" charset="-122"/>
                <a:cs typeface="+mn-cs"/>
                <a:sym typeface="+mn-ea"/>
              </a:rPr>
              <a:t>关键词维度推荐</a:t>
            </a:r>
          </a:p>
          <a:p>
            <a:pPr lvl="0" algn="l" defTabSz="825500" hangingPunct="0">
              <a:lnSpc>
                <a:spcPct val="150000"/>
              </a:lnSpc>
              <a:buClr>
                <a:srgbClr val="0099D9"/>
              </a:buClr>
              <a:buSzTx/>
              <a:buFontTx/>
            </a:pPr>
            <a:r>
              <a:rPr lang="zh-CN" altLang="en-US" sz="1400" spc="-20" dirty="0">
                <a:solidFill>
                  <a:schemeClr val="tx1"/>
                </a:solidFill>
                <a:uFillTx/>
                <a:latin typeface="微软雅黑" panose="020B0503020204020204" pitchFamily="34" charset="-122"/>
                <a:ea typeface="微软雅黑" panose="020B0503020204020204" pitchFamily="34" charset="-122"/>
                <a:cs typeface="思源黑体 Regular" panose="020B0500000000000000" charset="-122"/>
                <a:sym typeface="+mn-ea"/>
              </a:rPr>
              <a:t>卖家可以直接搜索想拓展的类目,或透过筛选条件去搜索。</a:t>
            </a:r>
          </a:p>
        </p:txBody>
      </p:sp>
      <p:sp>
        <p:nvSpPr>
          <p:cNvPr id="5" name="TextBox 14"/>
          <p:cNvSpPr txBox="1"/>
          <p:nvPr>
            <p:custDataLst>
              <p:tags r:id="rId8"/>
            </p:custDataLst>
          </p:nvPr>
        </p:nvSpPr>
        <p:spPr>
          <a:xfrm>
            <a:off x="6760845" y="2024380"/>
            <a:ext cx="3333115" cy="1153795"/>
          </a:xfrm>
          <a:prstGeom prst="rect">
            <a:avLst/>
          </a:prstGeom>
        </p:spPr>
        <p:txBody>
          <a:bodyPr vert="horz" wrap="square" lIns="0" tIns="0" rIns="0" bIns="0" rtlCol="0" anchor="ctr" anchorCtr="0">
            <a:noAutofit/>
          </a:bodyPr>
          <a:lstStyle>
            <a:lvl1pPr defTabSz="685800">
              <a:spcBef>
                <a:spcPct val="0"/>
              </a:spcBef>
              <a:buNone/>
              <a:defRPr sz="1200" b="0" i="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indent="0" algn="r" defTabSz="825500" hangingPunct="0">
              <a:lnSpc>
                <a:spcPct val="150000"/>
              </a:lnSpc>
              <a:buClr>
                <a:srgbClr val="0099D9"/>
              </a:buClr>
            </a:pPr>
            <a:r>
              <a:rPr lang="zh-CN" altLang="en-US" sz="1800" spc="-20" dirty="0">
                <a:gradFill>
                  <a:gsLst>
                    <a:gs pos="0">
                      <a:srgbClr val="FF9911"/>
                    </a:gs>
                    <a:gs pos="100000">
                      <a:srgbClr val="F6C62C"/>
                    </a:gs>
                  </a:gsLst>
                  <a:lin ang="0" scaled="0"/>
                </a:gradFill>
                <a:latin typeface="微软雅黑" panose="020B0503020204020204" pitchFamily="34" charset="-122"/>
                <a:ea typeface="微软雅黑" panose="020B0503020204020204" pitchFamily="34" charset="-122"/>
                <a:cs typeface="+mn-cs"/>
              </a:rPr>
              <a:t>产品特征趋势</a:t>
            </a:r>
          </a:p>
          <a:p>
            <a:pPr indent="0" algn="r" defTabSz="825500" hangingPunct="0">
              <a:lnSpc>
                <a:spcPct val="150000"/>
              </a:lnSpc>
              <a:buClr>
                <a:srgbClr val="0099D9"/>
              </a:buClr>
            </a:pPr>
            <a:r>
              <a:rPr lang="zh-CN" altLang="en-US" sz="1400" spc="-20" dirty="0">
                <a:solidFill>
                  <a:schemeClr val="tx1"/>
                </a:solidFill>
                <a:uFillTx/>
                <a:latin typeface="微软雅黑" panose="020B0503020204020204" pitchFamily="34" charset="-122"/>
                <a:ea typeface="微软雅黑" panose="020B0503020204020204" pitchFamily="34" charset="-122"/>
                <a:cs typeface="+mn-cs"/>
              </a:rPr>
              <a:t>帮助卖家了解畅销商品的主要且</a:t>
            </a:r>
          </a:p>
          <a:p>
            <a:pPr indent="0" algn="r" defTabSz="825500" hangingPunct="0">
              <a:lnSpc>
                <a:spcPct val="150000"/>
              </a:lnSpc>
              <a:buClr>
                <a:srgbClr val="0099D9"/>
              </a:buClr>
            </a:pPr>
            <a:r>
              <a:rPr lang="zh-CN" altLang="en-US" sz="1400" spc="-20" dirty="0">
                <a:solidFill>
                  <a:schemeClr val="tx1"/>
                </a:solidFill>
                <a:uFillTx/>
                <a:latin typeface="微软雅黑" panose="020B0503020204020204" pitchFamily="34" charset="-122"/>
                <a:ea typeface="微软雅黑" panose="020B0503020204020204" pitchFamily="34" charset="-122"/>
                <a:cs typeface="+mn-cs"/>
              </a:rPr>
              <a:t>高需求的特性。</a:t>
            </a:r>
          </a:p>
        </p:txBody>
      </p:sp>
      <p:grpSp>
        <p:nvGrpSpPr>
          <p:cNvPr id="7" name="组合 6"/>
          <p:cNvGrpSpPr/>
          <p:nvPr/>
        </p:nvGrpSpPr>
        <p:grpSpPr>
          <a:xfrm>
            <a:off x="4891405" y="2691130"/>
            <a:ext cx="1869440" cy="1869440"/>
            <a:chOff x="7703" y="4238"/>
            <a:chExt cx="2944" cy="2944"/>
          </a:xfrm>
        </p:grpSpPr>
        <p:sp>
          <p:nvSpPr>
            <p:cNvPr id="75" name="圆形"/>
            <p:cNvSpPr/>
            <p:nvPr>
              <p:custDataLst>
                <p:tags r:id="rId14"/>
              </p:custDataLst>
            </p:nvPr>
          </p:nvSpPr>
          <p:spPr>
            <a:xfrm>
              <a:off x="7703" y="4238"/>
              <a:ext cx="2944" cy="2944"/>
            </a:xfrm>
            <a:prstGeom prst="ellipse">
              <a:avLst/>
            </a:prstGeom>
            <a:gradFill>
              <a:gsLst>
                <a:gs pos="0">
                  <a:schemeClr val="accent2"/>
                </a:gs>
                <a:gs pos="24000">
                  <a:srgbClr val="FF9911"/>
                </a:gs>
                <a:gs pos="51000">
                  <a:schemeClr val="accent4"/>
                </a:gs>
                <a:gs pos="100000">
                  <a:srgbClr val="F6C62C"/>
                </a:gs>
              </a:gsLst>
              <a:lin ang="18000000"/>
            </a:gradFill>
            <a:ln w="12700">
              <a:miter lim="400000"/>
            </a:ln>
          </p:spPr>
          <p:txBody>
            <a:bodyPr wrap="square" lIns="91440" tIns="91439" rIns="91440" bIns="91439" numCol="1" anchor="ctr">
              <a:noAutofit/>
            </a:bodyPr>
            <a:lstStyle/>
            <a:p>
              <a:pPr lvl="0" algn="l" defTabSz="1828800">
                <a:buClrTx/>
                <a:buSzTx/>
                <a:buFontTx/>
                <a:defRPr sz="3600">
                  <a:solidFill>
                    <a:srgbClr val="FFFFFF"/>
                  </a:solidFill>
                  <a:latin typeface="Noto Sans S Chinese Bold"/>
                  <a:ea typeface="Noto Sans S Chinese Bold"/>
                  <a:cs typeface="Noto Sans S Chinese Bold"/>
                  <a:sym typeface="Noto Sans S Chinese Bold"/>
                </a:defRPr>
              </a:pPr>
              <a:endParaRPr sz="1400" dirty="0">
                <a:latin typeface="微软雅黑" panose="020B0503020204020204" pitchFamily="34" charset="-122"/>
                <a:ea typeface="微软雅黑" panose="020B0503020204020204" pitchFamily="34" charset="-122"/>
                <a:cs typeface="+mn-ea"/>
                <a:sym typeface="+mn-lt"/>
              </a:endParaRPr>
            </a:p>
          </p:txBody>
        </p:sp>
        <p:pic>
          <p:nvPicPr>
            <p:cNvPr id="58" name="图形 57"/>
            <p:cNvPicPr>
              <a:picLocks noChangeAspect="1"/>
            </p:cNvPicPr>
            <p:nvPr>
              <p:custDataLst>
                <p:tags r:id="rId15"/>
              </p:custDataLst>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169" y="4704"/>
              <a:ext cx="2013" cy="2013"/>
            </a:xfrm>
            <a:prstGeom prst="rect">
              <a:avLst/>
            </a:prstGeom>
            <a:effectLst>
              <a:outerShdw blurRad="342306" dist="106674" dir="2700000" algn="tl" rotWithShape="0">
                <a:schemeClr val="bg2">
                  <a:lumMod val="50000"/>
                  <a:alpha val="40000"/>
                </a:schemeClr>
              </a:outerShdw>
            </a:effectLst>
          </p:spPr>
        </p:pic>
      </p:grpSp>
      <p:sp>
        <p:nvSpPr>
          <p:cNvPr id="184" name="Shape 2941"/>
          <p:cNvSpPr>
            <a:spLocks noChangeAspect="1"/>
          </p:cNvSpPr>
          <p:nvPr>
            <p:custDataLst>
              <p:tags r:id="rId9"/>
            </p:custDataLst>
          </p:nvPr>
        </p:nvSpPr>
        <p:spPr>
          <a:xfrm>
            <a:off x="1363980" y="1701165"/>
            <a:ext cx="360000" cy="360000"/>
          </a:xfrm>
          <a:custGeom>
            <a:avLst/>
            <a:gdLst/>
            <a:ahLst/>
            <a:cxnLst>
              <a:cxn ang="0">
                <a:pos x="wd2" y="hd2"/>
              </a:cxn>
              <a:cxn ang="5400000">
                <a:pos x="wd2" y="hd2"/>
              </a:cxn>
              <a:cxn ang="10800000">
                <a:pos x="wd2" y="hd2"/>
              </a:cxn>
              <a:cxn ang="16200000">
                <a:pos x="wd2" y="hd2"/>
              </a:cxn>
            </a:cxnLst>
            <a:rect l="0" t="0" r="r" b="b"/>
            <a:pathLst>
              <a:path w="21600" h="21600" extrusionOk="0">
                <a:moveTo>
                  <a:pt x="11291" y="20593"/>
                </a:moveTo>
                <a:lnTo>
                  <a:pt x="11291" y="17648"/>
                </a:lnTo>
                <a:cubicBezTo>
                  <a:pt x="14694" y="17407"/>
                  <a:pt x="17408" y="14693"/>
                  <a:pt x="17649" y="11291"/>
                </a:cubicBezTo>
                <a:lnTo>
                  <a:pt x="20594" y="11291"/>
                </a:lnTo>
                <a:cubicBezTo>
                  <a:pt x="20345" y="16319"/>
                  <a:pt x="16320" y="20344"/>
                  <a:pt x="11291" y="20593"/>
                </a:cubicBezTo>
                <a:moveTo>
                  <a:pt x="11291" y="13205"/>
                </a:moveTo>
                <a:cubicBezTo>
                  <a:pt x="12252" y="13010"/>
                  <a:pt x="13005" y="12252"/>
                  <a:pt x="13201" y="11291"/>
                </a:cubicBezTo>
                <a:lnTo>
                  <a:pt x="16667" y="11291"/>
                </a:lnTo>
                <a:cubicBezTo>
                  <a:pt x="16431" y="14152"/>
                  <a:pt x="14152" y="16429"/>
                  <a:pt x="11291" y="16666"/>
                </a:cubicBezTo>
                <a:cubicBezTo>
                  <a:pt x="11291" y="16666"/>
                  <a:pt x="11291" y="13205"/>
                  <a:pt x="11291" y="13205"/>
                </a:cubicBezTo>
                <a:close/>
                <a:moveTo>
                  <a:pt x="11291" y="4934"/>
                </a:moveTo>
                <a:cubicBezTo>
                  <a:pt x="12233" y="5012"/>
                  <a:pt x="13111" y="5315"/>
                  <a:pt x="13875" y="5784"/>
                </a:cubicBezTo>
                <a:cubicBezTo>
                  <a:pt x="13793" y="5967"/>
                  <a:pt x="13745" y="6168"/>
                  <a:pt x="13745" y="6382"/>
                </a:cubicBezTo>
                <a:cubicBezTo>
                  <a:pt x="13745" y="7195"/>
                  <a:pt x="14405" y="7855"/>
                  <a:pt x="15218" y="7855"/>
                </a:cubicBezTo>
                <a:cubicBezTo>
                  <a:pt x="15432" y="7855"/>
                  <a:pt x="15633" y="7807"/>
                  <a:pt x="15816" y="7725"/>
                </a:cubicBezTo>
                <a:cubicBezTo>
                  <a:pt x="16286" y="8489"/>
                  <a:pt x="16589" y="9367"/>
                  <a:pt x="16667" y="10309"/>
                </a:cubicBezTo>
                <a:lnTo>
                  <a:pt x="13201" y="10309"/>
                </a:lnTo>
                <a:cubicBezTo>
                  <a:pt x="13005" y="9348"/>
                  <a:pt x="12252" y="8590"/>
                  <a:pt x="11291" y="8395"/>
                </a:cubicBezTo>
                <a:cubicBezTo>
                  <a:pt x="11291" y="8395"/>
                  <a:pt x="11291" y="4934"/>
                  <a:pt x="11291" y="4934"/>
                </a:cubicBezTo>
                <a:close/>
                <a:moveTo>
                  <a:pt x="11291" y="1007"/>
                </a:moveTo>
                <a:cubicBezTo>
                  <a:pt x="16320" y="1256"/>
                  <a:pt x="20345" y="5281"/>
                  <a:pt x="20594" y="10309"/>
                </a:cubicBezTo>
                <a:lnTo>
                  <a:pt x="17649" y="10309"/>
                </a:lnTo>
                <a:cubicBezTo>
                  <a:pt x="17563" y="9102"/>
                  <a:pt x="17162" y="7985"/>
                  <a:pt x="16534" y="7031"/>
                </a:cubicBezTo>
                <a:cubicBezTo>
                  <a:pt x="16631" y="6835"/>
                  <a:pt x="16691" y="6616"/>
                  <a:pt x="16691" y="6382"/>
                </a:cubicBezTo>
                <a:cubicBezTo>
                  <a:pt x="16691" y="5569"/>
                  <a:pt x="16032" y="4909"/>
                  <a:pt x="15218" y="4909"/>
                </a:cubicBezTo>
                <a:cubicBezTo>
                  <a:pt x="14984" y="4909"/>
                  <a:pt x="14765" y="4969"/>
                  <a:pt x="14568" y="5066"/>
                </a:cubicBezTo>
                <a:cubicBezTo>
                  <a:pt x="13614" y="4439"/>
                  <a:pt x="12498" y="4038"/>
                  <a:pt x="11291" y="3952"/>
                </a:cubicBezTo>
                <a:cubicBezTo>
                  <a:pt x="11291" y="3952"/>
                  <a:pt x="11291" y="1007"/>
                  <a:pt x="11291" y="1007"/>
                </a:cubicBezTo>
                <a:close/>
                <a:moveTo>
                  <a:pt x="10309" y="3949"/>
                </a:moveTo>
                <a:cubicBezTo>
                  <a:pt x="7225" y="4167"/>
                  <a:pt x="4703" y="6417"/>
                  <a:pt x="4078" y="9370"/>
                </a:cubicBezTo>
                <a:cubicBezTo>
                  <a:pt x="3590" y="9486"/>
                  <a:pt x="3196" y="9843"/>
                  <a:pt x="3030" y="10309"/>
                </a:cubicBezTo>
                <a:lnTo>
                  <a:pt x="1006" y="10309"/>
                </a:lnTo>
                <a:cubicBezTo>
                  <a:pt x="1255" y="5281"/>
                  <a:pt x="5280" y="1256"/>
                  <a:pt x="10309" y="1007"/>
                </a:cubicBezTo>
                <a:cubicBezTo>
                  <a:pt x="10309" y="1007"/>
                  <a:pt x="10309" y="3949"/>
                  <a:pt x="10309" y="3949"/>
                </a:cubicBezTo>
                <a:close/>
                <a:moveTo>
                  <a:pt x="10309" y="8395"/>
                </a:moveTo>
                <a:cubicBezTo>
                  <a:pt x="9348" y="8590"/>
                  <a:pt x="8595" y="9348"/>
                  <a:pt x="8399" y="10309"/>
                </a:cubicBezTo>
                <a:lnTo>
                  <a:pt x="5796" y="10309"/>
                </a:lnTo>
                <a:cubicBezTo>
                  <a:pt x="5666" y="9948"/>
                  <a:pt x="5405" y="9649"/>
                  <a:pt x="5062" y="9482"/>
                </a:cubicBezTo>
                <a:cubicBezTo>
                  <a:pt x="5626" y="7018"/>
                  <a:pt x="7730" y="5144"/>
                  <a:pt x="10309" y="4930"/>
                </a:cubicBezTo>
                <a:cubicBezTo>
                  <a:pt x="10309" y="4930"/>
                  <a:pt x="10309" y="8395"/>
                  <a:pt x="10309" y="8395"/>
                </a:cubicBezTo>
                <a:close/>
                <a:moveTo>
                  <a:pt x="10309" y="16670"/>
                </a:moveTo>
                <a:cubicBezTo>
                  <a:pt x="7730" y="16456"/>
                  <a:pt x="5626" y="14582"/>
                  <a:pt x="5062" y="12118"/>
                </a:cubicBezTo>
                <a:cubicBezTo>
                  <a:pt x="5405" y="11951"/>
                  <a:pt x="5666" y="11652"/>
                  <a:pt x="5796" y="11291"/>
                </a:cubicBezTo>
                <a:lnTo>
                  <a:pt x="8399" y="11291"/>
                </a:lnTo>
                <a:cubicBezTo>
                  <a:pt x="8595" y="12252"/>
                  <a:pt x="9348" y="13010"/>
                  <a:pt x="10309" y="13205"/>
                </a:cubicBezTo>
                <a:cubicBezTo>
                  <a:pt x="10309" y="13205"/>
                  <a:pt x="10309" y="16670"/>
                  <a:pt x="10309" y="16670"/>
                </a:cubicBezTo>
                <a:close/>
                <a:moveTo>
                  <a:pt x="10309" y="20593"/>
                </a:moveTo>
                <a:cubicBezTo>
                  <a:pt x="5280" y="20344"/>
                  <a:pt x="1255" y="16319"/>
                  <a:pt x="1006" y="11291"/>
                </a:cubicBezTo>
                <a:lnTo>
                  <a:pt x="3030" y="11291"/>
                </a:lnTo>
                <a:cubicBezTo>
                  <a:pt x="3196" y="11757"/>
                  <a:pt x="3590" y="12114"/>
                  <a:pt x="4078" y="12230"/>
                </a:cubicBezTo>
                <a:cubicBezTo>
                  <a:pt x="4703" y="15183"/>
                  <a:pt x="7225" y="17434"/>
                  <a:pt x="10309" y="17651"/>
                </a:cubicBezTo>
                <a:cubicBezTo>
                  <a:pt x="10309" y="17651"/>
                  <a:pt x="10309" y="20593"/>
                  <a:pt x="10309" y="20593"/>
                </a:cubicBezTo>
                <a:close/>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a:gsLst>
              <a:gs pos="0">
                <a:schemeClr val="accent2"/>
              </a:gs>
              <a:gs pos="24000">
                <a:srgbClr val="FF9911"/>
              </a:gs>
              <a:gs pos="51000">
                <a:schemeClr val="accent4"/>
              </a:gs>
              <a:gs pos="100000">
                <a:srgbClr val="F6C62C"/>
              </a:gs>
            </a:gsLst>
            <a:lin ang="18000000"/>
          </a:gradFill>
          <a:ln w="12700">
            <a:miter lim="400000"/>
          </a:ln>
        </p:spPr>
        <p:txBody>
          <a:bodyPr wrap="square" lIns="91440" tIns="91439" rIns="91440" bIns="91439" numCol="1" anchor="ctr">
            <a:noAutofit/>
          </a:bodyPr>
          <a:lstStyle/>
          <a:p>
            <a:pPr lvl="0" algn="l" defTabSz="1828800">
              <a:buClrTx/>
              <a:buSzTx/>
              <a:buFontTx/>
              <a:defRPr sz="3600">
                <a:solidFill>
                  <a:srgbClr val="FFFFFF"/>
                </a:solidFill>
                <a:latin typeface="Noto Sans S Chinese Bold"/>
                <a:ea typeface="Noto Sans S Chinese Bold"/>
                <a:cs typeface="Noto Sans S Chinese Bold"/>
                <a:sym typeface="Noto Sans S Chinese Bold"/>
              </a:defRPr>
            </a:pPr>
            <a:endParaRPr sz="1400" dirty="0">
              <a:latin typeface="微软雅黑" panose="020B0503020204020204" pitchFamily="34" charset="-122"/>
              <a:ea typeface="微软雅黑" panose="020B0503020204020204" pitchFamily="34" charset="-122"/>
              <a:cs typeface="+mn-ea"/>
              <a:sym typeface="+mn-ea"/>
            </a:endParaRPr>
          </a:p>
        </p:txBody>
      </p:sp>
      <p:sp>
        <p:nvSpPr>
          <p:cNvPr id="52" name="Shape 2574"/>
          <p:cNvSpPr>
            <a:spLocks noChangeAspect="1"/>
          </p:cNvSpPr>
          <p:nvPr>
            <p:custDataLst>
              <p:tags r:id="rId10"/>
            </p:custDataLst>
          </p:nvPr>
        </p:nvSpPr>
        <p:spPr>
          <a:xfrm>
            <a:off x="1363980" y="3874918"/>
            <a:ext cx="326987" cy="360000"/>
          </a:xfrm>
          <a:custGeom>
            <a:avLst/>
            <a:gdLst/>
            <a:ahLst/>
            <a:cxnLst>
              <a:cxn ang="0">
                <a:pos x="wd2" y="hd2"/>
              </a:cxn>
              <a:cxn ang="5400000">
                <a:pos x="wd2" y="hd2"/>
              </a:cxn>
              <a:cxn ang="10800000">
                <a:pos x="wd2" y="hd2"/>
              </a:cxn>
              <a:cxn ang="16200000">
                <a:pos x="wd2" y="hd2"/>
              </a:cxn>
            </a:cxnLst>
            <a:rect l="0" t="0" r="r" b="b"/>
            <a:pathLst>
              <a:path w="21600" h="21600" extrusionOk="0">
                <a:moveTo>
                  <a:pt x="10800" y="4909"/>
                </a:moveTo>
                <a:cubicBezTo>
                  <a:pt x="5432" y="4909"/>
                  <a:pt x="1080" y="4030"/>
                  <a:pt x="1080" y="2945"/>
                </a:cubicBezTo>
                <a:cubicBezTo>
                  <a:pt x="1080" y="1861"/>
                  <a:pt x="5432" y="982"/>
                  <a:pt x="10800" y="982"/>
                </a:cubicBezTo>
                <a:cubicBezTo>
                  <a:pt x="16168" y="982"/>
                  <a:pt x="20520" y="1861"/>
                  <a:pt x="20520" y="2945"/>
                </a:cubicBezTo>
                <a:cubicBezTo>
                  <a:pt x="20520" y="4030"/>
                  <a:pt x="16168" y="4909"/>
                  <a:pt x="10800" y="4909"/>
                </a:cubicBezTo>
                <a:moveTo>
                  <a:pt x="16305" y="8659"/>
                </a:moveTo>
                <a:cubicBezTo>
                  <a:pt x="14130" y="10260"/>
                  <a:pt x="11880" y="11916"/>
                  <a:pt x="11880" y="14727"/>
                </a:cubicBezTo>
                <a:cubicBezTo>
                  <a:pt x="11880" y="17561"/>
                  <a:pt x="11880" y="19270"/>
                  <a:pt x="11642" y="20135"/>
                </a:cubicBezTo>
                <a:cubicBezTo>
                  <a:pt x="11522" y="20573"/>
                  <a:pt x="11509" y="20618"/>
                  <a:pt x="10800" y="20618"/>
                </a:cubicBezTo>
                <a:cubicBezTo>
                  <a:pt x="10091" y="20618"/>
                  <a:pt x="10078" y="20573"/>
                  <a:pt x="9957" y="20135"/>
                </a:cubicBezTo>
                <a:cubicBezTo>
                  <a:pt x="9818" y="19627"/>
                  <a:pt x="9761" y="18820"/>
                  <a:pt x="9738" y="17673"/>
                </a:cubicBezTo>
                <a:lnTo>
                  <a:pt x="10260" y="17673"/>
                </a:lnTo>
                <a:cubicBezTo>
                  <a:pt x="10558" y="17673"/>
                  <a:pt x="10800" y="17453"/>
                  <a:pt x="10800" y="17182"/>
                </a:cubicBezTo>
                <a:cubicBezTo>
                  <a:pt x="10800" y="16911"/>
                  <a:pt x="10558" y="16691"/>
                  <a:pt x="10260" y="16691"/>
                </a:cubicBezTo>
                <a:lnTo>
                  <a:pt x="9724" y="16691"/>
                </a:lnTo>
                <a:cubicBezTo>
                  <a:pt x="9722" y="16381"/>
                  <a:pt x="9721" y="16059"/>
                  <a:pt x="9721" y="15709"/>
                </a:cubicBezTo>
                <a:lnTo>
                  <a:pt x="10260" y="15709"/>
                </a:lnTo>
                <a:cubicBezTo>
                  <a:pt x="10558" y="15709"/>
                  <a:pt x="10800" y="15489"/>
                  <a:pt x="10800" y="15218"/>
                </a:cubicBezTo>
                <a:cubicBezTo>
                  <a:pt x="10800" y="14947"/>
                  <a:pt x="10558" y="14727"/>
                  <a:pt x="10260" y="14727"/>
                </a:cubicBezTo>
                <a:lnTo>
                  <a:pt x="9720" y="14727"/>
                </a:lnTo>
                <a:cubicBezTo>
                  <a:pt x="9720" y="11916"/>
                  <a:pt x="7470" y="10260"/>
                  <a:pt x="5295" y="8659"/>
                </a:cubicBezTo>
                <a:cubicBezTo>
                  <a:pt x="3543" y="7370"/>
                  <a:pt x="1872" y="6139"/>
                  <a:pt x="1294" y="4344"/>
                </a:cubicBezTo>
                <a:cubicBezTo>
                  <a:pt x="3119" y="5266"/>
                  <a:pt x="6691" y="5891"/>
                  <a:pt x="10800" y="5891"/>
                </a:cubicBezTo>
                <a:cubicBezTo>
                  <a:pt x="14905" y="5891"/>
                  <a:pt x="18475" y="5266"/>
                  <a:pt x="20302" y="4347"/>
                </a:cubicBezTo>
                <a:cubicBezTo>
                  <a:pt x="19721" y="6143"/>
                  <a:pt x="18053" y="7373"/>
                  <a:pt x="16305" y="8659"/>
                </a:cubicBezTo>
                <a:moveTo>
                  <a:pt x="10800" y="0"/>
                </a:moveTo>
                <a:cubicBezTo>
                  <a:pt x="4835" y="0"/>
                  <a:pt x="0" y="1319"/>
                  <a:pt x="0" y="2945"/>
                </a:cubicBezTo>
                <a:cubicBezTo>
                  <a:pt x="0" y="8836"/>
                  <a:pt x="8640" y="9818"/>
                  <a:pt x="8640" y="14727"/>
                </a:cubicBezTo>
                <a:lnTo>
                  <a:pt x="8640" y="15217"/>
                </a:lnTo>
                <a:lnTo>
                  <a:pt x="8640" y="15218"/>
                </a:lnTo>
                <a:lnTo>
                  <a:pt x="8640" y="15219"/>
                </a:lnTo>
                <a:cubicBezTo>
                  <a:pt x="8641" y="15938"/>
                  <a:pt x="8642" y="16572"/>
                  <a:pt x="8649" y="17142"/>
                </a:cubicBezTo>
                <a:cubicBezTo>
                  <a:pt x="8647" y="17155"/>
                  <a:pt x="8640" y="17168"/>
                  <a:pt x="8640" y="17182"/>
                </a:cubicBezTo>
                <a:cubicBezTo>
                  <a:pt x="8640" y="17199"/>
                  <a:pt x="8648" y="17212"/>
                  <a:pt x="8651" y="17230"/>
                </a:cubicBezTo>
                <a:cubicBezTo>
                  <a:pt x="8699" y="20896"/>
                  <a:pt x="8995" y="21600"/>
                  <a:pt x="10800" y="21600"/>
                </a:cubicBezTo>
                <a:cubicBezTo>
                  <a:pt x="12960" y="21600"/>
                  <a:pt x="12960" y="20618"/>
                  <a:pt x="12960" y="14727"/>
                </a:cubicBezTo>
                <a:cubicBezTo>
                  <a:pt x="12960" y="9818"/>
                  <a:pt x="21600" y="8836"/>
                  <a:pt x="21600" y="2945"/>
                </a:cubicBezTo>
                <a:cubicBezTo>
                  <a:pt x="21600" y="1319"/>
                  <a:pt x="16765" y="0"/>
                  <a:pt x="10800" y="0"/>
                </a:cubicBezTo>
              </a:path>
            </a:pathLst>
          </a:custGeom>
          <a:gradFill>
            <a:gsLst>
              <a:gs pos="0">
                <a:schemeClr val="accent2"/>
              </a:gs>
              <a:gs pos="24000">
                <a:srgbClr val="FF9911"/>
              </a:gs>
              <a:gs pos="51000">
                <a:schemeClr val="accent4"/>
              </a:gs>
              <a:gs pos="100000">
                <a:srgbClr val="F6C62C"/>
              </a:gs>
            </a:gsLst>
            <a:lin ang="18000000"/>
          </a:gradFill>
          <a:ln w="12700">
            <a:miter lim="400000"/>
          </a:ln>
        </p:spPr>
        <p:txBody>
          <a:bodyPr wrap="square" lIns="91440" tIns="91439" rIns="91440" bIns="91439" numCol="1" anchor="ctr">
            <a:noAutofit/>
          </a:bodyPr>
          <a:lstStyle/>
          <a:p>
            <a:pPr lvl="0" algn="l" defTabSz="1828800">
              <a:buClrTx/>
              <a:buSzTx/>
              <a:buFontTx/>
              <a:defRPr sz="3600">
                <a:solidFill>
                  <a:srgbClr val="FFFFFF"/>
                </a:solidFill>
                <a:latin typeface="Noto Sans S Chinese Bold"/>
                <a:ea typeface="Noto Sans S Chinese Bold"/>
                <a:cs typeface="Noto Sans S Chinese Bold"/>
                <a:sym typeface="Noto Sans S Chinese Bold"/>
              </a:defRPr>
            </a:pPr>
            <a:endParaRPr sz="1400" dirty="0">
              <a:latin typeface="微软雅黑" panose="020B0503020204020204" pitchFamily="34" charset="-122"/>
              <a:ea typeface="微软雅黑" panose="020B0503020204020204" pitchFamily="34" charset="-122"/>
              <a:cs typeface="+mn-ea"/>
              <a:sym typeface="+mn-ea"/>
            </a:endParaRPr>
          </a:p>
        </p:txBody>
      </p:sp>
      <p:grpSp>
        <p:nvGrpSpPr>
          <p:cNvPr id="677" name="Group 242"/>
          <p:cNvGrpSpPr>
            <a:grpSpLocks noChangeAspect="1"/>
          </p:cNvGrpSpPr>
          <p:nvPr/>
        </p:nvGrpSpPr>
        <p:grpSpPr>
          <a:xfrm>
            <a:off x="9697960" y="3903980"/>
            <a:ext cx="396000" cy="301876"/>
            <a:chOff x="2908300" y="2946400"/>
            <a:chExt cx="447675" cy="341313"/>
          </a:xfrm>
          <a:solidFill>
            <a:schemeClr val="bg1">
              <a:lumMod val="50000"/>
            </a:schemeClr>
          </a:solidFill>
        </p:grpSpPr>
        <p:sp>
          <p:nvSpPr>
            <p:cNvPr id="678" name="Freeform 227"/>
            <p:cNvSpPr/>
            <p:nvPr>
              <p:custDataLst>
                <p:tags r:id="rId12"/>
              </p:custDataLst>
            </p:nvPr>
          </p:nvSpPr>
          <p:spPr bwMode="auto">
            <a:xfrm>
              <a:off x="2957513" y="2946400"/>
              <a:ext cx="349250" cy="115888"/>
            </a:xfrm>
            <a:custGeom>
              <a:avLst/>
              <a:gdLst>
                <a:gd name="T0" fmla="*/ 0 w 454"/>
                <a:gd name="T1" fmla="*/ 136 h 152"/>
                <a:gd name="T2" fmla="*/ 16 w 454"/>
                <a:gd name="T3" fmla="*/ 119 h 152"/>
                <a:gd name="T4" fmla="*/ 30 w 454"/>
                <a:gd name="T5" fmla="*/ 127 h 152"/>
                <a:gd name="T6" fmla="*/ 141 w 454"/>
                <a:gd name="T7" fmla="*/ 79 h 152"/>
                <a:gd name="T8" fmla="*/ 140 w 454"/>
                <a:gd name="T9" fmla="*/ 75 h 152"/>
                <a:gd name="T10" fmla="*/ 157 w 454"/>
                <a:gd name="T11" fmla="*/ 58 h 152"/>
                <a:gd name="T12" fmla="*/ 173 w 454"/>
                <a:gd name="T13" fmla="*/ 75 h 152"/>
                <a:gd name="T14" fmla="*/ 282 w 454"/>
                <a:gd name="T15" fmla="*/ 97 h 152"/>
                <a:gd name="T16" fmla="*/ 297 w 454"/>
                <a:gd name="T17" fmla="*/ 86 h 152"/>
                <a:gd name="T18" fmla="*/ 309 w 454"/>
                <a:gd name="T19" fmla="*/ 92 h 152"/>
                <a:gd name="T20" fmla="*/ 422 w 454"/>
                <a:gd name="T21" fmla="*/ 22 h 152"/>
                <a:gd name="T22" fmla="*/ 421 w 454"/>
                <a:gd name="T23" fmla="*/ 17 h 152"/>
                <a:gd name="T24" fmla="*/ 437 w 454"/>
                <a:gd name="T25" fmla="*/ 0 h 152"/>
                <a:gd name="T26" fmla="*/ 454 w 454"/>
                <a:gd name="T27" fmla="*/ 17 h 152"/>
                <a:gd name="T28" fmla="*/ 437 w 454"/>
                <a:gd name="T29" fmla="*/ 33 h 152"/>
                <a:gd name="T30" fmla="*/ 425 w 454"/>
                <a:gd name="T31" fmla="*/ 27 h 152"/>
                <a:gd name="T32" fmla="*/ 312 w 454"/>
                <a:gd name="T33" fmla="*/ 97 h 152"/>
                <a:gd name="T34" fmla="*/ 313 w 454"/>
                <a:gd name="T35" fmla="*/ 103 h 152"/>
                <a:gd name="T36" fmla="*/ 297 w 454"/>
                <a:gd name="T37" fmla="*/ 119 h 152"/>
                <a:gd name="T38" fmla="*/ 281 w 454"/>
                <a:gd name="T39" fmla="*/ 103 h 152"/>
                <a:gd name="T40" fmla="*/ 172 w 454"/>
                <a:gd name="T41" fmla="*/ 81 h 152"/>
                <a:gd name="T42" fmla="*/ 157 w 454"/>
                <a:gd name="T43" fmla="*/ 91 h 152"/>
                <a:gd name="T44" fmla="*/ 144 w 454"/>
                <a:gd name="T45" fmla="*/ 84 h 152"/>
                <a:gd name="T46" fmla="*/ 32 w 454"/>
                <a:gd name="T47" fmla="*/ 132 h 152"/>
                <a:gd name="T48" fmla="*/ 33 w 454"/>
                <a:gd name="T49" fmla="*/ 136 h 152"/>
                <a:gd name="T50" fmla="*/ 16 w 454"/>
                <a:gd name="T51" fmla="*/ 152 h 152"/>
                <a:gd name="T52" fmla="*/ 0 w 454"/>
                <a:gd name="T53" fmla="*/ 136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54" h="152">
                  <a:moveTo>
                    <a:pt x="0" y="136"/>
                  </a:moveTo>
                  <a:cubicBezTo>
                    <a:pt x="0" y="127"/>
                    <a:pt x="7" y="119"/>
                    <a:pt x="16" y="119"/>
                  </a:cubicBezTo>
                  <a:cubicBezTo>
                    <a:pt x="22" y="119"/>
                    <a:pt x="27" y="122"/>
                    <a:pt x="30" y="127"/>
                  </a:cubicBezTo>
                  <a:cubicBezTo>
                    <a:pt x="141" y="79"/>
                    <a:pt x="141" y="79"/>
                    <a:pt x="141" y="79"/>
                  </a:cubicBezTo>
                  <a:cubicBezTo>
                    <a:pt x="141" y="77"/>
                    <a:pt x="140" y="76"/>
                    <a:pt x="140" y="75"/>
                  </a:cubicBezTo>
                  <a:cubicBezTo>
                    <a:pt x="140" y="66"/>
                    <a:pt x="148" y="58"/>
                    <a:pt x="157" y="58"/>
                  </a:cubicBezTo>
                  <a:cubicBezTo>
                    <a:pt x="166" y="58"/>
                    <a:pt x="173" y="66"/>
                    <a:pt x="173" y="75"/>
                  </a:cubicBezTo>
                  <a:cubicBezTo>
                    <a:pt x="282" y="97"/>
                    <a:pt x="282" y="97"/>
                    <a:pt x="282" y="97"/>
                  </a:cubicBezTo>
                  <a:cubicBezTo>
                    <a:pt x="284" y="91"/>
                    <a:pt x="290" y="86"/>
                    <a:pt x="297" y="86"/>
                  </a:cubicBezTo>
                  <a:cubicBezTo>
                    <a:pt x="302" y="86"/>
                    <a:pt x="306" y="88"/>
                    <a:pt x="309" y="92"/>
                  </a:cubicBezTo>
                  <a:cubicBezTo>
                    <a:pt x="422" y="22"/>
                    <a:pt x="422" y="22"/>
                    <a:pt x="422" y="22"/>
                  </a:cubicBezTo>
                  <a:cubicBezTo>
                    <a:pt x="421" y="20"/>
                    <a:pt x="421" y="18"/>
                    <a:pt x="421" y="17"/>
                  </a:cubicBezTo>
                  <a:cubicBezTo>
                    <a:pt x="421" y="8"/>
                    <a:pt x="428" y="0"/>
                    <a:pt x="437" y="0"/>
                  </a:cubicBezTo>
                  <a:cubicBezTo>
                    <a:pt x="446" y="0"/>
                    <a:pt x="454" y="8"/>
                    <a:pt x="454" y="17"/>
                  </a:cubicBezTo>
                  <a:cubicBezTo>
                    <a:pt x="454" y="26"/>
                    <a:pt x="446" y="33"/>
                    <a:pt x="437" y="33"/>
                  </a:cubicBezTo>
                  <a:cubicBezTo>
                    <a:pt x="432" y="33"/>
                    <a:pt x="428" y="31"/>
                    <a:pt x="425" y="27"/>
                  </a:cubicBezTo>
                  <a:cubicBezTo>
                    <a:pt x="312" y="97"/>
                    <a:pt x="312" y="97"/>
                    <a:pt x="312" y="97"/>
                  </a:cubicBezTo>
                  <a:cubicBezTo>
                    <a:pt x="313" y="99"/>
                    <a:pt x="313" y="101"/>
                    <a:pt x="313" y="103"/>
                  </a:cubicBezTo>
                  <a:cubicBezTo>
                    <a:pt x="313" y="112"/>
                    <a:pt x="306" y="119"/>
                    <a:pt x="297" y="119"/>
                  </a:cubicBezTo>
                  <a:cubicBezTo>
                    <a:pt x="288" y="119"/>
                    <a:pt x="281" y="112"/>
                    <a:pt x="281" y="103"/>
                  </a:cubicBezTo>
                  <a:cubicBezTo>
                    <a:pt x="172" y="81"/>
                    <a:pt x="172" y="81"/>
                    <a:pt x="172" y="81"/>
                  </a:cubicBezTo>
                  <a:cubicBezTo>
                    <a:pt x="170" y="87"/>
                    <a:pt x="164" y="91"/>
                    <a:pt x="157" y="91"/>
                  </a:cubicBezTo>
                  <a:cubicBezTo>
                    <a:pt x="151" y="91"/>
                    <a:pt x="147" y="88"/>
                    <a:pt x="144" y="84"/>
                  </a:cubicBezTo>
                  <a:cubicBezTo>
                    <a:pt x="32" y="132"/>
                    <a:pt x="32" y="132"/>
                    <a:pt x="32" y="132"/>
                  </a:cubicBezTo>
                  <a:cubicBezTo>
                    <a:pt x="33" y="134"/>
                    <a:pt x="33" y="134"/>
                    <a:pt x="33" y="136"/>
                  </a:cubicBezTo>
                  <a:cubicBezTo>
                    <a:pt x="33" y="145"/>
                    <a:pt x="26" y="152"/>
                    <a:pt x="16" y="152"/>
                  </a:cubicBezTo>
                  <a:cubicBezTo>
                    <a:pt x="7" y="152"/>
                    <a:pt x="0" y="145"/>
                    <a:pt x="0" y="136"/>
                  </a:cubicBezTo>
                  <a:close/>
                </a:path>
              </a:pathLst>
            </a:custGeom>
            <a:gradFill>
              <a:gsLst>
                <a:gs pos="0">
                  <a:schemeClr val="accent2"/>
                </a:gs>
                <a:gs pos="24000">
                  <a:srgbClr val="FF9911"/>
                </a:gs>
                <a:gs pos="51000">
                  <a:schemeClr val="accent4"/>
                </a:gs>
                <a:gs pos="100000">
                  <a:srgbClr val="F6C62C"/>
                </a:gs>
              </a:gsLst>
              <a:lin ang="18000000"/>
            </a:gradFill>
            <a:ln w="12700">
              <a:miter lim="400000"/>
            </a:ln>
          </p:spPr>
          <p:txBody>
            <a:bodyPr wrap="square" lIns="91440" tIns="91439" rIns="91440" bIns="91439" numCol="1" anchor="ctr">
              <a:noAutofit/>
            </a:bodyPr>
            <a:lstStyle/>
            <a:p>
              <a:pPr lvl="0" algn="l" defTabSz="1828800">
                <a:buClrTx/>
                <a:buSzTx/>
                <a:buFontTx/>
                <a:defRPr sz="3600">
                  <a:solidFill>
                    <a:srgbClr val="FFFFFF"/>
                  </a:solidFill>
                  <a:latin typeface="Noto Sans S Chinese Bold"/>
                  <a:ea typeface="Noto Sans S Chinese Bold"/>
                  <a:cs typeface="Noto Sans S Chinese Bold"/>
                  <a:sym typeface="Noto Sans S Chinese Bold"/>
                </a:defRPr>
              </a:pPr>
              <a:endParaRPr sz="1400" dirty="0">
                <a:latin typeface="微软雅黑" panose="020B0503020204020204" pitchFamily="34" charset="-122"/>
                <a:ea typeface="微软雅黑" panose="020B0503020204020204" pitchFamily="34" charset="-122"/>
                <a:cs typeface="+mn-ea"/>
                <a:sym typeface="+mn-ea"/>
              </a:endParaRPr>
            </a:p>
          </p:txBody>
        </p:sp>
        <p:sp>
          <p:nvSpPr>
            <p:cNvPr id="679" name="Freeform 228"/>
            <p:cNvSpPr/>
            <p:nvPr>
              <p:custDataLst>
                <p:tags r:id="rId13"/>
              </p:custDataLst>
            </p:nvPr>
          </p:nvSpPr>
          <p:spPr bwMode="auto">
            <a:xfrm>
              <a:off x="2908300" y="2987675"/>
              <a:ext cx="447675" cy="300038"/>
            </a:xfrm>
            <a:custGeom>
              <a:avLst/>
              <a:gdLst>
                <a:gd name="T0" fmla="*/ 568 w 581"/>
                <a:gd name="T1" fmla="*/ 367 h 392"/>
                <a:gd name="T2" fmla="*/ 550 w 581"/>
                <a:gd name="T3" fmla="*/ 367 h 392"/>
                <a:gd name="T4" fmla="*/ 550 w 581"/>
                <a:gd name="T5" fmla="*/ 32 h 392"/>
                <a:gd name="T6" fmla="*/ 518 w 581"/>
                <a:gd name="T7" fmla="*/ 0 h 392"/>
                <a:gd name="T8" fmla="*/ 483 w 581"/>
                <a:gd name="T9" fmla="*/ 0 h 392"/>
                <a:gd name="T10" fmla="*/ 451 w 581"/>
                <a:gd name="T11" fmla="*/ 32 h 392"/>
                <a:gd name="T12" fmla="*/ 451 w 581"/>
                <a:gd name="T13" fmla="*/ 367 h 392"/>
                <a:gd name="T14" fmla="*/ 410 w 581"/>
                <a:gd name="T15" fmla="*/ 367 h 392"/>
                <a:gd name="T16" fmla="*/ 410 w 581"/>
                <a:gd name="T17" fmla="*/ 120 h 392"/>
                <a:gd name="T18" fmla="*/ 379 w 581"/>
                <a:gd name="T19" fmla="*/ 88 h 392"/>
                <a:gd name="T20" fmla="*/ 343 w 581"/>
                <a:gd name="T21" fmla="*/ 88 h 392"/>
                <a:gd name="T22" fmla="*/ 311 w 581"/>
                <a:gd name="T23" fmla="*/ 120 h 392"/>
                <a:gd name="T24" fmla="*/ 311 w 581"/>
                <a:gd name="T25" fmla="*/ 367 h 392"/>
                <a:gd name="T26" fmla="*/ 270 w 581"/>
                <a:gd name="T27" fmla="*/ 367 h 392"/>
                <a:gd name="T28" fmla="*/ 270 w 581"/>
                <a:gd name="T29" fmla="*/ 92 h 392"/>
                <a:gd name="T30" fmla="*/ 239 w 581"/>
                <a:gd name="T31" fmla="*/ 61 h 392"/>
                <a:gd name="T32" fmla="*/ 203 w 581"/>
                <a:gd name="T33" fmla="*/ 61 h 392"/>
                <a:gd name="T34" fmla="*/ 171 w 581"/>
                <a:gd name="T35" fmla="*/ 92 h 392"/>
                <a:gd name="T36" fmla="*/ 171 w 581"/>
                <a:gd name="T37" fmla="*/ 367 h 392"/>
                <a:gd name="T38" fmla="*/ 131 w 581"/>
                <a:gd name="T39" fmla="*/ 367 h 392"/>
                <a:gd name="T40" fmla="*/ 131 w 581"/>
                <a:gd name="T41" fmla="*/ 160 h 392"/>
                <a:gd name="T42" fmla="*/ 99 w 581"/>
                <a:gd name="T43" fmla="*/ 128 h 392"/>
                <a:gd name="T44" fmla="*/ 63 w 581"/>
                <a:gd name="T45" fmla="*/ 128 h 392"/>
                <a:gd name="T46" fmla="*/ 32 w 581"/>
                <a:gd name="T47" fmla="*/ 160 h 392"/>
                <a:gd name="T48" fmla="*/ 32 w 581"/>
                <a:gd name="T49" fmla="*/ 367 h 392"/>
                <a:gd name="T50" fmla="*/ 11 w 581"/>
                <a:gd name="T51" fmla="*/ 367 h 392"/>
                <a:gd name="T52" fmla="*/ 0 w 581"/>
                <a:gd name="T53" fmla="*/ 378 h 392"/>
                <a:gd name="T54" fmla="*/ 0 w 581"/>
                <a:gd name="T55" fmla="*/ 381 h 392"/>
                <a:gd name="T56" fmla="*/ 11 w 581"/>
                <a:gd name="T57" fmla="*/ 392 h 392"/>
                <a:gd name="T58" fmla="*/ 568 w 581"/>
                <a:gd name="T59" fmla="*/ 392 h 392"/>
                <a:gd name="T60" fmla="*/ 581 w 581"/>
                <a:gd name="T61" fmla="*/ 381 h 392"/>
                <a:gd name="T62" fmla="*/ 581 w 581"/>
                <a:gd name="T63" fmla="*/ 378 h 392"/>
                <a:gd name="T64" fmla="*/ 568 w 581"/>
                <a:gd name="T65" fmla="*/ 367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81" h="392">
                  <a:moveTo>
                    <a:pt x="568" y="367"/>
                  </a:moveTo>
                  <a:cubicBezTo>
                    <a:pt x="550" y="367"/>
                    <a:pt x="550" y="367"/>
                    <a:pt x="550" y="367"/>
                  </a:cubicBezTo>
                  <a:cubicBezTo>
                    <a:pt x="550" y="32"/>
                    <a:pt x="550" y="32"/>
                    <a:pt x="550" y="32"/>
                  </a:cubicBezTo>
                  <a:cubicBezTo>
                    <a:pt x="550" y="14"/>
                    <a:pt x="536" y="0"/>
                    <a:pt x="518" y="0"/>
                  </a:cubicBezTo>
                  <a:cubicBezTo>
                    <a:pt x="483" y="0"/>
                    <a:pt x="483" y="0"/>
                    <a:pt x="483" y="0"/>
                  </a:cubicBezTo>
                  <a:cubicBezTo>
                    <a:pt x="465" y="0"/>
                    <a:pt x="451" y="14"/>
                    <a:pt x="451" y="32"/>
                  </a:cubicBezTo>
                  <a:cubicBezTo>
                    <a:pt x="451" y="367"/>
                    <a:pt x="451" y="367"/>
                    <a:pt x="451" y="367"/>
                  </a:cubicBezTo>
                  <a:cubicBezTo>
                    <a:pt x="410" y="367"/>
                    <a:pt x="410" y="367"/>
                    <a:pt x="410" y="367"/>
                  </a:cubicBezTo>
                  <a:cubicBezTo>
                    <a:pt x="410" y="120"/>
                    <a:pt x="410" y="120"/>
                    <a:pt x="410" y="120"/>
                  </a:cubicBezTo>
                  <a:cubicBezTo>
                    <a:pt x="410" y="102"/>
                    <a:pt x="396" y="88"/>
                    <a:pt x="379" y="88"/>
                  </a:cubicBezTo>
                  <a:cubicBezTo>
                    <a:pt x="343" y="88"/>
                    <a:pt x="343" y="88"/>
                    <a:pt x="343" y="88"/>
                  </a:cubicBezTo>
                  <a:cubicBezTo>
                    <a:pt x="325" y="88"/>
                    <a:pt x="311" y="102"/>
                    <a:pt x="311" y="120"/>
                  </a:cubicBezTo>
                  <a:cubicBezTo>
                    <a:pt x="311" y="367"/>
                    <a:pt x="311" y="367"/>
                    <a:pt x="311" y="367"/>
                  </a:cubicBezTo>
                  <a:cubicBezTo>
                    <a:pt x="270" y="367"/>
                    <a:pt x="270" y="367"/>
                    <a:pt x="270" y="367"/>
                  </a:cubicBezTo>
                  <a:cubicBezTo>
                    <a:pt x="270" y="92"/>
                    <a:pt x="270" y="92"/>
                    <a:pt x="270" y="92"/>
                  </a:cubicBezTo>
                  <a:cubicBezTo>
                    <a:pt x="270" y="75"/>
                    <a:pt x="256" y="61"/>
                    <a:pt x="239" y="61"/>
                  </a:cubicBezTo>
                  <a:cubicBezTo>
                    <a:pt x="203" y="61"/>
                    <a:pt x="203" y="61"/>
                    <a:pt x="203" y="61"/>
                  </a:cubicBezTo>
                  <a:cubicBezTo>
                    <a:pt x="186" y="61"/>
                    <a:pt x="171" y="75"/>
                    <a:pt x="171" y="92"/>
                  </a:cubicBezTo>
                  <a:cubicBezTo>
                    <a:pt x="171" y="367"/>
                    <a:pt x="171" y="367"/>
                    <a:pt x="171" y="367"/>
                  </a:cubicBezTo>
                  <a:cubicBezTo>
                    <a:pt x="131" y="367"/>
                    <a:pt x="131" y="367"/>
                    <a:pt x="131" y="367"/>
                  </a:cubicBezTo>
                  <a:cubicBezTo>
                    <a:pt x="131" y="160"/>
                    <a:pt x="131" y="160"/>
                    <a:pt x="131" y="160"/>
                  </a:cubicBezTo>
                  <a:cubicBezTo>
                    <a:pt x="131" y="143"/>
                    <a:pt x="117" y="128"/>
                    <a:pt x="99" y="128"/>
                  </a:cubicBezTo>
                  <a:cubicBezTo>
                    <a:pt x="63" y="128"/>
                    <a:pt x="63" y="128"/>
                    <a:pt x="63" y="128"/>
                  </a:cubicBezTo>
                  <a:cubicBezTo>
                    <a:pt x="46" y="128"/>
                    <a:pt x="32" y="143"/>
                    <a:pt x="32" y="160"/>
                  </a:cubicBezTo>
                  <a:cubicBezTo>
                    <a:pt x="32" y="367"/>
                    <a:pt x="32" y="367"/>
                    <a:pt x="32" y="367"/>
                  </a:cubicBezTo>
                  <a:cubicBezTo>
                    <a:pt x="11" y="367"/>
                    <a:pt x="11" y="367"/>
                    <a:pt x="11" y="367"/>
                  </a:cubicBezTo>
                  <a:cubicBezTo>
                    <a:pt x="4" y="367"/>
                    <a:pt x="0" y="372"/>
                    <a:pt x="0" y="378"/>
                  </a:cubicBezTo>
                  <a:cubicBezTo>
                    <a:pt x="0" y="381"/>
                    <a:pt x="0" y="381"/>
                    <a:pt x="0" y="381"/>
                  </a:cubicBezTo>
                  <a:cubicBezTo>
                    <a:pt x="0" y="387"/>
                    <a:pt x="4" y="392"/>
                    <a:pt x="11" y="392"/>
                  </a:cubicBezTo>
                  <a:cubicBezTo>
                    <a:pt x="568" y="392"/>
                    <a:pt x="568" y="392"/>
                    <a:pt x="568" y="392"/>
                  </a:cubicBezTo>
                  <a:cubicBezTo>
                    <a:pt x="575" y="392"/>
                    <a:pt x="581" y="387"/>
                    <a:pt x="581" y="381"/>
                  </a:cubicBezTo>
                  <a:cubicBezTo>
                    <a:pt x="581" y="378"/>
                    <a:pt x="581" y="378"/>
                    <a:pt x="581" y="378"/>
                  </a:cubicBezTo>
                  <a:cubicBezTo>
                    <a:pt x="581" y="372"/>
                    <a:pt x="575" y="367"/>
                    <a:pt x="568" y="367"/>
                  </a:cubicBezTo>
                  <a:close/>
                </a:path>
              </a:pathLst>
            </a:custGeom>
            <a:gradFill>
              <a:gsLst>
                <a:gs pos="0">
                  <a:schemeClr val="accent2"/>
                </a:gs>
                <a:gs pos="24000">
                  <a:srgbClr val="FF9911"/>
                </a:gs>
                <a:gs pos="51000">
                  <a:schemeClr val="accent4"/>
                </a:gs>
                <a:gs pos="100000">
                  <a:srgbClr val="F6C62C"/>
                </a:gs>
              </a:gsLst>
              <a:lin ang="18000000"/>
            </a:gradFill>
            <a:ln w="12700">
              <a:miter lim="400000"/>
            </a:ln>
          </p:spPr>
          <p:txBody>
            <a:bodyPr wrap="square" lIns="91440" tIns="91439" rIns="91440" bIns="91439" numCol="1" anchor="ctr">
              <a:noAutofit/>
            </a:bodyPr>
            <a:lstStyle/>
            <a:p>
              <a:pPr lvl="0" algn="l" defTabSz="1828800">
                <a:buClrTx/>
                <a:buSzTx/>
                <a:buFontTx/>
                <a:defRPr sz="3600">
                  <a:solidFill>
                    <a:srgbClr val="FFFFFF"/>
                  </a:solidFill>
                  <a:latin typeface="Noto Sans S Chinese Bold"/>
                  <a:ea typeface="Noto Sans S Chinese Bold"/>
                  <a:cs typeface="Noto Sans S Chinese Bold"/>
                  <a:sym typeface="Noto Sans S Chinese Bold"/>
                </a:defRPr>
              </a:pPr>
              <a:endParaRPr sz="1400" dirty="0">
                <a:latin typeface="微软雅黑" panose="020B0503020204020204" pitchFamily="34" charset="-122"/>
                <a:ea typeface="微软雅黑" panose="020B0503020204020204" pitchFamily="34" charset="-122"/>
                <a:cs typeface="+mn-ea"/>
                <a:sym typeface="+mn-ea"/>
              </a:endParaRPr>
            </a:p>
          </p:txBody>
        </p:sp>
      </p:grpSp>
      <p:sp>
        <p:nvSpPr>
          <p:cNvPr id="99" name="Shape 2621"/>
          <p:cNvSpPr>
            <a:spLocks noChangeAspect="1"/>
          </p:cNvSpPr>
          <p:nvPr>
            <p:custDataLst>
              <p:tags r:id="rId11"/>
            </p:custDataLst>
          </p:nvPr>
        </p:nvSpPr>
        <p:spPr>
          <a:xfrm>
            <a:off x="9625960" y="1732321"/>
            <a:ext cx="468000" cy="297687"/>
          </a:xfrm>
          <a:custGeom>
            <a:avLst/>
            <a:gdLst/>
            <a:ahLst/>
            <a:cxnLst>
              <a:cxn ang="0">
                <a:pos x="wd2" y="hd2"/>
              </a:cxn>
              <a:cxn ang="5400000">
                <a:pos x="wd2" y="hd2"/>
              </a:cxn>
              <a:cxn ang="10800000">
                <a:pos x="wd2" y="hd2"/>
              </a:cxn>
              <a:cxn ang="16200000">
                <a:pos x="wd2" y="hd2"/>
              </a:cxn>
            </a:cxnLst>
            <a:rect l="0" t="0" r="r" b="b"/>
            <a:pathLst>
              <a:path w="21600" h="21600" extrusionOk="0">
                <a:moveTo>
                  <a:pt x="10800" y="20057"/>
                </a:moveTo>
                <a:cubicBezTo>
                  <a:pt x="5378" y="20057"/>
                  <a:pt x="982" y="13445"/>
                  <a:pt x="982" y="10800"/>
                </a:cubicBezTo>
                <a:cubicBezTo>
                  <a:pt x="982" y="8155"/>
                  <a:pt x="5378" y="1543"/>
                  <a:pt x="10800" y="1543"/>
                </a:cubicBezTo>
                <a:cubicBezTo>
                  <a:pt x="16223" y="1543"/>
                  <a:pt x="20618" y="8155"/>
                  <a:pt x="20618" y="10800"/>
                </a:cubicBezTo>
                <a:cubicBezTo>
                  <a:pt x="20618" y="13445"/>
                  <a:pt x="16223" y="20057"/>
                  <a:pt x="10800" y="20057"/>
                </a:cubicBezTo>
                <a:moveTo>
                  <a:pt x="10800" y="0"/>
                </a:moveTo>
                <a:cubicBezTo>
                  <a:pt x="4835" y="0"/>
                  <a:pt x="0" y="7714"/>
                  <a:pt x="0" y="10800"/>
                </a:cubicBezTo>
                <a:cubicBezTo>
                  <a:pt x="0" y="13886"/>
                  <a:pt x="4835" y="21600"/>
                  <a:pt x="10800" y="21600"/>
                </a:cubicBezTo>
                <a:cubicBezTo>
                  <a:pt x="16765" y="21600"/>
                  <a:pt x="21600" y="13886"/>
                  <a:pt x="21600" y="10800"/>
                </a:cubicBezTo>
                <a:cubicBezTo>
                  <a:pt x="21600" y="7714"/>
                  <a:pt x="16765" y="0"/>
                  <a:pt x="10800" y="0"/>
                </a:cubicBezTo>
                <a:moveTo>
                  <a:pt x="10800" y="16971"/>
                </a:moveTo>
                <a:cubicBezTo>
                  <a:pt x="8631" y="16971"/>
                  <a:pt x="6873" y="14209"/>
                  <a:pt x="6873" y="10800"/>
                </a:cubicBezTo>
                <a:cubicBezTo>
                  <a:pt x="6873" y="7392"/>
                  <a:pt x="8631" y="4629"/>
                  <a:pt x="10800" y="4629"/>
                </a:cubicBezTo>
                <a:cubicBezTo>
                  <a:pt x="12969" y="4629"/>
                  <a:pt x="14727" y="7392"/>
                  <a:pt x="14727" y="10800"/>
                </a:cubicBezTo>
                <a:cubicBezTo>
                  <a:pt x="14727" y="14209"/>
                  <a:pt x="12969" y="16971"/>
                  <a:pt x="10800" y="16971"/>
                </a:cubicBezTo>
                <a:moveTo>
                  <a:pt x="10800" y="3087"/>
                </a:moveTo>
                <a:cubicBezTo>
                  <a:pt x="8088" y="3087"/>
                  <a:pt x="5891" y="6540"/>
                  <a:pt x="5891" y="10800"/>
                </a:cubicBezTo>
                <a:cubicBezTo>
                  <a:pt x="5891" y="15061"/>
                  <a:pt x="8088" y="18514"/>
                  <a:pt x="10800" y="18514"/>
                </a:cubicBezTo>
                <a:cubicBezTo>
                  <a:pt x="13512" y="18514"/>
                  <a:pt x="15709" y="15061"/>
                  <a:pt x="15709" y="10800"/>
                </a:cubicBezTo>
                <a:cubicBezTo>
                  <a:pt x="15709" y="6540"/>
                  <a:pt x="13512" y="3087"/>
                  <a:pt x="10800" y="3087"/>
                </a:cubicBezTo>
                <a:moveTo>
                  <a:pt x="10800" y="8486"/>
                </a:moveTo>
                <a:cubicBezTo>
                  <a:pt x="9987" y="8486"/>
                  <a:pt x="9327" y="9523"/>
                  <a:pt x="9327" y="10800"/>
                </a:cubicBezTo>
                <a:cubicBezTo>
                  <a:pt x="9327" y="12078"/>
                  <a:pt x="9987" y="13114"/>
                  <a:pt x="10800" y="13114"/>
                </a:cubicBezTo>
                <a:cubicBezTo>
                  <a:pt x="11613" y="13114"/>
                  <a:pt x="12273" y="12078"/>
                  <a:pt x="12273" y="10800"/>
                </a:cubicBezTo>
                <a:cubicBezTo>
                  <a:pt x="12273" y="9523"/>
                  <a:pt x="11613" y="8486"/>
                  <a:pt x="10800" y="8486"/>
                </a:cubicBezTo>
              </a:path>
            </a:pathLst>
          </a:custGeom>
          <a:gradFill>
            <a:gsLst>
              <a:gs pos="0">
                <a:schemeClr val="accent2"/>
              </a:gs>
              <a:gs pos="24000">
                <a:srgbClr val="FF9911"/>
              </a:gs>
              <a:gs pos="51000">
                <a:schemeClr val="accent4"/>
              </a:gs>
              <a:gs pos="100000">
                <a:srgbClr val="F6C62C"/>
              </a:gs>
            </a:gsLst>
            <a:lin ang="18000000"/>
          </a:gradFill>
          <a:ln w="12700">
            <a:miter lim="400000"/>
          </a:ln>
        </p:spPr>
        <p:txBody>
          <a:bodyPr wrap="square" lIns="91440" tIns="91439" rIns="91440" bIns="91439" numCol="1" anchor="ctr">
            <a:noAutofit/>
          </a:bodyPr>
          <a:lstStyle/>
          <a:p>
            <a:pPr lvl="0" algn="l" defTabSz="1828800">
              <a:buClrTx/>
              <a:buSzTx/>
              <a:buFontTx/>
              <a:defRPr sz="3600">
                <a:solidFill>
                  <a:srgbClr val="FFFFFF"/>
                </a:solidFill>
                <a:latin typeface="Noto Sans S Chinese Bold"/>
                <a:ea typeface="Noto Sans S Chinese Bold"/>
                <a:cs typeface="Noto Sans S Chinese Bold"/>
                <a:sym typeface="Noto Sans S Chinese Bold"/>
              </a:defRPr>
            </a:pPr>
            <a:endParaRPr sz="1400" dirty="0">
              <a:latin typeface="微软雅黑" panose="020B0503020204020204" pitchFamily="34" charset="-122"/>
              <a:ea typeface="微软雅黑" panose="020B0503020204020204" pitchFamily="34" charset="-122"/>
              <a:cs typeface="+mn-ea"/>
              <a:sym typeface="+mn-ea"/>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p:nvPr>
            <p:custDataLst>
              <p:tags r:id="rId1"/>
            </p:custDataLst>
          </p:nvPr>
        </p:nvSpPr>
        <p:spPr>
          <a:xfrm>
            <a:off x="645160" y="1153795"/>
            <a:ext cx="5400000" cy="4875530"/>
          </a:xfrm>
          <a:prstGeom prst="roundRect">
            <a:avLst>
              <a:gd name="adj" fmla="val 4245"/>
            </a:avLst>
          </a:prstGeom>
          <a:gradFill>
            <a:gsLst>
              <a:gs pos="50005">
                <a:srgbClr val="E7E6E6">
                  <a:alpha val="10000"/>
                </a:srgbClr>
              </a:gs>
              <a:gs pos="1000">
                <a:schemeClr val="bg2">
                  <a:alpha val="20000"/>
                </a:schemeClr>
              </a:gs>
              <a:gs pos="100000">
                <a:schemeClr val="bg2">
                  <a:alpha val="20000"/>
                </a:schemeClr>
              </a:gs>
            </a:gsLst>
            <a:lin ang="3000000" scaled="0"/>
          </a:gradFill>
          <a:ln w="19050">
            <a:gradFill>
              <a:gsLst>
                <a:gs pos="0">
                  <a:schemeClr val="accent4"/>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13" name="TextBox 14"/>
          <p:cNvSpPr txBox="1"/>
          <p:nvPr>
            <p:custDataLst>
              <p:tags r:id="rId2"/>
            </p:custDataLst>
          </p:nvPr>
        </p:nvSpPr>
        <p:spPr>
          <a:xfrm>
            <a:off x="1137265" y="2935605"/>
            <a:ext cx="4415790" cy="2026285"/>
          </a:xfrm>
          <a:prstGeom prst="rect">
            <a:avLst/>
          </a:prstGeom>
        </p:spPr>
        <p:txBody>
          <a:bodyPr vert="horz" wrap="square" lIns="0" tIns="0" rIns="0" bIns="0" rtlCol="0" anchor="ctr">
            <a:noAutofit/>
          </a:bodyPr>
          <a:lstStyle>
            <a:lvl1pPr defTabSz="685800">
              <a:spcBef>
                <a:spcPct val="0"/>
              </a:spcBef>
              <a:buNone/>
              <a:defRPr sz="1200" b="0" i="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285750" lvl="0" indent="-285750" algn="l" defTabSz="825500" fontAlgn="auto" hangingPunct="0">
              <a:lnSpc>
                <a:spcPct val="150000"/>
              </a:lnSpc>
              <a:spcAft>
                <a:spcPts val="1200"/>
              </a:spcAft>
              <a:buClr>
                <a:srgbClr val="F89104"/>
              </a:buClr>
              <a:buSzTx/>
              <a:buFont typeface="Arial" panose="020B0604020202020204" pitchFamily="34" charset="0"/>
              <a:buChar char="•"/>
            </a:pPr>
            <a:r>
              <a:rPr lang="zh-CN" altLang="en-US" sz="1800" spc="-20" dirty="0">
                <a:solidFill>
                  <a:schemeClr val="tx1"/>
                </a:solidFill>
                <a:uFillTx/>
                <a:latin typeface="微软雅黑" panose="020B0503020204020204" pitchFamily="34" charset="-122"/>
                <a:ea typeface="微软雅黑" panose="020B0503020204020204" pitchFamily="34" charset="-122"/>
                <a:cs typeface="+mn-cs"/>
                <a:sym typeface="+mn-ea"/>
              </a:rPr>
              <a:t>卖家需要在美国，英国，德国或日本有可售的账户；</a:t>
            </a:r>
          </a:p>
          <a:p>
            <a:pPr marL="285750" lvl="0" indent="-285750" algn="l" defTabSz="825500" fontAlgn="auto" hangingPunct="0">
              <a:lnSpc>
                <a:spcPct val="150000"/>
              </a:lnSpc>
              <a:spcAft>
                <a:spcPts val="1200"/>
              </a:spcAft>
              <a:buClr>
                <a:srgbClr val="F89104"/>
              </a:buClr>
              <a:buSzTx/>
              <a:buFont typeface="Arial" panose="020B0604020202020204" pitchFamily="34" charset="0"/>
              <a:buChar char="•"/>
            </a:pPr>
            <a:r>
              <a:rPr lang="zh-CN" altLang="en-US" sz="1800" spc="-20" dirty="0">
                <a:solidFill>
                  <a:schemeClr val="tx1"/>
                </a:solidFill>
                <a:uFillTx/>
                <a:latin typeface="微软雅黑" panose="020B0503020204020204" pitchFamily="34" charset="-122"/>
                <a:ea typeface="微软雅黑" panose="020B0503020204020204" pitchFamily="34" charset="-122"/>
                <a:cs typeface="+mn-cs"/>
                <a:sym typeface="+mn-ea"/>
              </a:rPr>
              <a:t>卖家为专业销售账户；</a:t>
            </a:r>
          </a:p>
          <a:p>
            <a:pPr marL="285750" lvl="0" indent="-285750" algn="l" defTabSz="825500" fontAlgn="auto" hangingPunct="0">
              <a:lnSpc>
                <a:spcPct val="150000"/>
              </a:lnSpc>
              <a:spcAft>
                <a:spcPts val="1200"/>
              </a:spcAft>
              <a:buClr>
                <a:srgbClr val="F89104"/>
              </a:buClr>
              <a:buSzTx/>
              <a:buFont typeface="Arial" panose="020B0604020202020204" pitchFamily="34" charset="0"/>
              <a:buChar char="•"/>
            </a:pPr>
            <a:r>
              <a:rPr lang="zh-CN" altLang="en-US" sz="1800" spc="-20" dirty="0">
                <a:solidFill>
                  <a:schemeClr val="tx1"/>
                </a:solidFill>
                <a:uFillTx/>
                <a:latin typeface="微软雅黑" panose="020B0503020204020204" pitchFamily="34" charset="-122"/>
                <a:ea typeface="微软雅黑" panose="020B0503020204020204" pitchFamily="34" charset="-122"/>
                <a:cs typeface="+mn-cs"/>
                <a:sym typeface="+mn-ea"/>
              </a:rPr>
              <a:t>大体积，有毒材料，受限制的选品不在推荐范围内。</a:t>
            </a:r>
            <a:endParaRPr lang="zh-CN" altLang="en-US" sz="1800" spc="-20" dirty="0">
              <a:solidFill>
                <a:schemeClr val="tx1"/>
              </a:solidFill>
              <a:uFillTx/>
              <a:latin typeface="微软雅黑" panose="020B0503020204020204" pitchFamily="34" charset="-122"/>
              <a:ea typeface="微软雅黑" panose="020B0503020204020204" pitchFamily="34" charset="-122"/>
              <a:cs typeface="思源黑体 Regular" panose="020B0500000000000000" charset="-122"/>
              <a:sym typeface="+mn-ea"/>
            </a:endParaRPr>
          </a:p>
        </p:txBody>
      </p:sp>
      <p:sp>
        <p:nvSpPr>
          <p:cNvPr id="2" name="Title 3"/>
          <p:cNvSpPr txBox="1"/>
          <p:nvPr/>
        </p:nvSpPr>
        <p:spPr>
          <a:xfrm>
            <a:off x="149913" y="219070"/>
            <a:ext cx="678815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第三步：谁可以使用？</a:t>
            </a:r>
          </a:p>
        </p:txBody>
      </p:sp>
      <p:pic>
        <p:nvPicPr>
          <p:cNvPr id="9" name="图片 8" descr="womanpresentation"/>
          <p:cNvPicPr>
            <a:picLocks noChangeAspect="1"/>
          </p:cNvPicPr>
          <p:nvPr/>
        </p:nvPicPr>
        <p:blipFill>
          <a:blip r:embed="rId7"/>
          <a:stretch>
            <a:fillRect/>
          </a:stretch>
        </p:blipFill>
        <p:spPr>
          <a:xfrm>
            <a:off x="6400165" y="1769745"/>
            <a:ext cx="4518025" cy="3655695"/>
          </a:xfrm>
          <a:prstGeom prst="rect">
            <a:avLst/>
          </a:prstGeom>
        </p:spPr>
      </p:pic>
      <p:grpSp>
        <p:nvGrpSpPr>
          <p:cNvPr id="69" name="组合 16"/>
          <p:cNvGrpSpPr/>
          <p:nvPr/>
        </p:nvGrpSpPr>
        <p:grpSpPr>
          <a:xfrm>
            <a:off x="1300674" y="1744299"/>
            <a:ext cx="648000" cy="679236"/>
            <a:chOff x="-459306" y="4310259"/>
            <a:chExt cx="648000" cy="679236"/>
          </a:xfrm>
        </p:grpSpPr>
        <p:sp>
          <p:nvSpPr>
            <p:cNvPr id="70" name="椭圆 15"/>
            <p:cNvSpPr/>
            <p:nvPr>
              <p:custDataLst>
                <p:tags r:id="rId4"/>
              </p:custDataLst>
            </p:nvPr>
          </p:nvSpPr>
          <p:spPr>
            <a:xfrm>
              <a:off x="-459306" y="4341495"/>
              <a:ext cx="648000" cy="648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71" name="图片 6" descr="资源 6@3x"/>
            <p:cNvPicPr>
              <a:picLocks noChangeAspect="1"/>
            </p:cNvPicPr>
            <p:nvPr>
              <p:custDataLst>
                <p:tags r:id="rId5"/>
              </p:custDataLst>
            </p:nvPr>
          </p:nvPicPr>
          <p:blipFill>
            <a:blip r:embed="rId8"/>
            <a:stretch>
              <a:fillRect/>
            </a:stretch>
          </p:blipFill>
          <p:spPr>
            <a:xfrm>
              <a:off x="-423306" y="4310259"/>
              <a:ext cx="576000" cy="620181"/>
            </a:xfrm>
            <a:prstGeom prst="rect">
              <a:avLst/>
            </a:prstGeom>
          </p:spPr>
        </p:pic>
      </p:grpSp>
      <p:cxnSp>
        <p:nvCxnSpPr>
          <p:cNvPr id="28" name="直线连接符 24"/>
          <p:cNvCxnSpPr/>
          <p:nvPr>
            <p:custDataLst>
              <p:tags r:id="rId3"/>
            </p:custDataLst>
          </p:nvPr>
        </p:nvCxnSpPr>
        <p:spPr>
          <a:xfrm flipH="1">
            <a:off x="1300588" y="2604028"/>
            <a:ext cx="4137025" cy="0"/>
          </a:xfrm>
          <a:prstGeom prst="line">
            <a:avLst/>
          </a:prstGeom>
          <a:ln w="12700">
            <a:solidFill>
              <a:srgbClr val="FF9911"/>
            </a:solidFill>
          </a:ln>
          <a:effectLst>
            <a:outerShdw blurRad="76200" dist="38100" dir="2700000" algn="tl" rotWithShape="0">
              <a:schemeClr val="bg2">
                <a:lumMod val="25000"/>
                <a:alpha val="40000"/>
              </a:schemeClr>
            </a:outerShdw>
          </a:effectLst>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986280" y="2042160"/>
            <a:ext cx="3327400" cy="322580"/>
          </a:xfrm>
          <a:prstGeom prst="rect">
            <a:avLst/>
          </a:prstGeom>
          <a:noFill/>
        </p:spPr>
        <p:txBody>
          <a:bodyPr wrap="square" bIns="0" rtlCol="0" anchor="t">
            <a:spAutoFit/>
          </a:bodyPr>
          <a:lstStyle/>
          <a:p>
            <a:pPr algn="l">
              <a:defRPr/>
            </a:pPr>
            <a:r>
              <a:rPr lang="zh-CN" altLang="en-US"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sym typeface="+mn-ea"/>
              </a:rPr>
              <a:t>您需要满足以下三个条件：</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p:nvPr>
            <p:custDataLst>
              <p:tags r:id="rId1"/>
            </p:custDataLst>
          </p:nvPr>
        </p:nvSpPr>
        <p:spPr>
          <a:xfrm>
            <a:off x="645160" y="1393190"/>
            <a:ext cx="10901680" cy="4444365"/>
          </a:xfrm>
          <a:prstGeom prst="roundRect">
            <a:avLst>
              <a:gd name="adj" fmla="val 4157"/>
            </a:avLst>
          </a:prstGeom>
          <a:solidFill>
            <a:schemeClr val="bg1">
              <a:lumMod val="85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2" name="Title 3"/>
          <p:cNvSpPr txBox="1"/>
          <p:nvPr/>
        </p:nvSpPr>
        <p:spPr>
          <a:xfrm>
            <a:off x="149913" y="219070"/>
            <a:ext cx="678815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第四步：定制您的筛选条件</a:t>
            </a:r>
          </a:p>
        </p:txBody>
      </p:sp>
      <p:sp>
        <p:nvSpPr>
          <p:cNvPr id="13" name="TextBox 14"/>
          <p:cNvSpPr txBox="1"/>
          <p:nvPr>
            <p:custDataLst>
              <p:tags r:id="rId2"/>
            </p:custDataLst>
          </p:nvPr>
        </p:nvSpPr>
        <p:spPr>
          <a:xfrm>
            <a:off x="922655" y="2138680"/>
            <a:ext cx="3773805" cy="2947035"/>
          </a:xfrm>
          <a:prstGeom prst="rect">
            <a:avLst/>
          </a:prstGeom>
        </p:spPr>
        <p:txBody>
          <a:bodyPr vert="horz" lIns="243840" tIns="121920" rIns="243840" bIns="121920" rtlCol="0" anchor="ctr">
            <a:noAutofit/>
          </a:bodyPr>
          <a:lstStyle>
            <a:lvl1pPr defTabSz="685800">
              <a:spcBef>
                <a:spcPct val="0"/>
              </a:spcBef>
              <a:buNone/>
              <a:defRPr sz="1200" b="0" i="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nSpc>
                <a:spcPct val="150000"/>
              </a:lnSpc>
              <a:spcAft>
                <a:spcPts val="1600"/>
              </a:spcAft>
            </a:pPr>
            <a:r>
              <a:rPr lang="zh-CN" altLang="en-US" sz="1600" dirty="0">
                <a:solidFill>
                  <a:schemeClr val="tx1"/>
                </a:solidFill>
                <a:latin typeface="微软雅黑" panose="020B0503020204020204" pitchFamily="34" charset="-122"/>
                <a:ea typeface="微软雅黑" panose="020B0503020204020204" pitchFamily="34" charset="-122"/>
                <a:cs typeface="Amazon Ember" panose="020B0603020204020204" charset="0"/>
              </a:rPr>
              <a:t>您可以通过筛选：</a:t>
            </a:r>
          </a:p>
          <a:p>
            <a:pPr>
              <a:lnSpc>
                <a:spcPct val="150000"/>
              </a:lnSpc>
              <a:spcAft>
                <a:spcPts val="1600"/>
              </a:spcAft>
            </a:pPr>
            <a:endParaRPr lang="zh-CN" altLang="en-US" sz="1600" dirty="0">
              <a:solidFill>
                <a:schemeClr val="tx1"/>
              </a:solidFill>
              <a:latin typeface="微软雅黑" panose="020B0503020204020204" pitchFamily="34" charset="-122"/>
              <a:ea typeface="微软雅黑" panose="020B0503020204020204" pitchFamily="34" charset="-122"/>
              <a:cs typeface="Amazon Ember" panose="020B0603020204020204" charset="0"/>
            </a:endParaRPr>
          </a:p>
          <a:p>
            <a:pPr>
              <a:lnSpc>
                <a:spcPct val="150000"/>
              </a:lnSpc>
              <a:spcAft>
                <a:spcPts val="1600"/>
              </a:spcAft>
            </a:pPr>
            <a:endParaRPr lang="zh-CN" altLang="en-US" sz="1600" dirty="0">
              <a:solidFill>
                <a:schemeClr val="tx1"/>
              </a:solidFill>
              <a:latin typeface="微软雅黑" panose="020B0503020204020204" pitchFamily="34" charset="-122"/>
              <a:ea typeface="微软雅黑" panose="020B0503020204020204" pitchFamily="34" charset="-122"/>
              <a:cs typeface="Amazon Ember" panose="020B0603020204020204" charset="0"/>
            </a:endParaRPr>
          </a:p>
          <a:p>
            <a:pPr>
              <a:lnSpc>
                <a:spcPct val="150000"/>
              </a:lnSpc>
              <a:spcAft>
                <a:spcPts val="1600"/>
              </a:spcAft>
            </a:pPr>
            <a:endParaRPr lang="zh-CN" altLang="en-US" sz="1600" dirty="0">
              <a:solidFill>
                <a:schemeClr val="tx1"/>
              </a:solidFill>
              <a:latin typeface="微软雅黑" panose="020B0503020204020204" pitchFamily="34" charset="-122"/>
              <a:ea typeface="微软雅黑" panose="020B0503020204020204" pitchFamily="34" charset="-122"/>
              <a:cs typeface="Amazon Ember" panose="020B0603020204020204" charset="0"/>
            </a:endParaRPr>
          </a:p>
          <a:p>
            <a:pPr>
              <a:lnSpc>
                <a:spcPct val="150000"/>
              </a:lnSpc>
              <a:spcAft>
                <a:spcPts val="1600"/>
              </a:spcAft>
            </a:pPr>
            <a:r>
              <a:rPr lang="zh-CN" altLang="en-US" sz="1600" dirty="0">
                <a:solidFill>
                  <a:schemeClr val="tx1"/>
                </a:solidFill>
                <a:latin typeface="微软雅黑" panose="020B0503020204020204" pitchFamily="34" charset="-122"/>
                <a:ea typeface="微软雅黑" panose="020B0503020204020204" pitchFamily="34" charset="-122"/>
                <a:cs typeface="Amazon Ember" panose="020B0603020204020204" charset="0"/>
              </a:rPr>
              <a:t>了解感兴趣类目的具体数据指标。</a:t>
            </a:r>
            <a:endParaRPr lang="en-US" altLang="zh-CN" sz="1600" dirty="0">
              <a:solidFill>
                <a:schemeClr val="tx1"/>
              </a:solidFill>
              <a:latin typeface="微软雅黑" panose="020B0503020204020204" pitchFamily="34" charset="-122"/>
              <a:ea typeface="微软雅黑" panose="020B0503020204020204" pitchFamily="34" charset="-122"/>
              <a:cs typeface="Amazon Ember" panose="020B0603020204020204" charset="0"/>
            </a:endParaRPr>
          </a:p>
          <a:p>
            <a:pPr>
              <a:lnSpc>
                <a:spcPct val="150000"/>
              </a:lnSpc>
              <a:spcAft>
                <a:spcPts val="1600"/>
              </a:spcAft>
            </a:pPr>
            <a:r>
              <a:rPr lang="zh-CN" altLang="en-US" sz="1600" dirty="0">
                <a:solidFill>
                  <a:srgbClr val="F89104"/>
                </a:solidFill>
                <a:latin typeface="微软雅黑" panose="020B0503020204020204" pitchFamily="34" charset="-122"/>
                <a:ea typeface="微软雅黑" panose="020B0503020204020204" pitchFamily="34" charset="-122"/>
                <a:cs typeface="Amazon Ember" panose="020B0603020204020204" charset="0"/>
              </a:rPr>
              <a:t>类别</a:t>
            </a:r>
            <a:r>
              <a:rPr lang="en-US" altLang="zh-CN" sz="1600" dirty="0">
                <a:solidFill>
                  <a:srgbClr val="F89104"/>
                </a:solidFill>
                <a:latin typeface="微软雅黑" panose="020B0503020204020204" pitchFamily="34" charset="-122"/>
                <a:ea typeface="微软雅黑" panose="020B0503020204020204" pitchFamily="34" charset="-122"/>
                <a:cs typeface="Amazon Ember" panose="020B0603020204020204" charset="0"/>
              </a:rPr>
              <a:t>/</a:t>
            </a:r>
            <a:r>
              <a:rPr lang="zh-CN" altLang="en-US" sz="1600" dirty="0">
                <a:solidFill>
                  <a:srgbClr val="F89104"/>
                </a:solidFill>
                <a:latin typeface="微软雅黑" panose="020B0503020204020204" pitchFamily="34" charset="-122"/>
                <a:ea typeface="微软雅黑" panose="020B0503020204020204" pitchFamily="34" charset="-122"/>
                <a:cs typeface="Amazon Ember" panose="020B0603020204020204" charset="0"/>
              </a:rPr>
              <a:t>商品类型</a:t>
            </a:r>
            <a:r>
              <a:rPr lang="en-US" altLang="zh-CN" sz="1600" dirty="0">
                <a:solidFill>
                  <a:srgbClr val="F89104"/>
                </a:solidFill>
                <a:latin typeface="微软雅黑" panose="020B0503020204020204" pitchFamily="34" charset="-122"/>
                <a:ea typeface="微软雅黑" panose="020B0503020204020204" pitchFamily="34" charset="-122"/>
                <a:cs typeface="Amazon Ember" panose="020B0603020204020204" charset="0"/>
              </a:rPr>
              <a:t>/</a:t>
            </a:r>
            <a:r>
              <a:rPr lang="zh-CN" altLang="en-US" sz="1600" dirty="0">
                <a:solidFill>
                  <a:srgbClr val="F89104"/>
                </a:solidFill>
                <a:latin typeface="微软雅黑" panose="020B0503020204020204" pitchFamily="34" charset="-122"/>
                <a:ea typeface="微软雅黑" panose="020B0503020204020204" pitchFamily="34" charset="-122"/>
                <a:cs typeface="Amazon Ember" panose="020B0603020204020204" charset="0"/>
              </a:rPr>
              <a:t>分类节点的条形长度表示其中的商品在交易站点中的以往需求量。</a:t>
            </a:r>
          </a:p>
        </p:txBody>
      </p:sp>
      <p:pic>
        <p:nvPicPr>
          <p:cNvPr id="5" name="Picture 4"/>
          <p:cNvPicPr>
            <a:picLocks noChangeAspect="1"/>
          </p:cNvPicPr>
          <p:nvPr>
            <p:custDataLst>
              <p:tags r:id="rId3"/>
            </p:custDataLst>
          </p:nvPr>
        </p:nvPicPr>
        <p:blipFill rotWithShape="1">
          <a:blip r:embed="rId6"/>
          <a:srcRect l="50647"/>
          <a:stretch>
            <a:fillRect/>
          </a:stretch>
        </p:blipFill>
        <p:spPr>
          <a:xfrm>
            <a:off x="4957445" y="3702685"/>
            <a:ext cx="6130925" cy="1854200"/>
          </a:xfrm>
          <a:prstGeom prst="rect">
            <a:avLst/>
          </a:prstGeom>
          <a:ln>
            <a:solidFill>
              <a:schemeClr val="bg2">
                <a:lumMod val="90000"/>
              </a:schemeClr>
            </a:solidFill>
          </a:ln>
        </p:spPr>
      </p:pic>
      <p:pic>
        <p:nvPicPr>
          <p:cNvPr id="9" name="Picture 8"/>
          <p:cNvPicPr>
            <a:picLocks noChangeAspect="1"/>
          </p:cNvPicPr>
          <p:nvPr>
            <p:custDataLst>
              <p:tags r:id="rId4"/>
            </p:custDataLst>
          </p:nvPr>
        </p:nvPicPr>
        <p:blipFill rotWithShape="1">
          <a:blip r:embed="rId6"/>
          <a:srcRect r="49710"/>
          <a:stretch>
            <a:fillRect/>
          </a:stretch>
        </p:blipFill>
        <p:spPr>
          <a:xfrm>
            <a:off x="4956943" y="1676240"/>
            <a:ext cx="6131295" cy="1854378"/>
          </a:xfrm>
          <a:prstGeom prst="rect">
            <a:avLst/>
          </a:prstGeom>
          <a:ln>
            <a:solidFill>
              <a:schemeClr val="bg2">
                <a:lumMod val="90000"/>
              </a:schemeClr>
            </a:solidFill>
          </a:ln>
        </p:spPr>
      </p:pic>
      <p:sp>
        <p:nvSpPr>
          <p:cNvPr id="6" name="Rectangle: Rounded Corners 3"/>
          <p:cNvSpPr/>
          <p:nvPr/>
        </p:nvSpPr>
        <p:spPr>
          <a:xfrm>
            <a:off x="1094740" y="2229485"/>
            <a:ext cx="3223260" cy="431800"/>
          </a:xfrm>
          <a:prstGeom prst="roundRect">
            <a:avLst>
              <a:gd name="adj" fmla="val 50000"/>
            </a:avLst>
          </a:prstGeom>
          <a:solidFill>
            <a:schemeClr val="bg1">
              <a:alpha val="50000"/>
            </a:schemeClr>
          </a:solidFill>
          <a:ln w="25400">
            <a:gradFill>
              <a:gsLst>
                <a:gs pos="0">
                  <a:srgbClr val="F6C62D"/>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defRPr/>
            </a:pPr>
            <a:r>
              <a:rPr lang="zh-CN" altLang="en-US" sz="1600"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sym typeface="+mn-ea"/>
              </a:rPr>
              <a:t>商店（站点）名称</a:t>
            </a:r>
          </a:p>
        </p:txBody>
      </p:sp>
      <p:sp>
        <p:nvSpPr>
          <p:cNvPr id="3" name="Rectangle: Rounded Corners 3"/>
          <p:cNvSpPr/>
          <p:nvPr/>
        </p:nvSpPr>
        <p:spPr>
          <a:xfrm>
            <a:off x="1095038" y="2806700"/>
            <a:ext cx="1548000" cy="432000"/>
          </a:xfrm>
          <a:prstGeom prst="roundRect">
            <a:avLst>
              <a:gd name="adj" fmla="val 50000"/>
            </a:avLst>
          </a:prstGeom>
          <a:solidFill>
            <a:schemeClr val="bg1">
              <a:alpha val="50000"/>
            </a:schemeClr>
          </a:solidFill>
          <a:ln w="25400">
            <a:gradFill>
              <a:gsLst>
                <a:gs pos="0">
                  <a:srgbClr val="F6C62D"/>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defRPr/>
            </a:pPr>
            <a:r>
              <a:rPr lang="zh-CN" altLang="en-US" sz="1600"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sym typeface="+mn-ea"/>
              </a:rPr>
              <a:t>类别</a:t>
            </a:r>
            <a:endParaRPr lang="zh-CN" altLang="en-US" sz="1600"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4" name="Rectangle: Rounded Corners 3"/>
          <p:cNvSpPr/>
          <p:nvPr/>
        </p:nvSpPr>
        <p:spPr>
          <a:xfrm>
            <a:off x="1094740" y="3383915"/>
            <a:ext cx="3223260" cy="431800"/>
          </a:xfrm>
          <a:prstGeom prst="roundRect">
            <a:avLst>
              <a:gd name="adj" fmla="val 50000"/>
            </a:avLst>
          </a:prstGeom>
          <a:solidFill>
            <a:schemeClr val="bg1">
              <a:alpha val="50000"/>
            </a:schemeClr>
          </a:solidFill>
          <a:ln w="25400">
            <a:gradFill>
              <a:gsLst>
                <a:gs pos="0">
                  <a:srgbClr val="F6C62D"/>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defRPr/>
            </a:pPr>
            <a:r>
              <a:rPr lang="zh-CN" altLang="en-US" sz="1600"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sym typeface="+mn-ea"/>
              </a:rPr>
              <a:t>商品类型关键词（分类节点）</a:t>
            </a:r>
          </a:p>
        </p:txBody>
      </p:sp>
      <p:sp>
        <p:nvSpPr>
          <p:cNvPr id="8" name="Rectangle: Rounded Corners 3"/>
          <p:cNvSpPr/>
          <p:nvPr/>
        </p:nvSpPr>
        <p:spPr>
          <a:xfrm>
            <a:off x="2770168" y="2806700"/>
            <a:ext cx="1548000" cy="432000"/>
          </a:xfrm>
          <a:prstGeom prst="roundRect">
            <a:avLst>
              <a:gd name="adj" fmla="val 50000"/>
            </a:avLst>
          </a:prstGeom>
          <a:solidFill>
            <a:schemeClr val="bg1">
              <a:alpha val="50000"/>
            </a:schemeClr>
          </a:solidFill>
          <a:ln w="25400">
            <a:gradFill>
              <a:gsLst>
                <a:gs pos="0">
                  <a:srgbClr val="F6C62D"/>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defRPr/>
            </a:pPr>
            <a:r>
              <a:rPr lang="zh-CN" altLang="en-US" sz="1600"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sym typeface="+mn-ea"/>
              </a:rPr>
              <a:t>商品类型</a:t>
            </a:r>
            <a:endParaRPr lang="zh-CN" altLang="en-US" sz="1600"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cs typeface="Amazon Ember" panose="020B0603020204020204" charset="0"/>
              <a:sym typeface="+mn-ea"/>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p:nvPr>
            <p:custDataLst>
              <p:tags r:id="rId1"/>
            </p:custDataLst>
          </p:nvPr>
        </p:nvSpPr>
        <p:spPr>
          <a:xfrm>
            <a:off x="645160" y="1224915"/>
            <a:ext cx="10901680" cy="5053330"/>
          </a:xfrm>
          <a:prstGeom prst="roundRect">
            <a:avLst>
              <a:gd name="adj" fmla="val 3606"/>
            </a:avLst>
          </a:prstGeom>
          <a:solidFill>
            <a:schemeClr val="bg1">
              <a:lumMod val="85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2" name="Title 3"/>
          <p:cNvSpPr txBox="1"/>
          <p:nvPr/>
        </p:nvSpPr>
        <p:spPr>
          <a:xfrm>
            <a:off x="149860" y="219075"/>
            <a:ext cx="767334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第五步：解锁已选分类节点产品表现</a:t>
            </a:r>
          </a:p>
        </p:txBody>
      </p:sp>
      <p:grpSp>
        <p:nvGrpSpPr>
          <p:cNvPr id="4" name="组合 3"/>
          <p:cNvGrpSpPr/>
          <p:nvPr/>
        </p:nvGrpSpPr>
        <p:grpSpPr>
          <a:xfrm>
            <a:off x="1031578" y="1483043"/>
            <a:ext cx="10128844" cy="3395980"/>
            <a:chOff x="1110" y="2422"/>
            <a:chExt cx="17049" cy="5716"/>
          </a:xfrm>
        </p:grpSpPr>
        <p:pic>
          <p:nvPicPr>
            <p:cNvPr id="6" name="Picture 5"/>
            <p:cNvPicPr>
              <a:picLocks noChangeAspect="1"/>
            </p:cNvPicPr>
            <p:nvPr>
              <p:custDataLst>
                <p:tags r:id="rId4"/>
              </p:custDataLst>
            </p:nvPr>
          </p:nvPicPr>
          <p:blipFill>
            <a:blip r:embed="rId8"/>
            <a:stretch>
              <a:fillRect/>
            </a:stretch>
          </p:blipFill>
          <p:spPr>
            <a:xfrm>
              <a:off x="1110" y="2422"/>
              <a:ext cx="17049" cy="5716"/>
            </a:xfrm>
            <a:prstGeom prst="rect">
              <a:avLst/>
            </a:prstGeom>
            <a:ln>
              <a:solidFill>
                <a:schemeClr val="bg2">
                  <a:lumMod val="90000"/>
                </a:schemeClr>
              </a:solidFill>
            </a:ln>
          </p:spPr>
        </p:pic>
        <p:sp>
          <p:nvSpPr>
            <p:cNvPr id="10" name="Rectangle 9"/>
            <p:cNvSpPr/>
            <p:nvPr>
              <p:custDataLst>
                <p:tags r:id="rId5"/>
              </p:custDataLst>
            </p:nvPr>
          </p:nvSpPr>
          <p:spPr>
            <a:xfrm>
              <a:off x="1395" y="6399"/>
              <a:ext cx="7503" cy="829"/>
            </a:xfrm>
            <a:prstGeom prst="rect">
              <a:avLst/>
            </a:prstGeom>
            <a:noFill/>
            <a:ln w="44450" cap="flat">
              <a:solidFill>
                <a:srgbClr val="F6AB57"/>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Rectangle 11"/>
            <p:cNvSpPr/>
            <p:nvPr>
              <p:custDataLst>
                <p:tags r:id="rId6"/>
              </p:custDataLst>
            </p:nvPr>
          </p:nvSpPr>
          <p:spPr>
            <a:xfrm>
              <a:off x="9501" y="6399"/>
              <a:ext cx="7503" cy="829"/>
            </a:xfrm>
            <a:prstGeom prst="rect">
              <a:avLst/>
            </a:prstGeom>
            <a:noFill/>
            <a:ln w="44450" cap="flat">
              <a:solidFill>
                <a:srgbClr val="F6AB57"/>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4" name="TextBox 14"/>
          <p:cNvSpPr txBox="1"/>
          <p:nvPr>
            <p:custDataLst>
              <p:tags r:id="rId2"/>
            </p:custDataLst>
          </p:nvPr>
        </p:nvSpPr>
        <p:spPr>
          <a:xfrm>
            <a:off x="1209675" y="5014595"/>
            <a:ext cx="4449445" cy="1115695"/>
          </a:xfrm>
          <a:prstGeom prst="rect">
            <a:avLst/>
          </a:prstGeom>
        </p:spPr>
        <p:txBody>
          <a:bodyPr vert="horz" lIns="0" tIns="0" rIns="0" bIns="0" rtlCol="0" anchor="t" anchorCtr="0">
            <a:noAutofit/>
          </a:bodyPr>
          <a:lstStyle>
            <a:lvl1pPr defTabSz="685800">
              <a:spcBef>
                <a:spcPct val="0"/>
              </a:spcBef>
              <a:buNone/>
              <a:defRPr sz="1200" b="0" i="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285750" lvl="0" indent="-285750" algn="l">
              <a:lnSpc>
                <a:spcPct val="150000"/>
              </a:lnSpc>
              <a:spcAft>
                <a:spcPts val="1600"/>
              </a:spcAft>
              <a:buClr>
                <a:srgbClr val="FF9911"/>
              </a:buClr>
              <a:buSzTx/>
              <a:buFont typeface="Arial" panose="020B060402020202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通过结合搜索购买比和不同价格范围的转化率，助您结合自身情况合理进行产品定价。</a:t>
            </a:r>
          </a:p>
        </p:txBody>
      </p:sp>
      <p:sp>
        <p:nvSpPr>
          <p:cNvPr id="15" name="TextBox 14"/>
          <p:cNvSpPr txBox="1"/>
          <p:nvPr>
            <p:custDataLst>
              <p:tags r:id="rId3"/>
            </p:custDataLst>
          </p:nvPr>
        </p:nvSpPr>
        <p:spPr>
          <a:xfrm>
            <a:off x="6052185" y="5014595"/>
            <a:ext cx="4466590" cy="1115695"/>
          </a:xfrm>
          <a:prstGeom prst="rect">
            <a:avLst/>
          </a:prstGeom>
        </p:spPr>
        <p:txBody>
          <a:bodyPr vert="horz" lIns="0" tIns="0" rIns="0" bIns="0" rtlCol="0" anchor="t" anchorCtr="0">
            <a:noAutofit/>
          </a:bodyPr>
          <a:lstStyle>
            <a:lvl1pPr defTabSz="685800">
              <a:spcBef>
                <a:spcPct val="0"/>
              </a:spcBef>
              <a:buNone/>
              <a:defRPr sz="1200" b="0" i="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285750" indent="-285750">
              <a:lnSpc>
                <a:spcPct val="150000"/>
              </a:lnSpc>
              <a:spcAft>
                <a:spcPts val="1600"/>
              </a:spcAft>
              <a:buClr>
                <a:srgbClr val="FF9911"/>
              </a:buClr>
              <a:buFont typeface="Arial" panose="020B060402020202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cs typeface="Amazon Ember" panose="020B0603020204020204" charset="0"/>
              </a:rPr>
              <a:t>除了对比分类节点</a:t>
            </a:r>
            <a:r>
              <a:rPr lang="zh-CN" altLang="en-US" sz="1400" dirty="0">
                <a:solidFill>
                  <a:srgbClr val="F89104"/>
                </a:solidFill>
                <a:latin typeface="微软雅黑" panose="020B0503020204020204" pitchFamily="34" charset="-122"/>
                <a:ea typeface="微软雅黑" panose="020B0503020204020204" pitchFamily="34" charset="-122"/>
                <a:cs typeface="Amazon Ember" panose="020B0603020204020204" charset="0"/>
              </a:rPr>
              <a:t>退货率</a:t>
            </a:r>
            <a:r>
              <a:rPr lang="zh-CN" altLang="en-US" sz="1400" dirty="0">
                <a:solidFill>
                  <a:schemeClr val="tx1"/>
                </a:solidFill>
                <a:latin typeface="微软雅黑" panose="020B0503020204020204" pitchFamily="34" charset="-122"/>
                <a:ea typeface="微软雅黑" panose="020B0503020204020204" pitchFamily="34" charset="-122"/>
                <a:cs typeface="Amazon Ember" panose="020B0603020204020204" charset="0"/>
              </a:rPr>
              <a:t>与类目平均退货率之外，您也可以通过了解此类产品买家</a:t>
            </a:r>
            <a:r>
              <a:rPr lang="zh-CN" altLang="en-US" sz="1400" dirty="0">
                <a:solidFill>
                  <a:srgbClr val="F89104"/>
                </a:solidFill>
                <a:latin typeface="微软雅黑" panose="020B0503020204020204" pitchFamily="34" charset="-122"/>
                <a:ea typeface="微软雅黑" panose="020B0503020204020204" pitchFamily="34" charset="-122"/>
                <a:cs typeface="Amazon Ember" panose="020B0603020204020204" charset="0"/>
              </a:rPr>
              <a:t>退货原因</a:t>
            </a:r>
            <a:r>
              <a:rPr lang="zh-CN" altLang="en-US" sz="1400" dirty="0">
                <a:solidFill>
                  <a:schemeClr val="tx1"/>
                </a:solidFill>
                <a:latin typeface="微软雅黑" panose="020B0503020204020204" pitchFamily="34" charset="-122"/>
                <a:ea typeface="微软雅黑" panose="020B0503020204020204" pitchFamily="34" charset="-122"/>
                <a:cs typeface="Amazon Ember" panose="020B0603020204020204" charset="0"/>
              </a:rPr>
              <a:t>占比进行产品优化，降低自身产品退货率。</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p:nvPr>
            <p:custDataLst>
              <p:tags r:id="rId1"/>
            </p:custDataLst>
          </p:nvPr>
        </p:nvSpPr>
        <p:spPr>
          <a:xfrm>
            <a:off x="497205" y="1393190"/>
            <a:ext cx="11198225" cy="4698365"/>
          </a:xfrm>
          <a:prstGeom prst="roundRect">
            <a:avLst>
              <a:gd name="adj" fmla="val 4527"/>
            </a:avLst>
          </a:prstGeom>
          <a:solidFill>
            <a:schemeClr val="bg1">
              <a:lumMod val="85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2" name="Title 3"/>
          <p:cNvSpPr txBox="1"/>
          <p:nvPr/>
        </p:nvSpPr>
        <p:spPr>
          <a:xfrm>
            <a:off x="149860" y="219075"/>
            <a:ext cx="7962265"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第六步：解锁已选分类节点更多数据信息</a:t>
            </a:r>
          </a:p>
        </p:txBody>
      </p:sp>
      <p:grpSp>
        <p:nvGrpSpPr>
          <p:cNvPr id="59" name="组合 58"/>
          <p:cNvGrpSpPr/>
          <p:nvPr/>
        </p:nvGrpSpPr>
        <p:grpSpPr>
          <a:xfrm>
            <a:off x="944245" y="2572385"/>
            <a:ext cx="10303510" cy="3149600"/>
            <a:chOff x="1345" y="3631"/>
            <a:chExt cx="16226" cy="4960"/>
          </a:xfrm>
        </p:grpSpPr>
        <p:sp>
          <p:nvSpPr>
            <p:cNvPr id="33" name="矩形 32"/>
            <p:cNvSpPr/>
            <p:nvPr/>
          </p:nvSpPr>
          <p:spPr>
            <a:xfrm>
              <a:off x="1345" y="3641"/>
              <a:ext cx="16227" cy="495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7" name="矩形 56"/>
            <p:cNvSpPr/>
            <p:nvPr/>
          </p:nvSpPr>
          <p:spPr>
            <a:xfrm>
              <a:off x="1345" y="3631"/>
              <a:ext cx="16227" cy="73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4" name="文本框 33"/>
            <p:cNvSpPr txBox="1"/>
            <p:nvPr/>
          </p:nvSpPr>
          <p:spPr>
            <a:xfrm>
              <a:off x="1601" y="3734"/>
              <a:ext cx="2557" cy="531"/>
            </a:xfrm>
            <a:prstGeom prst="rect">
              <a:avLst/>
            </a:prstGeom>
            <a:noFill/>
          </p:spPr>
          <p:txBody>
            <a:bodyPr wrap="square" rtlCol="0" anchor="t">
              <a:spAutoFit/>
            </a:bodyPr>
            <a:lstStyle/>
            <a:p>
              <a:r>
                <a:rPr lang="zh-CN" altLang="en-US" sz="16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报价和选择指标</a:t>
              </a:r>
            </a:p>
          </p:txBody>
        </p:sp>
        <p:sp>
          <p:nvSpPr>
            <p:cNvPr id="35" name="文本框 34"/>
            <p:cNvSpPr txBox="1"/>
            <p:nvPr/>
          </p:nvSpPr>
          <p:spPr>
            <a:xfrm>
              <a:off x="1601" y="4595"/>
              <a:ext cx="2557" cy="434"/>
            </a:xfrm>
            <a:prstGeom prst="rect">
              <a:avLst/>
            </a:prstGeom>
            <a:noFill/>
          </p:spPr>
          <p:txBody>
            <a:bodyPr wrap="square" rtlCol="0" anchor="t">
              <a:spAutoFit/>
            </a:bodyPr>
            <a:lstStyle/>
            <a:p>
              <a:r>
                <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卖家数量</a:t>
              </a:r>
            </a:p>
          </p:txBody>
        </p:sp>
        <p:sp>
          <p:nvSpPr>
            <p:cNvPr id="36" name="文本框 35"/>
            <p:cNvSpPr txBox="1"/>
            <p:nvPr/>
          </p:nvSpPr>
          <p:spPr>
            <a:xfrm>
              <a:off x="6153" y="4595"/>
              <a:ext cx="2557" cy="434"/>
            </a:xfrm>
            <a:prstGeom prst="rect">
              <a:avLst/>
            </a:prstGeom>
            <a:noFill/>
          </p:spPr>
          <p:txBody>
            <a:bodyPr wrap="square" rtlCol="0" anchor="t">
              <a:spAutoFit/>
            </a:bodyPr>
            <a:lstStyle/>
            <a:p>
              <a:r>
                <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新品牌数量</a:t>
              </a:r>
            </a:p>
          </p:txBody>
        </p:sp>
        <p:sp>
          <p:nvSpPr>
            <p:cNvPr id="37" name="文本框 36"/>
            <p:cNvSpPr txBox="1"/>
            <p:nvPr/>
          </p:nvSpPr>
          <p:spPr>
            <a:xfrm>
              <a:off x="10705" y="4595"/>
              <a:ext cx="2557" cy="434"/>
            </a:xfrm>
            <a:prstGeom prst="rect">
              <a:avLst/>
            </a:prstGeom>
            <a:noFill/>
          </p:spPr>
          <p:txBody>
            <a:bodyPr wrap="square" rtlCol="0" anchor="t">
              <a:spAutoFit/>
            </a:bodyPr>
            <a:lstStyle/>
            <a:p>
              <a:r>
                <a:rPr lang="en-US" altLang="zh-CN"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ASIN</a:t>
              </a:r>
              <a:r>
                <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数量</a:t>
              </a:r>
            </a:p>
          </p:txBody>
        </p:sp>
        <p:sp>
          <p:nvSpPr>
            <p:cNvPr id="38" name="文本框 37"/>
            <p:cNvSpPr txBox="1"/>
            <p:nvPr/>
          </p:nvSpPr>
          <p:spPr>
            <a:xfrm>
              <a:off x="14978" y="4595"/>
              <a:ext cx="2557" cy="434"/>
            </a:xfrm>
            <a:prstGeom prst="rect">
              <a:avLst/>
            </a:prstGeom>
            <a:noFill/>
          </p:spPr>
          <p:txBody>
            <a:bodyPr wrap="square" rtlCol="0" anchor="t">
              <a:spAutoFit/>
            </a:bodyPr>
            <a:lstStyle/>
            <a:p>
              <a:r>
                <a:rPr lang="zh-CN" altLang="en-US" sz="1200" b="1" dirty="0">
                  <a:latin typeface="微软雅黑" panose="020B0503020204020204" pitchFamily="34" charset="-122"/>
                  <a:ea typeface="微软雅黑" panose="020B0503020204020204" pitchFamily="34" charset="-122"/>
                  <a:cs typeface="Amazon Ember" panose="020B0603020204020204" charset="0"/>
                  <a:sym typeface="+mn-ea"/>
                </a:rPr>
                <a:t>新</a:t>
              </a:r>
              <a:r>
                <a:rPr lang="en-US" altLang="zh-CN" sz="1200" b="1" dirty="0">
                  <a:latin typeface="微软雅黑" panose="020B0503020204020204" pitchFamily="34" charset="-122"/>
                  <a:ea typeface="微软雅黑" panose="020B0503020204020204" pitchFamily="34" charset="-122"/>
                  <a:cs typeface="Amazon Ember" panose="020B0603020204020204" charset="0"/>
                  <a:sym typeface="+mn-ea"/>
                </a:rPr>
                <a:t>ASIN</a:t>
              </a:r>
              <a:r>
                <a:rPr lang="zh-CN" altLang="en-US" sz="1200" b="1" dirty="0">
                  <a:latin typeface="微软雅黑" panose="020B0503020204020204" pitchFamily="34" charset="-122"/>
                  <a:ea typeface="微软雅黑" panose="020B0503020204020204" pitchFamily="34" charset="-122"/>
                  <a:cs typeface="Amazon Ember" panose="020B0603020204020204" charset="0"/>
                  <a:sym typeface="+mn-ea"/>
                </a:rPr>
                <a:t>数量</a:t>
              </a:r>
              <a:endPar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39" name="文本框 38"/>
            <p:cNvSpPr txBox="1"/>
            <p:nvPr/>
          </p:nvSpPr>
          <p:spPr>
            <a:xfrm>
              <a:off x="1601" y="5140"/>
              <a:ext cx="2557" cy="725"/>
            </a:xfrm>
            <a:prstGeom prst="rect">
              <a:avLst/>
            </a:prstGeom>
            <a:noFill/>
          </p:spPr>
          <p:txBody>
            <a:bodyPr wrap="square" rtlCol="0" anchor="t">
              <a:spAutoFit/>
            </a:bodyPr>
            <a:lstStyle/>
            <a:p>
              <a:r>
                <a:rPr lang="en-US" altLang="zh-CN" sz="24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&gt;1000</a:t>
              </a:r>
            </a:p>
          </p:txBody>
        </p:sp>
        <p:sp>
          <p:nvSpPr>
            <p:cNvPr id="40" name="文本框 39"/>
            <p:cNvSpPr txBox="1"/>
            <p:nvPr/>
          </p:nvSpPr>
          <p:spPr>
            <a:xfrm>
              <a:off x="6153" y="5140"/>
              <a:ext cx="2557" cy="725"/>
            </a:xfrm>
            <a:prstGeom prst="rect">
              <a:avLst/>
            </a:prstGeom>
            <a:noFill/>
          </p:spPr>
          <p:txBody>
            <a:bodyPr wrap="square" rtlCol="0" anchor="t">
              <a:spAutoFit/>
            </a:bodyPr>
            <a:lstStyle/>
            <a:p>
              <a:r>
                <a:rPr lang="en-US" altLang="zh-CN" sz="24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0</a:t>
              </a:r>
            </a:p>
          </p:txBody>
        </p:sp>
        <p:sp>
          <p:nvSpPr>
            <p:cNvPr id="41" name="文本框 40"/>
            <p:cNvSpPr txBox="1"/>
            <p:nvPr/>
          </p:nvSpPr>
          <p:spPr>
            <a:xfrm>
              <a:off x="10705" y="5051"/>
              <a:ext cx="2557" cy="725"/>
            </a:xfrm>
            <a:prstGeom prst="rect">
              <a:avLst/>
            </a:prstGeom>
            <a:noFill/>
          </p:spPr>
          <p:txBody>
            <a:bodyPr wrap="square" rtlCol="0" anchor="t">
              <a:spAutoFit/>
            </a:bodyPr>
            <a:lstStyle/>
            <a:p>
              <a:r>
                <a:rPr lang="en-US" altLang="zh-CN" sz="24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62.3K</a:t>
              </a:r>
            </a:p>
          </p:txBody>
        </p:sp>
        <p:sp>
          <p:nvSpPr>
            <p:cNvPr id="42" name="文本框 41"/>
            <p:cNvSpPr txBox="1"/>
            <p:nvPr/>
          </p:nvSpPr>
          <p:spPr>
            <a:xfrm>
              <a:off x="14978" y="5051"/>
              <a:ext cx="2557" cy="725"/>
            </a:xfrm>
            <a:prstGeom prst="rect">
              <a:avLst/>
            </a:prstGeom>
            <a:noFill/>
          </p:spPr>
          <p:txBody>
            <a:bodyPr wrap="square" rtlCol="0" anchor="t">
              <a:spAutoFit/>
            </a:bodyPr>
            <a:lstStyle/>
            <a:p>
              <a:r>
                <a:rPr lang="en-US" altLang="zh-CN" sz="24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56</a:t>
              </a:r>
            </a:p>
          </p:txBody>
        </p:sp>
        <p:cxnSp>
          <p:nvCxnSpPr>
            <p:cNvPr id="43" name="直接连接符 42"/>
            <p:cNvCxnSpPr/>
            <p:nvPr/>
          </p:nvCxnSpPr>
          <p:spPr>
            <a:xfrm>
              <a:off x="1572" y="6065"/>
              <a:ext cx="15761" cy="0"/>
            </a:xfrm>
            <a:prstGeom prst="line">
              <a:avLst/>
            </a:prstGeom>
            <a:ln w="15875">
              <a:solidFill>
                <a:srgbClr val="00A4B4"/>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1601" y="6335"/>
              <a:ext cx="3132" cy="434"/>
            </a:xfrm>
            <a:prstGeom prst="rect">
              <a:avLst/>
            </a:prstGeom>
            <a:noFill/>
          </p:spPr>
          <p:txBody>
            <a:bodyPr wrap="square" rtlCol="0" anchor="t">
              <a:spAutoFit/>
            </a:bodyPr>
            <a:lstStyle/>
            <a:p>
              <a:r>
                <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每个</a:t>
              </a:r>
              <a:r>
                <a:rPr lang="en-US" altLang="zh-CN"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ASIN</a:t>
              </a:r>
              <a:r>
                <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的平均报价数量</a:t>
              </a:r>
            </a:p>
          </p:txBody>
        </p:sp>
        <p:sp>
          <p:nvSpPr>
            <p:cNvPr id="45" name="文本框 44"/>
            <p:cNvSpPr txBox="1"/>
            <p:nvPr/>
          </p:nvSpPr>
          <p:spPr>
            <a:xfrm>
              <a:off x="6153" y="6335"/>
              <a:ext cx="2557" cy="434"/>
            </a:xfrm>
            <a:prstGeom prst="rect">
              <a:avLst/>
            </a:prstGeom>
            <a:noFill/>
          </p:spPr>
          <p:txBody>
            <a:bodyPr wrap="square" rtlCol="0" anchor="t">
              <a:spAutoFit/>
            </a:bodyPr>
            <a:lstStyle/>
            <a:p>
              <a:r>
                <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用户评分</a:t>
              </a:r>
            </a:p>
          </p:txBody>
        </p:sp>
        <p:sp>
          <p:nvSpPr>
            <p:cNvPr id="46" name="文本框 45"/>
            <p:cNvSpPr txBox="1"/>
            <p:nvPr/>
          </p:nvSpPr>
          <p:spPr>
            <a:xfrm>
              <a:off x="10705" y="6335"/>
              <a:ext cx="2557" cy="434"/>
            </a:xfrm>
            <a:prstGeom prst="rect">
              <a:avLst/>
            </a:prstGeom>
            <a:noFill/>
          </p:spPr>
          <p:txBody>
            <a:bodyPr wrap="square" rtlCol="0" anchor="t">
              <a:spAutoFit/>
            </a:bodyPr>
            <a:lstStyle/>
            <a:p>
              <a:r>
                <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广告支出</a:t>
              </a:r>
            </a:p>
          </p:txBody>
        </p:sp>
        <p:sp>
          <p:nvSpPr>
            <p:cNvPr id="47" name="文本框 46"/>
            <p:cNvSpPr txBox="1"/>
            <p:nvPr/>
          </p:nvSpPr>
          <p:spPr>
            <a:xfrm>
              <a:off x="1601" y="7344"/>
              <a:ext cx="2557" cy="725"/>
            </a:xfrm>
            <a:prstGeom prst="rect">
              <a:avLst/>
            </a:prstGeom>
            <a:noFill/>
          </p:spPr>
          <p:txBody>
            <a:bodyPr wrap="square" rtlCol="0" anchor="t">
              <a:spAutoFit/>
            </a:bodyPr>
            <a:lstStyle/>
            <a:p>
              <a:r>
                <a:rPr lang="en-US" altLang="zh-CN" sz="24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9.00</a:t>
              </a:r>
            </a:p>
          </p:txBody>
        </p:sp>
        <p:sp>
          <p:nvSpPr>
            <p:cNvPr id="48" name="文本框 47"/>
            <p:cNvSpPr txBox="1"/>
            <p:nvPr/>
          </p:nvSpPr>
          <p:spPr>
            <a:xfrm>
              <a:off x="10705" y="7150"/>
              <a:ext cx="3738" cy="1113"/>
            </a:xfrm>
            <a:prstGeom prst="rect">
              <a:avLst/>
            </a:prstGeom>
            <a:noFill/>
          </p:spPr>
          <p:txBody>
            <a:bodyPr wrap="square" rtlCol="0" anchor="t">
              <a:spAutoFit/>
            </a:bodyPr>
            <a:lstStyle/>
            <a:p>
              <a:r>
                <a:rPr lang="en-US" altLang="zh-CN" sz="20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Average daily Ad </a:t>
              </a:r>
            </a:p>
            <a:p>
              <a:r>
                <a:rPr lang="en-US" altLang="zh-CN" sz="20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spend is €6.7</a:t>
              </a:r>
            </a:p>
          </p:txBody>
        </p:sp>
        <p:grpSp>
          <p:nvGrpSpPr>
            <p:cNvPr id="49" name="组合 48"/>
            <p:cNvGrpSpPr/>
            <p:nvPr/>
          </p:nvGrpSpPr>
          <p:grpSpPr>
            <a:xfrm>
              <a:off x="6153" y="6977"/>
              <a:ext cx="3690" cy="1458"/>
              <a:chOff x="6225" y="8921"/>
              <a:chExt cx="3745" cy="1480"/>
            </a:xfrm>
          </p:grpSpPr>
          <p:sp>
            <p:nvSpPr>
              <p:cNvPr id="50" name="文本框 49"/>
              <p:cNvSpPr txBox="1"/>
              <p:nvPr/>
            </p:nvSpPr>
            <p:spPr>
              <a:xfrm>
                <a:off x="6225" y="8921"/>
                <a:ext cx="543" cy="367"/>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4+</a:t>
                </a:r>
              </a:p>
            </p:txBody>
          </p:sp>
          <p:sp>
            <p:nvSpPr>
              <p:cNvPr id="51" name="文本框 50"/>
              <p:cNvSpPr txBox="1"/>
              <p:nvPr/>
            </p:nvSpPr>
            <p:spPr>
              <a:xfrm>
                <a:off x="6225" y="9292"/>
                <a:ext cx="543" cy="367"/>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3</a:t>
                </a:r>
              </a:p>
            </p:txBody>
          </p:sp>
          <p:sp>
            <p:nvSpPr>
              <p:cNvPr id="52" name="文本框 51"/>
              <p:cNvSpPr txBox="1"/>
              <p:nvPr/>
            </p:nvSpPr>
            <p:spPr>
              <a:xfrm>
                <a:off x="6225" y="9663"/>
                <a:ext cx="543" cy="367"/>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2</a:t>
                </a:r>
              </a:p>
            </p:txBody>
          </p:sp>
          <p:sp>
            <p:nvSpPr>
              <p:cNvPr id="53" name="文本框 52"/>
              <p:cNvSpPr txBox="1"/>
              <p:nvPr/>
            </p:nvSpPr>
            <p:spPr>
              <a:xfrm>
                <a:off x="6225" y="10034"/>
                <a:ext cx="543" cy="367"/>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1</a:t>
                </a:r>
              </a:p>
            </p:txBody>
          </p:sp>
          <p:grpSp>
            <p:nvGrpSpPr>
              <p:cNvPr id="54" name="组合 53"/>
              <p:cNvGrpSpPr/>
              <p:nvPr/>
            </p:nvGrpSpPr>
            <p:grpSpPr>
              <a:xfrm>
                <a:off x="6668" y="8921"/>
                <a:ext cx="3302" cy="1447"/>
                <a:chOff x="6668" y="8921"/>
                <a:chExt cx="3302" cy="1447"/>
              </a:xfrm>
            </p:grpSpPr>
            <p:sp>
              <p:nvSpPr>
                <p:cNvPr id="55" name="矩形 54"/>
                <p:cNvSpPr/>
                <p:nvPr>
                  <p:custDataLst>
                    <p:tags r:id="rId3"/>
                  </p:custDataLst>
                </p:nvPr>
              </p:nvSpPr>
              <p:spPr>
                <a:xfrm>
                  <a:off x="6668" y="8921"/>
                  <a:ext cx="3303" cy="307"/>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6" name="矩形 55"/>
                <p:cNvSpPr/>
                <p:nvPr>
                  <p:custDataLst>
                    <p:tags r:id="rId4"/>
                  </p:custDataLst>
                </p:nvPr>
              </p:nvSpPr>
              <p:spPr>
                <a:xfrm>
                  <a:off x="6668" y="9319"/>
                  <a:ext cx="520" cy="307"/>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8" name="矩形 57"/>
                <p:cNvSpPr/>
                <p:nvPr>
                  <p:custDataLst>
                    <p:tags r:id="rId5"/>
                  </p:custDataLst>
                </p:nvPr>
              </p:nvSpPr>
              <p:spPr>
                <a:xfrm>
                  <a:off x="6668" y="9677"/>
                  <a:ext cx="120" cy="307"/>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0" name="矩形 59"/>
                <p:cNvSpPr/>
                <p:nvPr>
                  <p:custDataLst>
                    <p:tags r:id="rId6"/>
                  </p:custDataLst>
                </p:nvPr>
              </p:nvSpPr>
              <p:spPr>
                <a:xfrm>
                  <a:off x="6668" y="10062"/>
                  <a:ext cx="120" cy="307"/>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grpSp>
      </p:grpSp>
      <p:sp>
        <p:nvSpPr>
          <p:cNvPr id="3" name="TextBox 14"/>
          <p:cNvSpPr txBox="1"/>
          <p:nvPr>
            <p:custDataLst>
              <p:tags r:id="rId2"/>
            </p:custDataLst>
          </p:nvPr>
        </p:nvSpPr>
        <p:spPr>
          <a:xfrm>
            <a:off x="799465" y="1680845"/>
            <a:ext cx="10594975" cy="593090"/>
          </a:xfrm>
          <a:prstGeom prst="rect">
            <a:avLst/>
          </a:prstGeom>
        </p:spPr>
        <p:txBody>
          <a:bodyPr vert="horz" lIns="243840" tIns="121920" rIns="243840" bIns="121920" rtlCol="0" anchor="ctr">
            <a:noAutofit/>
          </a:bodyPr>
          <a:lstStyle>
            <a:lvl1pPr defTabSz="685800">
              <a:spcBef>
                <a:spcPct val="0"/>
              </a:spcBef>
              <a:buNone/>
              <a:defRPr sz="1200" b="0" i="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a:lnSpc>
                <a:spcPct val="150000"/>
              </a:lnSpc>
              <a:spcAft>
                <a:spcPts val="1600"/>
              </a:spcAft>
            </a:pPr>
            <a:r>
              <a:rPr lang="zh-CN" altLang="en-US" sz="18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mn-ea"/>
              </a:rPr>
              <a:t>通过</a:t>
            </a:r>
            <a:r>
              <a:rPr lang="zh-CN" altLang="en-US" sz="1800" spc="300" dirty="0">
                <a:solidFill>
                  <a:srgbClr val="F89104"/>
                </a:solidFill>
                <a:latin typeface="微软雅黑" panose="020B0503020204020204" pitchFamily="34" charset="-122"/>
                <a:ea typeface="微软雅黑" panose="020B0503020204020204" pitchFamily="34" charset="-122"/>
                <a:cs typeface="思源黑体 Regular" panose="020B0500000000000000" charset="-122"/>
                <a:sym typeface="+mn-ea"/>
              </a:rPr>
              <a:t>卖家数量</a:t>
            </a:r>
            <a:r>
              <a:rPr lang="zh-CN" altLang="en-US" sz="18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mn-ea"/>
              </a:rPr>
              <a:t>、</a:t>
            </a:r>
            <a:r>
              <a:rPr lang="zh-CN" altLang="en-US" sz="1800" spc="300" dirty="0">
                <a:solidFill>
                  <a:srgbClr val="F89104"/>
                </a:solidFill>
                <a:latin typeface="微软雅黑" panose="020B0503020204020204" pitchFamily="34" charset="-122"/>
                <a:ea typeface="微软雅黑" panose="020B0503020204020204" pitchFamily="34" charset="-122"/>
                <a:cs typeface="思源黑体 Regular" panose="020B0500000000000000" charset="-122"/>
                <a:sym typeface="+mn-ea"/>
              </a:rPr>
              <a:t>新品数量</a:t>
            </a:r>
            <a:r>
              <a:rPr lang="zh-CN" altLang="en-US" sz="18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mn-ea"/>
              </a:rPr>
              <a:t>、</a:t>
            </a:r>
            <a:r>
              <a:rPr lang="zh-CN" altLang="en-US" sz="1800" spc="300" dirty="0">
                <a:solidFill>
                  <a:srgbClr val="F89104"/>
                </a:solidFill>
                <a:latin typeface="微软雅黑" panose="020B0503020204020204" pitchFamily="34" charset="-122"/>
                <a:ea typeface="微软雅黑" panose="020B0503020204020204" pitchFamily="34" charset="-122"/>
                <a:cs typeface="思源黑体 Regular" panose="020B0500000000000000" charset="-122"/>
                <a:sym typeface="+mn-ea"/>
              </a:rPr>
              <a:t>ASIN数量</a:t>
            </a:r>
            <a:r>
              <a:rPr lang="zh-CN" altLang="en-US" sz="18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mn-ea"/>
              </a:rPr>
              <a:t>、</a:t>
            </a:r>
            <a:r>
              <a:rPr lang="zh-CN" altLang="en-US" sz="1800" spc="300" dirty="0">
                <a:solidFill>
                  <a:srgbClr val="F89104"/>
                </a:solidFill>
                <a:latin typeface="微软雅黑" panose="020B0503020204020204" pitchFamily="34" charset="-122"/>
                <a:ea typeface="微软雅黑" panose="020B0503020204020204" pitchFamily="34" charset="-122"/>
                <a:cs typeface="思源黑体 Regular" panose="020B0500000000000000" charset="-122"/>
                <a:sym typeface="+mn-ea"/>
              </a:rPr>
              <a:t>新品ASIN数量</a:t>
            </a:r>
            <a:r>
              <a:rPr lang="zh-CN" altLang="en-US" sz="18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mn-ea"/>
              </a:rPr>
              <a:t>及</a:t>
            </a:r>
            <a:r>
              <a:rPr lang="zh-CN" altLang="en-US" sz="1800" spc="300" dirty="0">
                <a:solidFill>
                  <a:srgbClr val="F89104"/>
                </a:solidFill>
                <a:latin typeface="微软雅黑" panose="020B0503020204020204" pitchFamily="34" charset="-122"/>
                <a:ea typeface="微软雅黑" panose="020B0503020204020204" pitchFamily="34" charset="-122"/>
                <a:cs typeface="思源黑体 Regular" panose="020B0500000000000000" charset="-122"/>
                <a:sym typeface="+mn-ea"/>
              </a:rPr>
              <a:t>广告支出</a:t>
            </a:r>
            <a:r>
              <a:rPr lang="zh-CN" altLang="en-US" sz="18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mn-ea"/>
              </a:rPr>
              <a:t>等数据数据帮助卖家了解目标站点的竞争情况。</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p:nvPr>
            <p:custDataLst>
              <p:tags r:id="rId1"/>
            </p:custDataLst>
          </p:nvPr>
        </p:nvSpPr>
        <p:spPr>
          <a:xfrm>
            <a:off x="497205" y="1393190"/>
            <a:ext cx="11198225" cy="4698365"/>
          </a:xfrm>
          <a:prstGeom prst="roundRect">
            <a:avLst>
              <a:gd name="adj" fmla="val 4527"/>
            </a:avLst>
          </a:prstGeom>
          <a:solidFill>
            <a:schemeClr val="bg1">
              <a:lumMod val="85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2" name="Title 3"/>
          <p:cNvSpPr txBox="1"/>
          <p:nvPr/>
        </p:nvSpPr>
        <p:spPr>
          <a:xfrm>
            <a:off x="149913" y="219070"/>
            <a:ext cx="678815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第七步：挖掘产品特征趋势</a:t>
            </a:r>
          </a:p>
        </p:txBody>
      </p:sp>
      <p:sp>
        <p:nvSpPr>
          <p:cNvPr id="13" name="TextBox 14"/>
          <p:cNvSpPr txBox="1"/>
          <p:nvPr>
            <p:custDataLst>
              <p:tags r:id="rId2"/>
            </p:custDataLst>
          </p:nvPr>
        </p:nvSpPr>
        <p:spPr>
          <a:xfrm>
            <a:off x="799465" y="1589405"/>
            <a:ext cx="10594975" cy="593090"/>
          </a:xfrm>
          <a:prstGeom prst="rect">
            <a:avLst/>
          </a:prstGeom>
        </p:spPr>
        <p:txBody>
          <a:bodyPr vert="horz" lIns="243840" tIns="121920" rIns="243840" bIns="121920" rtlCol="0" anchor="ctr">
            <a:noAutofit/>
          </a:bodyPr>
          <a:lstStyle>
            <a:lvl1pPr defTabSz="685800">
              <a:spcBef>
                <a:spcPct val="0"/>
              </a:spcBef>
              <a:buNone/>
              <a:defRPr sz="1200" b="0" i="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lvl="0" algn="l">
              <a:lnSpc>
                <a:spcPct val="150000"/>
              </a:lnSpc>
              <a:spcAft>
                <a:spcPts val="1600"/>
              </a:spcAft>
              <a:buClrTx/>
              <a:buSzTx/>
              <a:buFontTx/>
            </a:pPr>
            <a:r>
              <a:rPr lang="zh-CN" altLang="en-US" sz="18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mn-ea"/>
              </a:rPr>
              <a:t>通过观察</a:t>
            </a:r>
            <a:r>
              <a:rPr lang="zh-CN" altLang="en-US" sz="1800" spc="300" dirty="0">
                <a:solidFill>
                  <a:srgbClr val="F89104"/>
                </a:solidFill>
                <a:latin typeface="微软雅黑" panose="020B0503020204020204" pitchFamily="34" charset="-122"/>
                <a:ea typeface="微软雅黑" panose="020B0503020204020204" pitchFamily="34" charset="-122"/>
                <a:cs typeface="思源黑体 Regular" panose="020B0500000000000000" charset="-122"/>
                <a:sym typeface="+mn-ea"/>
              </a:rPr>
              <a:t>价格</a:t>
            </a:r>
            <a:r>
              <a:rPr lang="zh-CN" altLang="en-US" sz="18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mn-ea"/>
              </a:rPr>
              <a:t>、</a:t>
            </a:r>
            <a:r>
              <a:rPr lang="zh-CN" altLang="en-US" sz="1800" spc="300" dirty="0">
                <a:solidFill>
                  <a:srgbClr val="F89104"/>
                </a:solidFill>
                <a:latin typeface="微软雅黑" panose="020B0503020204020204" pitchFamily="34" charset="-122"/>
                <a:ea typeface="微软雅黑" panose="020B0503020204020204" pitchFamily="34" charset="-122"/>
                <a:cs typeface="思源黑体 Regular" panose="020B0500000000000000" charset="-122"/>
                <a:sym typeface="+mn-ea"/>
              </a:rPr>
              <a:t>颜色</a:t>
            </a:r>
            <a:r>
              <a:rPr lang="zh-CN" altLang="en-US" sz="18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mn-ea"/>
              </a:rPr>
              <a:t>、</a:t>
            </a:r>
            <a:r>
              <a:rPr lang="zh-CN" altLang="en-US" sz="1800" spc="300" dirty="0">
                <a:solidFill>
                  <a:srgbClr val="F89104"/>
                </a:solidFill>
                <a:latin typeface="微软雅黑" panose="020B0503020204020204" pitchFamily="34" charset="-122"/>
                <a:ea typeface="微软雅黑" panose="020B0503020204020204" pitchFamily="34" charset="-122"/>
                <a:cs typeface="思源黑体 Regular" panose="020B0500000000000000" charset="-122"/>
                <a:sym typeface="+mn-ea"/>
              </a:rPr>
              <a:t>材料</a:t>
            </a:r>
            <a:r>
              <a:rPr lang="zh-CN" altLang="en-US" sz="18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mn-ea"/>
              </a:rPr>
              <a:t>、</a:t>
            </a:r>
            <a:r>
              <a:rPr lang="zh-CN" altLang="en-US" sz="1800" spc="300" dirty="0">
                <a:solidFill>
                  <a:srgbClr val="F89104"/>
                </a:solidFill>
                <a:latin typeface="微软雅黑" panose="020B0503020204020204" pitchFamily="34" charset="-122"/>
                <a:ea typeface="微软雅黑" panose="020B0503020204020204" pitchFamily="34" charset="-122"/>
                <a:cs typeface="思源黑体 Regular" panose="020B0500000000000000" charset="-122"/>
                <a:sym typeface="+mn-ea"/>
              </a:rPr>
              <a:t>尺寸</a:t>
            </a:r>
            <a:r>
              <a:rPr lang="zh-CN" altLang="en-US" sz="18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mn-ea"/>
              </a:rPr>
              <a:t>、</a:t>
            </a:r>
            <a:r>
              <a:rPr lang="zh-CN" altLang="en-US" sz="1800" spc="300" dirty="0">
                <a:solidFill>
                  <a:srgbClr val="F89104"/>
                </a:solidFill>
                <a:latin typeface="微软雅黑" panose="020B0503020204020204" pitchFamily="34" charset="-122"/>
                <a:ea typeface="微软雅黑" panose="020B0503020204020204" pitchFamily="34" charset="-122"/>
                <a:cs typeface="思源黑体 Regular" panose="020B0500000000000000" charset="-122"/>
                <a:sym typeface="+mn-ea"/>
              </a:rPr>
              <a:t>重量</a:t>
            </a:r>
            <a:r>
              <a:rPr lang="zh-CN" altLang="en-US" sz="18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mn-ea"/>
              </a:rPr>
              <a:t>等柱状图，您可以挖掘最受买家欢迎产品所具备的特征，用于您的后续产品开发与优化升级。</a:t>
            </a:r>
          </a:p>
        </p:txBody>
      </p:sp>
      <p:grpSp>
        <p:nvGrpSpPr>
          <p:cNvPr id="99" name="组合 98"/>
          <p:cNvGrpSpPr/>
          <p:nvPr/>
        </p:nvGrpSpPr>
        <p:grpSpPr>
          <a:xfrm>
            <a:off x="989330" y="2767626"/>
            <a:ext cx="10213340" cy="3076279"/>
            <a:chOff x="1487" y="3631"/>
            <a:chExt cx="16684" cy="5025"/>
          </a:xfrm>
        </p:grpSpPr>
        <p:sp>
          <p:nvSpPr>
            <p:cNvPr id="4" name="矩形 3"/>
            <p:cNvSpPr/>
            <p:nvPr/>
          </p:nvSpPr>
          <p:spPr>
            <a:xfrm>
              <a:off x="1487" y="3641"/>
              <a:ext cx="16684" cy="495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1487" y="3631"/>
              <a:ext cx="16684" cy="102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 name="文本框 5"/>
            <p:cNvSpPr txBox="1"/>
            <p:nvPr/>
          </p:nvSpPr>
          <p:spPr>
            <a:xfrm>
              <a:off x="1743" y="3734"/>
              <a:ext cx="6012" cy="551"/>
            </a:xfrm>
            <a:prstGeom prst="rect">
              <a:avLst/>
            </a:prstGeom>
            <a:noFill/>
          </p:spPr>
          <p:txBody>
            <a:bodyPr wrap="square" rtlCol="0" anchor="t">
              <a:spAutoFit/>
            </a:bodyPr>
            <a:lstStyle/>
            <a:p>
              <a:r>
                <a:rPr lang="en-US" altLang="zh-CN" sz="16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Picture Frames:</a:t>
              </a:r>
              <a:r>
                <a:rPr lang="zh-CN" altLang="en-US" sz="16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产品特征趋势</a:t>
              </a:r>
            </a:p>
          </p:txBody>
        </p:sp>
        <p:sp>
          <p:nvSpPr>
            <p:cNvPr id="8" name="文本框 7"/>
            <p:cNvSpPr txBox="1"/>
            <p:nvPr/>
          </p:nvSpPr>
          <p:spPr>
            <a:xfrm>
              <a:off x="1922" y="4855"/>
              <a:ext cx="2557" cy="450"/>
            </a:xfrm>
            <a:prstGeom prst="rect">
              <a:avLst/>
            </a:prstGeom>
            <a:noFill/>
          </p:spPr>
          <p:txBody>
            <a:bodyPr wrap="square" lIns="0" rtlCol="0" anchor="t">
              <a:spAutoFit/>
            </a:bodyPr>
            <a:lstStyle/>
            <a:p>
              <a:r>
                <a:rPr lang="en-US" altLang="zh-CN"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Price</a:t>
              </a:r>
            </a:p>
          </p:txBody>
        </p:sp>
        <p:sp>
          <p:nvSpPr>
            <p:cNvPr id="9" name="文本框 8"/>
            <p:cNvSpPr txBox="1"/>
            <p:nvPr/>
          </p:nvSpPr>
          <p:spPr>
            <a:xfrm>
              <a:off x="5615" y="4855"/>
              <a:ext cx="3690" cy="754"/>
            </a:xfrm>
            <a:prstGeom prst="rect">
              <a:avLst/>
            </a:prstGeom>
            <a:noFill/>
          </p:spPr>
          <p:txBody>
            <a:bodyPr wrap="square" lIns="0" rtlCol="0" anchor="t">
              <a:spAutoFit/>
            </a:bodyPr>
            <a:lstStyle/>
            <a:p>
              <a:r>
                <a:rPr lang="en-US" altLang="zh-CN"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Homehome&amp;Furniture Color</a:t>
              </a:r>
            </a:p>
          </p:txBody>
        </p:sp>
        <p:sp>
          <p:nvSpPr>
            <p:cNvPr id="10" name="文本框 9"/>
            <p:cNvSpPr txBox="1"/>
            <p:nvPr/>
          </p:nvSpPr>
          <p:spPr>
            <a:xfrm>
              <a:off x="10264" y="4855"/>
              <a:ext cx="3399" cy="450"/>
            </a:xfrm>
            <a:prstGeom prst="rect">
              <a:avLst/>
            </a:prstGeom>
            <a:noFill/>
          </p:spPr>
          <p:txBody>
            <a:bodyPr wrap="square" lIns="0" rtlCol="0" anchor="t">
              <a:spAutoFit/>
            </a:bodyPr>
            <a:lstStyle/>
            <a:p>
              <a:r>
                <a:rPr 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Picture Frame Material</a:t>
              </a:r>
            </a:p>
          </p:txBody>
        </p:sp>
        <p:sp>
          <p:nvSpPr>
            <p:cNvPr id="11" name="文本框 10"/>
            <p:cNvSpPr txBox="1"/>
            <p:nvPr/>
          </p:nvSpPr>
          <p:spPr>
            <a:xfrm>
              <a:off x="14374" y="4855"/>
              <a:ext cx="3435" cy="754"/>
            </a:xfrm>
            <a:prstGeom prst="rect">
              <a:avLst/>
            </a:prstGeom>
            <a:noFill/>
          </p:spPr>
          <p:txBody>
            <a:bodyPr wrap="square" lIns="0" rtlCol="0" anchor="t">
              <a:spAutoFit/>
            </a:bodyPr>
            <a:lstStyle/>
            <a:p>
              <a:r>
                <a:rPr lang="en-US" sz="1200" b="1" dirty="0">
                  <a:latin typeface="微软雅黑" panose="020B0503020204020204" pitchFamily="34" charset="-122"/>
                  <a:ea typeface="微软雅黑" panose="020B0503020204020204" pitchFamily="34" charset="-122"/>
                  <a:cs typeface="Amazon Ember" panose="020B0603020204020204" charset="0"/>
                  <a:sym typeface="+mn-ea"/>
                </a:rPr>
                <a:t>Picture Frame Item Weight</a:t>
              </a:r>
              <a:endPar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12" name="文本框 11"/>
            <p:cNvSpPr txBox="1"/>
            <p:nvPr/>
          </p:nvSpPr>
          <p:spPr>
            <a:xfrm>
              <a:off x="1743" y="4231"/>
              <a:ext cx="10556" cy="375"/>
            </a:xfrm>
            <a:prstGeom prst="rect">
              <a:avLst/>
            </a:prstGeom>
            <a:noFill/>
          </p:spPr>
          <p:txBody>
            <a:bodyPr wrap="square" rtlCol="0" anchor="t">
              <a:spAutoFit/>
            </a:bodyPr>
            <a:lstStyle/>
            <a:p>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思源黑体 Normal" panose="020B0400000000000000" charset="-122"/>
                  <a:sym typeface="+mn-ea"/>
                </a:rPr>
                <a:t>下方的条形图表示所研究的分类节点下各种功能的</a:t>
              </a:r>
              <a:r>
                <a:rPr lang="zh-CN" altLang="en-US" sz="900" b="1" dirty="0">
                  <a:solidFill>
                    <a:srgbClr val="00A4B4"/>
                  </a:solidFill>
                  <a:latin typeface="微软雅黑" panose="020B0503020204020204" pitchFamily="34" charset="-122"/>
                  <a:ea typeface="微软雅黑" panose="020B0503020204020204" pitchFamily="34" charset="-122"/>
                  <a:cs typeface="思源黑体 Normal" panose="020B0400000000000000" charset="-122"/>
                  <a:sym typeface="+mn-ea"/>
                </a:rPr>
                <a:t>受欢迎程度</a:t>
              </a:r>
              <a:r>
                <a:rPr lang="zh-CN" altLang="en-US" sz="900" dirty="0">
                  <a:solidFill>
                    <a:schemeClr val="tx1">
                      <a:lumMod val="50000"/>
                      <a:lumOff val="50000"/>
                    </a:schemeClr>
                  </a:solidFill>
                  <a:latin typeface="微软雅黑" panose="020B0503020204020204" pitchFamily="34" charset="-122"/>
                  <a:ea typeface="微软雅黑" panose="020B0503020204020204" pitchFamily="34" charset="-122"/>
                  <a:cs typeface="思源黑体 Normal" panose="020B0400000000000000" charset="-122"/>
                  <a:sym typeface="+mn-ea"/>
                </a:rPr>
                <a:t>。条形越高意味着相应功能的需求量越高。</a:t>
              </a:r>
            </a:p>
          </p:txBody>
        </p:sp>
        <p:grpSp>
          <p:nvGrpSpPr>
            <p:cNvPr id="17" name="组合 16"/>
            <p:cNvGrpSpPr/>
            <p:nvPr/>
          </p:nvGrpSpPr>
          <p:grpSpPr>
            <a:xfrm>
              <a:off x="1922" y="5560"/>
              <a:ext cx="2979" cy="2189"/>
              <a:chOff x="1617" y="5935"/>
              <a:chExt cx="2979" cy="2189"/>
            </a:xfrm>
          </p:grpSpPr>
          <p:sp>
            <p:nvSpPr>
              <p:cNvPr id="14" name="文本框 13"/>
              <p:cNvSpPr txBox="1"/>
              <p:nvPr/>
            </p:nvSpPr>
            <p:spPr>
              <a:xfrm>
                <a:off x="1753" y="5935"/>
                <a:ext cx="1227" cy="375"/>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Blew€116</a:t>
                </a:r>
              </a:p>
            </p:txBody>
          </p:sp>
          <p:grpSp>
            <p:nvGrpSpPr>
              <p:cNvPr id="15" name="组合 14"/>
              <p:cNvGrpSpPr/>
              <p:nvPr/>
            </p:nvGrpSpPr>
            <p:grpSpPr>
              <a:xfrm>
                <a:off x="3009" y="6033"/>
                <a:ext cx="1587" cy="1060"/>
                <a:chOff x="2615" y="5965"/>
                <a:chExt cx="2761" cy="1060"/>
              </a:xfrm>
            </p:grpSpPr>
            <p:sp>
              <p:nvSpPr>
                <p:cNvPr id="16" name="矩形 15"/>
                <p:cNvSpPr/>
                <p:nvPr>
                  <p:custDataLst>
                    <p:tags r:id="rId15"/>
                  </p:custDataLst>
                </p:nvPr>
              </p:nvSpPr>
              <p:spPr>
                <a:xfrm>
                  <a:off x="2615" y="5965"/>
                  <a:ext cx="2761" cy="170"/>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8" name="矩形 17"/>
                <p:cNvSpPr/>
                <p:nvPr>
                  <p:custDataLst>
                    <p:tags r:id="rId16"/>
                  </p:custDataLst>
                </p:nvPr>
              </p:nvSpPr>
              <p:spPr>
                <a:xfrm>
                  <a:off x="2615" y="6410"/>
                  <a:ext cx="197" cy="170"/>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9" name="矩形 18"/>
                <p:cNvSpPr/>
                <p:nvPr>
                  <p:custDataLst>
                    <p:tags r:id="rId17"/>
                  </p:custDataLst>
                </p:nvPr>
              </p:nvSpPr>
              <p:spPr>
                <a:xfrm>
                  <a:off x="2615" y="6855"/>
                  <a:ext cx="49" cy="170"/>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sp>
            <p:nvSpPr>
              <p:cNvPr id="20" name="椭圆 19"/>
              <p:cNvSpPr>
                <a:spLocks noChangeAspect="1"/>
              </p:cNvSpPr>
              <p:nvPr/>
            </p:nvSpPr>
            <p:spPr>
              <a:xfrm>
                <a:off x="1645" y="6059"/>
                <a:ext cx="113" cy="113"/>
              </a:xfrm>
              <a:prstGeom prst="ellipse">
                <a:avLst/>
              </a:prstGeom>
              <a:solidFill>
                <a:schemeClr val="bg1"/>
              </a:solidFill>
              <a:ln w="4445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1" name="椭圆 20"/>
              <p:cNvSpPr>
                <a:spLocks noChangeAspect="1"/>
              </p:cNvSpPr>
              <p:nvPr/>
            </p:nvSpPr>
            <p:spPr>
              <a:xfrm>
                <a:off x="1617" y="6462"/>
                <a:ext cx="170" cy="170"/>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2" name="椭圆 21"/>
              <p:cNvSpPr>
                <a:spLocks noChangeAspect="1"/>
              </p:cNvSpPr>
              <p:nvPr/>
            </p:nvSpPr>
            <p:spPr>
              <a:xfrm>
                <a:off x="1617" y="6922"/>
                <a:ext cx="170" cy="170"/>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3" name="椭圆 22"/>
              <p:cNvSpPr>
                <a:spLocks noChangeAspect="1"/>
              </p:cNvSpPr>
              <p:nvPr/>
            </p:nvSpPr>
            <p:spPr>
              <a:xfrm>
                <a:off x="1617" y="7382"/>
                <a:ext cx="170" cy="170"/>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4" name="椭圆 23"/>
              <p:cNvSpPr>
                <a:spLocks noChangeAspect="1"/>
              </p:cNvSpPr>
              <p:nvPr/>
            </p:nvSpPr>
            <p:spPr>
              <a:xfrm>
                <a:off x="1617" y="7842"/>
                <a:ext cx="170" cy="170"/>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1753" y="6388"/>
                <a:ext cx="1353" cy="377"/>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€116-</a:t>
                </a:r>
                <a:r>
                  <a:rPr lang="en-US" altLang="zh-CN" sz="900" dirty="0">
                    <a:latin typeface="微软雅黑" panose="020B0503020204020204" pitchFamily="34" charset="-122"/>
                    <a:ea typeface="微软雅黑" panose="020B0503020204020204" pitchFamily="34" charset="-122"/>
                    <a:cs typeface="Amazon Ember" panose="020B0603020204020204" charset="0"/>
                    <a:sym typeface="+mn-ea"/>
                  </a:rPr>
                  <a:t>€232</a:t>
                </a:r>
                <a:endPar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26" name="文本框 25"/>
              <p:cNvSpPr txBox="1"/>
              <p:nvPr/>
            </p:nvSpPr>
            <p:spPr>
              <a:xfrm>
                <a:off x="1753" y="6841"/>
                <a:ext cx="1353" cy="377"/>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€232-</a:t>
                </a:r>
                <a:r>
                  <a:rPr lang="en-US" altLang="zh-CN" sz="900" dirty="0">
                    <a:latin typeface="微软雅黑" panose="020B0503020204020204" pitchFamily="34" charset="-122"/>
                    <a:ea typeface="微软雅黑" panose="020B0503020204020204" pitchFamily="34" charset="-122"/>
                    <a:cs typeface="Amazon Ember" panose="020B0603020204020204" charset="0"/>
                    <a:sym typeface="+mn-ea"/>
                  </a:rPr>
                  <a:t>€348</a:t>
                </a:r>
                <a:endPar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27" name="文本框 26"/>
              <p:cNvSpPr txBox="1"/>
              <p:nvPr/>
            </p:nvSpPr>
            <p:spPr>
              <a:xfrm>
                <a:off x="1753" y="7294"/>
                <a:ext cx="1353" cy="377"/>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€348-</a:t>
                </a:r>
                <a:r>
                  <a:rPr lang="en-US" altLang="zh-CN" sz="900" dirty="0">
                    <a:latin typeface="微软雅黑" panose="020B0503020204020204" pitchFamily="34" charset="-122"/>
                    <a:ea typeface="微软雅黑" panose="020B0503020204020204" pitchFamily="34" charset="-122"/>
                    <a:cs typeface="Amazon Ember" panose="020B0603020204020204" charset="0"/>
                    <a:sym typeface="+mn-ea"/>
                  </a:rPr>
                  <a:t>€495</a:t>
                </a:r>
                <a:endPar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28" name="文本框 27"/>
              <p:cNvSpPr txBox="1"/>
              <p:nvPr/>
            </p:nvSpPr>
            <p:spPr>
              <a:xfrm>
                <a:off x="1753" y="7747"/>
                <a:ext cx="1353" cy="377"/>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Above€495</a:t>
                </a:r>
              </a:p>
            </p:txBody>
          </p:sp>
        </p:grpSp>
        <p:grpSp>
          <p:nvGrpSpPr>
            <p:cNvPr id="97" name="组合 96"/>
            <p:cNvGrpSpPr/>
            <p:nvPr/>
          </p:nvGrpSpPr>
          <p:grpSpPr>
            <a:xfrm>
              <a:off x="5615" y="5565"/>
              <a:ext cx="3588" cy="3091"/>
              <a:chOff x="5285" y="5565"/>
              <a:chExt cx="3588" cy="3091"/>
            </a:xfrm>
          </p:grpSpPr>
          <p:sp>
            <p:nvSpPr>
              <p:cNvPr id="29" name="文本框 28"/>
              <p:cNvSpPr txBox="1"/>
              <p:nvPr/>
            </p:nvSpPr>
            <p:spPr>
              <a:xfrm>
                <a:off x="5421" y="5565"/>
                <a:ext cx="1227" cy="375"/>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White</a:t>
                </a:r>
              </a:p>
            </p:txBody>
          </p:sp>
          <p:sp>
            <p:nvSpPr>
              <p:cNvPr id="30" name="矩形 29"/>
              <p:cNvSpPr/>
              <p:nvPr>
                <p:custDataLst>
                  <p:tags r:id="rId8"/>
                </p:custDataLst>
              </p:nvPr>
            </p:nvSpPr>
            <p:spPr>
              <a:xfrm>
                <a:off x="6677" y="5663"/>
                <a:ext cx="1587" cy="170"/>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1" name="矩形 30"/>
              <p:cNvSpPr/>
              <p:nvPr>
                <p:custDataLst>
                  <p:tags r:id="rId9"/>
                </p:custDataLst>
              </p:nvPr>
            </p:nvSpPr>
            <p:spPr>
              <a:xfrm>
                <a:off x="6677" y="6115"/>
                <a:ext cx="737" cy="170"/>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2" name="矩形 31"/>
              <p:cNvSpPr/>
              <p:nvPr>
                <p:custDataLst>
                  <p:tags r:id="rId10"/>
                </p:custDataLst>
              </p:nvPr>
            </p:nvSpPr>
            <p:spPr>
              <a:xfrm>
                <a:off x="6677" y="6567"/>
                <a:ext cx="624" cy="170"/>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1" name="椭圆 60"/>
              <p:cNvSpPr>
                <a:spLocks noChangeAspect="1"/>
              </p:cNvSpPr>
              <p:nvPr/>
            </p:nvSpPr>
            <p:spPr>
              <a:xfrm>
                <a:off x="5313" y="5689"/>
                <a:ext cx="113" cy="113"/>
              </a:xfrm>
              <a:prstGeom prst="ellipse">
                <a:avLst/>
              </a:prstGeom>
              <a:solidFill>
                <a:schemeClr val="bg1"/>
              </a:solidFill>
              <a:ln w="4445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2" name="椭圆 61"/>
              <p:cNvSpPr>
                <a:spLocks noChangeAspect="1"/>
              </p:cNvSpPr>
              <p:nvPr/>
            </p:nvSpPr>
            <p:spPr>
              <a:xfrm>
                <a:off x="5285" y="6092"/>
                <a:ext cx="170" cy="170"/>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3" name="椭圆 62"/>
              <p:cNvSpPr>
                <a:spLocks noChangeAspect="1"/>
              </p:cNvSpPr>
              <p:nvPr/>
            </p:nvSpPr>
            <p:spPr>
              <a:xfrm>
                <a:off x="5285" y="6552"/>
                <a:ext cx="170" cy="170"/>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4" name="椭圆 63"/>
              <p:cNvSpPr>
                <a:spLocks noChangeAspect="1"/>
              </p:cNvSpPr>
              <p:nvPr/>
            </p:nvSpPr>
            <p:spPr>
              <a:xfrm>
                <a:off x="5285" y="7012"/>
                <a:ext cx="170" cy="170"/>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5" name="椭圆 64"/>
              <p:cNvSpPr>
                <a:spLocks noChangeAspect="1"/>
              </p:cNvSpPr>
              <p:nvPr/>
            </p:nvSpPr>
            <p:spPr>
              <a:xfrm>
                <a:off x="5285" y="7472"/>
                <a:ext cx="170" cy="170"/>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6" name="文本框 65"/>
              <p:cNvSpPr txBox="1"/>
              <p:nvPr/>
            </p:nvSpPr>
            <p:spPr>
              <a:xfrm>
                <a:off x="5421" y="6018"/>
                <a:ext cx="1227" cy="375"/>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Black</a:t>
                </a:r>
              </a:p>
            </p:txBody>
          </p:sp>
          <p:sp>
            <p:nvSpPr>
              <p:cNvPr id="67" name="文本框 66"/>
              <p:cNvSpPr txBox="1"/>
              <p:nvPr/>
            </p:nvSpPr>
            <p:spPr>
              <a:xfrm>
                <a:off x="5421" y="6471"/>
                <a:ext cx="1227" cy="375"/>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Silver</a:t>
                </a:r>
              </a:p>
            </p:txBody>
          </p:sp>
          <p:sp>
            <p:nvSpPr>
              <p:cNvPr id="68" name="文本框 67"/>
              <p:cNvSpPr txBox="1"/>
              <p:nvPr/>
            </p:nvSpPr>
            <p:spPr>
              <a:xfrm>
                <a:off x="5421" y="6924"/>
                <a:ext cx="1227" cy="375"/>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Gold</a:t>
                </a:r>
              </a:p>
            </p:txBody>
          </p:sp>
          <p:sp>
            <p:nvSpPr>
              <p:cNvPr id="69" name="文本框 68"/>
              <p:cNvSpPr txBox="1"/>
              <p:nvPr/>
            </p:nvSpPr>
            <p:spPr>
              <a:xfrm>
                <a:off x="5421" y="7377"/>
                <a:ext cx="1227" cy="375"/>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Red</a:t>
                </a:r>
              </a:p>
            </p:txBody>
          </p:sp>
          <p:sp>
            <p:nvSpPr>
              <p:cNvPr id="70" name="椭圆 69"/>
              <p:cNvSpPr>
                <a:spLocks noChangeAspect="1"/>
              </p:cNvSpPr>
              <p:nvPr/>
            </p:nvSpPr>
            <p:spPr>
              <a:xfrm>
                <a:off x="5285" y="7916"/>
                <a:ext cx="170" cy="170"/>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1" name="椭圆 70"/>
              <p:cNvSpPr>
                <a:spLocks noChangeAspect="1"/>
              </p:cNvSpPr>
              <p:nvPr/>
            </p:nvSpPr>
            <p:spPr>
              <a:xfrm>
                <a:off x="5285" y="8376"/>
                <a:ext cx="170" cy="170"/>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2" name="文本框 71"/>
              <p:cNvSpPr txBox="1"/>
              <p:nvPr/>
            </p:nvSpPr>
            <p:spPr>
              <a:xfrm>
                <a:off x="5421" y="7828"/>
                <a:ext cx="1227" cy="375"/>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Grey</a:t>
                </a:r>
              </a:p>
            </p:txBody>
          </p:sp>
          <p:sp>
            <p:nvSpPr>
              <p:cNvPr id="73" name="文本框 72"/>
              <p:cNvSpPr txBox="1"/>
              <p:nvPr/>
            </p:nvSpPr>
            <p:spPr>
              <a:xfrm>
                <a:off x="5421" y="8281"/>
                <a:ext cx="1227" cy="375"/>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Brown</a:t>
                </a:r>
              </a:p>
            </p:txBody>
          </p:sp>
          <p:sp>
            <p:nvSpPr>
              <p:cNvPr id="74" name="矩形 73"/>
              <p:cNvSpPr/>
              <p:nvPr>
                <p:custDataLst>
                  <p:tags r:id="rId11"/>
                </p:custDataLst>
              </p:nvPr>
            </p:nvSpPr>
            <p:spPr>
              <a:xfrm>
                <a:off x="6677" y="7019"/>
                <a:ext cx="567" cy="170"/>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5" name="矩形 74"/>
              <p:cNvSpPr/>
              <p:nvPr>
                <p:custDataLst>
                  <p:tags r:id="rId12"/>
                </p:custDataLst>
              </p:nvPr>
            </p:nvSpPr>
            <p:spPr>
              <a:xfrm>
                <a:off x="6677" y="7471"/>
                <a:ext cx="510" cy="170"/>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6" name="矩形 75"/>
              <p:cNvSpPr/>
              <p:nvPr>
                <p:custDataLst>
                  <p:tags r:id="rId13"/>
                </p:custDataLst>
              </p:nvPr>
            </p:nvSpPr>
            <p:spPr>
              <a:xfrm>
                <a:off x="6677" y="7923"/>
                <a:ext cx="397" cy="170"/>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7" name="矩形 76"/>
              <p:cNvSpPr/>
              <p:nvPr>
                <p:custDataLst>
                  <p:tags r:id="rId14"/>
                </p:custDataLst>
              </p:nvPr>
            </p:nvSpPr>
            <p:spPr>
              <a:xfrm>
                <a:off x="6677" y="8375"/>
                <a:ext cx="340" cy="170"/>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78" name="组合 77"/>
              <p:cNvGrpSpPr/>
              <p:nvPr/>
            </p:nvGrpSpPr>
            <p:grpSpPr>
              <a:xfrm>
                <a:off x="8617" y="5658"/>
                <a:ext cx="256" cy="2934"/>
                <a:chOff x="8617" y="5658"/>
                <a:chExt cx="256" cy="2934"/>
              </a:xfrm>
            </p:grpSpPr>
            <p:sp>
              <p:nvSpPr>
                <p:cNvPr id="79" name="矩形 78"/>
                <p:cNvSpPr/>
                <p:nvPr/>
              </p:nvSpPr>
              <p:spPr>
                <a:xfrm>
                  <a:off x="8617" y="5658"/>
                  <a:ext cx="257" cy="293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0" name="矩形 79"/>
                <p:cNvSpPr/>
                <p:nvPr/>
              </p:nvSpPr>
              <p:spPr>
                <a:xfrm>
                  <a:off x="8617" y="5908"/>
                  <a:ext cx="257" cy="957"/>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1" name="燕尾形 80"/>
                <p:cNvSpPr>
                  <a:spLocks noChangeAspect="1"/>
                </p:cNvSpPr>
                <p:nvPr/>
              </p:nvSpPr>
              <p:spPr>
                <a:xfrm rot="16200000">
                  <a:off x="8689" y="5736"/>
                  <a:ext cx="113" cy="139"/>
                </a:xfrm>
                <a:prstGeom prst="chevron">
                  <a:avLst>
                    <a:gd name="adj" fmla="val 5647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pitchFamily="34" charset="-122"/>
                    <a:ea typeface="微软雅黑" panose="020B0503020204020204" pitchFamily="34" charset="-122"/>
                    <a:sym typeface="+mn-ea"/>
                  </a:endParaRPr>
                </a:p>
              </p:txBody>
            </p:sp>
          </p:grpSp>
        </p:grpSp>
        <p:grpSp>
          <p:nvGrpSpPr>
            <p:cNvPr id="96" name="组合 95"/>
            <p:cNvGrpSpPr/>
            <p:nvPr/>
          </p:nvGrpSpPr>
          <p:grpSpPr>
            <a:xfrm>
              <a:off x="10264" y="5565"/>
              <a:ext cx="2979" cy="828"/>
              <a:chOff x="9889" y="5565"/>
              <a:chExt cx="2979" cy="828"/>
            </a:xfrm>
          </p:grpSpPr>
          <p:sp>
            <p:nvSpPr>
              <p:cNvPr id="82" name="文本框 81"/>
              <p:cNvSpPr txBox="1"/>
              <p:nvPr/>
            </p:nvSpPr>
            <p:spPr>
              <a:xfrm>
                <a:off x="10025" y="5565"/>
                <a:ext cx="1227" cy="375"/>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Wood</a:t>
                </a:r>
              </a:p>
            </p:txBody>
          </p:sp>
          <p:sp>
            <p:nvSpPr>
              <p:cNvPr id="83" name="矩形 82"/>
              <p:cNvSpPr/>
              <p:nvPr>
                <p:custDataLst>
                  <p:tags r:id="rId6"/>
                </p:custDataLst>
              </p:nvPr>
            </p:nvSpPr>
            <p:spPr>
              <a:xfrm>
                <a:off x="11281" y="5663"/>
                <a:ext cx="1587" cy="170"/>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4" name="矩形 83"/>
              <p:cNvSpPr/>
              <p:nvPr>
                <p:custDataLst>
                  <p:tags r:id="rId7"/>
                </p:custDataLst>
              </p:nvPr>
            </p:nvSpPr>
            <p:spPr>
              <a:xfrm>
                <a:off x="11281" y="6115"/>
                <a:ext cx="170" cy="170"/>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5" name="椭圆 84"/>
              <p:cNvSpPr>
                <a:spLocks noChangeAspect="1"/>
              </p:cNvSpPr>
              <p:nvPr/>
            </p:nvSpPr>
            <p:spPr>
              <a:xfrm>
                <a:off x="9917" y="5689"/>
                <a:ext cx="113" cy="113"/>
              </a:xfrm>
              <a:prstGeom prst="ellipse">
                <a:avLst/>
              </a:prstGeom>
              <a:solidFill>
                <a:schemeClr val="bg1"/>
              </a:solidFill>
              <a:ln w="4445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6" name="椭圆 85"/>
              <p:cNvSpPr>
                <a:spLocks noChangeAspect="1"/>
              </p:cNvSpPr>
              <p:nvPr/>
            </p:nvSpPr>
            <p:spPr>
              <a:xfrm>
                <a:off x="9889" y="6092"/>
                <a:ext cx="170" cy="170"/>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7" name="文本框 86"/>
              <p:cNvSpPr txBox="1"/>
              <p:nvPr/>
            </p:nvSpPr>
            <p:spPr>
              <a:xfrm>
                <a:off x="10025" y="6018"/>
                <a:ext cx="1227" cy="375"/>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Plastic</a:t>
                </a:r>
              </a:p>
            </p:txBody>
          </p:sp>
        </p:grpSp>
        <p:grpSp>
          <p:nvGrpSpPr>
            <p:cNvPr id="95" name="组合 94"/>
            <p:cNvGrpSpPr/>
            <p:nvPr/>
          </p:nvGrpSpPr>
          <p:grpSpPr>
            <a:xfrm>
              <a:off x="14374" y="5559"/>
              <a:ext cx="2979" cy="1281"/>
              <a:chOff x="14269" y="5559"/>
              <a:chExt cx="2979" cy="1281"/>
            </a:xfrm>
          </p:grpSpPr>
          <p:sp>
            <p:nvSpPr>
              <p:cNvPr id="91" name="文本框 90"/>
              <p:cNvSpPr txBox="1"/>
              <p:nvPr/>
            </p:nvSpPr>
            <p:spPr>
              <a:xfrm>
                <a:off x="14405" y="6012"/>
                <a:ext cx="1626" cy="375"/>
              </a:xfrm>
              <a:prstGeom prst="rect">
                <a:avLst/>
              </a:prstGeom>
              <a:noFill/>
            </p:spPr>
            <p:txBody>
              <a:bodyPr wrap="square" rtlCol="0" anchor="t">
                <a:spAutoFit/>
              </a:bodyPr>
              <a:lstStyle/>
              <a:p>
                <a:r>
                  <a:rPr lang="en-US" altLang="zh-CN" sz="900" dirty="0">
                    <a:latin typeface="微软雅黑" panose="020B0503020204020204" pitchFamily="34" charset="-122"/>
                    <a:ea typeface="微软雅黑" panose="020B0503020204020204" pitchFamily="34" charset="-122"/>
                    <a:cs typeface="Amazon Ember" panose="020B0603020204020204" charset="0"/>
                    <a:sym typeface="+mn-ea"/>
                  </a:rPr>
                  <a:t>20 To 29Kg</a:t>
                </a:r>
                <a:endPar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88" name="文本框 87"/>
              <p:cNvSpPr txBox="1"/>
              <p:nvPr/>
            </p:nvSpPr>
            <p:spPr>
              <a:xfrm>
                <a:off x="14405" y="5559"/>
                <a:ext cx="1227" cy="603"/>
              </a:xfrm>
              <a:prstGeom prst="rect">
                <a:avLst/>
              </a:prstGeom>
              <a:noFill/>
            </p:spPr>
            <p:txBody>
              <a:bodyPr wrap="square" rtlCol="0" anchor="t">
                <a:spAutoFit/>
              </a:bodyPr>
              <a:lstStyle/>
              <a:p>
                <a:r>
                  <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Up To 1Kg</a:t>
                </a:r>
              </a:p>
            </p:txBody>
          </p:sp>
          <p:sp>
            <p:nvSpPr>
              <p:cNvPr id="92" name="文本框 91"/>
              <p:cNvSpPr txBox="1"/>
              <p:nvPr/>
            </p:nvSpPr>
            <p:spPr>
              <a:xfrm>
                <a:off x="14405" y="6465"/>
                <a:ext cx="1486" cy="375"/>
              </a:xfrm>
              <a:prstGeom prst="rect">
                <a:avLst/>
              </a:prstGeom>
              <a:noFill/>
            </p:spPr>
            <p:txBody>
              <a:bodyPr wrap="square" rtlCol="0" anchor="t">
                <a:spAutoFit/>
              </a:bodyPr>
              <a:lstStyle/>
              <a:p>
                <a:r>
                  <a:rPr lang="en-US" altLang="zh-CN" sz="900" dirty="0">
                    <a:latin typeface="微软雅黑" panose="020B0503020204020204" pitchFamily="34" charset="-122"/>
                    <a:ea typeface="微软雅黑" panose="020B0503020204020204" pitchFamily="34" charset="-122"/>
                    <a:cs typeface="Amazon Ember" panose="020B0603020204020204" charset="0"/>
                    <a:sym typeface="+mn-ea"/>
                  </a:rPr>
                  <a:t>10 To 19Kg</a:t>
                </a:r>
                <a:endParaRPr lang="en-US" altLang="zh-CN" sz="9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89" name="矩形 88"/>
              <p:cNvSpPr/>
              <p:nvPr>
                <p:custDataLst>
                  <p:tags r:id="rId3"/>
                </p:custDataLst>
              </p:nvPr>
            </p:nvSpPr>
            <p:spPr>
              <a:xfrm>
                <a:off x="15661" y="5657"/>
                <a:ext cx="1587" cy="170"/>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0" name="矩形 89"/>
              <p:cNvSpPr/>
              <p:nvPr>
                <p:custDataLst>
                  <p:tags r:id="rId4"/>
                </p:custDataLst>
              </p:nvPr>
            </p:nvSpPr>
            <p:spPr>
              <a:xfrm>
                <a:off x="15661" y="6102"/>
                <a:ext cx="454" cy="170"/>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3" name="矩形 92"/>
              <p:cNvSpPr/>
              <p:nvPr>
                <p:custDataLst>
                  <p:tags r:id="rId5"/>
                </p:custDataLst>
              </p:nvPr>
            </p:nvSpPr>
            <p:spPr>
              <a:xfrm>
                <a:off x="15661" y="6547"/>
                <a:ext cx="283" cy="170"/>
              </a:xfrm>
              <a:prstGeom prst="rect">
                <a:avLst/>
              </a:prstGeom>
              <a:solidFill>
                <a:srgbClr val="00A4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4" name="椭圆 93"/>
              <p:cNvSpPr>
                <a:spLocks noChangeAspect="1"/>
              </p:cNvSpPr>
              <p:nvPr/>
            </p:nvSpPr>
            <p:spPr>
              <a:xfrm>
                <a:off x="14297" y="5683"/>
                <a:ext cx="113" cy="113"/>
              </a:xfrm>
              <a:prstGeom prst="ellipse">
                <a:avLst/>
              </a:prstGeom>
              <a:solidFill>
                <a:schemeClr val="bg1"/>
              </a:solidFill>
              <a:ln w="4445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8" name="椭圆 97"/>
              <p:cNvSpPr>
                <a:spLocks noChangeAspect="1"/>
              </p:cNvSpPr>
              <p:nvPr/>
            </p:nvSpPr>
            <p:spPr>
              <a:xfrm>
                <a:off x="14269" y="6086"/>
                <a:ext cx="170" cy="170"/>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00" name="椭圆 99"/>
              <p:cNvSpPr>
                <a:spLocks noChangeAspect="1"/>
              </p:cNvSpPr>
              <p:nvPr/>
            </p:nvSpPr>
            <p:spPr>
              <a:xfrm>
                <a:off x="14269" y="6546"/>
                <a:ext cx="170" cy="170"/>
              </a:xfrm>
              <a:prstGeom prst="ellipse">
                <a:avLst/>
              </a:prstGeom>
              <a:solidFill>
                <a:schemeClr val="bg1"/>
              </a:solidFill>
              <a:ln w="12700">
                <a:solidFill>
                  <a:srgbClr val="00A4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sp>
          <p:nvSpPr>
            <p:cNvPr id="101" name="矩形 100"/>
            <p:cNvSpPr/>
            <p:nvPr/>
          </p:nvSpPr>
          <p:spPr>
            <a:xfrm>
              <a:off x="15037" y="4011"/>
              <a:ext cx="2353" cy="4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00A4B4"/>
                  </a:solidFill>
                  <a:latin typeface="微软雅黑" panose="020B0503020204020204" pitchFamily="34" charset="-122"/>
                  <a:ea typeface="微软雅黑" panose="020B0503020204020204" pitchFamily="34" charset="-122"/>
                </a:rPr>
                <a:t>选择最喜爱的功能</a:t>
              </a:r>
            </a:p>
          </p:txBody>
        </p:sp>
      </p:grpSp>
      <p:sp>
        <p:nvSpPr>
          <p:cNvPr id="7" name="Rectangle 6"/>
          <p:cNvSpPr/>
          <p:nvPr/>
        </p:nvSpPr>
        <p:spPr>
          <a:xfrm>
            <a:off x="969010" y="2364730"/>
            <a:ext cx="10213340" cy="307777"/>
          </a:xfrm>
          <a:prstGeom prst="rect">
            <a:avLst/>
          </a:prstGeom>
        </p:spPr>
        <p:txBody>
          <a:bodyPr wrap="squar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cs typeface="思源黑体 Regular" panose="020B0500000000000000" charset="-122"/>
                <a:sym typeface="+mn-ea"/>
              </a:rPr>
              <a:t>不同类目产品所提供的特征趋势不尽相同，请根据您选择的分类节点情况进行针对性的了解。</a:t>
            </a:r>
            <a:endParaRPr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
          <p:cNvSpPr txBox="1"/>
          <p:nvPr>
            <p:custDataLst>
              <p:tags r:id="rId1"/>
            </p:custDataLst>
          </p:nvPr>
        </p:nvSpPr>
        <p:spPr>
          <a:xfrm>
            <a:off x="2102485" y="1594485"/>
            <a:ext cx="9475470" cy="955967"/>
          </a:xfrm>
          <a:prstGeom prst="rect">
            <a:avLst/>
          </a:prstGeom>
          <a:noFill/>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ctr">
              <a:lnSpc>
                <a:spcPct val="150000"/>
              </a:lnSpc>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思源黑体 Light" panose="020B0300000000000000" charset="-122"/>
              </a:rPr>
              <a:t>手把手带您解锁</a:t>
            </a:r>
            <a:r>
              <a:rPr lang="zh-CN" altLang="en-US" sz="3200" spc="0" dirty="0">
                <a:gradFill>
                  <a:gsLst>
                    <a:gs pos="0">
                      <a:srgbClr val="FF8F00"/>
                    </a:gs>
                    <a:gs pos="100000">
                      <a:srgbClr val="FFC010"/>
                    </a:gs>
                  </a:gsLst>
                  <a:lin ang="0" scaled="0"/>
                </a:gradFill>
                <a:latin typeface="微软雅黑" panose="020B0503020204020204" pitchFamily="34" charset="-122"/>
                <a:ea typeface="微软雅黑" panose="020B0503020204020204" pitchFamily="34" charset="-122"/>
                <a:cs typeface="Amazon Ember" panose="020B0603020204020204" charset="0"/>
                <a:sym typeface="思源黑体 Light" panose="020B0300000000000000" charset="-122"/>
              </a:rPr>
              <a:t>全球商品需求</a:t>
            </a: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思源黑体 Light" panose="020B0300000000000000" charset="-122"/>
              </a:rPr>
              <a:t>,高效拓展更多商机</a:t>
            </a:r>
          </a:p>
        </p:txBody>
      </p:sp>
      <p:cxnSp>
        <p:nvCxnSpPr>
          <p:cNvPr id="39" name="直接连接符 58"/>
          <p:cNvCxnSpPr/>
          <p:nvPr>
            <p:custDataLst>
              <p:tags r:id="rId2"/>
            </p:custDataLst>
          </p:nvPr>
        </p:nvCxnSpPr>
        <p:spPr>
          <a:xfrm>
            <a:off x="-96195" y="2891473"/>
            <a:ext cx="12360910" cy="0"/>
          </a:xfrm>
          <a:prstGeom prst="line">
            <a:avLst/>
          </a:prstGeom>
          <a:ln w="44450" cap="rnd">
            <a:gradFill flip="none" rotWithShape="1">
              <a:gsLst>
                <a:gs pos="0">
                  <a:srgbClr val="FF9900">
                    <a:alpha val="100000"/>
                  </a:srgbClr>
                </a:gs>
                <a:gs pos="53000">
                  <a:srgbClr val="FF9900">
                    <a:alpha val="20000"/>
                  </a:srgbClr>
                </a:gs>
                <a:gs pos="100000">
                  <a:srgbClr val="FF9900"/>
                </a:gs>
              </a:gsLst>
              <a:lin ang="0" scaled="1"/>
              <a:tileRect/>
            </a:gradFill>
            <a:round/>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3"/>
            </p:custDataLst>
          </p:nvPr>
        </p:nvSpPr>
        <p:spPr>
          <a:xfrm>
            <a:off x="1608455" y="3925570"/>
            <a:ext cx="2879725" cy="418191"/>
          </a:xfrm>
          <a:prstGeom prst="rect">
            <a:avLst/>
          </a:prstGeom>
          <a:noFill/>
        </p:spPr>
        <p:txBody>
          <a:bodyPr wrap="square" rtlCol="0" anchor="t">
            <a:spAutoFit/>
          </a:bodyPr>
          <a:lstStyle/>
          <a:p>
            <a:pPr lvl="0" algn="ctr">
              <a:lnSpc>
                <a:spcPct val="150000"/>
              </a:lnSpc>
              <a:buClr>
                <a:schemeClr val="bg2"/>
              </a:buClr>
              <a:buSzPct val="80000"/>
              <a:buFontTx/>
            </a:pPr>
            <a:r>
              <a:rPr lang="zh-CN" altLang="en-US" sz="1600" dirty="0">
                <a:latin typeface="微软雅黑" panose="020B0503020204020204" pitchFamily="34" charset="-122"/>
                <a:ea typeface="微软雅黑" panose="020B0503020204020204" pitchFamily="34" charset="-122"/>
                <a:cs typeface="Amazon Ember" panose="020B0603020204020204" charset="0"/>
                <a:sym typeface="+mn-ea"/>
              </a:rPr>
              <a:t>全球商品需求是什么？</a:t>
            </a:r>
          </a:p>
        </p:txBody>
      </p:sp>
      <p:sp>
        <p:nvSpPr>
          <p:cNvPr id="9" name="文本框 8"/>
          <p:cNvSpPr txBox="1"/>
          <p:nvPr>
            <p:custDataLst>
              <p:tags r:id="rId4"/>
            </p:custDataLst>
          </p:nvPr>
        </p:nvSpPr>
        <p:spPr>
          <a:xfrm>
            <a:off x="7704138" y="5177155"/>
            <a:ext cx="2879725" cy="787523"/>
          </a:xfrm>
          <a:prstGeom prst="rect">
            <a:avLst/>
          </a:prstGeom>
          <a:noFill/>
        </p:spPr>
        <p:txBody>
          <a:bodyPr wrap="square" rtlCol="0" anchor="t">
            <a:spAutoFit/>
          </a:bodyPr>
          <a:lstStyle/>
          <a:p>
            <a:pPr lvl="0" algn="ctr">
              <a:lnSpc>
                <a:spcPct val="150000"/>
              </a:lnSpc>
              <a:buClr>
                <a:schemeClr val="bg2"/>
              </a:buClr>
              <a:buSzPct val="80000"/>
              <a:buFontTx/>
            </a:pPr>
            <a:r>
              <a:rPr lang="zh-CN" altLang="en-US" sz="1600" dirty="0">
                <a:latin typeface="微软雅黑" panose="020B0503020204020204" pitchFamily="34" charset="-122"/>
                <a:ea typeface="微软雅黑" panose="020B0503020204020204" pitchFamily="34" charset="-122"/>
                <a:cs typeface="Amazon Ember" panose="020B0603020204020204" charset="0"/>
                <a:sym typeface="+mn-ea"/>
              </a:rPr>
              <a:t>解锁目标店铺中其他卖家</a:t>
            </a:r>
          </a:p>
          <a:p>
            <a:pPr lvl="0" algn="ctr">
              <a:lnSpc>
                <a:spcPct val="150000"/>
              </a:lnSpc>
              <a:buClr>
                <a:schemeClr val="bg2"/>
              </a:buClr>
              <a:buSzPct val="80000"/>
              <a:buFontTx/>
            </a:pPr>
            <a:r>
              <a:rPr lang="zh-CN" altLang="en-US" sz="1600" dirty="0">
                <a:latin typeface="微软雅黑" panose="020B0503020204020204" pitchFamily="34" charset="-122"/>
                <a:ea typeface="微软雅黑" panose="020B0503020204020204" pitchFamily="34" charset="-122"/>
                <a:cs typeface="Amazon Ember" panose="020B0603020204020204" charset="0"/>
                <a:sym typeface="+mn-ea"/>
              </a:rPr>
              <a:t>提供的ASIN</a:t>
            </a:r>
          </a:p>
        </p:txBody>
      </p:sp>
      <p:sp>
        <p:nvSpPr>
          <p:cNvPr id="8" name="文本框 7"/>
          <p:cNvSpPr txBox="1"/>
          <p:nvPr>
            <p:custDataLst>
              <p:tags r:id="rId5"/>
            </p:custDataLst>
          </p:nvPr>
        </p:nvSpPr>
        <p:spPr>
          <a:xfrm>
            <a:off x="4536123" y="5177155"/>
            <a:ext cx="3119755" cy="418191"/>
          </a:xfrm>
          <a:prstGeom prst="rect">
            <a:avLst/>
          </a:prstGeom>
          <a:noFill/>
        </p:spPr>
        <p:txBody>
          <a:bodyPr wrap="square" rtlCol="0" anchor="t">
            <a:spAutoFit/>
          </a:bodyPr>
          <a:lstStyle/>
          <a:p>
            <a:pPr lvl="0" algn="ctr">
              <a:lnSpc>
                <a:spcPct val="150000"/>
              </a:lnSpc>
              <a:buClr>
                <a:schemeClr val="bg2"/>
              </a:buClr>
              <a:buSzPct val="80000"/>
              <a:buFontTx/>
            </a:pPr>
            <a:r>
              <a:rPr lang="zh-CN" altLang="en-US" sz="1600" dirty="0">
                <a:latin typeface="微软雅黑" panose="020B0503020204020204" pitchFamily="34" charset="-122"/>
                <a:ea typeface="微软雅黑" panose="020B0503020204020204" pitchFamily="34" charset="-122"/>
                <a:cs typeface="Amazon Ember" panose="020B0603020204020204" charset="0"/>
                <a:sym typeface="+mn-ea"/>
              </a:rPr>
              <a:t>解锁目标店铺的新ASIN</a:t>
            </a:r>
          </a:p>
        </p:txBody>
      </p:sp>
      <p:sp>
        <p:nvSpPr>
          <p:cNvPr id="7" name="文本框 6"/>
          <p:cNvSpPr txBox="1"/>
          <p:nvPr>
            <p:custDataLst>
              <p:tags r:id="rId6"/>
            </p:custDataLst>
          </p:nvPr>
        </p:nvSpPr>
        <p:spPr>
          <a:xfrm>
            <a:off x="1608138" y="5177155"/>
            <a:ext cx="2879725" cy="418191"/>
          </a:xfrm>
          <a:prstGeom prst="rect">
            <a:avLst/>
          </a:prstGeom>
          <a:noFill/>
        </p:spPr>
        <p:txBody>
          <a:bodyPr wrap="square" rtlCol="0" anchor="t">
            <a:spAutoFit/>
          </a:bodyPr>
          <a:lstStyle/>
          <a:p>
            <a:pPr lvl="0" algn="ctr">
              <a:lnSpc>
                <a:spcPct val="150000"/>
              </a:lnSpc>
              <a:buClr>
                <a:schemeClr val="bg2"/>
              </a:buClr>
              <a:buSzPct val="80000"/>
              <a:buFontTx/>
            </a:pPr>
            <a:r>
              <a:rPr lang="zh-CN" altLang="en-US" sz="1600" dirty="0">
                <a:latin typeface="微软雅黑" panose="020B0503020204020204" pitchFamily="34" charset="-122"/>
                <a:ea typeface="微软雅黑" panose="020B0503020204020204" pitchFamily="34" charset="-122"/>
                <a:cs typeface="Amazon Ember" panose="020B0603020204020204" charset="0"/>
                <a:sym typeface="+mn-ea"/>
              </a:rPr>
              <a:t>选择目标站点</a:t>
            </a:r>
          </a:p>
        </p:txBody>
      </p:sp>
      <p:sp>
        <p:nvSpPr>
          <p:cNvPr id="5" name="文本框 4"/>
          <p:cNvSpPr txBox="1"/>
          <p:nvPr>
            <p:custDataLst>
              <p:tags r:id="rId7"/>
            </p:custDataLst>
          </p:nvPr>
        </p:nvSpPr>
        <p:spPr>
          <a:xfrm>
            <a:off x="7705090" y="3925570"/>
            <a:ext cx="2879725" cy="418191"/>
          </a:xfrm>
          <a:prstGeom prst="rect">
            <a:avLst/>
          </a:prstGeom>
          <a:noFill/>
        </p:spPr>
        <p:txBody>
          <a:bodyPr wrap="square" rtlCol="0" anchor="t">
            <a:spAutoFit/>
          </a:bodyPr>
          <a:lstStyle/>
          <a:p>
            <a:pPr lvl="0" algn="ctr">
              <a:lnSpc>
                <a:spcPct val="150000"/>
              </a:lnSpc>
              <a:buClr>
                <a:schemeClr val="bg2"/>
              </a:buClr>
              <a:buSzPct val="80000"/>
              <a:buFontTx/>
            </a:pPr>
            <a:r>
              <a:rPr lang="zh-CN" altLang="en-US" sz="1600" dirty="0">
                <a:latin typeface="微软雅黑" panose="020B0503020204020204" pitchFamily="34" charset="-122"/>
                <a:ea typeface="微软雅黑" panose="020B0503020204020204" pitchFamily="34" charset="-122"/>
                <a:cs typeface="Amazon Ember" panose="020B0603020204020204" charset="0"/>
                <a:sym typeface="+mn-ea"/>
              </a:rPr>
              <a:t>谁可以使用？</a:t>
            </a:r>
          </a:p>
        </p:txBody>
      </p:sp>
      <p:sp>
        <p:nvSpPr>
          <p:cNvPr id="3" name="文本框 2"/>
          <p:cNvSpPr txBox="1"/>
          <p:nvPr>
            <p:custDataLst>
              <p:tags r:id="rId8"/>
            </p:custDataLst>
          </p:nvPr>
        </p:nvSpPr>
        <p:spPr>
          <a:xfrm>
            <a:off x="4657090" y="3925570"/>
            <a:ext cx="2879725" cy="418191"/>
          </a:xfrm>
          <a:prstGeom prst="rect">
            <a:avLst/>
          </a:prstGeom>
          <a:noFill/>
        </p:spPr>
        <p:txBody>
          <a:bodyPr wrap="square" rtlCol="0" anchor="t">
            <a:spAutoFit/>
          </a:bodyPr>
          <a:lstStyle/>
          <a:p>
            <a:pPr lvl="0" algn="ctr">
              <a:lnSpc>
                <a:spcPct val="150000"/>
              </a:lnSpc>
              <a:buClr>
                <a:schemeClr val="bg2"/>
              </a:buClr>
              <a:buSzPct val="80000"/>
              <a:buFontTx/>
            </a:pPr>
            <a:r>
              <a:rPr lang="zh-CN" altLang="en-US" sz="1600" dirty="0">
                <a:latin typeface="微软雅黑" panose="020B0503020204020204" pitchFamily="34" charset="-122"/>
                <a:ea typeface="微软雅黑" panose="020B0503020204020204" pitchFamily="34" charset="-122"/>
                <a:cs typeface="Amazon Ember" panose="020B0603020204020204" charset="0"/>
                <a:sym typeface="+mn-ea"/>
              </a:rPr>
              <a:t>为什么使用？</a:t>
            </a:r>
          </a:p>
        </p:txBody>
      </p:sp>
      <p:sp>
        <p:nvSpPr>
          <p:cNvPr id="77" name="Round Same Side Corner Rectangle 3"/>
          <p:cNvSpPr/>
          <p:nvPr>
            <p:custDataLst>
              <p:tags r:id="rId9"/>
            </p:custDataLst>
          </p:nvPr>
        </p:nvSpPr>
        <p:spPr>
          <a:xfrm>
            <a:off x="1751965" y="3548380"/>
            <a:ext cx="2592070" cy="360045"/>
          </a:xfrm>
          <a:prstGeom prst="round2SameRect">
            <a:avLst>
              <a:gd name="adj1" fmla="val 50000"/>
              <a:gd name="adj2"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tIns="45720" bIns="45720" rtlCol="0" anchor="ctr">
            <a:noAutofit/>
          </a:bodyPr>
          <a:lstStyle/>
          <a:p>
            <a:pPr lvl="0" algn="ctr">
              <a:buClr>
                <a:schemeClr val="bg2"/>
              </a:buClr>
              <a:buSzPct val="80000"/>
              <a:buFontTx/>
            </a:pPr>
            <a:r>
              <a:rPr lang="en-US" altLang="zh-CN" sz="1600" b="1" kern="0" spc="1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step 01</a:t>
            </a:r>
          </a:p>
        </p:txBody>
      </p:sp>
      <p:sp>
        <p:nvSpPr>
          <p:cNvPr id="78" name="Round Same Side Corner Rectangle 3"/>
          <p:cNvSpPr/>
          <p:nvPr>
            <p:custDataLst>
              <p:tags r:id="rId10"/>
            </p:custDataLst>
          </p:nvPr>
        </p:nvSpPr>
        <p:spPr>
          <a:xfrm>
            <a:off x="7847965" y="4799330"/>
            <a:ext cx="2592070" cy="360045"/>
          </a:xfrm>
          <a:prstGeom prst="round2SameRect">
            <a:avLst>
              <a:gd name="adj1" fmla="val 50000"/>
              <a:gd name="adj2"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tIns="45720" bIns="45720" rtlCol="0" anchor="ctr">
            <a:noAutofit/>
          </a:bodyPr>
          <a:lstStyle/>
          <a:p>
            <a:pPr lvl="0" algn="ctr">
              <a:buClr>
                <a:schemeClr val="bg2"/>
              </a:buClr>
              <a:buSzPct val="80000"/>
              <a:buFontTx/>
            </a:pPr>
            <a:r>
              <a:rPr lang="en-US" altLang="zh-CN" sz="1600" b="1" kern="0" spc="1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step 06 </a:t>
            </a:r>
          </a:p>
        </p:txBody>
      </p:sp>
      <p:sp>
        <p:nvSpPr>
          <p:cNvPr id="79" name="Round Same Side Corner Rectangle 3"/>
          <p:cNvSpPr/>
          <p:nvPr>
            <p:custDataLst>
              <p:tags r:id="rId11"/>
            </p:custDataLst>
          </p:nvPr>
        </p:nvSpPr>
        <p:spPr>
          <a:xfrm>
            <a:off x="4799965" y="4799330"/>
            <a:ext cx="2592070" cy="360045"/>
          </a:xfrm>
          <a:prstGeom prst="round2SameRect">
            <a:avLst>
              <a:gd name="adj1" fmla="val 50000"/>
              <a:gd name="adj2"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tIns="45720" bIns="45720" rtlCol="0" anchor="ctr">
            <a:noAutofit/>
          </a:bodyPr>
          <a:lstStyle/>
          <a:p>
            <a:pPr lvl="0" algn="ctr">
              <a:buClr>
                <a:schemeClr val="bg2"/>
              </a:buClr>
              <a:buSzPct val="80000"/>
              <a:buFontTx/>
            </a:pPr>
            <a:r>
              <a:rPr lang="en-US" altLang="zh-CN" sz="1600" b="1" kern="0" spc="1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step 05</a:t>
            </a:r>
          </a:p>
        </p:txBody>
      </p:sp>
      <p:sp>
        <p:nvSpPr>
          <p:cNvPr id="80" name="Round Same Side Corner Rectangle 3"/>
          <p:cNvSpPr/>
          <p:nvPr>
            <p:custDataLst>
              <p:tags r:id="rId12"/>
            </p:custDataLst>
          </p:nvPr>
        </p:nvSpPr>
        <p:spPr>
          <a:xfrm>
            <a:off x="1751965" y="4799330"/>
            <a:ext cx="2592070" cy="360045"/>
          </a:xfrm>
          <a:prstGeom prst="round2SameRect">
            <a:avLst>
              <a:gd name="adj1" fmla="val 50000"/>
              <a:gd name="adj2"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tIns="45720" bIns="45720" rtlCol="0" anchor="ctr">
            <a:noAutofit/>
          </a:bodyPr>
          <a:lstStyle/>
          <a:p>
            <a:pPr lvl="0" algn="ctr">
              <a:buClr>
                <a:schemeClr val="bg2"/>
              </a:buClr>
              <a:buSzPct val="80000"/>
              <a:buFontTx/>
            </a:pPr>
            <a:r>
              <a:rPr lang="en-US" altLang="zh-CN" sz="1600" b="1" kern="0" spc="1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step 04</a:t>
            </a:r>
          </a:p>
        </p:txBody>
      </p:sp>
      <p:sp>
        <p:nvSpPr>
          <p:cNvPr id="82" name="Round Same Side Corner Rectangle 3"/>
          <p:cNvSpPr/>
          <p:nvPr>
            <p:custDataLst>
              <p:tags r:id="rId13"/>
            </p:custDataLst>
          </p:nvPr>
        </p:nvSpPr>
        <p:spPr>
          <a:xfrm>
            <a:off x="7848600" y="3548380"/>
            <a:ext cx="2592070" cy="360045"/>
          </a:xfrm>
          <a:prstGeom prst="round2SameRect">
            <a:avLst>
              <a:gd name="adj1" fmla="val 50000"/>
              <a:gd name="adj2"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tIns="45720" bIns="45720" rtlCol="0" anchor="ctr">
            <a:noAutofit/>
          </a:bodyPr>
          <a:lstStyle/>
          <a:p>
            <a:pPr lvl="0" algn="ctr">
              <a:buClr>
                <a:schemeClr val="bg2"/>
              </a:buClr>
              <a:buSzPct val="80000"/>
              <a:buFontTx/>
            </a:pPr>
            <a:r>
              <a:rPr lang="en-US" altLang="zh-CN" sz="1600" b="1" kern="0" spc="1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step 03</a:t>
            </a:r>
          </a:p>
        </p:txBody>
      </p:sp>
      <p:sp>
        <p:nvSpPr>
          <p:cNvPr id="83" name="Round Same Side Corner Rectangle 3"/>
          <p:cNvSpPr/>
          <p:nvPr>
            <p:custDataLst>
              <p:tags r:id="rId14"/>
            </p:custDataLst>
          </p:nvPr>
        </p:nvSpPr>
        <p:spPr>
          <a:xfrm>
            <a:off x="4800600" y="3548380"/>
            <a:ext cx="2592070" cy="360045"/>
          </a:xfrm>
          <a:prstGeom prst="round2SameRect">
            <a:avLst>
              <a:gd name="adj1" fmla="val 50000"/>
              <a:gd name="adj2"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tIns="45720" bIns="45720" rtlCol="0" anchor="ctr">
            <a:noAutofit/>
          </a:bodyPr>
          <a:lstStyle/>
          <a:p>
            <a:pPr lvl="0" algn="ctr">
              <a:buClr>
                <a:schemeClr val="bg2"/>
              </a:buClr>
              <a:buSzPct val="80000"/>
              <a:buFontTx/>
            </a:pPr>
            <a:r>
              <a:rPr lang="en-US" altLang="zh-CN" sz="1600" b="1" kern="0" spc="1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step 02 </a:t>
            </a:r>
          </a:p>
        </p:txBody>
      </p:sp>
      <p:sp>
        <p:nvSpPr>
          <p:cNvPr id="95" name="矩形 46"/>
          <p:cNvSpPr>
            <a:spLocks noChangeAspect="1"/>
          </p:cNvSpPr>
          <p:nvPr>
            <p:custDataLst>
              <p:tags r:id="rId15"/>
            </p:custDataLst>
          </p:nvPr>
        </p:nvSpPr>
        <p:spPr>
          <a:xfrm rot="5400000">
            <a:off x="1228725" y="1633220"/>
            <a:ext cx="1040765" cy="1039495"/>
          </a:xfrm>
          <a:prstGeom prst="roundRect">
            <a:avLst>
              <a:gd name="adj" fmla="val 50000"/>
            </a:avLst>
          </a:prstGeom>
          <a:solidFill>
            <a:schemeClr val="bg2">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rIns="91440"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96" name="矩形 46"/>
          <p:cNvSpPr/>
          <p:nvPr>
            <p:custDataLst>
              <p:tags r:id="rId16"/>
            </p:custDataLst>
          </p:nvPr>
        </p:nvSpPr>
        <p:spPr>
          <a:xfrm>
            <a:off x="1303655" y="1707515"/>
            <a:ext cx="890270" cy="890905"/>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p:spPr>
        <p:txBody>
          <a:bodyPr lIns="91440" tIns="45720" rIns="91440" bIns="45720" rtlCol="0" anchor="ctr" anchorCtr="0">
            <a:noAutofit/>
          </a:bodyPr>
          <a:lstStyle/>
          <a:p>
            <a:pPr lvl="0" algn="ctr">
              <a:buClr>
                <a:schemeClr val="bg2"/>
              </a:buClr>
              <a:buSzPct val="80000"/>
              <a:buFontTx/>
            </a:pPr>
            <a:endParaRPr lang="en-US" altLang="zh-CN" sz="1600" b="1" kern="0" spc="1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121" name="radar_239004"/>
          <p:cNvSpPr>
            <a:spLocks noChangeAspect="1"/>
          </p:cNvSpPr>
          <p:nvPr>
            <p:custDataLst>
              <p:tags r:id="rId17"/>
            </p:custDataLst>
          </p:nvPr>
        </p:nvSpPr>
        <p:spPr>
          <a:xfrm>
            <a:off x="1433195" y="1837690"/>
            <a:ext cx="631190" cy="629920"/>
          </a:xfrm>
          <a:custGeom>
            <a:avLst/>
            <a:gdLst>
              <a:gd name="connsiteX0" fmla="*/ 452607 w 607639"/>
              <a:gd name="connsiteY0" fmla="*/ 228844 h 606722"/>
              <a:gd name="connsiteX1" fmla="*/ 463686 w 607639"/>
              <a:gd name="connsiteY1" fmla="*/ 239852 h 606722"/>
              <a:gd name="connsiteX2" fmla="*/ 452607 w 607639"/>
              <a:gd name="connsiteY2" fmla="*/ 250860 h 606722"/>
              <a:gd name="connsiteX3" fmla="*/ 441528 w 607639"/>
              <a:gd name="connsiteY3" fmla="*/ 239852 h 606722"/>
              <a:gd name="connsiteX4" fmla="*/ 452607 w 607639"/>
              <a:gd name="connsiteY4" fmla="*/ 228844 h 606722"/>
              <a:gd name="connsiteX5" fmla="*/ 303775 w 607639"/>
              <a:gd name="connsiteY5" fmla="*/ 63252 h 606722"/>
              <a:gd name="connsiteX6" fmla="*/ 63356 w 607639"/>
              <a:gd name="connsiteY6" fmla="*/ 303317 h 606722"/>
              <a:gd name="connsiteX7" fmla="*/ 303775 w 607639"/>
              <a:gd name="connsiteY7" fmla="*/ 543470 h 606722"/>
              <a:gd name="connsiteX8" fmla="*/ 544283 w 607639"/>
              <a:gd name="connsiteY8" fmla="*/ 303317 h 606722"/>
              <a:gd name="connsiteX9" fmla="*/ 481352 w 607639"/>
              <a:gd name="connsiteY9" fmla="*/ 141644 h 606722"/>
              <a:gd name="connsiteX10" fmla="*/ 311608 w 607639"/>
              <a:gd name="connsiteY10" fmla="*/ 311138 h 606722"/>
              <a:gd name="connsiteX11" fmla="*/ 303775 w 607639"/>
              <a:gd name="connsiteY11" fmla="*/ 314338 h 606722"/>
              <a:gd name="connsiteX12" fmla="*/ 296031 w 607639"/>
              <a:gd name="connsiteY12" fmla="*/ 311138 h 606722"/>
              <a:gd name="connsiteX13" fmla="*/ 296031 w 607639"/>
              <a:gd name="connsiteY13" fmla="*/ 295584 h 606722"/>
              <a:gd name="connsiteX14" fmla="*/ 335463 w 607639"/>
              <a:gd name="connsiteY14" fmla="*/ 256121 h 606722"/>
              <a:gd name="connsiteX15" fmla="*/ 303775 w 607639"/>
              <a:gd name="connsiteY15" fmla="*/ 246522 h 606722"/>
              <a:gd name="connsiteX16" fmla="*/ 246897 w 607639"/>
              <a:gd name="connsiteY16" fmla="*/ 303317 h 606722"/>
              <a:gd name="connsiteX17" fmla="*/ 303775 w 607639"/>
              <a:gd name="connsiteY17" fmla="*/ 360200 h 606722"/>
              <a:gd name="connsiteX18" fmla="*/ 360742 w 607639"/>
              <a:gd name="connsiteY18" fmla="*/ 303317 h 606722"/>
              <a:gd name="connsiteX19" fmla="*/ 371780 w 607639"/>
              <a:gd name="connsiteY19" fmla="*/ 292295 h 606722"/>
              <a:gd name="connsiteX20" fmla="*/ 382817 w 607639"/>
              <a:gd name="connsiteY20" fmla="*/ 303317 h 606722"/>
              <a:gd name="connsiteX21" fmla="*/ 303775 w 607639"/>
              <a:gd name="connsiteY21" fmla="*/ 382242 h 606722"/>
              <a:gd name="connsiteX22" fmla="*/ 224733 w 607639"/>
              <a:gd name="connsiteY22" fmla="*/ 303317 h 606722"/>
              <a:gd name="connsiteX23" fmla="*/ 303775 w 607639"/>
              <a:gd name="connsiteY23" fmla="*/ 224391 h 606722"/>
              <a:gd name="connsiteX24" fmla="*/ 351307 w 607639"/>
              <a:gd name="connsiteY24" fmla="*/ 240301 h 606722"/>
              <a:gd name="connsiteX25" fmla="*/ 406672 w 607639"/>
              <a:gd name="connsiteY25" fmla="*/ 185018 h 606722"/>
              <a:gd name="connsiteX26" fmla="*/ 303775 w 607639"/>
              <a:gd name="connsiteY26" fmla="*/ 146621 h 606722"/>
              <a:gd name="connsiteX27" fmla="*/ 146848 w 607639"/>
              <a:gd name="connsiteY27" fmla="*/ 303317 h 606722"/>
              <a:gd name="connsiteX28" fmla="*/ 303775 w 607639"/>
              <a:gd name="connsiteY28" fmla="*/ 460012 h 606722"/>
              <a:gd name="connsiteX29" fmla="*/ 460702 w 607639"/>
              <a:gd name="connsiteY29" fmla="*/ 303317 h 606722"/>
              <a:gd name="connsiteX30" fmla="*/ 471739 w 607639"/>
              <a:gd name="connsiteY30" fmla="*/ 292295 h 606722"/>
              <a:gd name="connsiteX31" fmla="*/ 482866 w 607639"/>
              <a:gd name="connsiteY31" fmla="*/ 303317 h 606722"/>
              <a:gd name="connsiteX32" fmla="*/ 303775 w 607639"/>
              <a:gd name="connsiteY32" fmla="*/ 482143 h 606722"/>
              <a:gd name="connsiteX33" fmla="*/ 124773 w 607639"/>
              <a:gd name="connsiteY33" fmla="*/ 303317 h 606722"/>
              <a:gd name="connsiteX34" fmla="*/ 303775 w 607639"/>
              <a:gd name="connsiteY34" fmla="*/ 124579 h 606722"/>
              <a:gd name="connsiteX35" fmla="*/ 422338 w 607639"/>
              <a:gd name="connsiteY35" fmla="*/ 169375 h 606722"/>
              <a:gd name="connsiteX36" fmla="*/ 465775 w 607639"/>
              <a:gd name="connsiteY36" fmla="*/ 126001 h 606722"/>
              <a:gd name="connsiteX37" fmla="*/ 303775 w 607639"/>
              <a:gd name="connsiteY37" fmla="*/ 63252 h 606722"/>
              <a:gd name="connsiteX38" fmla="*/ 303775 w 607639"/>
              <a:gd name="connsiteY38" fmla="*/ 41210 h 606722"/>
              <a:gd name="connsiteX39" fmla="*/ 566358 w 607639"/>
              <a:gd name="connsiteY39" fmla="*/ 303317 h 606722"/>
              <a:gd name="connsiteX40" fmla="*/ 303775 w 607639"/>
              <a:gd name="connsiteY40" fmla="*/ 565512 h 606722"/>
              <a:gd name="connsiteX41" fmla="*/ 41281 w 607639"/>
              <a:gd name="connsiteY41" fmla="*/ 303317 h 606722"/>
              <a:gd name="connsiteX42" fmla="*/ 303775 w 607639"/>
              <a:gd name="connsiteY42" fmla="*/ 41210 h 606722"/>
              <a:gd name="connsiteX43" fmla="*/ 303775 w 607639"/>
              <a:gd name="connsiteY43" fmla="*/ 22040 h 606722"/>
              <a:gd name="connsiteX44" fmla="*/ 22073 w 607639"/>
              <a:gd name="connsiteY44" fmla="*/ 303317 h 606722"/>
              <a:gd name="connsiteX45" fmla="*/ 303775 w 607639"/>
              <a:gd name="connsiteY45" fmla="*/ 584593 h 606722"/>
              <a:gd name="connsiteX46" fmla="*/ 585477 w 607639"/>
              <a:gd name="connsiteY46" fmla="*/ 303317 h 606722"/>
              <a:gd name="connsiteX47" fmla="*/ 303775 w 607639"/>
              <a:gd name="connsiteY47" fmla="*/ 22040 h 606722"/>
              <a:gd name="connsiteX48" fmla="*/ 303775 w 607639"/>
              <a:gd name="connsiteY48" fmla="*/ 0 h 606722"/>
              <a:gd name="connsiteX49" fmla="*/ 607639 w 607639"/>
              <a:gd name="connsiteY49" fmla="*/ 303317 h 606722"/>
              <a:gd name="connsiteX50" fmla="*/ 303775 w 607639"/>
              <a:gd name="connsiteY50" fmla="*/ 606722 h 606722"/>
              <a:gd name="connsiteX51" fmla="*/ 0 w 607639"/>
              <a:gd name="connsiteY51" fmla="*/ 303317 h 606722"/>
              <a:gd name="connsiteX52" fmla="*/ 303775 w 607639"/>
              <a:gd name="connsiteY5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7639" h="606722">
                <a:moveTo>
                  <a:pt x="452607" y="228844"/>
                </a:moveTo>
                <a:cubicBezTo>
                  <a:pt x="458726" y="228844"/>
                  <a:pt x="463686" y="233772"/>
                  <a:pt x="463686" y="239852"/>
                </a:cubicBezTo>
                <a:cubicBezTo>
                  <a:pt x="463686" y="245932"/>
                  <a:pt x="458726" y="250860"/>
                  <a:pt x="452607" y="250860"/>
                </a:cubicBezTo>
                <a:cubicBezTo>
                  <a:pt x="446488" y="250860"/>
                  <a:pt x="441528" y="245932"/>
                  <a:pt x="441528" y="239852"/>
                </a:cubicBezTo>
                <a:cubicBezTo>
                  <a:pt x="441528" y="233772"/>
                  <a:pt x="446488" y="228844"/>
                  <a:pt x="452607" y="228844"/>
                </a:cubicBezTo>
                <a:close/>
                <a:moveTo>
                  <a:pt x="303775" y="63252"/>
                </a:moveTo>
                <a:cubicBezTo>
                  <a:pt x="171237" y="63252"/>
                  <a:pt x="63356" y="170975"/>
                  <a:pt x="63356" y="303317"/>
                </a:cubicBezTo>
                <a:cubicBezTo>
                  <a:pt x="63356" y="435747"/>
                  <a:pt x="171237" y="543470"/>
                  <a:pt x="303775" y="543470"/>
                </a:cubicBezTo>
                <a:cubicBezTo>
                  <a:pt x="436402" y="543470"/>
                  <a:pt x="544283" y="435747"/>
                  <a:pt x="544283" y="303317"/>
                </a:cubicBezTo>
                <a:cubicBezTo>
                  <a:pt x="544283" y="241101"/>
                  <a:pt x="520428" y="184307"/>
                  <a:pt x="481352" y="141644"/>
                </a:cubicBezTo>
                <a:lnTo>
                  <a:pt x="311608" y="311138"/>
                </a:lnTo>
                <a:cubicBezTo>
                  <a:pt x="309472" y="313271"/>
                  <a:pt x="306623" y="314338"/>
                  <a:pt x="303775" y="314338"/>
                </a:cubicBezTo>
                <a:cubicBezTo>
                  <a:pt x="301016" y="314338"/>
                  <a:pt x="298167" y="313271"/>
                  <a:pt x="296031" y="311138"/>
                </a:cubicBezTo>
                <a:cubicBezTo>
                  <a:pt x="291669" y="306872"/>
                  <a:pt x="291669" y="299850"/>
                  <a:pt x="296031" y="295584"/>
                </a:cubicBezTo>
                <a:lnTo>
                  <a:pt x="335463" y="256121"/>
                </a:lnTo>
                <a:cubicBezTo>
                  <a:pt x="326206" y="249811"/>
                  <a:pt x="315257" y="246522"/>
                  <a:pt x="303775" y="246522"/>
                </a:cubicBezTo>
                <a:cubicBezTo>
                  <a:pt x="272443" y="246522"/>
                  <a:pt x="246897" y="272031"/>
                  <a:pt x="246897" y="303317"/>
                </a:cubicBezTo>
                <a:cubicBezTo>
                  <a:pt x="246897" y="334691"/>
                  <a:pt x="272443" y="360200"/>
                  <a:pt x="303775" y="360200"/>
                </a:cubicBezTo>
                <a:cubicBezTo>
                  <a:pt x="335196" y="360200"/>
                  <a:pt x="360742" y="334691"/>
                  <a:pt x="360742" y="303317"/>
                </a:cubicBezTo>
                <a:cubicBezTo>
                  <a:pt x="360742" y="297273"/>
                  <a:pt x="365727" y="292295"/>
                  <a:pt x="371780" y="292295"/>
                </a:cubicBezTo>
                <a:cubicBezTo>
                  <a:pt x="377921" y="292295"/>
                  <a:pt x="382817" y="297273"/>
                  <a:pt x="382817" y="303317"/>
                </a:cubicBezTo>
                <a:cubicBezTo>
                  <a:pt x="382817" y="346868"/>
                  <a:pt x="347390" y="382242"/>
                  <a:pt x="303775" y="382242"/>
                </a:cubicBezTo>
                <a:cubicBezTo>
                  <a:pt x="260249" y="382242"/>
                  <a:pt x="224733" y="346868"/>
                  <a:pt x="224733" y="303317"/>
                </a:cubicBezTo>
                <a:cubicBezTo>
                  <a:pt x="224733" y="259854"/>
                  <a:pt x="260249" y="224391"/>
                  <a:pt x="303775" y="224391"/>
                </a:cubicBezTo>
                <a:cubicBezTo>
                  <a:pt x="321221" y="224391"/>
                  <a:pt x="337688" y="229991"/>
                  <a:pt x="351307" y="240301"/>
                </a:cubicBezTo>
                <a:lnTo>
                  <a:pt x="406672" y="185018"/>
                </a:lnTo>
                <a:cubicBezTo>
                  <a:pt x="378099" y="160220"/>
                  <a:pt x="342050" y="146621"/>
                  <a:pt x="303775" y="146621"/>
                </a:cubicBezTo>
                <a:cubicBezTo>
                  <a:pt x="217256" y="146621"/>
                  <a:pt x="146848" y="216925"/>
                  <a:pt x="146848" y="303317"/>
                </a:cubicBezTo>
                <a:cubicBezTo>
                  <a:pt x="146848" y="389708"/>
                  <a:pt x="217256" y="460012"/>
                  <a:pt x="303775" y="460012"/>
                </a:cubicBezTo>
                <a:cubicBezTo>
                  <a:pt x="390294" y="460012"/>
                  <a:pt x="460702" y="389708"/>
                  <a:pt x="460702" y="303317"/>
                </a:cubicBezTo>
                <a:cubicBezTo>
                  <a:pt x="460702" y="297273"/>
                  <a:pt x="465686" y="292295"/>
                  <a:pt x="471739" y="292295"/>
                </a:cubicBezTo>
                <a:cubicBezTo>
                  <a:pt x="477881" y="292295"/>
                  <a:pt x="482866" y="297273"/>
                  <a:pt x="482866" y="303317"/>
                </a:cubicBezTo>
                <a:cubicBezTo>
                  <a:pt x="482866" y="401884"/>
                  <a:pt x="402488" y="482143"/>
                  <a:pt x="303775" y="482143"/>
                </a:cubicBezTo>
                <a:cubicBezTo>
                  <a:pt x="205062" y="482143"/>
                  <a:pt x="124773" y="401884"/>
                  <a:pt x="124773" y="303317"/>
                </a:cubicBezTo>
                <a:cubicBezTo>
                  <a:pt x="124773" y="204749"/>
                  <a:pt x="205062" y="124579"/>
                  <a:pt x="303775" y="124579"/>
                </a:cubicBezTo>
                <a:cubicBezTo>
                  <a:pt x="347925" y="124579"/>
                  <a:pt x="389582" y="140400"/>
                  <a:pt x="422338" y="169375"/>
                </a:cubicBezTo>
                <a:lnTo>
                  <a:pt x="465775" y="126001"/>
                </a:lnTo>
                <a:cubicBezTo>
                  <a:pt x="422961" y="87072"/>
                  <a:pt x="366172" y="63252"/>
                  <a:pt x="303775" y="63252"/>
                </a:cubicBezTo>
                <a:close/>
                <a:moveTo>
                  <a:pt x="303775" y="41210"/>
                </a:moveTo>
                <a:cubicBezTo>
                  <a:pt x="448596" y="41210"/>
                  <a:pt x="566358" y="158798"/>
                  <a:pt x="566358" y="303317"/>
                </a:cubicBezTo>
                <a:cubicBezTo>
                  <a:pt x="566358" y="447924"/>
                  <a:pt x="448596" y="565512"/>
                  <a:pt x="303775" y="565512"/>
                </a:cubicBezTo>
                <a:cubicBezTo>
                  <a:pt x="159043" y="565512"/>
                  <a:pt x="41281" y="447924"/>
                  <a:pt x="41281" y="303317"/>
                </a:cubicBezTo>
                <a:cubicBezTo>
                  <a:pt x="41281" y="158798"/>
                  <a:pt x="159043" y="41210"/>
                  <a:pt x="303775" y="41210"/>
                </a:cubicBezTo>
                <a:close/>
                <a:moveTo>
                  <a:pt x="303775" y="22040"/>
                </a:moveTo>
                <a:cubicBezTo>
                  <a:pt x="148461" y="22040"/>
                  <a:pt x="22073" y="148237"/>
                  <a:pt x="22073" y="303317"/>
                </a:cubicBezTo>
                <a:cubicBezTo>
                  <a:pt x="22073" y="458485"/>
                  <a:pt x="148461" y="584593"/>
                  <a:pt x="303775" y="584593"/>
                </a:cubicBezTo>
                <a:cubicBezTo>
                  <a:pt x="459178" y="584593"/>
                  <a:pt x="585477" y="458485"/>
                  <a:pt x="585477" y="303317"/>
                </a:cubicBezTo>
                <a:cubicBezTo>
                  <a:pt x="585477" y="148237"/>
                  <a:pt x="459178" y="22040"/>
                  <a:pt x="303775" y="22040"/>
                </a:cubicBezTo>
                <a:close/>
                <a:moveTo>
                  <a:pt x="303775" y="0"/>
                </a:moveTo>
                <a:cubicBezTo>
                  <a:pt x="471283" y="0"/>
                  <a:pt x="607639" y="136061"/>
                  <a:pt x="607639" y="303317"/>
                </a:cubicBezTo>
                <a:cubicBezTo>
                  <a:pt x="607639" y="470572"/>
                  <a:pt x="471283" y="606722"/>
                  <a:pt x="303775" y="606722"/>
                </a:cubicBezTo>
                <a:cubicBezTo>
                  <a:pt x="136267" y="606722"/>
                  <a:pt x="0" y="470572"/>
                  <a:pt x="0" y="303317"/>
                </a:cubicBezTo>
                <a:cubicBezTo>
                  <a:pt x="0" y="136061"/>
                  <a:pt x="136267" y="0"/>
                  <a:pt x="3037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effectLst/>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p:nvPr>
            <p:custDataLst>
              <p:tags r:id="rId1"/>
            </p:custDataLst>
          </p:nvPr>
        </p:nvSpPr>
        <p:spPr>
          <a:xfrm rot="16200000">
            <a:off x="1691005" y="479425"/>
            <a:ext cx="3989705" cy="6378575"/>
          </a:xfrm>
          <a:prstGeom prst="round2SameRect">
            <a:avLst>
              <a:gd name="adj1" fmla="val 4727"/>
              <a:gd name="adj2" fmla="val 0"/>
            </a:avLst>
          </a:prstGeom>
          <a:solidFill>
            <a:schemeClr val="bg1">
              <a:lumMod val="85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27" name="圆角矩形 18"/>
          <p:cNvSpPr/>
          <p:nvPr>
            <p:custDataLst>
              <p:tags r:id="rId2"/>
            </p:custDataLst>
          </p:nvPr>
        </p:nvSpPr>
        <p:spPr>
          <a:xfrm>
            <a:off x="6836410" y="1110615"/>
            <a:ext cx="4820920" cy="5029200"/>
          </a:xfrm>
          <a:prstGeom prst="roundRect">
            <a:avLst>
              <a:gd name="adj" fmla="val 3543"/>
            </a:avLst>
          </a:prstGeom>
          <a:solidFill>
            <a:schemeClr val="bg1">
              <a:alpha val="50000"/>
            </a:schemeClr>
          </a:solidFill>
          <a:ln w="19050">
            <a:gradFill>
              <a:gsLst>
                <a:gs pos="0">
                  <a:schemeClr val="accent4"/>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2" name="Title 3"/>
          <p:cNvSpPr txBox="1"/>
          <p:nvPr/>
        </p:nvSpPr>
        <p:spPr>
          <a:xfrm>
            <a:off x="149913" y="219070"/>
            <a:ext cx="678815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第一步：全球商品需求是什么？</a:t>
            </a:r>
          </a:p>
        </p:txBody>
      </p:sp>
      <p:sp>
        <p:nvSpPr>
          <p:cNvPr id="11" name="文本占位符 1"/>
          <p:cNvSpPr>
            <a:spLocks noGrp="1"/>
          </p:cNvSpPr>
          <p:nvPr>
            <p:custDataLst>
              <p:tags r:id="rId3"/>
            </p:custDataLst>
          </p:nvPr>
        </p:nvSpPr>
        <p:spPr>
          <a:xfrm>
            <a:off x="709930" y="2724150"/>
            <a:ext cx="5890895" cy="2773680"/>
          </a:xfrm>
        </p:spPr>
        <p:txBody>
          <a:bodyPr anchor="ctr"/>
          <a:lstStyle>
            <a:lvl1pPr marL="0" marR="0" indent="-317500" algn="just" defTabSz="412750" rtl="0" latinLnBrk="0">
              <a:lnSpc>
                <a:spcPct val="100000"/>
              </a:lnSpc>
              <a:spcBef>
                <a:spcPts val="0"/>
              </a:spcBef>
              <a:spcAft>
                <a:spcPts val="0"/>
              </a:spcAft>
              <a:buClrTx/>
              <a:buSzPct val="125000"/>
              <a:buFontTx/>
              <a:buNone/>
              <a:defRPr sz="2000" b="0" i="0" u="none" strike="noStrike" cap="none" spc="0" baseline="0">
                <a:solidFill>
                  <a:srgbClr val="000000"/>
                </a:solidFill>
                <a:uFillTx/>
                <a:latin typeface="Helvetica Neue"/>
                <a:ea typeface="Helvetica Neue"/>
                <a:cs typeface="Helvetica Neue"/>
                <a:sym typeface="Helvetica Neue"/>
              </a:defRPr>
            </a:lvl1pPr>
            <a:lvl2pPr marL="635000" marR="0" indent="-317500" algn="l" defTabSz="412750" rtl="0" latinLnBrk="0">
              <a:lnSpc>
                <a:spcPct val="100000"/>
              </a:lnSpc>
              <a:spcBef>
                <a:spcPts val="2950"/>
              </a:spcBef>
              <a:spcAft>
                <a:spcPts val="0"/>
              </a:spcAft>
              <a:buClrTx/>
              <a:buSzPct val="125000"/>
              <a:buFontTx/>
              <a:buNone/>
              <a:defRPr sz="2400" b="0" i="0" u="none" strike="noStrike" cap="none" spc="0" baseline="0">
                <a:solidFill>
                  <a:srgbClr val="000000"/>
                </a:solidFill>
                <a:uFillTx/>
                <a:latin typeface="Helvetica Neue"/>
                <a:ea typeface="Helvetica Neue"/>
                <a:cs typeface="Helvetica Neue"/>
                <a:sym typeface="Helvetica Neue"/>
              </a:defRPr>
            </a:lvl2pPr>
            <a:lvl3pPr marL="952500" marR="0" indent="-317500" algn="l" defTabSz="412750" rtl="0" latinLnBrk="0">
              <a:lnSpc>
                <a:spcPct val="100000"/>
              </a:lnSpc>
              <a:spcBef>
                <a:spcPts val="2950"/>
              </a:spcBef>
              <a:spcAft>
                <a:spcPts val="0"/>
              </a:spcAft>
              <a:buClrTx/>
              <a:buSzPct val="125000"/>
              <a:buFontTx/>
              <a:buNone/>
              <a:defRPr sz="2400" b="0" i="0" u="none" strike="noStrike" cap="none" spc="0" baseline="0">
                <a:solidFill>
                  <a:srgbClr val="000000"/>
                </a:solidFill>
                <a:uFillTx/>
                <a:latin typeface="Helvetica Neue"/>
                <a:ea typeface="Helvetica Neue"/>
                <a:cs typeface="Helvetica Neue"/>
                <a:sym typeface="Helvetica Neue"/>
              </a:defRPr>
            </a:lvl3pPr>
            <a:lvl4pPr marL="1270000" marR="0" indent="-317500" algn="l" defTabSz="412750" rtl="0" latinLnBrk="0">
              <a:lnSpc>
                <a:spcPct val="100000"/>
              </a:lnSpc>
              <a:spcBef>
                <a:spcPts val="2950"/>
              </a:spcBef>
              <a:spcAft>
                <a:spcPts val="0"/>
              </a:spcAft>
              <a:buClrTx/>
              <a:buSzPct val="125000"/>
              <a:buFontTx/>
              <a:buNone/>
              <a:defRPr sz="2400" b="0" i="0" u="none" strike="noStrike" cap="none" spc="0" baseline="0">
                <a:solidFill>
                  <a:srgbClr val="000000"/>
                </a:solidFill>
                <a:uFillTx/>
                <a:latin typeface="Helvetica Neue"/>
                <a:ea typeface="Helvetica Neue"/>
                <a:cs typeface="Helvetica Neue"/>
                <a:sym typeface="Helvetica Neue"/>
              </a:defRPr>
            </a:lvl4pPr>
            <a:lvl5pPr marL="1587500" marR="0" indent="-317500" algn="l" defTabSz="412750" rtl="0" latinLnBrk="0">
              <a:lnSpc>
                <a:spcPct val="100000"/>
              </a:lnSpc>
              <a:spcBef>
                <a:spcPts val="2950"/>
              </a:spcBef>
              <a:spcAft>
                <a:spcPts val="0"/>
              </a:spcAft>
              <a:buClrTx/>
              <a:buSzPct val="125000"/>
              <a:buFontTx/>
              <a:buNone/>
              <a:defRPr sz="2400" b="0" i="0" u="none" strike="noStrike" cap="none" spc="0" baseline="0">
                <a:solidFill>
                  <a:srgbClr val="000000"/>
                </a:solidFill>
                <a:uFillTx/>
                <a:latin typeface="Helvetica Neue"/>
                <a:ea typeface="Helvetica Neue"/>
                <a:cs typeface="Helvetica Neue"/>
                <a:sym typeface="Helvetica Neue"/>
              </a:defRPr>
            </a:lvl5pPr>
            <a:lvl6pPr marL="1905000" marR="0" indent="-317500" algn="l" defTabSz="412750" rtl="0" latinLnBrk="0">
              <a:lnSpc>
                <a:spcPct val="100000"/>
              </a:lnSpc>
              <a:spcBef>
                <a:spcPts val="2950"/>
              </a:spcBef>
              <a:spcAft>
                <a:spcPts val="0"/>
              </a:spcAft>
              <a:buClrTx/>
              <a:buSzPct val="125000"/>
              <a:buFontTx/>
              <a:buChar char="•"/>
              <a:defRPr sz="2400" b="0" i="0" u="none" strike="noStrike" cap="none" spc="0" baseline="0">
                <a:solidFill>
                  <a:srgbClr val="000000"/>
                </a:solidFill>
                <a:uFillTx/>
                <a:latin typeface="Helvetica Neue"/>
                <a:ea typeface="Helvetica Neue"/>
                <a:cs typeface="Helvetica Neue"/>
                <a:sym typeface="Helvetica Neue"/>
              </a:defRPr>
            </a:lvl6pPr>
            <a:lvl7pPr marL="2222500" marR="0" indent="-317500" algn="l" defTabSz="412750" rtl="0" latinLnBrk="0">
              <a:lnSpc>
                <a:spcPct val="100000"/>
              </a:lnSpc>
              <a:spcBef>
                <a:spcPts val="2950"/>
              </a:spcBef>
              <a:spcAft>
                <a:spcPts val="0"/>
              </a:spcAft>
              <a:buClrTx/>
              <a:buSzPct val="125000"/>
              <a:buFontTx/>
              <a:buChar char="•"/>
              <a:defRPr sz="2400" b="0" i="0" u="none" strike="noStrike" cap="none" spc="0" baseline="0">
                <a:solidFill>
                  <a:srgbClr val="000000"/>
                </a:solidFill>
                <a:uFillTx/>
                <a:latin typeface="Helvetica Neue"/>
                <a:ea typeface="Helvetica Neue"/>
                <a:cs typeface="Helvetica Neue"/>
                <a:sym typeface="Helvetica Neue"/>
              </a:defRPr>
            </a:lvl7pPr>
            <a:lvl8pPr marL="2540000" marR="0" indent="-317500" algn="l" defTabSz="412750" rtl="0" latinLnBrk="0">
              <a:lnSpc>
                <a:spcPct val="100000"/>
              </a:lnSpc>
              <a:spcBef>
                <a:spcPts val="2950"/>
              </a:spcBef>
              <a:spcAft>
                <a:spcPts val="0"/>
              </a:spcAft>
              <a:buClrTx/>
              <a:buSzPct val="125000"/>
              <a:buFontTx/>
              <a:buChar char="•"/>
              <a:defRPr sz="2400" b="0" i="0" u="none" strike="noStrike" cap="none" spc="0" baseline="0">
                <a:solidFill>
                  <a:srgbClr val="000000"/>
                </a:solidFill>
                <a:uFillTx/>
                <a:latin typeface="Helvetica Neue"/>
                <a:ea typeface="Helvetica Neue"/>
                <a:cs typeface="Helvetica Neue"/>
                <a:sym typeface="Helvetica Neue"/>
              </a:defRPr>
            </a:lvl8pPr>
            <a:lvl9pPr marL="2857500" marR="0" indent="-317500" algn="l" defTabSz="412750" rtl="0" latinLnBrk="0">
              <a:lnSpc>
                <a:spcPct val="100000"/>
              </a:lnSpc>
              <a:spcBef>
                <a:spcPts val="2950"/>
              </a:spcBef>
              <a:spcAft>
                <a:spcPts val="0"/>
              </a:spcAft>
              <a:buClrTx/>
              <a:buSzPct val="125000"/>
              <a:buFontTx/>
              <a:buChar char="•"/>
              <a:defRPr sz="2400" b="0" i="0" u="none" strike="noStrike" cap="none" spc="0" baseline="0">
                <a:solidFill>
                  <a:srgbClr val="000000"/>
                </a:solidFill>
                <a:uFillTx/>
                <a:latin typeface="Helvetica Neue"/>
                <a:ea typeface="Helvetica Neue"/>
                <a:cs typeface="Helvetica Neue"/>
                <a:sym typeface="Helvetica Neue"/>
              </a:defRPr>
            </a:lvl9pPr>
          </a:lstStyle>
          <a:p>
            <a:pPr fontAlgn="auto">
              <a:lnSpc>
                <a:spcPct val="150000"/>
              </a:lnSpc>
              <a:spcAft>
                <a:spcPts val="1200"/>
              </a:spcAft>
            </a:pPr>
            <a:r>
              <a:rPr lang="zh-CN" altLang="en-US" sz="16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思源黑体 Light" panose="020B0300000000000000" charset="-122"/>
              </a:rPr>
              <a:t>全球商品需求为美国站的卖家开放，该工具从卖家已在美国上架的商品</a:t>
            </a:r>
            <a:r>
              <a:rPr lang="en-US" altLang="zh-CN" sz="16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思源黑体 Light" panose="020B0300000000000000" charset="-122"/>
              </a:rPr>
              <a:t>ASIN</a:t>
            </a:r>
            <a:r>
              <a:rPr lang="zh-CN" altLang="en-US" sz="16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思源黑体 Light" panose="020B0300000000000000" charset="-122"/>
              </a:rPr>
              <a:t>中挑选并推荐在英国，德国，法国，意大利，西班牙和日本有高需求量的产品。</a:t>
            </a:r>
            <a:endParaRPr lang="en-US" altLang="zh-CN" sz="16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思源黑体 Light" panose="020B0300000000000000" charset="-122"/>
            </a:endParaRPr>
          </a:p>
          <a:p>
            <a:pPr fontAlgn="auto">
              <a:lnSpc>
                <a:spcPct val="150000"/>
              </a:lnSpc>
              <a:spcAft>
                <a:spcPts val="1200"/>
              </a:spcAft>
            </a:pPr>
            <a:r>
              <a:rPr lang="zh-CN" altLang="en-US" sz="1600" b="1"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思源黑体 Light" panose="020B0300000000000000" charset="-122"/>
              </a:rPr>
              <a:t>亚马逊会根据卖家的美国商品目录确定高潜力商品清单（您过去的销售绩效），再结合目的国的需求信号评估</a:t>
            </a:r>
            <a:r>
              <a:rPr lang="en-US" altLang="zh-CN" sz="1600" b="1"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思源黑体 Light" panose="020B0300000000000000" charset="-122"/>
              </a:rPr>
              <a:t>150</a:t>
            </a:r>
            <a:r>
              <a:rPr lang="zh-CN" altLang="en-US" sz="1600" b="1"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思源黑体 Light" panose="020B0300000000000000" charset="-122"/>
              </a:rPr>
              <a:t>个属性（如浏览量、搜索趋势）</a:t>
            </a:r>
            <a:r>
              <a:rPr lang="zh-CN" altLang="en-US" sz="16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思源黑体 Light" panose="020B0300000000000000" charset="-122"/>
              </a:rPr>
              <a:t>，为卖家提供量身定制的建议，真正实现</a:t>
            </a:r>
            <a:r>
              <a:rPr lang="zh-CN" altLang="en-US" sz="1600" dirty="0">
                <a:solidFill>
                  <a:srgbClr val="F89104"/>
                </a:solidFill>
                <a:latin typeface="微软雅黑" panose="020B0503020204020204" pitchFamily="34" charset="-122"/>
                <a:ea typeface="微软雅黑" panose="020B0503020204020204" pitchFamily="34" charset="-122"/>
                <a:cs typeface="思源黑体 Regular" panose="020B0500000000000000" charset="-122"/>
                <a:sym typeface="思源黑体 Light" panose="020B0300000000000000" charset="-122"/>
              </a:rPr>
              <a:t>好品全球上架</a:t>
            </a:r>
            <a:r>
              <a:rPr lang="zh-CN" altLang="en-US" sz="1600" dirty="0">
                <a:solidFill>
                  <a:schemeClr val="tx1"/>
                </a:solidFill>
                <a:latin typeface="微软雅黑" panose="020B0503020204020204" pitchFamily="34" charset="-122"/>
                <a:ea typeface="微软雅黑" panose="020B0503020204020204" pitchFamily="34" charset="-122"/>
                <a:cs typeface="思源黑体 Regular" panose="020B0500000000000000" charset="-122"/>
                <a:sym typeface="思源黑体 Light" panose="020B0300000000000000" charset="-122"/>
              </a:rPr>
              <a:t>。</a:t>
            </a:r>
          </a:p>
        </p:txBody>
      </p:sp>
      <p:grpSp>
        <p:nvGrpSpPr>
          <p:cNvPr id="3" name="组合 2"/>
          <p:cNvGrpSpPr/>
          <p:nvPr/>
        </p:nvGrpSpPr>
        <p:grpSpPr>
          <a:xfrm>
            <a:off x="7121525" y="1387475"/>
            <a:ext cx="4335780" cy="4585335"/>
            <a:chOff x="11215" y="1710"/>
            <a:chExt cx="7278" cy="7696"/>
          </a:xfrm>
        </p:grpSpPr>
        <p:pic>
          <p:nvPicPr>
            <p:cNvPr id="4" name="Picture 3"/>
            <p:cNvPicPr>
              <a:picLocks noChangeAspect="1"/>
            </p:cNvPicPr>
            <p:nvPr>
              <p:custDataLst>
                <p:tags r:id="rId5"/>
              </p:custDataLst>
            </p:nvPr>
          </p:nvPicPr>
          <p:blipFill>
            <a:blip r:embed="rId8"/>
            <a:stretch>
              <a:fillRect/>
            </a:stretch>
          </p:blipFill>
          <p:spPr>
            <a:xfrm>
              <a:off x="11215" y="1710"/>
              <a:ext cx="7278" cy="7697"/>
            </a:xfrm>
            <a:prstGeom prst="rect">
              <a:avLst/>
            </a:prstGeom>
          </p:spPr>
        </p:pic>
        <p:sp>
          <p:nvSpPr>
            <p:cNvPr id="15" name="Rectangle 14"/>
            <p:cNvSpPr/>
            <p:nvPr>
              <p:custDataLst>
                <p:tags r:id="rId6"/>
              </p:custDataLst>
            </p:nvPr>
          </p:nvSpPr>
          <p:spPr>
            <a:xfrm>
              <a:off x="11215" y="1711"/>
              <a:ext cx="3526" cy="3690"/>
            </a:xfrm>
            <a:prstGeom prst="rect">
              <a:avLst/>
            </a:prstGeom>
            <a:noFill/>
            <a:ln w="44450">
              <a:solidFill>
                <a:srgbClr val="FF99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sp>
        <p:nvSpPr>
          <p:cNvPr id="181" name="Freeform 12"/>
          <p:cNvSpPr>
            <a:spLocks noEditPoints="1"/>
          </p:cNvSpPr>
          <p:nvPr/>
        </p:nvSpPr>
        <p:spPr bwMode="auto">
          <a:xfrm>
            <a:off x="844550" y="1855470"/>
            <a:ext cx="684530" cy="684530"/>
          </a:xfrm>
          <a:custGeom>
            <a:avLst/>
            <a:gdLst>
              <a:gd name="T0" fmla="*/ 473 w 548"/>
              <a:gd name="T1" fmla="*/ 86 h 548"/>
              <a:gd name="T2" fmla="*/ 468 w 548"/>
              <a:gd name="T3" fmla="*/ 82 h 548"/>
              <a:gd name="T4" fmla="*/ 464 w 548"/>
              <a:gd name="T5" fmla="*/ 77 h 548"/>
              <a:gd name="T6" fmla="*/ 458 w 548"/>
              <a:gd name="T7" fmla="*/ 73 h 548"/>
              <a:gd name="T8" fmla="*/ 90 w 548"/>
              <a:gd name="T9" fmla="*/ 73 h 548"/>
              <a:gd name="T10" fmla="*/ 86 w 548"/>
              <a:gd name="T11" fmla="*/ 77 h 548"/>
              <a:gd name="T12" fmla="*/ 81 w 548"/>
              <a:gd name="T13" fmla="*/ 82 h 548"/>
              <a:gd name="T14" fmla="*/ 75 w 548"/>
              <a:gd name="T15" fmla="*/ 86 h 548"/>
              <a:gd name="T16" fmla="*/ 0 w 548"/>
              <a:gd name="T17" fmla="*/ 273 h 548"/>
              <a:gd name="T18" fmla="*/ 90 w 548"/>
              <a:gd name="T19" fmla="*/ 476 h 548"/>
              <a:gd name="T20" fmla="*/ 458 w 548"/>
              <a:gd name="T21" fmla="*/ 476 h 548"/>
              <a:gd name="T22" fmla="*/ 548 w 548"/>
              <a:gd name="T23" fmla="*/ 273 h 548"/>
              <a:gd name="T24" fmla="*/ 229 w 548"/>
              <a:gd name="T25" fmla="*/ 37 h 548"/>
              <a:gd name="T26" fmla="*/ 112 w 548"/>
              <a:gd name="T27" fmla="*/ 95 h 548"/>
              <a:gd name="T28" fmla="*/ 90 w 548"/>
              <a:gd name="T29" fmla="*/ 118 h 548"/>
              <a:gd name="T30" fmla="*/ 120 w 548"/>
              <a:gd name="T31" fmla="*/ 259 h 548"/>
              <a:gd name="T32" fmla="*/ 90 w 548"/>
              <a:gd name="T33" fmla="*/ 118 h 548"/>
              <a:gd name="T34" fmla="*/ 120 w 548"/>
              <a:gd name="T35" fmla="*/ 290 h 548"/>
              <a:gd name="T36" fmla="*/ 90 w 548"/>
              <a:gd name="T37" fmla="*/ 430 h 548"/>
              <a:gd name="T38" fmla="*/ 112 w 548"/>
              <a:gd name="T39" fmla="*/ 454 h 548"/>
              <a:gd name="T40" fmla="*/ 229 w 548"/>
              <a:gd name="T41" fmla="*/ 511 h 548"/>
              <a:gd name="T42" fmla="*/ 259 w 548"/>
              <a:gd name="T43" fmla="*/ 493 h 548"/>
              <a:gd name="T44" fmla="*/ 217 w 548"/>
              <a:gd name="T45" fmla="*/ 456 h 548"/>
              <a:gd name="T46" fmla="*/ 185 w 548"/>
              <a:gd name="T47" fmla="*/ 408 h 548"/>
              <a:gd name="T48" fmla="*/ 259 w 548"/>
              <a:gd name="T49" fmla="*/ 493 h 548"/>
              <a:gd name="T50" fmla="*/ 171 w 548"/>
              <a:gd name="T51" fmla="*/ 378 h 548"/>
              <a:gd name="T52" fmla="*/ 154 w 548"/>
              <a:gd name="T53" fmla="*/ 315 h 548"/>
              <a:gd name="T54" fmla="*/ 259 w 548"/>
              <a:gd name="T55" fmla="*/ 290 h 548"/>
              <a:gd name="T56" fmla="*/ 259 w 548"/>
              <a:gd name="T57" fmla="*/ 259 h 548"/>
              <a:gd name="T58" fmla="*/ 154 w 548"/>
              <a:gd name="T59" fmla="*/ 232 h 548"/>
              <a:gd name="T60" fmla="*/ 171 w 548"/>
              <a:gd name="T61" fmla="*/ 170 h 548"/>
              <a:gd name="T62" fmla="*/ 259 w 548"/>
              <a:gd name="T63" fmla="*/ 259 h 548"/>
              <a:gd name="T64" fmla="*/ 185 w 548"/>
              <a:gd name="T65" fmla="*/ 141 h 548"/>
              <a:gd name="T66" fmla="*/ 217 w 548"/>
              <a:gd name="T67" fmla="*/ 92 h 548"/>
              <a:gd name="T68" fmla="*/ 259 w 548"/>
              <a:gd name="T69" fmla="*/ 53 h 548"/>
              <a:gd name="T70" fmla="*/ 515 w 548"/>
              <a:gd name="T71" fmla="*/ 259 h 548"/>
              <a:gd name="T72" fmla="*/ 406 w 548"/>
              <a:gd name="T73" fmla="*/ 155 h 548"/>
              <a:gd name="T74" fmla="*/ 515 w 548"/>
              <a:gd name="T75" fmla="*/ 259 h 548"/>
              <a:gd name="T76" fmla="*/ 393 w 548"/>
              <a:gd name="T77" fmla="*/ 127 h 548"/>
              <a:gd name="T78" fmla="*/ 436 w 548"/>
              <a:gd name="T79" fmla="*/ 95 h 548"/>
              <a:gd name="T80" fmla="*/ 304 w 548"/>
              <a:gd name="T81" fmla="*/ 65 h 548"/>
              <a:gd name="T82" fmla="*/ 353 w 548"/>
              <a:gd name="T83" fmla="*/ 123 h 548"/>
              <a:gd name="T84" fmla="*/ 289 w 548"/>
              <a:gd name="T85" fmla="*/ 157 h 548"/>
              <a:gd name="T86" fmla="*/ 289 w 548"/>
              <a:gd name="T87" fmla="*/ 189 h 548"/>
              <a:gd name="T88" fmla="*/ 385 w 548"/>
              <a:gd name="T89" fmla="*/ 194 h 548"/>
              <a:gd name="T90" fmla="*/ 397 w 548"/>
              <a:gd name="T91" fmla="*/ 259 h 548"/>
              <a:gd name="T92" fmla="*/ 289 w 548"/>
              <a:gd name="T93" fmla="*/ 189 h 548"/>
              <a:gd name="T94" fmla="*/ 397 w 548"/>
              <a:gd name="T95" fmla="*/ 290 h 548"/>
              <a:gd name="T96" fmla="*/ 385 w 548"/>
              <a:gd name="T97" fmla="*/ 355 h 548"/>
              <a:gd name="T98" fmla="*/ 289 w 548"/>
              <a:gd name="T99" fmla="*/ 359 h 548"/>
              <a:gd name="T100" fmla="*/ 289 w 548"/>
              <a:gd name="T101" fmla="*/ 493 h 548"/>
              <a:gd name="T102" fmla="*/ 363 w 548"/>
              <a:gd name="T103" fmla="*/ 408 h 548"/>
              <a:gd name="T104" fmla="*/ 331 w 548"/>
              <a:gd name="T105" fmla="*/ 456 h 548"/>
              <a:gd name="T106" fmla="*/ 289 w 548"/>
              <a:gd name="T107" fmla="*/ 493 h 548"/>
              <a:gd name="T108" fmla="*/ 393 w 548"/>
              <a:gd name="T109" fmla="*/ 421 h 548"/>
              <a:gd name="T110" fmla="*/ 319 w 548"/>
              <a:gd name="T111" fmla="*/ 511 h 548"/>
              <a:gd name="T112" fmla="*/ 406 w 548"/>
              <a:gd name="T113" fmla="*/ 392 h 548"/>
              <a:gd name="T114" fmla="*/ 515 w 548"/>
              <a:gd name="T115" fmla="*/ 290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8" h="548">
                <a:moveTo>
                  <a:pt x="481" y="95"/>
                </a:moveTo>
                <a:cubicBezTo>
                  <a:pt x="478" y="92"/>
                  <a:pt x="475" y="89"/>
                  <a:pt x="473" y="86"/>
                </a:cubicBezTo>
                <a:cubicBezTo>
                  <a:pt x="473" y="86"/>
                  <a:pt x="473" y="86"/>
                  <a:pt x="471" y="84"/>
                </a:cubicBezTo>
                <a:cubicBezTo>
                  <a:pt x="471" y="83"/>
                  <a:pt x="470" y="83"/>
                  <a:pt x="468" y="82"/>
                </a:cubicBezTo>
                <a:cubicBezTo>
                  <a:pt x="468" y="82"/>
                  <a:pt x="468" y="80"/>
                  <a:pt x="467" y="80"/>
                </a:cubicBezTo>
                <a:cubicBezTo>
                  <a:pt x="467" y="79"/>
                  <a:pt x="465" y="77"/>
                  <a:pt x="464" y="77"/>
                </a:cubicBezTo>
                <a:cubicBezTo>
                  <a:pt x="462" y="76"/>
                  <a:pt x="462" y="76"/>
                  <a:pt x="462" y="76"/>
                </a:cubicBezTo>
                <a:cubicBezTo>
                  <a:pt x="461" y="74"/>
                  <a:pt x="459" y="73"/>
                  <a:pt x="458" y="73"/>
                </a:cubicBezTo>
                <a:cubicBezTo>
                  <a:pt x="411" y="27"/>
                  <a:pt x="346" y="0"/>
                  <a:pt x="275" y="0"/>
                </a:cubicBezTo>
                <a:cubicBezTo>
                  <a:pt x="204" y="0"/>
                  <a:pt x="139" y="27"/>
                  <a:pt x="90" y="73"/>
                </a:cubicBezTo>
                <a:cubicBezTo>
                  <a:pt x="89" y="73"/>
                  <a:pt x="87" y="74"/>
                  <a:pt x="86" y="76"/>
                </a:cubicBezTo>
                <a:cubicBezTo>
                  <a:pt x="86" y="76"/>
                  <a:pt x="86" y="76"/>
                  <a:pt x="86" y="77"/>
                </a:cubicBezTo>
                <a:cubicBezTo>
                  <a:pt x="84" y="77"/>
                  <a:pt x="83" y="79"/>
                  <a:pt x="81" y="80"/>
                </a:cubicBezTo>
                <a:cubicBezTo>
                  <a:pt x="81" y="82"/>
                  <a:pt x="81" y="82"/>
                  <a:pt x="81" y="82"/>
                </a:cubicBezTo>
                <a:cubicBezTo>
                  <a:pt x="80" y="83"/>
                  <a:pt x="78" y="83"/>
                  <a:pt x="77" y="84"/>
                </a:cubicBezTo>
                <a:cubicBezTo>
                  <a:pt x="77" y="86"/>
                  <a:pt x="77" y="86"/>
                  <a:pt x="75" y="86"/>
                </a:cubicBezTo>
                <a:cubicBezTo>
                  <a:pt x="74" y="89"/>
                  <a:pt x="71" y="92"/>
                  <a:pt x="68" y="95"/>
                </a:cubicBezTo>
                <a:cubicBezTo>
                  <a:pt x="25" y="144"/>
                  <a:pt x="0" y="206"/>
                  <a:pt x="0" y="273"/>
                </a:cubicBezTo>
                <a:cubicBezTo>
                  <a:pt x="0" y="343"/>
                  <a:pt x="25" y="405"/>
                  <a:pt x="68" y="454"/>
                </a:cubicBezTo>
                <a:cubicBezTo>
                  <a:pt x="74" y="461"/>
                  <a:pt x="83" y="468"/>
                  <a:pt x="90" y="476"/>
                </a:cubicBezTo>
                <a:cubicBezTo>
                  <a:pt x="139" y="520"/>
                  <a:pt x="204" y="548"/>
                  <a:pt x="275" y="548"/>
                </a:cubicBezTo>
                <a:cubicBezTo>
                  <a:pt x="346" y="548"/>
                  <a:pt x="409" y="520"/>
                  <a:pt x="458" y="476"/>
                </a:cubicBezTo>
                <a:cubicBezTo>
                  <a:pt x="467" y="468"/>
                  <a:pt x="474" y="461"/>
                  <a:pt x="481" y="454"/>
                </a:cubicBezTo>
                <a:cubicBezTo>
                  <a:pt x="523" y="405"/>
                  <a:pt x="548" y="343"/>
                  <a:pt x="548" y="273"/>
                </a:cubicBezTo>
                <a:cubicBezTo>
                  <a:pt x="548" y="206"/>
                  <a:pt x="523" y="144"/>
                  <a:pt x="481" y="95"/>
                </a:cubicBezTo>
                <a:close/>
                <a:moveTo>
                  <a:pt x="229" y="37"/>
                </a:moveTo>
                <a:cubicBezTo>
                  <a:pt x="199" y="61"/>
                  <a:pt x="174" y="92"/>
                  <a:pt x="157" y="127"/>
                </a:cubicBezTo>
                <a:cubicBezTo>
                  <a:pt x="140" y="118"/>
                  <a:pt x="126" y="107"/>
                  <a:pt x="112" y="95"/>
                </a:cubicBezTo>
                <a:cubicBezTo>
                  <a:pt x="145" y="65"/>
                  <a:pt x="185" y="45"/>
                  <a:pt x="229" y="37"/>
                </a:cubicBezTo>
                <a:close/>
                <a:moveTo>
                  <a:pt x="90" y="118"/>
                </a:moveTo>
                <a:cubicBezTo>
                  <a:pt x="106" y="133"/>
                  <a:pt x="124" y="145"/>
                  <a:pt x="142" y="155"/>
                </a:cubicBezTo>
                <a:cubicBezTo>
                  <a:pt x="130" y="188"/>
                  <a:pt x="121" y="222"/>
                  <a:pt x="120" y="259"/>
                </a:cubicBezTo>
                <a:cubicBezTo>
                  <a:pt x="34" y="259"/>
                  <a:pt x="34" y="259"/>
                  <a:pt x="34" y="259"/>
                </a:cubicBezTo>
                <a:cubicBezTo>
                  <a:pt x="37" y="206"/>
                  <a:pt x="58" y="157"/>
                  <a:pt x="90" y="118"/>
                </a:cubicBezTo>
                <a:close/>
                <a:moveTo>
                  <a:pt x="34" y="290"/>
                </a:moveTo>
                <a:cubicBezTo>
                  <a:pt x="120" y="290"/>
                  <a:pt x="120" y="290"/>
                  <a:pt x="120" y="290"/>
                </a:cubicBezTo>
                <a:cubicBezTo>
                  <a:pt x="121" y="327"/>
                  <a:pt x="130" y="361"/>
                  <a:pt x="142" y="392"/>
                </a:cubicBezTo>
                <a:cubicBezTo>
                  <a:pt x="124" y="402"/>
                  <a:pt x="106" y="415"/>
                  <a:pt x="90" y="430"/>
                </a:cubicBezTo>
                <a:cubicBezTo>
                  <a:pt x="58" y="392"/>
                  <a:pt x="37" y="343"/>
                  <a:pt x="34" y="290"/>
                </a:cubicBezTo>
                <a:close/>
                <a:moveTo>
                  <a:pt x="112" y="454"/>
                </a:moveTo>
                <a:cubicBezTo>
                  <a:pt x="126" y="440"/>
                  <a:pt x="140" y="430"/>
                  <a:pt x="157" y="421"/>
                </a:cubicBezTo>
                <a:cubicBezTo>
                  <a:pt x="174" y="456"/>
                  <a:pt x="199" y="486"/>
                  <a:pt x="229" y="511"/>
                </a:cubicBezTo>
                <a:cubicBezTo>
                  <a:pt x="185" y="502"/>
                  <a:pt x="145" y="482"/>
                  <a:pt x="112" y="454"/>
                </a:cubicBezTo>
                <a:close/>
                <a:moveTo>
                  <a:pt x="259" y="493"/>
                </a:moveTo>
                <a:cubicBezTo>
                  <a:pt x="254" y="490"/>
                  <a:pt x="250" y="486"/>
                  <a:pt x="244" y="483"/>
                </a:cubicBezTo>
                <a:cubicBezTo>
                  <a:pt x="235" y="474"/>
                  <a:pt x="226" y="465"/>
                  <a:pt x="217" y="456"/>
                </a:cubicBezTo>
                <a:cubicBezTo>
                  <a:pt x="210" y="446"/>
                  <a:pt x="202" y="436"/>
                  <a:pt x="195" y="425"/>
                </a:cubicBezTo>
                <a:cubicBezTo>
                  <a:pt x="191" y="420"/>
                  <a:pt x="188" y="414"/>
                  <a:pt x="185" y="408"/>
                </a:cubicBezTo>
                <a:cubicBezTo>
                  <a:pt x="208" y="399"/>
                  <a:pt x="232" y="393"/>
                  <a:pt x="259" y="390"/>
                </a:cubicBezTo>
                <a:lnTo>
                  <a:pt x="259" y="493"/>
                </a:lnTo>
                <a:close/>
                <a:moveTo>
                  <a:pt x="259" y="359"/>
                </a:moveTo>
                <a:cubicBezTo>
                  <a:pt x="227" y="361"/>
                  <a:pt x="198" y="368"/>
                  <a:pt x="171" y="378"/>
                </a:cubicBezTo>
                <a:cubicBezTo>
                  <a:pt x="168" y="371"/>
                  <a:pt x="166" y="362"/>
                  <a:pt x="163" y="355"/>
                </a:cubicBezTo>
                <a:cubicBezTo>
                  <a:pt x="158" y="341"/>
                  <a:pt x="157" y="328"/>
                  <a:pt x="154" y="315"/>
                </a:cubicBezTo>
                <a:cubicBezTo>
                  <a:pt x="152" y="307"/>
                  <a:pt x="152" y="299"/>
                  <a:pt x="151" y="290"/>
                </a:cubicBezTo>
                <a:cubicBezTo>
                  <a:pt x="259" y="290"/>
                  <a:pt x="259" y="290"/>
                  <a:pt x="259" y="290"/>
                </a:cubicBezTo>
                <a:lnTo>
                  <a:pt x="259" y="359"/>
                </a:lnTo>
                <a:close/>
                <a:moveTo>
                  <a:pt x="259" y="259"/>
                </a:moveTo>
                <a:cubicBezTo>
                  <a:pt x="151" y="259"/>
                  <a:pt x="151" y="259"/>
                  <a:pt x="151" y="259"/>
                </a:cubicBezTo>
                <a:cubicBezTo>
                  <a:pt x="152" y="250"/>
                  <a:pt x="152" y="241"/>
                  <a:pt x="154" y="232"/>
                </a:cubicBezTo>
                <a:cubicBezTo>
                  <a:pt x="157" y="219"/>
                  <a:pt x="158" y="207"/>
                  <a:pt x="163" y="194"/>
                </a:cubicBezTo>
                <a:cubicBezTo>
                  <a:pt x="166" y="185"/>
                  <a:pt x="168" y="177"/>
                  <a:pt x="171" y="170"/>
                </a:cubicBezTo>
                <a:cubicBezTo>
                  <a:pt x="198" y="180"/>
                  <a:pt x="227" y="188"/>
                  <a:pt x="259" y="189"/>
                </a:cubicBezTo>
                <a:lnTo>
                  <a:pt x="259" y="259"/>
                </a:lnTo>
                <a:close/>
                <a:moveTo>
                  <a:pt x="259" y="157"/>
                </a:moveTo>
                <a:cubicBezTo>
                  <a:pt x="232" y="155"/>
                  <a:pt x="208" y="149"/>
                  <a:pt x="185" y="141"/>
                </a:cubicBezTo>
                <a:cubicBezTo>
                  <a:pt x="188" y="135"/>
                  <a:pt x="191" y="129"/>
                  <a:pt x="195" y="123"/>
                </a:cubicBezTo>
                <a:cubicBezTo>
                  <a:pt x="202" y="113"/>
                  <a:pt x="210" y="102"/>
                  <a:pt x="217" y="92"/>
                </a:cubicBezTo>
                <a:cubicBezTo>
                  <a:pt x="226" y="83"/>
                  <a:pt x="235" y="74"/>
                  <a:pt x="244" y="65"/>
                </a:cubicBezTo>
                <a:cubicBezTo>
                  <a:pt x="250" y="61"/>
                  <a:pt x="254" y="58"/>
                  <a:pt x="259" y="53"/>
                </a:cubicBezTo>
                <a:lnTo>
                  <a:pt x="259" y="157"/>
                </a:lnTo>
                <a:close/>
                <a:moveTo>
                  <a:pt x="515" y="259"/>
                </a:moveTo>
                <a:cubicBezTo>
                  <a:pt x="428" y="259"/>
                  <a:pt x="428" y="259"/>
                  <a:pt x="428" y="259"/>
                </a:cubicBezTo>
                <a:cubicBezTo>
                  <a:pt x="427" y="222"/>
                  <a:pt x="419" y="188"/>
                  <a:pt x="406" y="155"/>
                </a:cubicBezTo>
                <a:cubicBezTo>
                  <a:pt x="425" y="145"/>
                  <a:pt x="443" y="133"/>
                  <a:pt x="458" y="118"/>
                </a:cubicBezTo>
                <a:cubicBezTo>
                  <a:pt x="490" y="157"/>
                  <a:pt x="512" y="206"/>
                  <a:pt x="515" y="259"/>
                </a:cubicBezTo>
                <a:close/>
                <a:moveTo>
                  <a:pt x="436" y="95"/>
                </a:moveTo>
                <a:cubicBezTo>
                  <a:pt x="422" y="107"/>
                  <a:pt x="408" y="118"/>
                  <a:pt x="393" y="127"/>
                </a:cubicBezTo>
                <a:cubicBezTo>
                  <a:pt x="374" y="92"/>
                  <a:pt x="349" y="61"/>
                  <a:pt x="319" y="37"/>
                </a:cubicBezTo>
                <a:cubicBezTo>
                  <a:pt x="363" y="45"/>
                  <a:pt x="403" y="65"/>
                  <a:pt x="436" y="95"/>
                </a:cubicBezTo>
                <a:close/>
                <a:moveTo>
                  <a:pt x="289" y="53"/>
                </a:moveTo>
                <a:cubicBezTo>
                  <a:pt x="295" y="58"/>
                  <a:pt x="300" y="61"/>
                  <a:pt x="304" y="65"/>
                </a:cubicBezTo>
                <a:cubicBezTo>
                  <a:pt x="313" y="74"/>
                  <a:pt x="322" y="83"/>
                  <a:pt x="331" y="92"/>
                </a:cubicBezTo>
                <a:cubicBezTo>
                  <a:pt x="340" y="102"/>
                  <a:pt x="347" y="113"/>
                  <a:pt x="353" y="123"/>
                </a:cubicBezTo>
                <a:cubicBezTo>
                  <a:pt x="357" y="129"/>
                  <a:pt x="360" y="135"/>
                  <a:pt x="363" y="141"/>
                </a:cubicBezTo>
                <a:cubicBezTo>
                  <a:pt x="341" y="149"/>
                  <a:pt x="316" y="155"/>
                  <a:pt x="289" y="157"/>
                </a:cubicBezTo>
                <a:lnTo>
                  <a:pt x="289" y="53"/>
                </a:lnTo>
                <a:close/>
                <a:moveTo>
                  <a:pt x="289" y="189"/>
                </a:moveTo>
                <a:cubicBezTo>
                  <a:pt x="321" y="188"/>
                  <a:pt x="350" y="180"/>
                  <a:pt x="378" y="170"/>
                </a:cubicBezTo>
                <a:cubicBezTo>
                  <a:pt x="381" y="177"/>
                  <a:pt x="384" y="185"/>
                  <a:pt x="385" y="194"/>
                </a:cubicBezTo>
                <a:cubicBezTo>
                  <a:pt x="390" y="207"/>
                  <a:pt x="393" y="219"/>
                  <a:pt x="394" y="232"/>
                </a:cubicBezTo>
                <a:cubicBezTo>
                  <a:pt x="396" y="241"/>
                  <a:pt x="397" y="250"/>
                  <a:pt x="397" y="259"/>
                </a:cubicBezTo>
                <a:cubicBezTo>
                  <a:pt x="289" y="259"/>
                  <a:pt x="289" y="259"/>
                  <a:pt x="289" y="259"/>
                </a:cubicBezTo>
                <a:lnTo>
                  <a:pt x="289" y="189"/>
                </a:lnTo>
                <a:close/>
                <a:moveTo>
                  <a:pt x="289" y="290"/>
                </a:moveTo>
                <a:cubicBezTo>
                  <a:pt x="397" y="290"/>
                  <a:pt x="397" y="290"/>
                  <a:pt x="397" y="290"/>
                </a:cubicBezTo>
                <a:cubicBezTo>
                  <a:pt x="397" y="299"/>
                  <a:pt x="396" y="307"/>
                  <a:pt x="394" y="315"/>
                </a:cubicBezTo>
                <a:cubicBezTo>
                  <a:pt x="393" y="328"/>
                  <a:pt x="390" y="341"/>
                  <a:pt x="385" y="355"/>
                </a:cubicBezTo>
                <a:cubicBezTo>
                  <a:pt x="384" y="362"/>
                  <a:pt x="381" y="371"/>
                  <a:pt x="378" y="378"/>
                </a:cubicBezTo>
                <a:cubicBezTo>
                  <a:pt x="350" y="368"/>
                  <a:pt x="321" y="361"/>
                  <a:pt x="289" y="359"/>
                </a:cubicBezTo>
                <a:lnTo>
                  <a:pt x="289" y="290"/>
                </a:lnTo>
                <a:close/>
                <a:moveTo>
                  <a:pt x="289" y="493"/>
                </a:moveTo>
                <a:cubicBezTo>
                  <a:pt x="289" y="390"/>
                  <a:pt x="289" y="390"/>
                  <a:pt x="289" y="390"/>
                </a:cubicBezTo>
                <a:cubicBezTo>
                  <a:pt x="316" y="393"/>
                  <a:pt x="341" y="399"/>
                  <a:pt x="363" y="408"/>
                </a:cubicBezTo>
                <a:cubicBezTo>
                  <a:pt x="360" y="414"/>
                  <a:pt x="357" y="420"/>
                  <a:pt x="353" y="425"/>
                </a:cubicBezTo>
                <a:cubicBezTo>
                  <a:pt x="347" y="436"/>
                  <a:pt x="340" y="446"/>
                  <a:pt x="331" y="456"/>
                </a:cubicBezTo>
                <a:cubicBezTo>
                  <a:pt x="322" y="465"/>
                  <a:pt x="313" y="474"/>
                  <a:pt x="304" y="483"/>
                </a:cubicBezTo>
                <a:cubicBezTo>
                  <a:pt x="300" y="486"/>
                  <a:pt x="295" y="490"/>
                  <a:pt x="289" y="493"/>
                </a:cubicBezTo>
                <a:close/>
                <a:moveTo>
                  <a:pt x="319" y="511"/>
                </a:moveTo>
                <a:cubicBezTo>
                  <a:pt x="349" y="486"/>
                  <a:pt x="374" y="456"/>
                  <a:pt x="393" y="421"/>
                </a:cubicBezTo>
                <a:cubicBezTo>
                  <a:pt x="408" y="430"/>
                  <a:pt x="422" y="440"/>
                  <a:pt x="436" y="454"/>
                </a:cubicBezTo>
                <a:cubicBezTo>
                  <a:pt x="403" y="482"/>
                  <a:pt x="363" y="502"/>
                  <a:pt x="319" y="511"/>
                </a:cubicBezTo>
                <a:close/>
                <a:moveTo>
                  <a:pt x="458" y="430"/>
                </a:moveTo>
                <a:cubicBezTo>
                  <a:pt x="443" y="415"/>
                  <a:pt x="425" y="402"/>
                  <a:pt x="406" y="392"/>
                </a:cubicBezTo>
                <a:cubicBezTo>
                  <a:pt x="419" y="361"/>
                  <a:pt x="427" y="327"/>
                  <a:pt x="428" y="290"/>
                </a:cubicBezTo>
                <a:cubicBezTo>
                  <a:pt x="515" y="290"/>
                  <a:pt x="515" y="290"/>
                  <a:pt x="515" y="290"/>
                </a:cubicBezTo>
                <a:cubicBezTo>
                  <a:pt x="512" y="343"/>
                  <a:pt x="490" y="392"/>
                  <a:pt x="458" y="430"/>
                </a:cubicBezTo>
                <a:close/>
              </a:path>
            </a:pathLst>
          </a:custGeom>
          <a:gradFill>
            <a:gsLst>
              <a:gs pos="1000">
                <a:srgbClr val="FF9911"/>
              </a:gs>
              <a:gs pos="100000">
                <a:schemeClr val="accent4"/>
              </a:gs>
            </a:gsLst>
            <a:lin ang="13500000" scaled="0"/>
          </a:gradFill>
          <a:ln w="12700" cap="flat" cmpd="sng" algn="ctr">
            <a:noFill/>
            <a:prstDash val="solid"/>
            <a:miter lim="800000"/>
          </a:ln>
          <a:effectLst/>
        </p:spPr>
        <p:txBody>
          <a:bodyPr rtlCol="0" anchor="ctr">
            <a:noAutofit/>
          </a:bodyPr>
          <a:lstStyle/>
          <a:p>
            <a:pPr lvl="0" algn="ctr">
              <a:buClr>
                <a:schemeClr val="bg2"/>
              </a:buClr>
              <a:buSzPct val="80000"/>
              <a:buFontTx/>
            </a:pPr>
            <a:endParaRPr lang="zh-CN" altLang="en-US" sz="2000"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endParaRPr>
          </a:p>
        </p:txBody>
      </p:sp>
      <p:cxnSp>
        <p:nvCxnSpPr>
          <p:cNvPr id="28" name="直线连接符 24"/>
          <p:cNvCxnSpPr/>
          <p:nvPr>
            <p:custDataLst>
              <p:tags r:id="rId4"/>
            </p:custDataLst>
          </p:nvPr>
        </p:nvCxnSpPr>
        <p:spPr>
          <a:xfrm flipH="1">
            <a:off x="844658" y="2733568"/>
            <a:ext cx="5652000" cy="0"/>
          </a:xfrm>
          <a:prstGeom prst="line">
            <a:avLst/>
          </a:prstGeom>
          <a:ln w="12700">
            <a:solidFill>
              <a:srgbClr val="FF9911"/>
            </a:solidFill>
          </a:ln>
          <a:effectLst>
            <a:outerShdw blurRad="76200" dist="38100" dir="2700000" algn="tl" rotWithShape="0">
              <a:schemeClr val="bg2">
                <a:lumMod val="25000"/>
                <a:alpha val="40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p:cNvSpPr txBox="1"/>
          <p:nvPr/>
        </p:nvSpPr>
        <p:spPr>
          <a:xfrm>
            <a:off x="149913" y="219070"/>
            <a:ext cx="678815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第二步：为什么使用？</a:t>
            </a:r>
          </a:p>
        </p:txBody>
      </p:sp>
      <p:sp>
        <p:nvSpPr>
          <p:cNvPr id="3" name="文本占位符 1"/>
          <p:cNvSpPr>
            <a:spLocks noGrp="1"/>
          </p:cNvSpPr>
          <p:nvPr>
            <p:custDataLst>
              <p:tags r:id="rId1"/>
            </p:custDataLst>
          </p:nvPr>
        </p:nvSpPr>
        <p:spPr>
          <a:xfrm>
            <a:off x="763335" y="1447332"/>
            <a:ext cx="10665330" cy="539795"/>
          </a:xfrm>
        </p:spPr>
        <p:txBody>
          <a:bodyPr anchor="ctr">
            <a:normAutofit/>
          </a:bodyPr>
          <a:lstStyle>
            <a:lvl1pPr marL="0" marR="0" indent="-317500" algn="just" defTabSz="412750" rtl="0" latinLnBrk="0">
              <a:lnSpc>
                <a:spcPct val="100000"/>
              </a:lnSpc>
              <a:spcBef>
                <a:spcPts val="0"/>
              </a:spcBef>
              <a:spcAft>
                <a:spcPts val="0"/>
              </a:spcAft>
              <a:buClrTx/>
              <a:buSzPct val="125000"/>
              <a:buFontTx/>
              <a:buNone/>
              <a:defRPr sz="2000" b="0" i="0" u="none" strike="noStrike" cap="none" spc="0" baseline="0">
                <a:solidFill>
                  <a:srgbClr val="000000"/>
                </a:solidFill>
                <a:uFillTx/>
                <a:latin typeface="Helvetica Neue"/>
                <a:ea typeface="Helvetica Neue"/>
                <a:cs typeface="Helvetica Neue"/>
                <a:sym typeface="Helvetica Neue"/>
              </a:defRPr>
            </a:lvl1pPr>
            <a:lvl2pPr marL="635000" marR="0" indent="-317500" algn="l" defTabSz="412750" rtl="0" latinLnBrk="0">
              <a:lnSpc>
                <a:spcPct val="100000"/>
              </a:lnSpc>
              <a:spcBef>
                <a:spcPts val="2950"/>
              </a:spcBef>
              <a:spcAft>
                <a:spcPts val="0"/>
              </a:spcAft>
              <a:buClrTx/>
              <a:buSzPct val="125000"/>
              <a:buFontTx/>
              <a:buNone/>
              <a:defRPr sz="2400" b="0" i="0" u="none" strike="noStrike" cap="none" spc="0" baseline="0">
                <a:solidFill>
                  <a:srgbClr val="000000"/>
                </a:solidFill>
                <a:uFillTx/>
                <a:latin typeface="Helvetica Neue"/>
                <a:ea typeface="Helvetica Neue"/>
                <a:cs typeface="Helvetica Neue"/>
                <a:sym typeface="Helvetica Neue"/>
              </a:defRPr>
            </a:lvl2pPr>
            <a:lvl3pPr marL="952500" marR="0" indent="-317500" algn="l" defTabSz="412750" rtl="0" latinLnBrk="0">
              <a:lnSpc>
                <a:spcPct val="100000"/>
              </a:lnSpc>
              <a:spcBef>
                <a:spcPts val="2950"/>
              </a:spcBef>
              <a:spcAft>
                <a:spcPts val="0"/>
              </a:spcAft>
              <a:buClrTx/>
              <a:buSzPct val="125000"/>
              <a:buFontTx/>
              <a:buNone/>
              <a:defRPr sz="2400" b="0" i="0" u="none" strike="noStrike" cap="none" spc="0" baseline="0">
                <a:solidFill>
                  <a:srgbClr val="000000"/>
                </a:solidFill>
                <a:uFillTx/>
                <a:latin typeface="Helvetica Neue"/>
                <a:ea typeface="Helvetica Neue"/>
                <a:cs typeface="Helvetica Neue"/>
                <a:sym typeface="Helvetica Neue"/>
              </a:defRPr>
            </a:lvl3pPr>
            <a:lvl4pPr marL="1270000" marR="0" indent="-317500" algn="l" defTabSz="412750" rtl="0" latinLnBrk="0">
              <a:lnSpc>
                <a:spcPct val="100000"/>
              </a:lnSpc>
              <a:spcBef>
                <a:spcPts val="2950"/>
              </a:spcBef>
              <a:spcAft>
                <a:spcPts val="0"/>
              </a:spcAft>
              <a:buClrTx/>
              <a:buSzPct val="125000"/>
              <a:buFontTx/>
              <a:buNone/>
              <a:defRPr sz="2400" b="0" i="0" u="none" strike="noStrike" cap="none" spc="0" baseline="0">
                <a:solidFill>
                  <a:srgbClr val="000000"/>
                </a:solidFill>
                <a:uFillTx/>
                <a:latin typeface="Helvetica Neue"/>
                <a:ea typeface="Helvetica Neue"/>
                <a:cs typeface="Helvetica Neue"/>
                <a:sym typeface="Helvetica Neue"/>
              </a:defRPr>
            </a:lvl4pPr>
            <a:lvl5pPr marL="1587500" marR="0" indent="-317500" algn="l" defTabSz="412750" rtl="0" latinLnBrk="0">
              <a:lnSpc>
                <a:spcPct val="100000"/>
              </a:lnSpc>
              <a:spcBef>
                <a:spcPts val="2950"/>
              </a:spcBef>
              <a:spcAft>
                <a:spcPts val="0"/>
              </a:spcAft>
              <a:buClrTx/>
              <a:buSzPct val="125000"/>
              <a:buFontTx/>
              <a:buNone/>
              <a:defRPr sz="2400" b="0" i="0" u="none" strike="noStrike" cap="none" spc="0" baseline="0">
                <a:solidFill>
                  <a:srgbClr val="000000"/>
                </a:solidFill>
                <a:uFillTx/>
                <a:latin typeface="Helvetica Neue"/>
                <a:ea typeface="Helvetica Neue"/>
                <a:cs typeface="Helvetica Neue"/>
                <a:sym typeface="Helvetica Neue"/>
              </a:defRPr>
            </a:lvl5pPr>
            <a:lvl6pPr marL="1905000" marR="0" indent="-317500" algn="l" defTabSz="412750" rtl="0" latinLnBrk="0">
              <a:lnSpc>
                <a:spcPct val="100000"/>
              </a:lnSpc>
              <a:spcBef>
                <a:spcPts val="2950"/>
              </a:spcBef>
              <a:spcAft>
                <a:spcPts val="0"/>
              </a:spcAft>
              <a:buClrTx/>
              <a:buSzPct val="125000"/>
              <a:buFontTx/>
              <a:buChar char="•"/>
              <a:defRPr sz="2400" b="0" i="0" u="none" strike="noStrike" cap="none" spc="0" baseline="0">
                <a:solidFill>
                  <a:srgbClr val="000000"/>
                </a:solidFill>
                <a:uFillTx/>
                <a:latin typeface="Helvetica Neue"/>
                <a:ea typeface="Helvetica Neue"/>
                <a:cs typeface="Helvetica Neue"/>
                <a:sym typeface="Helvetica Neue"/>
              </a:defRPr>
            </a:lvl6pPr>
            <a:lvl7pPr marL="2222500" marR="0" indent="-317500" algn="l" defTabSz="412750" rtl="0" latinLnBrk="0">
              <a:lnSpc>
                <a:spcPct val="100000"/>
              </a:lnSpc>
              <a:spcBef>
                <a:spcPts val="2950"/>
              </a:spcBef>
              <a:spcAft>
                <a:spcPts val="0"/>
              </a:spcAft>
              <a:buClrTx/>
              <a:buSzPct val="125000"/>
              <a:buFontTx/>
              <a:buChar char="•"/>
              <a:defRPr sz="2400" b="0" i="0" u="none" strike="noStrike" cap="none" spc="0" baseline="0">
                <a:solidFill>
                  <a:srgbClr val="000000"/>
                </a:solidFill>
                <a:uFillTx/>
                <a:latin typeface="Helvetica Neue"/>
                <a:ea typeface="Helvetica Neue"/>
                <a:cs typeface="Helvetica Neue"/>
                <a:sym typeface="Helvetica Neue"/>
              </a:defRPr>
            </a:lvl7pPr>
            <a:lvl8pPr marL="2540000" marR="0" indent="-317500" algn="l" defTabSz="412750" rtl="0" latinLnBrk="0">
              <a:lnSpc>
                <a:spcPct val="100000"/>
              </a:lnSpc>
              <a:spcBef>
                <a:spcPts val="2950"/>
              </a:spcBef>
              <a:spcAft>
                <a:spcPts val="0"/>
              </a:spcAft>
              <a:buClrTx/>
              <a:buSzPct val="125000"/>
              <a:buFontTx/>
              <a:buChar char="•"/>
              <a:defRPr sz="2400" b="0" i="0" u="none" strike="noStrike" cap="none" spc="0" baseline="0">
                <a:solidFill>
                  <a:srgbClr val="000000"/>
                </a:solidFill>
                <a:uFillTx/>
                <a:latin typeface="Helvetica Neue"/>
                <a:ea typeface="Helvetica Neue"/>
                <a:cs typeface="Helvetica Neue"/>
                <a:sym typeface="Helvetica Neue"/>
              </a:defRPr>
            </a:lvl8pPr>
            <a:lvl9pPr marL="2857500" marR="0" indent="-317500" algn="l" defTabSz="412750" rtl="0" latinLnBrk="0">
              <a:lnSpc>
                <a:spcPct val="100000"/>
              </a:lnSpc>
              <a:spcBef>
                <a:spcPts val="2950"/>
              </a:spcBef>
              <a:spcAft>
                <a:spcPts val="0"/>
              </a:spcAft>
              <a:buClrTx/>
              <a:buSzPct val="125000"/>
              <a:buFontTx/>
              <a:buChar char="•"/>
              <a:defRPr sz="2400" b="0" i="0" u="none" strike="noStrike" cap="none" spc="0" baseline="0">
                <a:solidFill>
                  <a:srgbClr val="000000"/>
                </a:solidFill>
                <a:uFillTx/>
                <a:latin typeface="Helvetica Neue"/>
                <a:ea typeface="Helvetica Neue"/>
                <a:cs typeface="Helvetica Neue"/>
                <a:sym typeface="Helvetica Neue"/>
              </a:defRPr>
            </a:lvl9pPr>
          </a:lstStyle>
          <a:p>
            <a:pPr algn="ctr"/>
            <a:r>
              <a:rPr lang="zh-CN" altLang="en-US" dirty="0">
                <a:solidFill>
                  <a:schemeClr val="tx1"/>
                </a:solidFill>
                <a:latin typeface="微软雅黑" panose="020B0503020204020204" pitchFamily="34" charset="-122"/>
                <a:ea typeface="微软雅黑" panose="020B0503020204020204" pitchFamily="34" charset="-122"/>
                <a:cs typeface="思源黑体 Light" panose="020B0300000000000000" charset="-122"/>
                <a:sym typeface="思源黑体 Light" panose="020B0300000000000000" charset="-122"/>
              </a:rPr>
              <a:t>全球商品需求可以助力卖家</a:t>
            </a:r>
            <a:r>
              <a:rPr lang="zh-CN" altLang="en-US" dirty="0">
                <a:solidFill>
                  <a:srgbClr val="F89104"/>
                </a:solidFill>
                <a:latin typeface="微软雅黑" panose="020B0503020204020204" pitchFamily="34" charset="-122"/>
                <a:ea typeface="微软雅黑" panose="020B0503020204020204" pitchFamily="34" charset="-122"/>
                <a:cs typeface="思源黑体 Light" panose="020B0300000000000000" charset="-122"/>
                <a:sym typeface="思源黑体 Light" panose="020B0300000000000000" charset="-122"/>
              </a:rPr>
              <a:t>拓展全球市场</a:t>
            </a:r>
            <a:r>
              <a:rPr lang="zh-CN" altLang="en-US" dirty="0">
                <a:solidFill>
                  <a:schemeClr val="tx1"/>
                </a:solidFill>
                <a:latin typeface="微软雅黑" panose="020B0503020204020204" pitchFamily="34" charset="-122"/>
                <a:ea typeface="微软雅黑" panose="020B0503020204020204" pitchFamily="34" charset="-122"/>
                <a:cs typeface="思源黑体 Light" panose="020B0300000000000000" charset="-122"/>
                <a:sym typeface="思源黑体 Light" panose="020B0300000000000000" charset="-122"/>
              </a:rPr>
              <a:t>和</a:t>
            </a:r>
            <a:r>
              <a:rPr lang="zh-CN" altLang="en-US" dirty="0">
                <a:solidFill>
                  <a:srgbClr val="F89104"/>
                </a:solidFill>
                <a:latin typeface="微软雅黑" panose="020B0503020204020204" pitchFamily="34" charset="-122"/>
                <a:ea typeface="微软雅黑" panose="020B0503020204020204" pitchFamily="34" charset="-122"/>
                <a:cs typeface="思源黑体 Light" panose="020B0300000000000000" charset="-122"/>
                <a:sym typeface="思源黑体 Light" panose="020B0300000000000000" charset="-122"/>
              </a:rPr>
              <a:t>提前了解在售产品的全球需求量</a:t>
            </a:r>
            <a:r>
              <a:rPr lang="zh-CN" altLang="en-US" dirty="0">
                <a:solidFill>
                  <a:schemeClr val="tx1"/>
                </a:solidFill>
                <a:latin typeface="微软雅黑" panose="020B0503020204020204" pitchFamily="34" charset="-122"/>
                <a:ea typeface="微软雅黑" panose="020B0503020204020204" pitchFamily="34" charset="-122"/>
                <a:cs typeface="思源黑体 Light" panose="020B0300000000000000" charset="-122"/>
                <a:sym typeface="思源黑体 Light" panose="020B0300000000000000" charset="-122"/>
              </a:rPr>
              <a:t>。</a:t>
            </a:r>
          </a:p>
        </p:txBody>
      </p:sp>
      <p:grpSp>
        <p:nvGrpSpPr>
          <p:cNvPr id="29" name="组合 28"/>
          <p:cNvGrpSpPr/>
          <p:nvPr/>
        </p:nvGrpSpPr>
        <p:grpSpPr>
          <a:xfrm>
            <a:off x="569913" y="2199005"/>
            <a:ext cx="11052175" cy="3260090"/>
            <a:chOff x="785" y="3463"/>
            <a:chExt cx="17405" cy="5134"/>
          </a:xfrm>
        </p:grpSpPr>
        <p:grpSp>
          <p:nvGrpSpPr>
            <p:cNvPr id="19" name="组合 18"/>
            <p:cNvGrpSpPr/>
            <p:nvPr/>
          </p:nvGrpSpPr>
          <p:grpSpPr>
            <a:xfrm>
              <a:off x="785" y="3463"/>
              <a:ext cx="4082" cy="5134"/>
              <a:chOff x="785" y="3463"/>
              <a:chExt cx="4082" cy="5134"/>
            </a:xfrm>
          </p:grpSpPr>
          <p:sp>
            <p:nvSpPr>
              <p:cNvPr id="31" name="Rectangle 1"/>
              <p:cNvSpPr/>
              <p:nvPr>
                <p:custDataLst>
                  <p:tags r:id="rId14"/>
                </p:custDataLst>
              </p:nvPr>
            </p:nvSpPr>
            <p:spPr>
              <a:xfrm>
                <a:off x="785" y="3463"/>
                <a:ext cx="4082" cy="5134"/>
              </a:xfrm>
              <a:prstGeom prst="roundRect">
                <a:avLst>
                  <a:gd name="adj" fmla="val 7389"/>
                </a:avLst>
              </a:prstGeom>
              <a:solidFill>
                <a:schemeClr val="bg1">
                  <a:lumMod val="95000"/>
                </a:schemeClr>
              </a:solidFill>
              <a:ln w="19050">
                <a:gradFill>
                  <a:gsLst>
                    <a:gs pos="0">
                      <a:schemeClr val="accent4"/>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grpSp>
            <p:nvGrpSpPr>
              <p:cNvPr id="33" name="组合 32"/>
              <p:cNvGrpSpPr/>
              <p:nvPr/>
            </p:nvGrpSpPr>
            <p:grpSpPr>
              <a:xfrm>
                <a:off x="1324" y="4195"/>
                <a:ext cx="3005" cy="3548"/>
                <a:chOff x="1324" y="4195"/>
                <a:chExt cx="3005" cy="3548"/>
              </a:xfrm>
            </p:grpSpPr>
            <p:grpSp>
              <p:nvGrpSpPr>
                <p:cNvPr id="25" name="组合 24"/>
                <p:cNvGrpSpPr/>
                <p:nvPr/>
              </p:nvGrpSpPr>
              <p:grpSpPr>
                <a:xfrm>
                  <a:off x="2118" y="4195"/>
                  <a:ext cx="1416" cy="1412"/>
                  <a:chOff x="1773" y="4323"/>
                  <a:chExt cx="1416" cy="1412"/>
                </a:xfrm>
              </p:grpSpPr>
              <p:sp>
                <p:nvSpPr>
                  <p:cNvPr id="7" name="Oval 5"/>
                  <p:cNvSpPr/>
                  <p:nvPr>
                    <p:custDataLst>
                      <p:tags r:id="rId16"/>
                    </p:custDataLst>
                  </p:nvPr>
                </p:nvSpPr>
                <p:spPr>
                  <a:xfrm>
                    <a:off x="1773" y="4323"/>
                    <a:ext cx="1416" cy="1413"/>
                  </a:xfrm>
                  <a:prstGeom prst="roundRect">
                    <a:avLst/>
                  </a:prstGeom>
                  <a:solidFill>
                    <a:srgbClr val="41B3F1"/>
                  </a:solidFill>
                  <a:ln w="12700" cap="flat">
                    <a:noFill/>
                    <a:miter lim="400000"/>
                  </a:ln>
                  <a:effectLst/>
                </p:spPr>
                <p:txBody>
                  <a:bodyPr wrap="square" lIns="22860" tIns="22860" rIns="22860" bIns="22860" numCol="1" anchor="ctr">
                    <a:noAutofit/>
                  </a:bodyPr>
                  <a:lstStyle/>
                  <a:p>
                    <a:pPr defTabSz="608330">
                      <a:defRPr sz="3100" b="0">
                        <a:solidFill>
                          <a:srgbClr val="FFFFFF"/>
                        </a:solidFill>
                        <a:latin typeface="Arial" panose="020B0604020202020204"/>
                        <a:ea typeface="Arial" panose="020B0604020202020204"/>
                        <a:cs typeface="Arial" panose="020B0604020202020204"/>
                        <a:sym typeface="Arial" panose="020B0604020202020204"/>
                      </a:defRPr>
                    </a:pPr>
                    <a:endParaRPr sz="1550">
                      <a:solidFill>
                        <a:schemeClr val="bg1"/>
                      </a:solidFill>
                      <a:latin typeface="微软雅黑" panose="020B0503020204020204" pitchFamily="34" charset="-122"/>
                      <a:ea typeface="微软雅黑" panose="020B0503020204020204" pitchFamily="34" charset="-122"/>
                    </a:endParaRPr>
                  </a:p>
                </p:txBody>
              </p:sp>
              <p:sp>
                <p:nvSpPr>
                  <p:cNvPr id="8" name="Freeform 7"/>
                  <p:cNvSpPr/>
                  <p:nvPr>
                    <p:custDataLst>
                      <p:tags r:id="rId17"/>
                    </p:custDataLst>
                  </p:nvPr>
                </p:nvSpPr>
                <p:spPr>
                  <a:xfrm>
                    <a:off x="2111" y="4608"/>
                    <a:ext cx="740" cy="739"/>
                  </a:xfrm>
                  <a:custGeom>
                    <a:avLst/>
                    <a:gdLst/>
                    <a:ahLst/>
                    <a:cxnLst>
                      <a:cxn ang="0">
                        <a:pos x="wd2" y="hd2"/>
                      </a:cxn>
                      <a:cxn ang="5400000">
                        <a:pos x="wd2" y="hd2"/>
                      </a:cxn>
                      <a:cxn ang="10800000">
                        <a:pos x="wd2" y="hd2"/>
                      </a:cxn>
                      <a:cxn ang="16200000">
                        <a:pos x="wd2" y="hd2"/>
                      </a:cxn>
                    </a:cxnLst>
                    <a:rect l="0" t="0" r="r" b="b"/>
                    <a:pathLst>
                      <a:path w="21600" h="21600" extrusionOk="0">
                        <a:moveTo>
                          <a:pt x="19934" y="16315"/>
                        </a:moveTo>
                        <a:cubicBezTo>
                          <a:pt x="19934" y="13672"/>
                          <a:pt x="19934" y="13672"/>
                          <a:pt x="19934" y="13672"/>
                        </a:cubicBezTo>
                        <a:cubicBezTo>
                          <a:pt x="19934" y="12064"/>
                          <a:pt x="18843" y="9709"/>
                          <a:pt x="15970" y="9709"/>
                        </a:cubicBezTo>
                        <a:cubicBezTo>
                          <a:pt x="13672" y="9709"/>
                          <a:pt x="13672" y="9709"/>
                          <a:pt x="13672" y="9709"/>
                        </a:cubicBezTo>
                        <a:cubicBezTo>
                          <a:pt x="12064" y="9709"/>
                          <a:pt x="11891" y="8904"/>
                          <a:pt x="11891" y="8502"/>
                        </a:cubicBezTo>
                        <a:cubicBezTo>
                          <a:pt x="11891" y="5285"/>
                          <a:pt x="11891" y="5285"/>
                          <a:pt x="11891" y="5285"/>
                        </a:cubicBezTo>
                        <a:cubicBezTo>
                          <a:pt x="12868" y="4883"/>
                          <a:pt x="13557" y="3906"/>
                          <a:pt x="13557" y="2757"/>
                        </a:cubicBezTo>
                        <a:cubicBezTo>
                          <a:pt x="13557" y="1206"/>
                          <a:pt x="12294" y="0"/>
                          <a:pt x="10800" y="0"/>
                        </a:cubicBezTo>
                        <a:cubicBezTo>
                          <a:pt x="9249" y="0"/>
                          <a:pt x="8043" y="1206"/>
                          <a:pt x="8043" y="2757"/>
                        </a:cubicBezTo>
                        <a:cubicBezTo>
                          <a:pt x="8043" y="3906"/>
                          <a:pt x="8732" y="4883"/>
                          <a:pt x="9709" y="5285"/>
                        </a:cubicBezTo>
                        <a:cubicBezTo>
                          <a:pt x="9709" y="8502"/>
                          <a:pt x="9709" y="8502"/>
                          <a:pt x="9709" y="8502"/>
                        </a:cubicBezTo>
                        <a:cubicBezTo>
                          <a:pt x="9709" y="8789"/>
                          <a:pt x="9594" y="9709"/>
                          <a:pt x="7928" y="9709"/>
                        </a:cubicBezTo>
                        <a:cubicBezTo>
                          <a:pt x="5630" y="9709"/>
                          <a:pt x="5630" y="9709"/>
                          <a:pt x="5630" y="9709"/>
                        </a:cubicBezTo>
                        <a:cubicBezTo>
                          <a:pt x="2700" y="9709"/>
                          <a:pt x="1666" y="12064"/>
                          <a:pt x="1666" y="13672"/>
                        </a:cubicBezTo>
                        <a:cubicBezTo>
                          <a:pt x="1666" y="16315"/>
                          <a:pt x="1666" y="16315"/>
                          <a:pt x="1666" y="16315"/>
                        </a:cubicBezTo>
                        <a:cubicBezTo>
                          <a:pt x="689" y="16717"/>
                          <a:pt x="0" y="17694"/>
                          <a:pt x="0" y="18843"/>
                        </a:cubicBezTo>
                        <a:cubicBezTo>
                          <a:pt x="0" y="20336"/>
                          <a:pt x="1206" y="21600"/>
                          <a:pt x="2757" y="21600"/>
                        </a:cubicBezTo>
                        <a:cubicBezTo>
                          <a:pt x="4251" y="21600"/>
                          <a:pt x="5515" y="20336"/>
                          <a:pt x="5515" y="18843"/>
                        </a:cubicBezTo>
                        <a:cubicBezTo>
                          <a:pt x="5515" y="17694"/>
                          <a:pt x="4826" y="16717"/>
                          <a:pt x="3849" y="16315"/>
                        </a:cubicBezTo>
                        <a:cubicBezTo>
                          <a:pt x="3849" y="13672"/>
                          <a:pt x="3849" y="13672"/>
                          <a:pt x="3849" y="13672"/>
                        </a:cubicBezTo>
                        <a:cubicBezTo>
                          <a:pt x="3849" y="13385"/>
                          <a:pt x="3906" y="11891"/>
                          <a:pt x="5630" y="11891"/>
                        </a:cubicBezTo>
                        <a:cubicBezTo>
                          <a:pt x="7928" y="11891"/>
                          <a:pt x="7928" y="11891"/>
                          <a:pt x="7928" y="11891"/>
                        </a:cubicBezTo>
                        <a:cubicBezTo>
                          <a:pt x="8617" y="11891"/>
                          <a:pt x="9191" y="11777"/>
                          <a:pt x="9709" y="11604"/>
                        </a:cubicBezTo>
                        <a:cubicBezTo>
                          <a:pt x="9709" y="16315"/>
                          <a:pt x="9709" y="16315"/>
                          <a:pt x="9709" y="16315"/>
                        </a:cubicBezTo>
                        <a:cubicBezTo>
                          <a:pt x="8732" y="16717"/>
                          <a:pt x="8043" y="17694"/>
                          <a:pt x="8043" y="18843"/>
                        </a:cubicBezTo>
                        <a:cubicBezTo>
                          <a:pt x="8043" y="20336"/>
                          <a:pt x="9249" y="21600"/>
                          <a:pt x="10800" y="21600"/>
                        </a:cubicBezTo>
                        <a:cubicBezTo>
                          <a:pt x="12294" y="21600"/>
                          <a:pt x="13557" y="20336"/>
                          <a:pt x="13557" y="18843"/>
                        </a:cubicBezTo>
                        <a:cubicBezTo>
                          <a:pt x="13557" y="17694"/>
                          <a:pt x="12868" y="16717"/>
                          <a:pt x="11891" y="16315"/>
                        </a:cubicBezTo>
                        <a:cubicBezTo>
                          <a:pt x="11891" y="11604"/>
                          <a:pt x="11891" y="11604"/>
                          <a:pt x="11891" y="11604"/>
                        </a:cubicBezTo>
                        <a:cubicBezTo>
                          <a:pt x="12351" y="11777"/>
                          <a:pt x="12983" y="11891"/>
                          <a:pt x="13672" y="11891"/>
                        </a:cubicBezTo>
                        <a:cubicBezTo>
                          <a:pt x="15970" y="11891"/>
                          <a:pt x="15970" y="11891"/>
                          <a:pt x="15970" y="11891"/>
                        </a:cubicBezTo>
                        <a:cubicBezTo>
                          <a:pt x="17579" y="11891"/>
                          <a:pt x="17751" y="13270"/>
                          <a:pt x="17751" y="13672"/>
                        </a:cubicBezTo>
                        <a:cubicBezTo>
                          <a:pt x="17751" y="16315"/>
                          <a:pt x="17751" y="16315"/>
                          <a:pt x="17751" y="16315"/>
                        </a:cubicBezTo>
                        <a:cubicBezTo>
                          <a:pt x="16774" y="16717"/>
                          <a:pt x="16085" y="17694"/>
                          <a:pt x="16085" y="18843"/>
                        </a:cubicBezTo>
                        <a:cubicBezTo>
                          <a:pt x="16085" y="20336"/>
                          <a:pt x="17291" y="21600"/>
                          <a:pt x="18843" y="21600"/>
                        </a:cubicBezTo>
                        <a:cubicBezTo>
                          <a:pt x="20336" y="21600"/>
                          <a:pt x="21600" y="20336"/>
                          <a:pt x="21600" y="18843"/>
                        </a:cubicBezTo>
                        <a:cubicBezTo>
                          <a:pt x="21600" y="17694"/>
                          <a:pt x="20911" y="16717"/>
                          <a:pt x="19934" y="16315"/>
                        </a:cubicBezTo>
                        <a:close/>
                        <a:moveTo>
                          <a:pt x="4309" y="18843"/>
                        </a:moveTo>
                        <a:cubicBezTo>
                          <a:pt x="4309" y="19704"/>
                          <a:pt x="3619" y="20451"/>
                          <a:pt x="2757" y="20451"/>
                        </a:cubicBezTo>
                        <a:cubicBezTo>
                          <a:pt x="1838" y="20451"/>
                          <a:pt x="1149" y="19704"/>
                          <a:pt x="1149" y="18843"/>
                        </a:cubicBezTo>
                        <a:cubicBezTo>
                          <a:pt x="1149" y="17981"/>
                          <a:pt x="1838" y="17234"/>
                          <a:pt x="2757" y="17234"/>
                        </a:cubicBezTo>
                        <a:cubicBezTo>
                          <a:pt x="3619" y="17234"/>
                          <a:pt x="4309" y="17981"/>
                          <a:pt x="4309" y="18843"/>
                        </a:cubicBezTo>
                        <a:close/>
                        <a:moveTo>
                          <a:pt x="9191" y="2757"/>
                        </a:moveTo>
                        <a:cubicBezTo>
                          <a:pt x="9191" y="1896"/>
                          <a:pt x="9881" y="1149"/>
                          <a:pt x="10800" y="1149"/>
                        </a:cubicBezTo>
                        <a:cubicBezTo>
                          <a:pt x="11662" y="1149"/>
                          <a:pt x="12351" y="1896"/>
                          <a:pt x="12351" y="2757"/>
                        </a:cubicBezTo>
                        <a:cubicBezTo>
                          <a:pt x="12351" y="3619"/>
                          <a:pt x="11662" y="4366"/>
                          <a:pt x="10800" y="4366"/>
                        </a:cubicBezTo>
                        <a:cubicBezTo>
                          <a:pt x="9881" y="4366"/>
                          <a:pt x="9191" y="3619"/>
                          <a:pt x="9191" y="2757"/>
                        </a:cubicBezTo>
                        <a:close/>
                        <a:moveTo>
                          <a:pt x="12351" y="18843"/>
                        </a:moveTo>
                        <a:cubicBezTo>
                          <a:pt x="12351" y="19704"/>
                          <a:pt x="11662" y="20451"/>
                          <a:pt x="10800" y="20451"/>
                        </a:cubicBezTo>
                        <a:cubicBezTo>
                          <a:pt x="9881" y="20451"/>
                          <a:pt x="9191" y="19704"/>
                          <a:pt x="9191" y="18843"/>
                        </a:cubicBezTo>
                        <a:cubicBezTo>
                          <a:pt x="9191" y="17981"/>
                          <a:pt x="9881" y="17234"/>
                          <a:pt x="10800" y="17234"/>
                        </a:cubicBezTo>
                        <a:cubicBezTo>
                          <a:pt x="11662" y="17234"/>
                          <a:pt x="12351" y="17981"/>
                          <a:pt x="12351" y="18843"/>
                        </a:cubicBezTo>
                        <a:close/>
                        <a:moveTo>
                          <a:pt x="18843" y="20451"/>
                        </a:moveTo>
                        <a:cubicBezTo>
                          <a:pt x="17923" y="20451"/>
                          <a:pt x="17234" y="19704"/>
                          <a:pt x="17234" y="18843"/>
                        </a:cubicBezTo>
                        <a:cubicBezTo>
                          <a:pt x="17234" y="17981"/>
                          <a:pt x="17923" y="17234"/>
                          <a:pt x="18843" y="17234"/>
                        </a:cubicBezTo>
                        <a:cubicBezTo>
                          <a:pt x="19704" y="17234"/>
                          <a:pt x="20394" y="17981"/>
                          <a:pt x="20394" y="18843"/>
                        </a:cubicBezTo>
                        <a:cubicBezTo>
                          <a:pt x="20394" y="19704"/>
                          <a:pt x="19704" y="20451"/>
                          <a:pt x="18843" y="20451"/>
                        </a:cubicBezTo>
                        <a:close/>
                      </a:path>
                    </a:pathLst>
                  </a:custGeom>
                  <a:solidFill>
                    <a:srgbClr val="F8F8F9"/>
                  </a:solidFill>
                  <a:ln w="12700" cap="flat">
                    <a:noFill/>
                    <a:miter lim="400000"/>
                  </a:ln>
                  <a:effectLst/>
                </p:spPr>
                <p:txBody>
                  <a:bodyPr wrap="square" lIns="22860" tIns="22860" rIns="22860" bIns="22860" numCol="1" anchor="t">
                    <a:noAutofit/>
                  </a:bodyPr>
                  <a:lstStyle/>
                  <a:p>
                    <a:pPr>
                      <a:defRPr sz="1800" b="0">
                        <a:solidFill>
                          <a:srgbClr val="FFFFFF"/>
                        </a:solidFill>
                        <a:latin typeface="Arial" panose="020B0604020202020204"/>
                        <a:ea typeface="Arial" panose="020B0604020202020204"/>
                        <a:cs typeface="Arial" panose="020B0604020202020204"/>
                        <a:sym typeface="Arial" panose="020B0604020202020204"/>
                      </a:defRPr>
                    </a:pPr>
                    <a:endParaRPr sz="900">
                      <a:solidFill>
                        <a:schemeClr val="bg1"/>
                      </a:solidFill>
                      <a:latin typeface="微软雅黑" panose="020B0503020204020204" pitchFamily="34" charset="-122"/>
                      <a:ea typeface="微软雅黑" panose="020B0503020204020204" pitchFamily="34" charset="-122"/>
                    </a:endParaRPr>
                  </a:p>
                </p:txBody>
              </p:sp>
            </p:grpSp>
            <p:sp>
              <p:nvSpPr>
                <p:cNvPr id="21" name="TEXT HERE"/>
                <p:cNvSpPr txBox="1"/>
                <p:nvPr>
                  <p:custDataLst>
                    <p:tags r:id="rId15"/>
                  </p:custDataLst>
                </p:nvPr>
              </p:nvSpPr>
              <p:spPr>
                <a:xfrm>
                  <a:off x="1324" y="5977"/>
                  <a:ext cx="3005" cy="1766"/>
                </a:xfrm>
                <a:prstGeom prst="rect">
                  <a:avLst/>
                </a:prstGeom>
                <a:ln w="12700">
                  <a:miter lim="400000"/>
                </a:ln>
              </p:spPr>
              <p:txBody>
                <a:bodyPr wrap="square" lIns="25400" tIns="25400" rIns="25400" bIns="25400" anchor="ctr">
                  <a:spAutoFit/>
                </a:bodyPr>
                <a:lstStyle>
                  <a:lvl1pPr algn="l">
                    <a:defRPr sz="4000" b="0">
                      <a:solidFill>
                        <a:srgbClr val="FFFFFF"/>
                      </a:solidFill>
                      <a:latin typeface="Amazon Ember" panose="020B0603020204020204"/>
                      <a:ea typeface="Amazon Ember" panose="020B0603020204020204"/>
                      <a:cs typeface="Amazon Ember" panose="020B0603020204020204"/>
                      <a:sym typeface="Amazon Ember" panose="020B0603020204020204"/>
                    </a:defRPr>
                  </a:lvl1pPr>
                </a:lstStyle>
                <a:p>
                  <a:pPr>
                    <a:lnSpc>
                      <a:spcPct val="150000"/>
                    </a:lnSpc>
                  </a:pPr>
                  <a:r>
                    <a:rPr lang="zh-CN" altLang="en-US" sz="1600" dirty="0">
                      <a:solidFill>
                        <a:schemeClr val="tx1"/>
                      </a:solidFill>
                      <a:latin typeface="微软雅黑" panose="020B0503020204020204" pitchFamily="34" charset="-122"/>
                      <a:ea typeface="微软雅黑" panose="020B0503020204020204" pitchFamily="34" charset="-122"/>
                    </a:rPr>
                    <a:t>帮助卖家直接依据数据判断不同站点选品机会。</a:t>
                  </a:r>
                </a:p>
              </p:txBody>
            </p:sp>
          </p:grpSp>
        </p:grpSp>
        <p:grpSp>
          <p:nvGrpSpPr>
            <p:cNvPr id="18" name="组合 17"/>
            <p:cNvGrpSpPr/>
            <p:nvPr/>
          </p:nvGrpSpPr>
          <p:grpSpPr>
            <a:xfrm>
              <a:off x="5226" y="3463"/>
              <a:ext cx="4082" cy="5134"/>
              <a:chOff x="5152" y="3463"/>
              <a:chExt cx="4082" cy="5134"/>
            </a:xfrm>
          </p:grpSpPr>
          <p:sp>
            <p:nvSpPr>
              <p:cNvPr id="5" name="Rectangle 1"/>
              <p:cNvSpPr/>
              <p:nvPr>
                <p:custDataLst>
                  <p:tags r:id="rId10"/>
                </p:custDataLst>
              </p:nvPr>
            </p:nvSpPr>
            <p:spPr>
              <a:xfrm>
                <a:off x="5152" y="3463"/>
                <a:ext cx="4082" cy="5134"/>
              </a:xfrm>
              <a:prstGeom prst="roundRect">
                <a:avLst>
                  <a:gd name="adj" fmla="val 7389"/>
                </a:avLst>
              </a:prstGeom>
              <a:solidFill>
                <a:schemeClr val="bg1">
                  <a:lumMod val="95000"/>
                </a:schemeClr>
              </a:solidFill>
              <a:ln w="19050">
                <a:gradFill>
                  <a:gsLst>
                    <a:gs pos="0">
                      <a:schemeClr val="accent4"/>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grpSp>
            <p:nvGrpSpPr>
              <p:cNvPr id="34" name="组合 33"/>
              <p:cNvGrpSpPr/>
              <p:nvPr/>
            </p:nvGrpSpPr>
            <p:grpSpPr>
              <a:xfrm>
                <a:off x="5691" y="4191"/>
                <a:ext cx="3005" cy="3582"/>
                <a:chOff x="5522" y="4191"/>
                <a:chExt cx="3005" cy="3582"/>
              </a:xfrm>
            </p:grpSpPr>
            <p:grpSp>
              <p:nvGrpSpPr>
                <p:cNvPr id="4" name="组合 3"/>
                <p:cNvGrpSpPr/>
                <p:nvPr/>
              </p:nvGrpSpPr>
              <p:grpSpPr>
                <a:xfrm>
                  <a:off x="6317" y="4191"/>
                  <a:ext cx="1414" cy="1414"/>
                  <a:chOff x="9438" y="4322"/>
                  <a:chExt cx="1414" cy="1414"/>
                </a:xfrm>
              </p:grpSpPr>
              <p:sp>
                <p:nvSpPr>
                  <p:cNvPr id="15" name="Oval 26"/>
                  <p:cNvSpPr/>
                  <p:nvPr>
                    <p:custDataLst>
                      <p:tags r:id="rId12"/>
                    </p:custDataLst>
                  </p:nvPr>
                </p:nvSpPr>
                <p:spPr>
                  <a:xfrm>
                    <a:off x="9438" y="4322"/>
                    <a:ext cx="1414" cy="1414"/>
                  </a:xfrm>
                  <a:prstGeom prst="roundRect">
                    <a:avLst/>
                  </a:prstGeom>
                  <a:solidFill>
                    <a:srgbClr val="F6C62C"/>
                  </a:solidFill>
                  <a:ln w="12700" cap="flat">
                    <a:noFill/>
                    <a:miter lim="400000"/>
                  </a:ln>
                  <a:effectLst/>
                </p:spPr>
                <p:txBody>
                  <a:bodyPr wrap="square" lIns="22860" tIns="22860" rIns="22860" bIns="22860" numCol="1" anchor="ctr">
                    <a:noAutofit/>
                  </a:bodyPr>
                  <a:lstStyle/>
                  <a:p>
                    <a:pPr defTabSz="608330">
                      <a:defRPr sz="3100" b="0">
                        <a:solidFill>
                          <a:srgbClr val="53585F"/>
                        </a:solidFill>
                        <a:latin typeface="Arial" panose="020B0604020202020204"/>
                        <a:ea typeface="Arial" panose="020B0604020202020204"/>
                        <a:cs typeface="Arial" panose="020B0604020202020204"/>
                        <a:sym typeface="Arial" panose="020B0604020202020204"/>
                      </a:defRPr>
                    </a:pPr>
                    <a:endParaRPr sz="1550">
                      <a:solidFill>
                        <a:schemeClr val="bg1"/>
                      </a:solidFill>
                      <a:latin typeface="微软雅黑" panose="020B0503020204020204" pitchFamily="34" charset="-122"/>
                      <a:ea typeface="微软雅黑" panose="020B0503020204020204" pitchFamily="34" charset="-122"/>
                    </a:endParaRPr>
                  </a:p>
                </p:txBody>
              </p:sp>
              <p:sp>
                <p:nvSpPr>
                  <p:cNvPr id="16" name="Freeform 6"/>
                  <p:cNvSpPr/>
                  <p:nvPr>
                    <p:custDataLst>
                      <p:tags r:id="rId13"/>
                    </p:custDataLst>
                  </p:nvPr>
                </p:nvSpPr>
                <p:spPr>
                  <a:xfrm>
                    <a:off x="9761" y="4610"/>
                    <a:ext cx="769" cy="789"/>
                  </a:xfrm>
                  <a:custGeom>
                    <a:avLst/>
                    <a:gdLst/>
                    <a:ahLst/>
                    <a:cxnLst>
                      <a:cxn ang="0">
                        <a:pos x="wd2" y="hd2"/>
                      </a:cxn>
                      <a:cxn ang="5400000">
                        <a:pos x="wd2" y="hd2"/>
                      </a:cxn>
                      <a:cxn ang="10800000">
                        <a:pos x="wd2" y="hd2"/>
                      </a:cxn>
                      <a:cxn ang="16200000">
                        <a:pos x="wd2" y="hd2"/>
                      </a:cxn>
                    </a:cxnLst>
                    <a:rect l="0" t="0" r="r" b="b"/>
                    <a:pathLst>
                      <a:path w="18826" h="18885" extrusionOk="0">
                        <a:moveTo>
                          <a:pt x="3630" y="4633"/>
                        </a:moveTo>
                        <a:cubicBezTo>
                          <a:pt x="2438" y="5749"/>
                          <a:pt x="-2638" y="12847"/>
                          <a:pt x="1765" y="17157"/>
                        </a:cubicBezTo>
                        <a:cubicBezTo>
                          <a:pt x="6168" y="21467"/>
                          <a:pt x="13368" y="16498"/>
                          <a:pt x="14559" y="15332"/>
                        </a:cubicBezTo>
                        <a:cubicBezTo>
                          <a:pt x="15699" y="14216"/>
                          <a:pt x="14197" y="10870"/>
                          <a:pt x="11192" y="7929"/>
                        </a:cubicBezTo>
                        <a:cubicBezTo>
                          <a:pt x="8188" y="4988"/>
                          <a:pt x="4769" y="3518"/>
                          <a:pt x="3630" y="4633"/>
                        </a:cubicBezTo>
                        <a:close/>
                        <a:moveTo>
                          <a:pt x="13212" y="14368"/>
                        </a:moveTo>
                        <a:cubicBezTo>
                          <a:pt x="12850" y="14673"/>
                          <a:pt x="10208" y="13912"/>
                          <a:pt x="7670" y="11377"/>
                        </a:cubicBezTo>
                        <a:cubicBezTo>
                          <a:pt x="5080" y="8892"/>
                          <a:pt x="4303" y="6306"/>
                          <a:pt x="4614" y="5952"/>
                        </a:cubicBezTo>
                        <a:cubicBezTo>
                          <a:pt x="4976" y="5597"/>
                          <a:pt x="7618" y="6408"/>
                          <a:pt x="10156" y="8943"/>
                        </a:cubicBezTo>
                        <a:cubicBezTo>
                          <a:pt x="12746" y="11428"/>
                          <a:pt x="13575" y="14013"/>
                          <a:pt x="13212" y="14368"/>
                        </a:cubicBezTo>
                        <a:close/>
                        <a:moveTo>
                          <a:pt x="13368" y="6357"/>
                        </a:moveTo>
                        <a:cubicBezTo>
                          <a:pt x="13627" y="6357"/>
                          <a:pt x="13886" y="6256"/>
                          <a:pt x="14093" y="6053"/>
                        </a:cubicBezTo>
                        <a:cubicBezTo>
                          <a:pt x="16061" y="4126"/>
                          <a:pt x="16061" y="4126"/>
                          <a:pt x="16061" y="4126"/>
                        </a:cubicBezTo>
                        <a:cubicBezTo>
                          <a:pt x="16476" y="3721"/>
                          <a:pt x="16476" y="3112"/>
                          <a:pt x="16061" y="2706"/>
                        </a:cubicBezTo>
                        <a:cubicBezTo>
                          <a:pt x="15647" y="2301"/>
                          <a:pt x="15025" y="2301"/>
                          <a:pt x="14611" y="2706"/>
                        </a:cubicBezTo>
                        <a:cubicBezTo>
                          <a:pt x="12643" y="4633"/>
                          <a:pt x="12643" y="4633"/>
                          <a:pt x="12643" y="4633"/>
                        </a:cubicBezTo>
                        <a:cubicBezTo>
                          <a:pt x="12228" y="5039"/>
                          <a:pt x="12228" y="5698"/>
                          <a:pt x="12643" y="6053"/>
                        </a:cubicBezTo>
                        <a:cubicBezTo>
                          <a:pt x="12850" y="6256"/>
                          <a:pt x="13109" y="6357"/>
                          <a:pt x="13368" y="6357"/>
                        </a:cubicBezTo>
                        <a:close/>
                        <a:moveTo>
                          <a:pt x="9638" y="3873"/>
                        </a:moveTo>
                        <a:cubicBezTo>
                          <a:pt x="9794" y="3974"/>
                          <a:pt x="9949" y="3974"/>
                          <a:pt x="10156" y="3974"/>
                        </a:cubicBezTo>
                        <a:cubicBezTo>
                          <a:pt x="10519" y="3974"/>
                          <a:pt x="10830" y="3822"/>
                          <a:pt x="11037" y="3467"/>
                        </a:cubicBezTo>
                        <a:cubicBezTo>
                          <a:pt x="12176" y="1540"/>
                          <a:pt x="12176" y="1540"/>
                          <a:pt x="12176" y="1540"/>
                        </a:cubicBezTo>
                        <a:cubicBezTo>
                          <a:pt x="12435" y="1033"/>
                          <a:pt x="12280" y="425"/>
                          <a:pt x="11762" y="121"/>
                        </a:cubicBezTo>
                        <a:cubicBezTo>
                          <a:pt x="11244" y="-133"/>
                          <a:pt x="10622" y="19"/>
                          <a:pt x="10363" y="526"/>
                        </a:cubicBezTo>
                        <a:cubicBezTo>
                          <a:pt x="9224" y="2504"/>
                          <a:pt x="9224" y="2504"/>
                          <a:pt x="9224" y="2504"/>
                        </a:cubicBezTo>
                        <a:cubicBezTo>
                          <a:pt x="8965" y="2960"/>
                          <a:pt x="9120" y="3568"/>
                          <a:pt x="9638" y="3873"/>
                        </a:cubicBezTo>
                        <a:close/>
                        <a:moveTo>
                          <a:pt x="18703" y="6915"/>
                        </a:moveTo>
                        <a:cubicBezTo>
                          <a:pt x="18392" y="6408"/>
                          <a:pt x="17771" y="6256"/>
                          <a:pt x="17304" y="6509"/>
                        </a:cubicBezTo>
                        <a:cubicBezTo>
                          <a:pt x="15284" y="7625"/>
                          <a:pt x="15284" y="7625"/>
                          <a:pt x="15284" y="7625"/>
                        </a:cubicBezTo>
                        <a:cubicBezTo>
                          <a:pt x="14766" y="7878"/>
                          <a:pt x="14611" y="8537"/>
                          <a:pt x="14870" y="8994"/>
                        </a:cubicBezTo>
                        <a:cubicBezTo>
                          <a:pt x="15077" y="9349"/>
                          <a:pt x="15440" y="9501"/>
                          <a:pt x="15802" y="9501"/>
                        </a:cubicBezTo>
                        <a:cubicBezTo>
                          <a:pt x="15958" y="9501"/>
                          <a:pt x="16165" y="9501"/>
                          <a:pt x="16320" y="9399"/>
                        </a:cubicBezTo>
                        <a:cubicBezTo>
                          <a:pt x="18289" y="8284"/>
                          <a:pt x="18289" y="8284"/>
                          <a:pt x="18289" y="8284"/>
                        </a:cubicBezTo>
                        <a:cubicBezTo>
                          <a:pt x="18807" y="8030"/>
                          <a:pt x="18962" y="7422"/>
                          <a:pt x="18703" y="6915"/>
                        </a:cubicBezTo>
                        <a:close/>
                      </a:path>
                    </a:pathLst>
                  </a:custGeom>
                  <a:solidFill>
                    <a:schemeClr val="bg1"/>
                  </a:solidFill>
                  <a:ln w="12700" cap="flat">
                    <a:noFill/>
                    <a:miter lim="400000"/>
                  </a:ln>
                  <a:effectLst/>
                </p:spPr>
                <p:txBody>
                  <a:bodyPr wrap="square" lIns="22860" tIns="22860" rIns="22860" bIns="22860" numCol="1" anchor="t">
                    <a:noAutofit/>
                  </a:bodyPr>
                  <a:lstStyle/>
                  <a:p>
                    <a:pPr>
                      <a:defRPr sz="1800" b="0">
                        <a:solidFill>
                          <a:srgbClr val="FFFFFF"/>
                        </a:solidFill>
                        <a:latin typeface="Arial" panose="020B0604020202020204"/>
                        <a:ea typeface="Arial" panose="020B0604020202020204"/>
                        <a:cs typeface="Arial" panose="020B0604020202020204"/>
                        <a:sym typeface="Arial" panose="020B0604020202020204"/>
                      </a:defRPr>
                    </a:pPr>
                    <a:endParaRPr sz="900">
                      <a:solidFill>
                        <a:schemeClr val="bg1"/>
                      </a:solidFill>
                      <a:latin typeface="微软雅黑" panose="020B0503020204020204" pitchFamily="34" charset="-122"/>
                      <a:ea typeface="微软雅黑" panose="020B0503020204020204" pitchFamily="34" charset="-122"/>
                    </a:endParaRPr>
                  </a:p>
                </p:txBody>
              </p:sp>
            </p:grpSp>
            <p:sp>
              <p:nvSpPr>
                <p:cNvPr id="22" name="TEXT HERE"/>
                <p:cNvSpPr txBox="1"/>
                <p:nvPr>
                  <p:custDataLst>
                    <p:tags r:id="rId11"/>
                  </p:custDataLst>
                </p:nvPr>
              </p:nvSpPr>
              <p:spPr>
                <a:xfrm>
                  <a:off x="5522" y="5949"/>
                  <a:ext cx="3005" cy="1824"/>
                </a:xfrm>
                <a:prstGeom prst="rect">
                  <a:avLst/>
                </a:prstGeom>
                <a:ln w="12700">
                  <a:miter lim="400000"/>
                </a:ln>
              </p:spPr>
              <p:txBody>
                <a:bodyPr wrap="square" lIns="25400" tIns="25400" rIns="25400" bIns="25400" anchor="ctr">
                  <a:spAutoFit/>
                </a:bodyPr>
                <a:lstStyle>
                  <a:lvl1pPr algn="l">
                    <a:defRPr sz="4000" b="0">
                      <a:solidFill>
                        <a:srgbClr val="FFFFFF"/>
                      </a:solidFill>
                      <a:latin typeface="Amazon Ember" panose="020B0603020204020204"/>
                      <a:ea typeface="Amazon Ember" panose="020B0603020204020204"/>
                      <a:cs typeface="Amazon Ember" panose="020B0603020204020204"/>
                      <a:sym typeface="Amazon Ember" panose="020B0603020204020204"/>
                    </a:defRPr>
                  </a:lvl1pPr>
                </a:lstStyle>
                <a:p>
                  <a:pPr lvl="0">
                    <a:lnSpc>
                      <a:spcPct val="150000"/>
                    </a:lnSpc>
                  </a:pPr>
                  <a:r>
                    <a:rPr lang="zh-CN" altLang="en-US" sz="1600" dirty="0">
                      <a:solidFill>
                        <a:schemeClr val="tx1"/>
                      </a:solidFill>
                      <a:latin typeface="微软雅黑" panose="020B0503020204020204" pitchFamily="34" charset="-122"/>
                      <a:ea typeface="微软雅黑" panose="020B0503020204020204" pitchFamily="34" charset="-122"/>
                    </a:rPr>
                    <a:t>除了美国站，帮助卖家了解在售产品是否在其他站点热卖。</a:t>
                  </a:r>
                </a:p>
              </p:txBody>
            </p:sp>
          </p:grpSp>
        </p:grpSp>
        <p:grpSp>
          <p:nvGrpSpPr>
            <p:cNvPr id="14" name="组合 13"/>
            <p:cNvGrpSpPr/>
            <p:nvPr/>
          </p:nvGrpSpPr>
          <p:grpSpPr>
            <a:xfrm>
              <a:off x="14108" y="3463"/>
              <a:ext cx="4082" cy="5134"/>
              <a:chOff x="13887" y="3463"/>
              <a:chExt cx="4082" cy="5134"/>
            </a:xfrm>
          </p:grpSpPr>
          <p:sp>
            <p:nvSpPr>
              <p:cNvPr id="9" name="Rectangle 1"/>
              <p:cNvSpPr/>
              <p:nvPr>
                <p:custDataLst>
                  <p:tags r:id="rId6"/>
                </p:custDataLst>
              </p:nvPr>
            </p:nvSpPr>
            <p:spPr>
              <a:xfrm>
                <a:off x="13887" y="3463"/>
                <a:ext cx="4082" cy="5134"/>
              </a:xfrm>
              <a:prstGeom prst="roundRect">
                <a:avLst>
                  <a:gd name="adj" fmla="val 7389"/>
                </a:avLst>
              </a:prstGeom>
              <a:solidFill>
                <a:schemeClr val="bg1">
                  <a:lumMod val="95000"/>
                </a:schemeClr>
              </a:solidFill>
              <a:ln w="19050">
                <a:gradFill>
                  <a:gsLst>
                    <a:gs pos="0">
                      <a:schemeClr val="accent4"/>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grpSp>
            <p:nvGrpSpPr>
              <p:cNvPr id="27" name="组合 26"/>
              <p:cNvGrpSpPr/>
              <p:nvPr/>
            </p:nvGrpSpPr>
            <p:grpSpPr>
              <a:xfrm>
                <a:off x="15220" y="4195"/>
                <a:ext cx="1416" cy="1412"/>
                <a:chOff x="9437" y="7300"/>
                <a:chExt cx="1416" cy="1412"/>
              </a:xfrm>
            </p:grpSpPr>
            <p:sp>
              <p:nvSpPr>
                <p:cNvPr id="12" name="Oval 24"/>
                <p:cNvSpPr/>
                <p:nvPr>
                  <p:custDataLst>
                    <p:tags r:id="rId8"/>
                  </p:custDataLst>
                </p:nvPr>
              </p:nvSpPr>
              <p:spPr>
                <a:xfrm>
                  <a:off x="9437" y="7300"/>
                  <a:ext cx="1416" cy="1413"/>
                </a:xfrm>
                <a:prstGeom prst="roundRect">
                  <a:avLst/>
                </a:prstGeom>
                <a:solidFill>
                  <a:srgbClr val="F89104"/>
                </a:solidFill>
                <a:ln w="12700" cap="flat">
                  <a:noFill/>
                  <a:miter lim="400000"/>
                </a:ln>
                <a:effectLst/>
              </p:spPr>
              <p:txBody>
                <a:bodyPr wrap="square" lIns="22860" tIns="22860" rIns="22860" bIns="22860" numCol="1" anchor="ctr">
                  <a:noAutofit/>
                </a:bodyPr>
                <a:lstStyle/>
                <a:p>
                  <a:pPr defTabSz="608330">
                    <a:defRPr sz="3100" b="0">
                      <a:solidFill>
                        <a:srgbClr val="FFFFFF"/>
                      </a:solidFill>
                      <a:latin typeface="Arial" panose="020B0604020202020204"/>
                      <a:ea typeface="Arial" panose="020B0604020202020204"/>
                      <a:cs typeface="Arial" panose="020B0604020202020204"/>
                      <a:sym typeface="Arial" panose="020B0604020202020204"/>
                    </a:defRPr>
                  </a:pPr>
                  <a:endParaRPr sz="1550">
                    <a:solidFill>
                      <a:schemeClr val="bg1"/>
                    </a:solidFill>
                    <a:latin typeface="微软雅黑" panose="020B0503020204020204" pitchFamily="34" charset="-122"/>
                    <a:ea typeface="微软雅黑" panose="020B0503020204020204" pitchFamily="34" charset="-122"/>
                  </a:endParaRPr>
                </a:p>
              </p:txBody>
            </p:sp>
            <p:sp>
              <p:nvSpPr>
                <p:cNvPr id="13" name="Freeform 22"/>
                <p:cNvSpPr/>
                <p:nvPr>
                  <p:custDataLst>
                    <p:tags r:id="rId9"/>
                  </p:custDataLst>
                </p:nvPr>
              </p:nvSpPr>
              <p:spPr>
                <a:xfrm>
                  <a:off x="9811" y="7672"/>
                  <a:ext cx="668" cy="666"/>
                </a:xfrm>
                <a:custGeom>
                  <a:avLst/>
                  <a:gdLst/>
                  <a:ahLst/>
                  <a:cxnLst>
                    <a:cxn ang="0">
                      <a:pos x="wd2" y="hd2"/>
                    </a:cxn>
                    <a:cxn ang="5400000">
                      <a:pos x="wd2" y="hd2"/>
                    </a:cxn>
                    <a:cxn ang="10800000">
                      <a:pos x="wd2" y="hd2"/>
                    </a:cxn>
                    <a:cxn ang="16200000">
                      <a:pos x="wd2" y="hd2"/>
                    </a:cxn>
                  </a:cxnLst>
                  <a:rect l="0" t="0" r="r" b="b"/>
                  <a:pathLst>
                    <a:path w="21339" h="21339" extrusionOk="0">
                      <a:moveTo>
                        <a:pt x="19618" y="1721"/>
                      </a:moveTo>
                      <a:cubicBezTo>
                        <a:pt x="17635" y="-261"/>
                        <a:pt x="16132" y="12"/>
                        <a:pt x="16132" y="12"/>
                      </a:cubicBezTo>
                      <a:cubicBezTo>
                        <a:pt x="9228" y="6916"/>
                        <a:pt x="9228" y="6916"/>
                        <a:pt x="9228" y="6916"/>
                      </a:cubicBezTo>
                      <a:cubicBezTo>
                        <a:pt x="1367" y="14845"/>
                        <a:pt x="1367" y="14845"/>
                        <a:pt x="1367" y="14845"/>
                      </a:cubicBezTo>
                      <a:cubicBezTo>
                        <a:pt x="0" y="21339"/>
                        <a:pt x="0" y="21339"/>
                        <a:pt x="0" y="21339"/>
                      </a:cubicBezTo>
                      <a:cubicBezTo>
                        <a:pt x="6494" y="19972"/>
                        <a:pt x="6494" y="19972"/>
                        <a:pt x="6494" y="19972"/>
                      </a:cubicBezTo>
                      <a:cubicBezTo>
                        <a:pt x="14354" y="12043"/>
                        <a:pt x="14354" y="12043"/>
                        <a:pt x="14354" y="12043"/>
                      </a:cubicBezTo>
                      <a:cubicBezTo>
                        <a:pt x="21327" y="5139"/>
                        <a:pt x="21327" y="5139"/>
                        <a:pt x="21327" y="5139"/>
                      </a:cubicBezTo>
                      <a:cubicBezTo>
                        <a:pt x="21327" y="5139"/>
                        <a:pt x="21600" y="3704"/>
                        <a:pt x="19618" y="1721"/>
                      </a:cubicBezTo>
                      <a:close/>
                      <a:moveTo>
                        <a:pt x="6084" y="19152"/>
                      </a:moveTo>
                      <a:cubicBezTo>
                        <a:pt x="3896" y="19630"/>
                        <a:pt x="3896" y="19630"/>
                        <a:pt x="3896" y="19630"/>
                      </a:cubicBezTo>
                      <a:cubicBezTo>
                        <a:pt x="3691" y="19220"/>
                        <a:pt x="3418" y="18878"/>
                        <a:pt x="2939" y="18400"/>
                      </a:cubicBezTo>
                      <a:cubicBezTo>
                        <a:pt x="2461" y="17921"/>
                        <a:pt x="2051" y="17648"/>
                        <a:pt x="1641" y="17443"/>
                      </a:cubicBezTo>
                      <a:cubicBezTo>
                        <a:pt x="2119" y="15187"/>
                        <a:pt x="2119" y="15187"/>
                        <a:pt x="2119" y="15187"/>
                      </a:cubicBezTo>
                      <a:cubicBezTo>
                        <a:pt x="2803" y="14572"/>
                        <a:pt x="2803" y="14572"/>
                        <a:pt x="2803" y="14572"/>
                      </a:cubicBezTo>
                      <a:cubicBezTo>
                        <a:pt x="2803" y="14572"/>
                        <a:pt x="3965" y="14572"/>
                        <a:pt x="5332" y="15939"/>
                      </a:cubicBezTo>
                      <a:cubicBezTo>
                        <a:pt x="6699" y="17306"/>
                        <a:pt x="6767" y="18536"/>
                        <a:pt x="6767" y="18536"/>
                      </a:cubicBezTo>
                      <a:lnTo>
                        <a:pt x="6084" y="19152"/>
                      </a:lnTo>
                      <a:close/>
                    </a:path>
                  </a:pathLst>
                </a:custGeom>
                <a:solidFill>
                  <a:srgbClr val="FFFFFF"/>
                </a:solidFill>
                <a:ln w="12700" cap="flat">
                  <a:noFill/>
                  <a:miter lim="400000"/>
                </a:ln>
                <a:effectLst/>
              </p:spPr>
              <p:txBody>
                <a:bodyPr wrap="square" lIns="22860" tIns="22860" rIns="22860" bIns="22860" numCol="1" anchor="t">
                  <a:noAutofit/>
                </a:bodyPr>
                <a:lstStyle/>
                <a:p>
                  <a:pPr>
                    <a:defRPr sz="1800" b="0">
                      <a:solidFill>
                        <a:srgbClr val="FFFFFF"/>
                      </a:solidFill>
                      <a:latin typeface="Arial" panose="020B0604020202020204"/>
                      <a:ea typeface="Arial" panose="020B0604020202020204"/>
                      <a:cs typeface="Arial" panose="020B0604020202020204"/>
                      <a:sym typeface="Arial" panose="020B0604020202020204"/>
                    </a:defRPr>
                  </a:pPr>
                  <a:endParaRPr sz="900">
                    <a:solidFill>
                      <a:schemeClr val="bg1"/>
                    </a:solidFill>
                    <a:latin typeface="微软雅黑" panose="020B0503020204020204" pitchFamily="34" charset="-122"/>
                    <a:ea typeface="微软雅黑" panose="020B0503020204020204" pitchFamily="34" charset="-122"/>
                  </a:endParaRPr>
                </a:p>
              </p:txBody>
            </p:sp>
          </p:grpSp>
          <p:sp>
            <p:nvSpPr>
              <p:cNvPr id="23" name="TEXT HERE"/>
              <p:cNvSpPr txBox="1"/>
              <p:nvPr>
                <p:custDataLst>
                  <p:tags r:id="rId7"/>
                </p:custDataLst>
              </p:nvPr>
            </p:nvSpPr>
            <p:spPr>
              <a:xfrm>
                <a:off x="14425" y="5949"/>
                <a:ext cx="3005" cy="1824"/>
              </a:xfrm>
              <a:prstGeom prst="rect">
                <a:avLst/>
              </a:prstGeom>
              <a:ln w="12700">
                <a:miter lim="400000"/>
              </a:ln>
            </p:spPr>
            <p:txBody>
              <a:bodyPr wrap="square" lIns="25400" tIns="25400" rIns="25400" bIns="25400" anchor="ctr">
                <a:spAutoFit/>
              </a:bodyPr>
              <a:lstStyle>
                <a:defPPr>
                  <a:defRPr lang="zh-CN"/>
                </a:defPPr>
                <a:lvl1pPr lvl="0" algn="just">
                  <a:lnSpc>
                    <a:spcPct val="120000"/>
                  </a:lnSpc>
                  <a:defRPr sz="2000" b="0">
                    <a:latin typeface="+mn-ea"/>
                    <a:cs typeface="Amazon Ember" panose="020B0603020204020204"/>
                  </a:defRPr>
                </a:lvl1pPr>
              </a:lstStyle>
              <a:p>
                <a:pPr algn="l">
                  <a:lnSpc>
                    <a:spcPct val="150000"/>
                  </a:lnSpc>
                </a:pPr>
                <a:r>
                  <a:rPr lang="zh-CN" altLang="en-US" sz="1600" dirty="0">
                    <a:solidFill>
                      <a:schemeClr val="tx1"/>
                    </a:solidFill>
                    <a:latin typeface="微软雅黑" panose="020B0503020204020204" pitchFamily="34" charset="-122"/>
                    <a:ea typeface="微软雅黑" panose="020B0503020204020204" pitchFamily="34" charset="-122"/>
                  </a:rPr>
                  <a:t>减少产品卖到其他站点的试错成本，提高成功率。</a:t>
                </a:r>
              </a:p>
            </p:txBody>
          </p:sp>
        </p:grpSp>
        <p:grpSp>
          <p:nvGrpSpPr>
            <p:cNvPr id="17" name="组合 16"/>
            <p:cNvGrpSpPr/>
            <p:nvPr/>
          </p:nvGrpSpPr>
          <p:grpSpPr>
            <a:xfrm>
              <a:off x="9667" y="3463"/>
              <a:ext cx="4082" cy="5134"/>
              <a:chOff x="9519" y="3463"/>
              <a:chExt cx="4082" cy="5134"/>
            </a:xfrm>
          </p:grpSpPr>
          <p:sp>
            <p:nvSpPr>
              <p:cNvPr id="6" name="Rectangle 1"/>
              <p:cNvSpPr/>
              <p:nvPr>
                <p:custDataLst>
                  <p:tags r:id="rId2"/>
                </p:custDataLst>
              </p:nvPr>
            </p:nvSpPr>
            <p:spPr>
              <a:xfrm>
                <a:off x="9519" y="3463"/>
                <a:ext cx="4082" cy="5134"/>
              </a:xfrm>
              <a:prstGeom prst="roundRect">
                <a:avLst>
                  <a:gd name="adj" fmla="val 7389"/>
                </a:avLst>
              </a:prstGeom>
              <a:solidFill>
                <a:schemeClr val="bg1">
                  <a:lumMod val="95000"/>
                </a:schemeClr>
              </a:solidFill>
              <a:ln w="19050">
                <a:gradFill>
                  <a:gsLst>
                    <a:gs pos="0">
                      <a:schemeClr val="accent4"/>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grpSp>
            <p:nvGrpSpPr>
              <p:cNvPr id="35" name="组合 34"/>
              <p:cNvGrpSpPr/>
              <p:nvPr/>
            </p:nvGrpSpPr>
            <p:grpSpPr>
              <a:xfrm>
                <a:off x="10058" y="4193"/>
                <a:ext cx="3005" cy="2970"/>
                <a:chOff x="9839" y="4193"/>
                <a:chExt cx="3005" cy="2970"/>
              </a:xfrm>
            </p:grpSpPr>
            <p:grpSp>
              <p:nvGrpSpPr>
                <p:cNvPr id="26" name="组合 25"/>
                <p:cNvGrpSpPr/>
                <p:nvPr/>
              </p:nvGrpSpPr>
              <p:grpSpPr>
                <a:xfrm>
                  <a:off x="10634" y="4193"/>
                  <a:ext cx="1414" cy="1414"/>
                  <a:chOff x="1774" y="7299"/>
                  <a:chExt cx="1414" cy="1414"/>
                </a:xfrm>
              </p:grpSpPr>
              <p:sp>
                <p:nvSpPr>
                  <p:cNvPr id="10" name="Oval 21"/>
                  <p:cNvSpPr/>
                  <p:nvPr>
                    <p:custDataLst>
                      <p:tags r:id="rId4"/>
                    </p:custDataLst>
                  </p:nvPr>
                </p:nvSpPr>
                <p:spPr>
                  <a:xfrm>
                    <a:off x="1774" y="7299"/>
                    <a:ext cx="1414" cy="1414"/>
                  </a:xfrm>
                  <a:prstGeom prst="roundRect">
                    <a:avLst/>
                  </a:prstGeom>
                  <a:solidFill>
                    <a:srgbClr val="0065FC"/>
                  </a:solidFill>
                  <a:ln w="12700" cap="flat">
                    <a:noFill/>
                    <a:miter lim="400000"/>
                  </a:ln>
                  <a:effectLst/>
                </p:spPr>
                <p:txBody>
                  <a:bodyPr wrap="square" lIns="22860" tIns="22860" rIns="22860" bIns="22860" numCol="1" anchor="ctr">
                    <a:noAutofit/>
                  </a:bodyPr>
                  <a:lstStyle/>
                  <a:p>
                    <a:pPr defTabSz="608330">
                      <a:defRPr sz="3100" b="0">
                        <a:solidFill>
                          <a:srgbClr val="53585F"/>
                        </a:solidFill>
                        <a:latin typeface="Arial" panose="020B0604020202020204"/>
                        <a:ea typeface="Arial" panose="020B0604020202020204"/>
                        <a:cs typeface="Arial" panose="020B0604020202020204"/>
                        <a:sym typeface="Arial" panose="020B0604020202020204"/>
                      </a:defRPr>
                    </a:pPr>
                    <a:endParaRPr sz="1550">
                      <a:solidFill>
                        <a:schemeClr val="bg1"/>
                      </a:solidFill>
                      <a:latin typeface="微软雅黑" panose="020B0503020204020204" pitchFamily="34" charset="-122"/>
                      <a:ea typeface="微软雅黑" panose="020B0503020204020204" pitchFamily="34" charset="-122"/>
                    </a:endParaRPr>
                  </a:p>
                </p:txBody>
              </p:sp>
              <p:sp>
                <p:nvSpPr>
                  <p:cNvPr id="20" name="Freeform 12"/>
                  <p:cNvSpPr/>
                  <p:nvPr>
                    <p:custDataLst>
                      <p:tags r:id="rId5"/>
                    </p:custDataLst>
                  </p:nvPr>
                </p:nvSpPr>
                <p:spPr>
                  <a:xfrm>
                    <a:off x="2000" y="7716"/>
                    <a:ext cx="965" cy="580"/>
                  </a:xfrm>
                  <a:custGeom>
                    <a:avLst/>
                    <a:gdLst/>
                    <a:ahLst/>
                    <a:cxnLst>
                      <a:cxn ang="0">
                        <a:pos x="wd2" y="hd2"/>
                      </a:cxn>
                      <a:cxn ang="5400000">
                        <a:pos x="wd2" y="hd2"/>
                      </a:cxn>
                      <a:cxn ang="10800000">
                        <a:pos x="wd2" y="hd2"/>
                      </a:cxn>
                      <a:cxn ang="16200000">
                        <a:pos x="wd2" y="hd2"/>
                      </a:cxn>
                    </a:cxnLst>
                    <a:rect l="0" t="0" r="r" b="b"/>
                    <a:pathLst>
                      <a:path w="21600" h="21290" extrusionOk="0">
                        <a:moveTo>
                          <a:pt x="8208" y="465"/>
                        </a:moveTo>
                        <a:cubicBezTo>
                          <a:pt x="7830" y="-155"/>
                          <a:pt x="7290" y="-155"/>
                          <a:pt x="6858" y="465"/>
                        </a:cubicBezTo>
                        <a:cubicBezTo>
                          <a:pt x="0" y="10645"/>
                          <a:pt x="0" y="10645"/>
                          <a:pt x="0" y="10645"/>
                        </a:cubicBezTo>
                        <a:cubicBezTo>
                          <a:pt x="6858" y="20825"/>
                          <a:pt x="6858" y="20825"/>
                          <a:pt x="6858" y="20825"/>
                        </a:cubicBezTo>
                        <a:cubicBezTo>
                          <a:pt x="7290" y="21445"/>
                          <a:pt x="7830" y="21445"/>
                          <a:pt x="8208" y="20825"/>
                        </a:cubicBezTo>
                        <a:cubicBezTo>
                          <a:pt x="8586" y="20206"/>
                          <a:pt x="8586" y="19232"/>
                          <a:pt x="8208" y="18612"/>
                        </a:cubicBezTo>
                        <a:cubicBezTo>
                          <a:pt x="2862" y="10645"/>
                          <a:pt x="2862" y="10645"/>
                          <a:pt x="2862" y="10645"/>
                        </a:cubicBezTo>
                        <a:cubicBezTo>
                          <a:pt x="8208" y="2678"/>
                          <a:pt x="8208" y="2678"/>
                          <a:pt x="8208" y="2678"/>
                        </a:cubicBezTo>
                        <a:cubicBezTo>
                          <a:pt x="8586" y="2058"/>
                          <a:pt x="8586" y="1084"/>
                          <a:pt x="8208" y="465"/>
                        </a:cubicBezTo>
                        <a:close/>
                        <a:moveTo>
                          <a:pt x="14688" y="465"/>
                        </a:moveTo>
                        <a:cubicBezTo>
                          <a:pt x="14310" y="-155"/>
                          <a:pt x="13770" y="-155"/>
                          <a:pt x="13392" y="465"/>
                        </a:cubicBezTo>
                        <a:cubicBezTo>
                          <a:pt x="12960" y="1084"/>
                          <a:pt x="13014" y="2058"/>
                          <a:pt x="13392" y="2678"/>
                        </a:cubicBezTo>
                        <a:cubicBezTo>
                          <a:pt x="18738" y="10645"/>
                          <a:pt x="18738" y="10645"/>
                          <a:pt x="18738" y="10645"/>
                        </a:cubicBezTo>
                        <a:cubicBezTo>
                          <a:pt x="13392" y="18612"/>
                          <a:pt x="13392" y="18612"/>
                          <a:pt x="13392" y="18612"/>
                        </a:cubicBezTo>
                        <a:cubicBezTo>
                          <a:pt x="13014" y="19232"/>
                          <a:pt x="12960" y="20206"/>
                          <a:pt x="13392" y="20825"/>
                        </a:cubicBezTo>
                        <a:cubicBezTo>
                          <a:pt x="13770" y="21445"/>
                          <a:pt x="14310" y="21445"/>
                          <a:pt x="14688" y="20825"/>
                        </a:cubicBezTo>
                        <a:cubicBezTo>
                          <a:pt x="21600" y="10645"/>
                          <a:pt x="21600" y="10645"/>
                          <a:pt x="21600" y="10645"/>
                        </a:cubicBezTo>
                        <a:lnTo>
                          <a:pt x="14688" y="465"/>
                        </a:lnTo>
                        <a:close/>
                      </a:path>
                    </a:pathLst>
                  </a:custGeom>
                  <a:solidFill>
                    <a:schemeClr val="bg1"/>
                  </a:solidFill>
                  <a:ln w="12700" cap="flat">
                    <a:noFill/>
                    <a:miter lim="400000"/>
                  </a:ln>
                  <a:effectLst/>
                </p:spPr>
                <p:txBody>
                  <a:bodyPr wrap="square" lIns="22860" tIns="22860" rIns="22860" bIns="22860" numCol="1" anchor="t">
                    <a:noAutofit/>
                  </a:bodyPr>
                  <a:lstStyle/>
                  <a:p>
                    <a:pPr>
                      <a:defRPr sz="1800" b="0">
                        <a:solidFill>
                          <a:srgbClr val="FFFFFF"/>
                        </a:solidFill>
                        <a:latin typeface="Arial" panose="020B0604020202020204"/>
                        <a:ea typeface="Arial" panose="020B0604020202020204"/>
                        <a:cs typeface="Arial" panose="020B0604020202020204"/>
                        <a:sym typeface="Arial" panose="020B0604020202020204"/>
                      </a:defRPr>
                    </a:pPr>
                    <a:endParaRPr sz="900">
                      <a:solidFill>
                        <a:schemeClr val="bg1"/>
                      </a:solidFill>
                      <a:latin typeface="微软雅黑" panose="020B0503020204020204" pitchFamily="34" charset="-122"/>
                      <a:ea typeface="微软雅黑" panose="020B0503020204020204" pitchFamily="34" charset="-122"/>
                    </a:endParaRPr>
                  </a:p>
                </p:txBody>
              </p:sp>
            </p:grpSp>
            <p:sp>
              <p:nvSpPr>
                <p:cNvPr id="24" name="TEXT HERE"/>
                <p:cNvSpPr txBox="1"/>
                <p:nvPr>
                  <p:custDataLst>
                    <p:tags r:id="rId3"/>
                  </p:custDataLst>
                </p:nvPr>
              </p:nvSpPr>
              <p:spPr>
                <a:xfrm>
                  <a:off x="9839" y="5978"/>
                  <a:ext cx="3005" cy="1185"/>
                </a:xfrm>
                <a:prstGeom prst="rect">
                  <a:avLst/>
                </a:prstGeom>
                <a:ln w="12700">
                  <a:miter lim="400000"/>
                </a:ln>
              </p:spPr>
              <p:txBody>
                <a:bodyPr wrap="square" lIns="25400" tIns="25400" rIns="25400" bIns="25400" anchor="ctr">
                  <a:spAutoFit/>
                </a:bodyPr>
                <a:lstStyle>
                  <a:lvl1pPr algn="l">
                    <a:defRPr sz="4000" b="0">
                      <a:solidFill>
                        <a:srgbClr val="FFFFFF"/>
                      </a:solidFill>
                      <a:latin typeface="Amazon Ember" panose="020B0603020204020204"/>
                      <a:ea typeface="Amazon Ember" panose="020B0603020204020204"/>
                      <a:cs typeface="Amazon Ember" panose="020B0603020204020204"/>
                      <a:sym typeface="Amazon Ember" panose="020B0603020204020204"/>
                    </a:defRPr>
                  </a:lvl1pPr>
                </a:lstStyle>
                <a:p>
                  <a:pPr lvl="0">
                    <a:lnSpc>
                      <a:spcPct val="150000"/>
                    </a:lnSpc>
                  </a:pPr>
                  <a:r>
                    <a:rPr lang="zh-CN" altLang="en-US" sz="1600" dirty="0">
                      <a:solidFill>
                        <a:schemeClr val="tx1"/>
                      </a:solidFill>
                      <a:latin typeface="微软雅黑" panose="020B0503020204020204" pitchFamily="34" charset="-122"/>
                      <a:ea typeface="微软雅黑" panose="020B0503020204020204" pitchFamily="34" charset="-122"/>
                    </a:rPr>
                    <a:t>高效了解不同站点消费者的购买喜好。</a:t>
                  </a:r>
                </a:p>
              </p:txBody>
            </p:sp>
          </p:grpSp>
        </p:grpSp>
      </p:gr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p:nvPr>
            <p:custDataLst>
              <p:tags r:id="rId1"/>
            </p:custDataLst>
          </p:nvPr>
        </p:nvSpPr>
        <p:spPr>
          <a:xfrm>
            <a:off x="645160" y="1153795"/>
            <a:ext cx="5400000" cy="4875530"/>
          </a:xfrm>
          <a:prstGeom prst="roundRect">
            <a:avLst>
              <a:gd name="adj" fmla="val 3855"/>
            </a:avLst>
          </a:prstGeom>
          <a:gradFill>
            <a:gsLst>
              <a:gs pos="50005">
                <a:srgbClr val="E7E6E6">
                  <a:alpha val="10000"/>
                </a:srgbClr>
              </a:gs>
              <a:gs pos="1000">
                <a:schemeClr val="bg2">
                  <a:alpha val="20000"/>
                </a:schemeClr>
              </a:gs>
              <a:gs pos="100000">
                <a:schemeClr val="bg2">
                  <a:alpha val="20000"/>
                </a:schemeClr>
              </a:gs>
            </a:gsLst>
            <a:lin ang="3000000" scaled="0"/>
          </a:gradFill>
          <a:ln w="19050">
            <a:gradFill>
              <a:gsLst>
                <a:gs pos="0">
                  <a:schemeClr val="accent4"/>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13" name="TextBox 14"/>
          <p:cNvSpPr txBox="1"/>
          <p:nvPr>
            <p:custDataLst>
              <p:tags r:id="rId2"/>
            </p:custDataLst>
          </p:nvPr>
        </p:nvSpPr>
        <p:spPr>
          <a:xfrm>
            <a:off x="1137265" y="2935605"/>
            <a:ext cx="4415790" cy="2026285"/>
          </a:xfrm>
          <a:prstGeom prst="rect">
            <a:avLst/>
          </a:prstGeom>
        </p:spPr>
        <p:txBody>
          <a:bodyPr vert="horz" wrap="square" lIns="0" tIns="0" rIns="0" bIns="0" rtlCol="0" anchor="ctr">
            <a:noAutofit/>
          </a:bodyPr>
          <a:lstStyle>
            <a:lvl1pPr defTabSz="685800">
              <a:spcBef>
                <a:spcPct val="0"/>
              </a:spcBef>
              <a:buNone/>
              <a:defRPr sz="1200" b="0" i="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285750" lvl="0" indent="-285750" algn="l" defTabSz="825500" hangingPunct="0">
              <a:lnSpc>
                <a:spcPct val="150000"/>
              </a:lnSpc>
              <a:spcAft>
                <a:spcPts val="1200"/>
              </a:spcAft>
              <a:buClr>
                <a:srgbClr val="F89104"/>
              </a:buClr>
              <a:buSzTx/>
              <a:buFont typeface="Arial" panose="020B0604020202020204" pitchFamily="34" charset="0"/>
              <a:buChar char="•"/>
            </a:pPr>
            <a:endParaRPr lang="zh-CN" altLang="en-US" sz="1800"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cs typeface="+mn-cs"/>
              <a:sym typeface="+mn-ea"/>
            </a:endParaRPr>
          </a:p>
          <a:p>
            <a:pPr marL="285750" lvl="0" indent="-285750" algn="l" defTabSz="825500" hangingPunct="0">
              <a:lnSpc>
                <a:spcPct val="150000"/>
              </a:lnSpc>
              <a:spcAft>
                <a:spcPts val="1200"/>
              </a:spcAft>
              <a:buClr>
                <a:srgbClr val="F89104"/>
              </a:buClr>
              <a:buSzTx/>
              <a:buFont typeface="Arial" panose="020B0604020202020204" pitchFamily="34" charset="0"/>
              <a:buChar char="•"/>
            </a:pPr>
            <a:r>
              <a:rPr lang="zh-CN" altLang="en-US" sz="1800" spc="-20" dirty="0">
                <a:solidFill>
                  <a:schemeClr val="tx1"/>
                </a:solidFill>
                <a:uFillTx/>
                <a:latin typeface="微软雅黑" panose="020B0503020204020204" pitchFamily="34" charset="-122"/>
                <a:ea typeface="微软雅黑" panose="020B0503020204020204" pitchFamily="34" charset="-122"/>
                <a:cs typeface="思源黑体 Regular" panose="020B0500000000000000" charset="-122"/>
                <a:sym typeface="+mn-ea"/>
              </a:rPr>
              <a:t>您过去12个月内在美国站商城有销售额；</a:t>
            </a:r>
          </a:p>
          <a:p>
            <a:pPr marL="285750" lvl="0" indent="-285750" algn="l" defTabSz="825500" hangingPunct="0">
              <a:lnSpc>
                <a:spcPct val="150000"/>
              </a:lnSpc>
              <a:spcAft>
                <a:spcPts val="1200"/>
              </a:spcAft>
              <a:buClr>
                <a:srgbClr val="F89104"/>
              </a:buClr>
              <a:buSzTx/>
              <a:buFont typeface="Arial" panose="020B0604020202020204" pitchFamily="34" charset="0"/>
              <a:buChar char="•"/>
            </a:pPr>
            <a:r>
              <a:rPr lang="zh-CN" altLang="en-US" sz="1800" spc="-20" dirty="0">
                <a:solidFill>
                  <a:schemeClr val="tx1"/>
                </a:solidFill>
                <a:uFillTx/>
                <a:latin typeface="微软雅黑" panose="020B0503020204020204" pitchFamily="34" charset="-122"/>
                <a:ea typeface="微软雅黑" panose="020B0503020204020204" pitchFamily="34" charset="-122"/>
                <a:cs typeface="思源黑体 Regular" panose="020B0500000000000000" charset="-122"/>
                <a:sym typeface="+mn-ea"/>
              </a:rPr>
              <a:t>您在美国站销售的商品在目标站点根据计算是有需求量的；</a:t>
            </a:r>
          </a:p>
          <a:p>
            <a:pPr marL="285750" lvl="0" indent="-285750" algn="l" defTabSz="825500" hangingPunct="0">
              <a:lnSpc>
                <a:spcPct val="150000"/>
              </a:lnSpc>
              <a:spcAft>
                <a:spcPts val="1200"/>
              </a:spcAft>
              <a:buClr>
                <a:srgbClr val="F89104"/>
              </a:buClr>
              <a:buSzTx/>
              <a:buFont typeface="Arial" panose="020B0604020202020204" pitchFamily="34" charset="0"/>
              <a:buChar char="•"/>
            </a:pPr>
            <a:r>
              <a:rPr lang="zh-CN" altLang="en-US" sz="1800" spc="-20" dirty="0">
                <a:solidFill>
                  <a:schemeClr val="tx1"/>
                </a:solidFill>
                <a:uFillTx/>
                <a:latin typeface="微软雅黑" panose="020B0503020204020204" pitchFamily="34" charset="-122"/>
                <a:ea typeface="微软雅黑" panose="020B0503020204020204" pitchFamily="34" charset="-122"/>
                <a:cs typeface="思源黑体 Regular" panose="020B0500000000000000" charset="-122"/>
                <a:sym typeface="+mn-ea"/>
              </a:rPr>
              <a:t>您是专业销售账户；</a:t>
            </a:r>
          </a:p>
          <a:p>
            <a:pPr marL="285750" lvl="0" indent="-285750" algn="l" defTabSz="825500" hangingPunct="0">
              <a:lnSpc>
                <a:spcPct val="150000"/>
              </a:lnSpc>
              <a:spcAft>
                <a:spcPts val="1200"/>
              </a:spcAft>
              <a:buClr>
                <a:srgbClr val="F89104"/>
              </a:buClr>
              <a:buSzTx/>
              <a:buFont typeface="Arial" panose="020B0604020202020204" pitchFamily="34" charset="0"/>
              <a:buChar char="•"/>
            </a:pPr>
            <a:r>
              <a:rPr lang="zh-CN" altLang="en-US" sz="1800" spc="-20" dirty="0">
                <a:solidFill>
                  <a:schemeClr val="tx1"/>
                </a:solidFill>
                <a:uFillTx/>
                <a:latin typeface="微软雅黑" panose="020B0503020204020204" pitchFamily="34" charset="-122"/>
                <a:ea typeface="微软雅黑" panose="020B0503020204020204" pitchFamily="34" charset="-122"/>
                <a:cs typeface="思源黑体 Regular" panose="020B0500000000000000" charset="-122"/>
                <a:sym typeface="+mn-ea"/>
              </a:rPr>
              <a:t>某些产品类目不在推荐范围内，比如食品杂货和易腐烂产品。</a:t>
            </a:r>
          </a:p>
        </p:txBody>
      </p:sp>
      <p:sp>
        <p:nvSpPr>
          <p:cNvPr id="2" name="Title 3"/>
          <p:cNvSpPr txBox="1"/>
          <p:nvPr/>
        </p:nvSpPr>
        <p:spPr>
          <a:xfrm>
            <a:off x="149913" y="219070"/>
            <a:ext cx="678815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第三步：谁可以使用？</a:t>
            </a:r>
          </a:p>
        </p:txBody>
      </p:sp>
      <p:pic>
        <p:nvPicPr>
          <p:cNvPr id="5" name="图片 4" descr="OfficeDesk"/>
          <p:cNvPicPr>
            <a:picLocks noChangeAspect="1"/>
          </p:cNvPicPr>
          <p:nvPr/>
        </p:nvPicPr>
        <p:blipFill>
          <a:blip r:embed="rId8"/>
          <a:stretch>
            <a:fillRect/>
          </a:stretch>
        </p:blipFill>
        <p:spPr>
          <a:xfrm flipH="1">
            <a:off x="6379845" y="1892935"/>
            <a:ext cx="4820285" cy="3399155"/>
          </a:xfrm>
          <a:prstGeom prst="rect">
            <a:avLst/>
          </a:prstGeom>
        </p:spPr>
      </p:pic>
      <p:grpSp>
        <p:nvGrpSpPr>
          <p:cNvPr id="69" name="组合 16"/>
          <p:cNvGrpSpPr/>
          <p:nvPr/>
        </p:nvGrpSpPr>
        <p:grpSpPr>
          <a:xfrm>
            <a:off x="1300674" y="1744299"/>
            <a:ext cx="648000" cy="679236"/>
            <a:chOff x="-459306" y="4310259"/>
            <a:chExt cx="648000" cy="679236"/>
          </a:xfrm>
        </p:grpSpPr>
        <p:sp>
          <p:nvSpPr>
            <p:cNvPr id="70" name="椭圆 15"/>
            <p:cNvSpPr/>
            <p:nvPr>
              <p:custDataLst>
                <p:tags r:id="rId5"/>
              </p:custDataLst>
            </p:nvPr>
          </p:nvSpPr>
          <p:spPr>
            <a:xfrm>
              <a:off x="-459306" y="4341495"/>
              <a:ext cx="648000" cy="648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71" name="图片 6" descr="资源 6@3x"/>
            <p:cNvPicPr>
              <a:picLocks noChangeAspect="1"/>
            </p:cNvPicPr>
            <p:nvPr>
              <p:custDataLst>
                <p:tags r:id="rId6"/>
              </p:custDataLst>
            </p:nvPr>
          </p:nvPicPr>
          <p:blipFill>
            <a:blip r:embed="rId9"/>
            <a:stretch>
              <a:fillRect/>
            </a:stretch>
          </p:blipFill>
          <p:spPr>
            <a:xfrm>
              <a:off x="-423306" y="4310259"/>
              <a:ext cx="576000" cy="620181"/>
            </a:xfrm>
            <a:prstGeom prst="rect">
              <a:avLst/>
            </a:prstGeom>
          </p:spPr>
        </p:pic>
      </p:grpSp>
      <p:cxnSp>
        <p:nvCxnSpPr>
          <p:cNvPr id="28" name="直线连接符 24"/>
          <p:cNvCxnSpPr/>
          <p:nvPr>
            <p:custDataLst>
              <p:tags r:id="rId3"/>
            </p:custDataLst>
          </p:nvPr>
        </p:nvCxnSpPr>
        <p:spPr>
          <a:xfrm flipH="1">
            <a:off x="1300588" y="2604028"/>
            <a:ext cx="4137025" cy="0"/>
          </a:xfrm>
          <a:prstGeom prst="line">
            <a:avLst/>
          </a:prstGeom>
          <a:ln w="12700">
            <a:solidFill>
              <a:srgbClr val="FF9911"/>
            </a:solidFill>
          </a:ln>
          <a:effectLst>
            <a:outerShdw blurRad="76200" dist="38100" dir="2700000" algn="tl" rotWithShape="0">
              <a:schemeClr val="bg2">
                <a:lumMod val="25000"/>
                <a:alpha val="40000"/>
              </a:schemeClr>
            </a:outerShdw>
          </a:effectLst>
        </p:spPr>
        <p:style>
          <a:lnRef idx="1">
            <a:schemeClr val="accent1"/>
          </a:lnRef>
          <a:fillRef idx="0">
            <a:schemeClr val="accent1"/>
          </a:fillRef>
          <a:effectRef idx="0">
            <a:schemeClr val="accent1"/>
          </a:effectRef>
          <a:fontRef idx="minor">
            <a:schemeClr val="tx1"/>
          </a:fontRef>
        </p:style>
      </p:cxnSp>
      <p:sp>
        <p:nvSpPr>
          <p:cNvPr id="3" name="文本框 2"/>
          <p:cNvSpPr txBox="1"/>
          <p:nvPr>
            <p:custDataLst>
              <p:tags r:id="rId4"/>
            </p:custDataLst>
          </p:nvPr>
        </p:nvSpPr>
        <p:spPr>
          <a:xfrm>
            <a:off x="1986280" y="2042160"/>
            <a:ext cx="3327400" cy="322580"/>
          </a:xfrm>
          <a:prstGeom prst="rect">
            <a:avLst/>
          </a:prstGeom>
          <a:noFill/>
        </p:spPr>
        <p:txBody>
          <a:bodyPr wrap="square" bIns="0" rtlCol="0" anchor="t">
            <a:spAutoFit/>
          </a:bodyPr>
          <a:lstStyle/>
          <a:p>
            <a:pPr algn="l">
              <a:defRPr/>
            </a:pPr>
            <a:r>
              <a:rPr lang="zh-CN" altLang="en-US" dirty="0">
                <a:gradFill>
                  <a:gsLst>
                    <a:gs pos="0">
                      <a:schemeClr val="accent4"/>
                    </a:gs>
                    <a:gs pos="100000">
                      <a:srgbClr val="F89104"/>
                    </a:gs>
                  </a:gsLst>
                  <a:lin ang="10800000" scaled="0"/>
                </a:gradFill>
                <a:latin typeface="微软雅黑" panose="020B0503020204020204" pitchFamily="34" charset="-122"/>
                <a:ea typeface="微软雅黑" panose="020B0503020204020204" pitchFamily="34" charset="-122"/>
                <a:sym typeface="+mn-ea"/>
              </a:rPr>
              <a:t>您需要满足以下四个条件：</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p:cNvSpPr/>
          <p:nvPr>
            <p:custDataLst>
              <p:tags r:id="rId1"/>
            </p:custDataLst>
          </p:nvPr>
        </p:nvSpPr>
        <p:spPr>
          <a:xfrm>
            <a:off x="645160" y="1092835"/>
            <a:ext cx="10901680" cy="4875530"/>
          </a:xfrm>
          <a:prstGeom prst="roundRect">
            <a:avLst>
              <a:gd name="adj" fmla="val 4441"/>
            </a:avLst>
          </a:prstGeom>
          <a:gradFill>
            <a:gsLst>
              <a:gs pos="50005">
                <a:srgbClr val="E7E6E6">
                  <a:alpha val="10000"/>
                </a:srgbClr>
              </a:gs>
              <a:gs pos="1000">
                <a:schemeClr val="bg2">
                  <a:alpha val="20000"/>
                </a:schemeClr>
              </a:gs>
              <a:gs pos="100000">
                <a:schemeClr val="bg2">
                  <a:alpha val="20000"/>
                </a:schemeClr>
              </a:gs>
            </a:gsLst>
            <a:lin ang="3000000" scaled="0"/>
          </a:gradFill>
          <a:ln w="19050">
            <a:gradFill>
              <a:gsLst>
                <a:gs pos="0">
                  <a:schemeClr val="accent4"/>
                </a:gs>
                <a:gs pos="100000">
                  <a:srgbClr val="FF9900"/>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2" name="Title 3"/>
          <p:cNvSpPr txBox="1"/>
          <p:nvPr/>
        </p:nvSpPr>
        <p:spPr>
          <a:xfrm>
            <a:off x="149913" y="219070"/>
            <a:ext cx="678815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第四步：选择目标站点</a:t>
            </a:r>
          </a:p>
        </p:txBody>
      </p:sp>
      <p:sp>
        <p:nvSpPr>
          <p:cNvPr id="3" name="文本占位符 1"/>
          <p:cNvSpPr>
            <a:spLocks noGrp="1"/>
          </p:cNvSpPr>
          <p:nvPr>
            <p:custDataLst>
              <p:tags r:id="rId2"/>
            </p:custDataLst>
          </p:nvPr>
        </p:nvSpPr>
        <p:spPr>
          <a:xfrm>
            <a:off x="1052830" y="1388745"/>
            <a:ext cx="10097770" cy="1337945"/>
          </a:xfrm>
        </p:spPr>
        <p:txBody>
          <a:bodyPr wrap="square" anchor="ctr">
            <a:spAutoFit/>
          </a:bodyPr>
          <a:lstStyle>
            <a:lvl1pPr marL="0" marR="0" indent="-317500" algn="just" defTabSz="412750" rtl="0" latinLnBrk="0">
              <a:lnSpc>
                <a:spcPct val="100000"/>
              </a:lnSpc>
              <a:spcBef>
                <a:spcPts val="0"/>
              </a:spcBef>
              <a:spcAft>
                <a:spcPts val="0"/>
              </a:spcAft>
              <a:buClrTx/>
              <a:buSzPct val="125000"/>
              <a:buFontTx/>
              <a:buNone/>
              <a:defRPr sz="2000" b="0" i="0" u="none" strike="noStrike" cap="none" spc="0" baseline="0">
                <a:solidFill>
                  <a:srgbClr val="000000"/>
                </a:solidFill>
                <a:uFillTx/>
                <a:latin typeface="Helvetica Neue"/>
                <a:ea typeface="Helvetica Neue"/>
                <a:cs typeface="Helvetica Neue"/>
                <a:sym typeface="Helvetica Neue"/>
              </a:defRPr>
            </a:lvl1pPr>
            <a:lvl2pPr marL="635000" marR="0" indent="-317500" algn="l" defTabSz="412750" rtl="0" latinLnBrk="0">
              <a:lnSpc>
                <a:spcPct val="100000"/>
              </a:lnSpc>
              <a:spcBef>
                <a:spcPts val="2950"/>
              </a:spcBef>
              <a:spcAft>
                <a:spcPts val="0"/>
              </a:spcAft>
              <a:buClrTx/>
              <a:buSzPct val="125000"/>
              <a:buFontTx/>
              <a:buNone/>
              <a:defRPr sz="2400" b="0" i="0" u="none" strike="noStrike" cap="none" spc="0" baseline="0">
                <a:solidFill>
                  <a:srgbClr val="000000"/>
                </a:solidFill>
                <a:uFillTx/>
                <a:latin typeface="Helvetica Neue"/>
                <a:ea typeface="Helvetica Neue"/>
                <a:cs typeface="Helvetica Neue"/>
                <a:sym typeface="Helvetica Neue"/>
              </a:defRPr>
            </a:lvl2pPr>
            <a:lvl3pPr marL="952500" marR="0" indent="-317500" algn="l" defTabSz="412750" rtl="0" latinLnBrk="0">
              <a:lnSpc>
                <a:spcPct val="100000"/>
              </a:lnSpc>
              <a:spcBef>
                <a:spcPts val="2950"/>
              </a:spcBef>
              <a:spcAft>
                <a:spcPts val="0"/>
              </a:spcAft>
              <a:buClrTx/>
              <a:buSzPct val="125000"/>
              <a:buFontTx/>
              <a:buNone/>
              <a:defRPr sz="2400" b="0" i="0" u="none" strike="noStrike" cap="none" spc="0" baseline="0">
                <a:solidFill>
                  <a:srgbClr val="000000"/>
                </a:solidFill>
                <a:uFillTx/>
                <a:latin typeface="Helvetica Neue"/>
                <a:ea typeface="Helvetica Neue"/>
                <a:cs typeface="Helvetica Neue"/>
                <a:sym typeface="Helvetica Neue"/>
              </a:defRPr>
            </a:lvl3pPr>
            <a:lvl4pPr marL="1270000" marR="0" indent="-317500" algn="l" defTabSz="412750" rtl="0" latinLnBrk="0">
              <a:lnSpc>
                <a:spcPct val="100000"/>
              </a:lnSpc>
              <a:spcBef>
                <a:spcPts val="2950"/>
              </a:spcBef>
              <a:spcAft>
                <a:spcPts val="0"/>
              </a:spcAft>
              <a:buClrTx/>
              <a:buSzPct val="125000"/>
              <a:buFontTx/>
              <a:buNone/>
              <a:defRPr sz="2400" b="0" i="0" u="none" strike="noStrike" cap="none" spc="0" baseline="0">
                <a:solidFill>
                  <a:srgbClr val="000000"/>
                </a:solidFill>
                <a:uFillTx/>
                <a:latin typeface="Helvetica Neue"/>
                <a:ea typeface="Helvetica Neue"/>
                <a:cs typeface="Helvetica Neue"/>
                <a:sym typeface="Helvetica Neue"/>
              </a:defRPr>
            </a:lvl4pPr>
            <a:lvl5pPr marL="1587500" marR="0" indent="-317500" algn="l" defTabSz="412750" rtl="0" latinLnBrk="0">
              <a:lnSpc>
                <a:spcPct val="100000"/>
              </a:lnSpc>
              <a:spcBef>
                <a:spcPts val="2950"/>
              </a:spcBef>
              <a:spcAft>
                <a:spcPts val="0"/>
              </a:spcAft>
              <a:buClrTx/>
              <a:buSzPct val="125000"/>
              <a:buFontTx/>
              <a:buNone/>
              <a:defRPr sz="2400" b="0" i="0" u="none" strike="noStrike" cap="none" spc="0" baseline="0">
                <a:solidFill>
                  <a:srgbClr val="000000"/>
                </a:solidFill>
                <a:uFillTx/>
                <a:latin typeface="Helvetica Neue"/>
                <a:ea typeface="Helvetica Neue"/>
                <a:cs typeface="Helvetica Neue"/>
                <a:sym typeface="Helvetica Neue"/>
              </a:defRPr>
            </a:lvl5pPr>
            <a:lvl6pPr marL="1905000" marR="0" indent="-317500" algn="l" defTabSz="412750" rtl="0" latinLnBrk="0">
              <a:lnSpc>
                <a:spcPct val="100000"/>
              </a:lnSpc>
              <a:spcBef>
                <a:spcPts val="2950"/>
              </a:spcBef>
              <a:spcAft>
                <a:spcPts val="0"/>
              </a:spcAft>
              <a:buClrTx/>
              <a:buSzPct val="125000"/>
              <a:buFontTx/>
              <a:buChar char="•"/>
              <a:defRPr sz="2400" b="0" i="0" u="none" strike="noStrike" cap="none" spc="0" baseline="0">
                <a:solidFill>
                  <a:srgbClr val="000000"/>
                </a:solidFill>
                <a:uFillTx/>
                <a:latin typeface="Helvetica Neue"/>
                <a:ea typeface="Helvetica Neue"/>
                <a:cs typeface="Helvetica Neue"/>
                <a:sym typeface="Helvetica Neue"/>
              </a:defRPr>
            </a:lvl6pPr>
            <a:lvl7pPr marL="2222500" marR="0" indent="-317500" algn="l" defTabSz="412750" rtl="0" latinLnBrk="0">
              <a:lnSpc>
                <a:spcPct val="100000"/>
              </a:lnSpc>
              <a:spcBef>
                <a:spcPts val="2950"/>
              </a:spcBef>
              <a:spcAft>
                <a:spcPts val="0"/>
              </a:spcAft>
              <a:buClrTx/>
              <a:buSzPct val="125000"/>
              <a:buFontTx/>
              <a:buChar char="•"/>
              <a:defRPr sz="2400" b="0" i="0" u="none" strike="noStrike" cap="none" spc="0" baseline="0">
                <a:solidFill>
                  <a:srgbClr val="000000"/>
                </a:solidFill>
                <a:uFillTx/>
                <a:latin typeface="Helvetica Neue"/>
                <a:ea typeface="Helvetica Neue"/>
                <a:cs typeface="Helvetica Neue"/>
                <a:sym typeface="Helvetica Neue"/>
              </a:defRPr>
            </a:lvl7pPr>
            <a:lvl8pPr marL="2540000" marR="0" indent="-317500" algn="l" defTabSz="412750" rtl="0" latinLnBrk="0">
              <a:lnSpc>
                <a:spcPct val="100000"/>
              </a:lnSpc>
              <a:spcBef>
                <a:spcPts val="2950"/>
              </a:spcBef>
              <a:spcAft>
                <a:spcPts val="0"/>
              </a:spcAft>
              <a:buClrTx/>
              <a:buSzPct val="125000"/>
              <a:buFontTx/>
              <a:buChar char="•"/>
              <a:defRPr sz="2400" b="0" i="0" u="none" strike="noStrike" cap="none" spc="0" baseline="0">
                <a:solidFill>
                  <a:srgbClr val="000000"/>
                </a:solidFill>
                <a:uFillTx/>
                <a:latin typeface="Helvetica Neue"/>
                <a:ea typeface="Helvetica Neue"/>
                <a:cs typeface="Helvetica Neue"/>
                <a:sym typeface="Helvetica Neue"/>
              </a:defRPr>
            </a:lvl8pPr>
            <a:lvl9pPr marL="2857500" marR="0" indent="-317500" algn="l" defTabSz="412750" rtl="0" latinLnBrk="0">
              <a:lnSpc>
                <a:spcPct val="100000"/>
              </a:lnSpc>
              <a:spcBef>
                <a:spcPts val="2950"/>
              </a:spcBef>
              <a:spcAft>
                <a:spcPts val="0"/>
              </a:spcAft>
              <a:buClrTx/>
              <a:buSzPct val="125000"/>
              <a:buFontTx/>
              <a:buChar char="•"/>
              <a:defRPr sz="2400" b="0" i="0" u="none" strike="noStrike" cap="none" spc="0" baseline="0">
                <a:solidFill>
                  <a:srgbClr val="000000"/>
                </a:solidFill>
                <a:uFillTx/>
                <a:latin typeface="Helvetica Neue"/>
                <a:ea typeface="Helvetica Neue"/>
                <a:cs typeface="Helvetica Neue"/>
                <a:sym typeface="Helvetica Neue"/>
              </a:defRPr>
            </a:lvl9pPr>
          </a:lstStyle>
          <a:p>
            <a:pPr lvl="0" algn="just">
              <a:lnSpc>
                <a:spcPct val="150000"/>
              </a:lnSpc>
              <a:spcAft>
                <a:spcPts val="1200"/>
              </a:spcAft>
            </a:pPr>
            <a:r>
              <a:rPr lang="zh-CN" altLang="en-US" sz="1800" dirty="0">
                <a:solidFill>
                  <a:schemeClr val="tx1"/>
                </a:solidFill>
                <a:latin typeface="微软雅黑" panose="020B0503020204020204" pitchFamily="34" charset="-122"/>
                <a:ea typeface="微软雅黑" panose="020B0503020204020204" pitchFamily="34" charset="-122"/>
                <a:cs typeface="思源黑体 Light" panose="020B0300000000000000" charset="-122"/>
                <a:sym typeface="思源黑体 Light" panose="020B0300000000000000" charset="-122"/>
              </a:rPr>
              <a:t>无论卖家是否已在欧洲五国和日本站开店，均可查看工具。但卖家在点击卖家平台主页后，看到的界面会略有不同。</a:t>
            </a:r>
            <a:r>
              <a:rPr lang="zh-CN" altLang="en-US" sz="1800" dirty="0">
                <a:solidFill>
                  <a:srgbClr val="F89104"/>
                </a:solidFill>
                <a:latin typeface="微软雅黑" panose="020B0503020204020204" pitchFamily="34" charset="-122"/>
                <a:ea typeface="微软雅黑" panose="020B0503020204020204" pitchFamily="34" charset="-122"/>
                <a:cs typeface="思源黑体 Light" panose="020B0300000000000000" charset="-122"/>
                <a:sym typeface="思源黑体 Light" panose="020B0300000000000000" charset="-122"/>
              </a:rPr>
              <a:t>进入“全球商品需求”主页后，卖家会看到目标商城欧洲五国和日本站。</a:t>
            </a:r>
            <a:r>
              <a:rPr lang="zh-CN" altLang="en-US" sz="1800" dirty="0">
                <a:solidFill>
                  <a:schemeClr val="tx1"/>
                </a:solidFill>
                <a:latin typeface="微软雅黑" panose="020B0503020204020204" pitchFamily="34" charset="-122"/>
                <a:ea typeface="微软雅黑" panose="020B0503020204020204" pitchFamily="34" charset="-122"/>
                <a:cs typeface="思源黑体 Light" panose="020B0300000000000000" charset="-122"/>
                <a:sym typeface="思源黑体 Light" panose="020B0300000000000000" charset="-122"/>
              </a:rPr>
              <a:t>只要卖家符合上一页所列的要求，即可看到相应站点的需求推荐。</a:t>
            </a:r>
          </a:p>
        </p:txBody>
      </p:sp>
      <p:sp>
        <p:nvSpPr>
          <p:cNvPr id="5" name="Rectangle 2"/>
          <p:cNvSpPr/>
          <p:nvPr>
            <p:custDataLst>
              <p:tags r:id="rId3"/>
            </p:custDataLst>
          </p:nvPr>
        </p:nvSpPr>
        <p:spPr>
          <a:xfrm>
            <a:off x="5866130" y="3161665"/>
            <a:ext cx="3081655" cy="2418715"/>
          </a:xfrm>
          <a:prstGeom prst="rect">
            <a:avLst/>
          </a:prstGeom>
        </p:spPr>
        <p:txBody>
          <a:bodyPr wrap="square">
            <a:noAutofit/>
          </a:bodyPr>
          <a:lstStyle/>
          <a:p>
            <a:pPr>
              <a:lnSpc>
                <a:spcPct val="150000"/>
              </a:lnSpc>
            </a:pPr>
            <a:r>
              <a:rPr lang="zh-CN" altLang="en-US" sz="1600" b="1" dirty="0">
                <a:solidFill>
                  <a:schemeClr val="tx1"/>
                </a:solidFill>
                <a:latin typeface="微软雅黑" panose="020B0503020204020204" pitchFamily="34" charset="-122"/>
                <a:ea typeface="微软雅黑" panose="020B0503020204020204" pitchFamily="34" charset="-122"/>
              </a:rPr>
              <a:t>例如：</a:t>
            </a:r>
          </a:p>
          <a:p>
            <a:pPr marL="285750" indent="-285750">
              <a:lnSpc>
                <a:spcPct val="150000"/>
              </a:lnSpc>
              <a:buClr>
                <a:srgbClr val="F89104"/>
              </a:buClr>
              <a:buFont typeface="Arial" panose="020B0604020202020204" pitchFamily="34" charset="0"/>
              <a:buChar char="•"/>
            </a:pPr>
            <a:r>
              <a:rPr lang="zh-CN" altLang="en-US" sz="1600" dirty="0">
                <a:solidFill>
                  <a:schemeClr val="tx1"/>
                </a:solidFill>
                <a:latin typeface="微软雅黑" panose="020B0503020204020204" pitchFamily="34" charset="-122"/>
                <a:ea typeface="微软雅黑" panose="020B0503020204020204" pitchFamily="34" charset="-122"/>
              </a:rPr>
              <a:t>如果您在欧洲五国、日本站均符合要求，即可看到</a:t>
            </a:r>
            <a:r>
              <a:rPr lang="en-US" altLang="zh-CN" sz="1600" dirty="0">
                <a:solidFill>
                  <a:schemeClr val="tx1"/>
                </a:solidFill>
                <a:latin typeface="微软雅黑" panose="020B0503020204020204" pitchFamily="34" charset="-122"/>
                <a:ea typeface="微软雅黑" panose="020B0503020204020204" pitchFamily="34" charset="-122"/>
              </a:rPr>
              <a:t>6</a:t>
            </a:r>
            <a:r>
              <a:rPr lang="zh-CN" altLang="en-US" sz="1600" dirty="0">
                <a:solidFill>
                  <a:schemeClr val="tx1"/>
                </a:solidFill>
                <a:latin typeface="微软雅黑" panose="020B0503020204020204" pitchFamily="34" charset="-122"/>
                <a:ea typeface="微软雅黑" panose="020B0503020204020204" pitchFamily="34" charset="-122"/>
              </a:rPr>
              <a:t>个站点的商品需求推荐；</a:t>
            </a:r>
          </a:p>
          <a:p>
            <a:pPr marL="285750" indent="-285750">
              <a:lnSpc>
                <a:spcPct val="150000"/>
              </a:lnSpc>
              <a:buClr>
                <a:srgbClr val="F89104"/>
              </a:buClr>
              <a:buFont typeface="Arial" panose="020B0604020202020204" pitchFamily="34" charset="0"/>
              <a:buChar char="•"/>
            </a:pPr>
            <a:r>
              <a:rPr lang="zh-CN" altLang="en-US" sz="1600" dirty="0">
                <a:solidFill>
                  <a:schemeClr val="tx1"/>
                </a:solidFill>
                <a:latin typeface="微软雅黑" panose="020B0503020204020204" pitchFamily="34" charset="-122"/>
                <a:ea typeface="微软雅黑" panose="020B0503020204020204" pitchFamily="34" charset="-122"/>
              </a:rPr>
              <a:t>如果您仅在日本站符合要求，则会看到日本站推荐。</a:t>
            </a:r>
          </a:p>
        </p:txBody>
      </p:sp>
      <p:pic>
        <p:nvPicPr>
          <p:cNvPr id="6" name="Picture 5"/>
          <p:cNvPicPr>
            <a:picLocks noChangeAspect="1"/>
          </p:cNvPicPr>
          <p:nvPr>
            <p:custDataLst>
              <p:tags r:id="rId4"/>
            </p:custDataLst>
          </p:nvPr>
        </p:nvPicPr>
        <p:blipFill>
          <a:blip r:embed="rId8"/>
          <a:srcRect t="2727" b="4242"/>
          <a:stretch>
            <a:fillRect/>
          </a:stretch>
        </p:blipFill>
        <p:spPr>
          <a:xfrm>
            <a:off x="1116330" y="3161665"/>
            <a:ext cx="4386580" cy="2603500"/>
          </a:xfrm>
          <a:prstGeom prst="rect">
            <a:avLst/>
          </a:prstGeom>
          <a:ln>
            <a:solidFill>
              <a:schemeClr val="bg2"/>
            </a:solidFill>
          </a:ln>
        </p:spPr>
      </p:pic>
      <p:sp>
        <p:nvSpPr>
          <p:cNvPr id="10" name="Rectangle 9"/>
          <p:cNvSpPr/>
          <p:nvPr>
            <p:custDataLst>
              <p:tags r:id="rId5"/>
            </p:custDataLst>
          </p:nvPr>
        </p:nvSpPr>
        <p:spPr>
          <a:xfrm>
            <a:off x="3575050" y="4398011"/>
            <a:ext cx="1787525" cy="492125"/>
          </a:xfrm>
          <a:prstGeom prst="rect">
            <a:avLst/>
          </a:prstGeom>
          <a:noFill/>
          <a:ln w="44450" cap="flat">
            <a:solidFill>
              <a:srgbClr val="FF9911"/>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spAutoFit/>
          </a:bodyPr>
          <a:lstStyle/>
          <a:p>
            <a:pPr lvl="0" algn="ctr" defTabSz="825500" hangingPunct="0">
              <a:spcBef>
                <a:spcPts val="0"/>
              </a:spcBef>
              <a:spcAft>
                <a:spcPts val="0"/>
              </a:spcAft>
              <a:buClrTx/>
              <a:buSzTx/>
              <a:buFontTx/>
            </a:pPr>
            <a:endParaRPr lang="zh-CN" altLang="en-US" sz="3200" dirty="0">
              <a:ln>
                <a:noFill/>
              </a:ln>
              <a:solidFill>
                <a:srgbClr val="FFFFFF"/>
              </a:solidFill>
              <a:effectLst/>
              <a:uFillTx/>
              <a:latin typeface="微软雅黑" panose="020B0503020204020204" pitchFamily="34" charset="-122"/>
              <a:ea typeface="微软雅黑" panose="020B0503020204020204" pitchFamily="34" charset="-122"/>
              <a:sym typeface="+mn-ea"/>
            </a:endParaRPr>
          </a:p>
        </p:txBody>
      </p:sp>
      <p:cxnSp>
        <p:nvCxnSpPr>
          <p:cNvPr id="28" name="直线连接符 24"/>
          <p:cNvCxnSpPr/>
          <p:nvPr>
            <p:custDataLst>
              <p:tags r:id="rId6"/>
            </p:custDataLst>
          </p:nvPr>
        </p:nvCxnSpPr>
        <p:spPr>
          <a:xfrm flipH="1">
            <a:off x="1116013" y="2886393"/>
            <a:ext cx="9951720" cy="0"/>
          </a:xfrm>
          <a:prstGeom prst="line">
            <a:avLst/>
          </a:prstGeom>
          <a:ln w="12700">
            <a:solidFill>
              <a:srgbClr val="FF9911"/>
            </a:solidFill>
          </a:ln>
          <a:effectLst>
            <a:outerShdw blurRad="76200" dist="38100" dir="2700000" algn="tl" rotWithShape="0">
              <a:schemeClr val="bg2">
                <a:lumMod val="25000"/>
                <a:alpha val="40000"/>
              </a:schemeClr>
            </a:outerShdw>
          </a:effectLst>
        </p:spPr>
        <p:style>
          <a:lnRef idx="1">
            <a:schemeClr val="accent1"/>
          </a:lnRef>
          <a:fillRef idx="0">
            <a:schemeClr val="accent1"/>
          </a:fillRef>
          <a:effectRef idx="0">
            <a:schemeClr val="accent1"/>
          </a:effectRef>
          <a:fontRef idx="minor">
            <a:schemeClr val="tx1"/>
          </a:fontRef>
        </p:style>
      </p:cxnSp>
      <p:pic>
        <p:nvPicPr>
          <p:cNvPr id="4" name="图片 3" descr="icon6 (1)"/>
          <p:cNvPicPr>
            <a:picLocks noChangeAspect="1"/>
          </p:cNvPicPr>
          <p:nvPr/>
        </p:nvPicPr>
        <p:blipFill>
          <a:blip r:embed="rId9"/>
          <a:stretch>
            <a:fillRect/>
          </a:stretch>
        </p:blipFill>
        <p:spPr>
          <a:xfrm>
            <a:off x="8947150" y="3415665"/>
            <a:ext cx="2476500" cy="2095500"/>
          </a:xfrm>
          <a:prstGeom prst="rect">
            <a:avLst/>
          </a:prstGeom>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p:nvPr>
            <p:custDataLst>
              <p:tags r:id="rId1"/>
            </p:custDataLst>
          </p:nvPr>
        </p:nvSpPr>
        <p:spPr>
          <a:xfrm>
            <a:off x="388620" y="1384300"/>
            <a:ext cx="11415395" cy="4874260"/>
          </a:xfrm>
          <a:prstGeom prst="roundRect">
            <a:avLst>
              <a:gd name="adj" fmla="val 4845"/>
            </a:avLst>
          </a:prstGeom>
          <a:solidFill>
            <a:schemeClr val="bg1">
              <a:lumMod val="95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8" name="Rectangle 19"/>
          <p:cNvSpPr/>
          <p:nvPr>
            <p:custDataLst>
              <p:tags r:id="rId2"/>
            </p:custDataLst>
          </p:nvPr>
        </p:nvSpPr>
        <p:spPr>
          <a:xfrm>
            <a:off x="434975" y="1384935"/>
            <a:ext cx="11321415" cy="1053465"/>
          </a:xfrm>
          <a:prstGeom prst="rect">
            <a:avLst/>
          </a:prstGeom>
        </p:spPr>
        <p:txBody>
          <a:bodyPr wrap="square">
            <a:noAutofit/>
          </a:bodyPr>
          <a:lstStyle/>
          <a:p>
            <a:pPr lvl="0" algn="ctr">
              <a:lnSpc>
                <a:spcPct val="150000"/>
              </a:lnSpc>
              <a:buClrTx/>
              <a:buSzTx/>
              <a:buFontTx/>
            </a:pPr>
            <a:r>
              <a:rPr lang="zh-CN" altLang="en-US" sz="1600" spc="20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思源黑体 Light" panose="020B0300000000000000" charset="-122"/>
              </a:rPr>
              <a:t>“目标店铺的新ASIN”标签下的推荐表示目标站点中没有其他卖家在销售相同的ASIN。</a:t>
            </a:r>
          </a:p>
          <a:p>
            <a:pPr lvl="0" algn="ctr">
              <a:lnSpc>
                <a:spcPct val="150000"/>
              </a:lnSpc>
              <a:buClrTx/>
              <a:buSzTx/>
              <a:buFontTx/>
            </a:pPr>
            <a:r>
              <a:rPr lang="zh-CN" altLang="en-US" sz="1600" spc="20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思源黑体 Light" panose="020B0300000000000000" charset="-122"/>
              </a:rPr>
              <a:t>您可以通过多个指标维度帮助卖家全方位理解被推荐的商品适合拓展到目标商城的原因。</a:t>
            </a:r>
          </a:p>
          <a:p>
            <a:pPr lvl="0" algn="ctr">
              <a:lnSpc>
                <a:spcPct val="150000"/>
              </a:lnSpc>
              <a:buClrTx/>
              <a:buSzTx/>
              <a:buFontTx/>
            </a:pPr>
            <a:endParaRPr lang="zh-CN" altLang="en-US" sz="1600" spc="20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思源黑体 Light" panose="020B0300000000000000" charset="-122"/>
            </a:endParaRPr>
          </a:p>
        </p:txBody>
      </p:sp>
      <p:sp>
        <p:nvSpPr>
          <p:cNvPr id="9" name="Rectangle 4"/>
          <p:cNvSpPr/>
          <p:nvPr>
            <p:custDataLst>
              <p:tags r:id="rId3"/>
            </p:custDataLst>
          </p:nvPr>
        </p:nvSpPr>
        <p:spPr bwMode="auto">
          <a:xfrm>
            <a:off x="370840" y="859155"/>
            <a:ext cx="4927600" cy="370486"/>
          </a:xfrm>
          <a:prstGeom prst="rect">
            <a:avLst/>
          </a:prstGeom>
          <a:noFill/>
          <a:ln w="9525" cap="flat" cmpd="sng" algn="ctr">
            <a:noFill/>
            <a:prstDash val="solid"/>
            <a:headEnd type="none" w="med" len="med"/>
            <a:tailEnd type="none" w="med" len="med"/>
          </a:ln>
          <a:effectLst/>
        </p:spPr>
        <p:txBody>
          <a:bodyPr wrap="square" lIns="0" tIns="0" rIns="0" bIns="0">
            <a:spAutoFit/>
          </a:bodyPr>
          <a:lstStyle/>
          <a:p>
            <a:pPr lvl="0" algn="l" defTabSz="932180" fontAlgn="base">
              <a:lnSpc>
                <a:spcPct val="150000"/>
              </a:lnSpc>
              <a:buClrTx/>
              <a:buSzTx/>
              <a:buFontTx/>
              <a:defRPr/>
            </a:pPr>
            <a:r>
              <a:rPr lang="zh-CN" altLang="en-US" spc="100" dirty="0">
                <a:gradFill>
                  <a:gsLst>
                    <a:gs pos="0">
                      <a:srgbClr val="FF9911"/>
                    </a:gs>
                    <a:gs pos="100000">
                      <a:srgbClr val="FFC000"/>
                    </a:gs>
                  </a:gsLst>
                  <a:lin ang="5400000" scaled="0"/>
                </a:gradFill>
                <a:latin typeface="微软雅黑" panose="020B0503020204020204" pitchFamily="34" charset="-122"/>
                <a:ea typeface="微软雅黑" panose="020B0503020204020204" pitchFamily="34" charset="-122"/>
                <a:cs typeface="Amazon Ember" panose="020B0603020204020204" charset="0"/>
                <a:sym typeface="+mn-ea"/>
              </a:rPr>
              <a:t>理解数据指标含义</a:t>
            </a:r>
            <a:endParaRPr lang="zh-CN" altLang="en-US" b="1" spc="100" dirty="0">
              <a:gradFill>
                <a:gsLst>
                  <a:gs pos="0">
                    <a:srgbClr val="FF9911"/>
                  </a:gs>
                  <a:gs pos="100000">
                    <a:srgbClr val="FFC000"/>
                  </a:gs>
                </a:gsLst>
                <a:lin ang="5400000" scaled="0"/>
              </a:gradFill>
              <a:latin typeface="微软雅黑" panose="020B0503020204020204" pitchFamily="34" charset="-122"/>
              <a:ea typeface="微软雅黑" panose="020B0503020204020204" pitchFamily="34" charset="-122"/>
              <a:cs typeface="Amazon Ember" panose="020B0603020204020204" charset="0"/>
              <a:sym typeface="+mn-ea"/>
            </a:endParaRPr>
          </a:p>
        </p:txBody>
      </p:sp>
      <p:grpSp>
        <p:nvGrpSpPr>
          <p:cNvPr id="3" name="组合 2"/>
          <p:cNvGrpSpPr>
            <a:grpSpLocks noChangeAspect="1"/>
          </p:cNvGrpSpPr>
          <p:nvPr/>
        </p:nvGrpSpPr>
        <p:grpSpPr>
          <a:xfrm>
            <a:off x="624000" y="2290445"/>
            <a:ext cx="10944000" cy="1861602"/>
            <a:chOff x="754" y="3245"/>
            <a:chExt cx="17948" cy="3053"/>
          </a:xfrm>
        </p:grpSpPr>
        <p:pic>
          <p:nvPicPr>
            <p:cNvPr id="40" name="Picture 39"/>
            <p:cNvPicPr>
              <a:picLocks noChangeAspect="1"/>
            </p:cNvPicPr>
            <p:nvPr>
              <p:custDataLst>
                <p:tags r:id="rId13"/>
              </p:custDataLst>
            </p:nvPr>
          </p:nvPicPr>
          <p:blipFill>
            <a:blip r:embed="rId19"/>
            <a:stretch>
              <a:fillRect/>
            </a:stretch>
          </p:blipFill>
          <p:spPr>
            <a:xfrm>
              <a:off x="754" y="3245"/>
              <a:ext cx="17948" cy="3053"/>
            </a:xfrm>
            <a:prstGeom prst="rect">
              <a:avLst/>
            </a:prstGeom>
            <a:ln>
              <a:solidFill>
                <a:schemeClr val="bg2"/>
              </a:solidFill>
            </a:ln>
          </p:spPr>
        </p:pic>
        <p:sp>
          <p:nvSpPr>
            <p:cNvPr id="37" name="Rectangle 36"/>
            <p:cNvSpPr/>
            <p:nvPr>
              <p:custDataLst>
                <p:tags r:id="rId14"/>
              </p:custDataLst>
            </p:nvPr>
          </p:nvSpPr>
          <p:spPr>
            <a:xfrm>
              <a:off x="10204" y="5708"/>
              <a:ext cx="234" cy="464"/>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Rectangle 37"/>
            <p:cNvSpPr/>
            <p:nvPr>
              <p:custDataLst>
                <p:tags r:id="rId15"/>
              </p:custDataLst>
            </p:nvPr>
          </p:nvSpPr>
          <p:spPr>
            <a:xfrm>
              <a:off x="10726" y="5708"/>
              <a:ext cx="627" cy="49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Rectangle 20"/>
            <p:cNvSpPr/>
            <p:nvPr>
              <p:custDataLst>
                <p:tags r:id="rId16"/>
              </p:custDataLst>
            </p:nvPr>
          </p:nvSpPr>
          <p:spPr>
            <a:xfrm>
              <a:off x="954" y="3701"/>
              <a:ext cx="899" cy="808"/>
            </a:xfrm>
            <a:prstGeom prst="rect">
              <a:avLst/>
            </a:prstGeom>
            <a:noFill/>
            <a:ln w="44450" cap="flat">
              <a:solidFill>
                <a:srgbClr val="FF9911"/>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 name="Title 3"/>
          <p:cNvSpPr txBox="1"/>
          <p:nvPr/>
        </p:nvSpPr>
        <p:spPr>
          <a:xfrm>
            <a:off x="149913" y="219070"/>
            <a:ext cx="678815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第五步：解锁目标店铺的新ASIN</a:t>
            </a:r>
          </a:p>
        </p:txBody>
      </p:sp>
      <p:sp>
        <p:nvSpPr>
          <p:cNvPr id="28" name="Rectangle: Rounded Corners 7"/>
          <p:cNvSpPr/>
          <p:nvPr>
            <p:custDataLst>
              <p:tags r:id="rId4"/>
            </p:custDataLst>
          </p:nvPr>
        </p:nvSpPr>
        <p:spPr>
          <a:xfrm>
            <a:off x="2023205" y="3064371"/>
            <a:ext cx="701214" cy="279539"/>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ctr">
              <a:buClr>
                <a:schemeClr val="bg2"/>
              </a:buClr>
              <a:buSzPct val="80000"/>
            </a:pPr>
            <a:r>
              <a:rPr lang="en-US" altLang="zh-CN" sz="1200" b="1" i="1" spc="20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01</a:t>
            </a:r>
          </a:p>
        </p:txBody>
      </p:sp>
      <p:sp>
        <p:nvSpPr>
          <p:cNvPr id="29" name="Rectangle: Rounded Corners 7"/>
          <p:cNvSpPr/>
          <p:nvPr>
            <p:custDataLst>
              <p:tags r:id="rId5"/>
            </p:custDataLst>
          </p:nvPr>
        </p:nvSpPr>
        <p:spPr>
          <a:xfrm>
            <a:off x="3962226" y="3064371"/>
            <a:ext cx="701214" cy="279539"/>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ctr">
              <a:buClr>
                <a:schemeClr val="bg2"/>
              </a:buClr>
              <a:buSzPct val="80000"/>
            </a:pPr>
            <a:r>
              <a:rPr lang="en-US" altLang="zh-CN" sz="1200" b="1" i="1" spc="20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03</a:t>
            </a:r>
          </a:p>
        </p:txBody>
      </p:sp>
      <p:sp>
        <p:nvSpPr>
          <p:cNvPr id="32" name="Rectangle: Rounded Corners 7"/>
          <p:cNvSpPr/>
          <p:nvPr>
            <p:custDataLst>
              <p:tags r:id="rId6"/>
            </p:custDataLst>
          </p:nvPr>
        </p:nvSpPr>
        <p:spPr>
          <a:xfrm>
            <a:off x="2937863" y="3064371"/>
            <a:ext cx="701214" cy="279539"/>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ctr">
              <a:buClr>
                <a:schemeClr val="bg2"/>
              </a:buClr>
              <a:buSzPct val="80000"/>
            </a:pPr>
            <a:r>
              <a:rPr lang="en-US" altLang="zh-CN" sz="1200" b="1" i="1" spc="20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02</a:t>
            </a:r>
          </a:p>
        </p:txBody>
      </p:sp>
      <p:sp>
        <p:nvSpPr>
          <p:cNvPr id="23" name="文本框 5"/>
          <p:cNvSpPr txBox="1"/>
          <p:nvPr>
            <p:custDataLst>
              <p:tags r:id="rId7"/>
            </p:custDataLst>
          </p:nvPr>
        </p:nvSpPr>
        <p:spPr>
          <a:xfrm>
            <a:off x="626110" y="4725670"/>
            <a:ext cx="2965450" cy="14763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pPr>
            <a:r>
              <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rPr>
              <a:t>亚马逊根据您的</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美国</a:t>
            </a:r>
            <a:r>
              <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rPr>
              <a:t>商品目录确定高潜力商品清单，再结合目的国的需求信号（如浏览量、搜索趋势和您过去的销售绩效）评估了 </a:t>
            </a:r>
            <a:r>
              <a:rPr lang="en-US" altLang="zh-CN" sz="1200" b="0" dirty="0">
                <a:solidFill>
                  <a:schemeClr val="tx1"/>
                </a:solidFill>
                <a:latin typeface="微软雅黑" panose="020B0503020204020204" pitchFamily="34" charset="-122"/>
                <a:ea typeface="微软雅黑" panose="020B0503020204020204" pitchFamily="34" charset="-122"/>
                <a:cs typeface="Amazon Ember" panose="020B0603020204020204" charset="0"/>
              </a:rPr>
              <a:t>150 </a:t>
            </a:r>
            <a:r>
              <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rPr>
              <a:t>个属性，为您提供量身定制的建议。</a:t>
            </a:r>
          </a:p>
        </p:txBody>
      </p:sp>
      <p:sp>
        <p:nvSpPr>
          <p:cNvPr id="30" name="文本框 7"/>
          <p:cNvSpPr txBox="1"/>
          <p:nvPr>
            <p:custDataLst>
              <p:tags r:id="rId8"/>
            </p:custDataLst>
          </p:nvPr>
        </p:nvSpPr>
        <p:spPr>
          <a:xfrm>
            <a:off x="4540249" y="4725035"/>
            <a:ext cx="3114219" cy="8951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根据历史需求和预测需求、商品详情以及销售模式，指示</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ASIN</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机会。分数范围在</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1000</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到</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750</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之间，高分代表需求高、竟争低。</a:t>
            </a:r>
          </a:p>
        </p:txBody>
      </p:sp>
      <p:sp>
        <p:nvSpPr>
          <p:cNvPr id="39" name="Rectangle: Rounded Corners 7"/>
          <p:cNvSpPr/>
          <p:nvPr>
            <p:custDataLst>
              <p:tags r:id="rId9"/>
            </p:custDataLst>
          </p:nvPr>
        </p:nvSpPr>
        <p:spPr>
          <a:xfrm>
            <a:off x="572964" y="4290230"/>
            <a:ext cx="3168000" cy="41812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l">
              <a:buClr>
                <a:schemeClr val="bg2"/>
              </a:buClr>
              <a:buSzPct val="80000"/>
              <a:buFontTx/>
            </a:pPr>
            <a:r>
              <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01 </a:t>
            </a:r>
            <a:r>
              <a:rPr lang="en-US" altLang="zh-CN" sz="1600"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理由</a:t>
            </a:r>
            <a:r>
              <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 </a:t>
            </a:r>
            <a:r>
              <a:rPr lang="en-US" sz="10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Rationale</a:t>
            </a:r>
            <a:endPar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4" name="Rectangle: Rounded Corners 7"/>
          <p:cNvSpPr/>
          <p:nvPr>
            <p:custDataLst>
              <p:tags r:id="rId10"/>
            </p:custDataLst>
          </p:nvPr>
        </p:nvSpPr>
        <p:spPr>
          <a:xfrm>
            <a:off x="4487089" y="4290230"/>
            <a:ext cx="3167380" cy="41812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l">
              <a:buClr>
                <a:schemeClr val="bg2"/>
              </a:buClr>
              <a:buSzPct val="80000"/>
              <a:buFontTx/>
            </a:pPr>
            <a:r>
              <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02 </a:t>
            </a:r>
            <a:r>
              <a:rPr lang="en-US" altLang="zh-CN" sz="1600"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机会分数</a:t>
            </a:r>
            <a:r>
              <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 </a:t>
            </a:r>
            <a:r>
              <a:rPr lang="en-US" sz="10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Opportunity Score</a:t>
            </a:r>
            <a:endPar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41" name="文本框 13"/>
          <p:cNvSpPr txBox="1"/>
          <p:nvPr>
            <p:custDataLst>
              <p:tags r:id="rId11"/>
            </p:custDataLst>
          </p:nvPr>
        </p:nvSpPr>
        <p:spPr>
          <a:xfrm>
            <a:off x="8453755" y="4706620"/>
            <a:ext cx="2965450" cy="11988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通过将推荐商品与其他具有类似特征的商品进行比较，由此来对商品的需求情况做出预估。此预估可能受商城中所有卖家现有商品或新商品的影响。</a:t>
            </a:r>
            <a:endPar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endParaRPr>
          </a:p>
        </p:txBody>
      </p:sp>
      <p:sp>
        <p:nvSpPr>
          <p:cNvPr id="42" name="Rectangle: Rounded Corners 7"/>
          <p:cNvSpPr/>
          <p:nvPr>
            <p:custDataLst>
              <p:tags r:id="rId12"/>
            </p:custDataLst>
          </p:nvPr>
        </p:nvSpPr>
        <p:spPr>
          <a:xfrm>
            <a:off x="8400594" y="4290230"/>
            <a:ext cx="3167380" cy="41812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l">
              <a:buClr>
                <a:schemeClr val="bg2"/>
              </a:buClr>
              <a:buSzPct val="80000"/>
              <a:buFontTx/>
            </a:pPr>
            <a:r>
              <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03 </a:t>
            </a:r>
            <a:r>
              <a:rPr lang="en-US" altLang="zh-CN" sz="1600"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销售预测</a:t>
            </a:r>
            <a:r>
              <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 </a:t>
            </a:r>
            <a:r>
              <a:rPr lang="en-US" sz="10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Sales Forecast</a:t>
            </a:r>
            <a:endPar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endParaRPr>
          </a:p>
        </p:txBody>
      </p:sp>
      <p:pic>
        <p:nvPicPr>
          <p:cNvPr id="6" name="图片 5"/>
          <p:cNvPicPr>
            <a:picLocks noChangeAspect="1"/>
          </p:cNvPicPr>
          <p:nvPr/>
        </p:nvPicPr>
        <p:blipFill rotWithShape="1">
          <a:blip r:embed="rId20"/>
          <a:srcRect l="3640" t="48414" r="80139" b="34028"/>
          <a:stretch>
            <a:fillRect/>
          </a:stretch>
        </p:blipFill>
        <p:spPr>
          <a:xfrm>
            <a:off x="904548" y="3784358"/>
            <a:ext cx="992982" cy="314758"/>
          </a:xfrm>
          <a:prstGeom prst="rect">
            <a:avLst/>
          </a:prstGeom>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p:nvPr>
            <p:custDataLst>
              <p:tags r:id="rId1"/>
            </p:custDataLst>
          </p:nvPr>
        </p:nvSpPr>
        <p:spPr>
          <a:xfrm>
            <a:off x="388620" y="1384300"/>
            <a:ext cx="11415395" cy="4874260"/>
          </a:xfrm>
          <a:prstGeom prst="roundRect">
            <a:avLst>
              <a:gd name="adj" fmla="val 4845"/>
            </a:avLst>
          </a:prstGeom>
          <a:solidFill>
            <a:schemeClr val="bg1">
              <a:lumMod val="95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grpSp>
        <p:nvGrpSpPr>
          <p:cNvPr id="3" name="组合 2"/>
          <p:cNvGrpSpPr>
            <a:grpSpLocks noChangeAspect="1"/>
          </p:cNvGrpSpPr>
          <p:nvPr/>
        </p:nvGrpSpPr>
        <p:grpSpPr>
          <a:xfrm>
            <a:off x="624000" y="2289175"/>
            <a:ext cx="10944000" cy="1861602"/>
            <a:chOff x="754" y="3245"/>
            <a:chExt cx="17948" cy="3053"/>
          </a:xfrm>
        </p:grpSpPr>
        <p:pic>
          <p:nvPicPr>
            <p:cNvPr id="40" name="Picture 39"/>
            <p:cNvPicPr>
              <a:picLocks noChangeAspect="1"/>
            </p:cNvPicPr>
            <p:nvPr>
              <p:custDataLst>
                <p:tags r:id="rId25"/>
              </p:custDataLst>
            </p:nvPr>
          </p:nvPicPr>
          <p:blipFill>
            <a:blip r:embed="rId30"/>
            <a:stretch>
              <a:fillRect/>
            </a:stretch>
          </p:blipFill>
          <p:spPr>
            <a:xfrm>
              <a:off x="754" y="3245"/>
              <a:ext cx="17948" cy="3053"/>
            </a:xfrm>
            <a:prstGeom prst="rect">
              <a:avLst/>
            </a:prstGeom>
            <a:ln>
              <a:solidFill>
                <a:schemeClr val="bg2"/>
              </a:solidFill>
            </a:ln>
          </p:spPr>
        </p:pic>
        <p:sp>
          <p:nvSpPr>
            <p:cNvPr id="37" name="Rectangle 36"/>
            <p:cNvSpPr/>
            <p:nvPr>
              <p:custDataLst>
                <p:tags r:id="rId26"/>
              </p:custDataLst>
            </p:nvPr>
          </p:nvSpPr>
          <p:spPr>
            <a:xfrm>
              <a:off x="10204" y="5708"/>
              <a:ext cx="234" cy="464"/>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Rectangle 37"/>
            <p:cNvSpPr/>
            <p:nvPr>
              <p:custDataLst>
                <p:tags r:id="rId27"/>
              </p:custDataLst>
            </p:nvPr>
          </p:nvSpPr>
          <p:spPr>
            <a:xfrm>
              <a:off x="10726" y="5708"/>
              <a:ext cx="627" cy="498"/>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Rectangle 20"/>
            <p:cNvSpPr/>
            <p:nvPr>
              <p:custDataLst>
                <p:tags r:id="rId28"/>
              </p:custDataLst>
            </p:nvPr>
          </p:nvSpPr>
          <p:spPr>
            <a:xfrm>
              <a:off x="954" y="3701"/>
              <a:ext cx="899" cy="808"/>
            </a:xfrm>
            <a:prstGeom prst="rect">
              <a:avLst/>
            </a:prstGeom>
            <a:noFill/>
            <a:ln w="44450" cap="flat">
              <a:solidFill>
                <a:srgbClr val="FF9911"/>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 name="Title 3"/>
          <p:cNvSpPr txBox="1"/>
          <p:nvPr/>
        </p:nvSpPr>
        <p:spPr>
          <a:xfrm>
            <a:off x="149913" y="219070"/>
            <a:ext cx="678815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第五步：解锁目标店铺的新ASIN</a:t>
            </a:r>
          </a:p>
        </p:txBody>
      </p:sp>
      <p:sp>
        <p:nvSpPr>
          <p:cNvPr id="28" name="Rectangle: Rounded Corners 7"/>
          <p:cNvSpPr/>
          <p:nvPr>
            <p:custDataLst>
              <p:tags r:id="rId2"/>
            </p:custDataLst>
          </p:nvPr>
        </p:nvSpPr>
        <p:spPr>
          <a:xfrm>
            <a:off x="4877530" y="2986901"/>
            <a:ext cx="633428" cy="262564"/>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ctr">
              <a:buClr>
                <a:schemeClr val="bg2"/>
              </a:buClr>
              <a:buSzPct val="80000"/>
            </a:pPr>
            <a:r>
              <a:rPr lang="en-US" altLang="zh-CN" sz="1200" b="1" i="1" spc="20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04</a:t>
            </a:r>
          </a:p>
        </p:txBody>
      </p:sp>
      <p:sp>
        <p:nvSpPr>
          <p:cNvPr id="29" name="Rectangle: Rounded Corners 7"/>
          <p:cNvSpPr/>
          <p:nvPr>
            <p:custDataLst>
              <p:tags r:id="rId3"/>
            </p:custDataLst>
          </p:nvPr>
        </p:nvSpPr>
        <p:spPr>
          <a:xfrm>
            <a:off x="6816551" y="2986901"/>
            <a:ext cx="633428" cy="262564"/>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ctr">
              <a:buClr>
                <a:schemeClr val="bg2"/>
              </a:buClr>
              <a:buSzPct val="80000"/>
            </a:pPr>
            <a:r>
              <a:rPr lang="en-US" altLang="zh-CN" sz="1200" b="1" i="1" spc="20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06</a:t>
            </a:r>
          </a:p>
        </p:txBody>
      </p:sp>
      <p:sp>
        <p:nvSpPr>
          <p:cNvPr id="32" name="Rectangle: Rounded Corners 7"/>
          <p:cNvSpPr/>
          <p:nvPr>
            <p:custDataLst>
              <p:tags r:id="rId4"/>
            </p:custDataLst>
          </p:nvPr>
        </p:nvSpPr>
        <p:spPr>
          <a:xfrm>
            <a:off x="5792188" y="2986901"/>
            <a:ext cx="633428" cy="262564"/>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ctr">
              <a:buClr>
                <a:schemeClr val="bg2"/>
              </a:buClr>
              <a:buSzPct val="80000"/>
            </a:pPr>
            <a:r>
              <a:rPr lang="en-US" altLang="zh-CN" sz="1200" b="1" i="1" spc="20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05</a:t>
            </a:r>
          </a:p>
        </p:txBody>
      </p:sp>
      <p:sp>
        <p:nvSpPr>
          <p:cNvPr id="33" name="Rectangle: Rounded Corners 7"/>
          <p:cNvSpPr/>
          <p:nvPr>
            <p:custDataLst>
              <p:tags r:id="rId5"/>
            </p:custDataLst>
          </p:nvPr>
        </p:nvSpPr>
        <p:spPr>
          <a:xfrm>
            <a:off x="7734208" y="2986901"/>
            <a:ext cx="633428" cy="262564"/>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ctr">
              <a:buClr>
                <a:schemeClr val="bg2"/>
              </a:buClr>
              <a:buSzPct val="80000"/>
            </a:pPr>
            <a:r>
              <a:rPr lang="en-US" altLang="zh-CN" sz="1200" b="1" i="1" spc="20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07</a:t>
            </a:r>
          </a:p>
        </p:txBody>
      </p:sp>
      <p:sp>
        <p:nvSpPr>
          <p:cNvPr id="34" name="Rectangle: Rounded Corners 7"/>
          <p:cNvSpPr/>
          <p:nvPr>
            <p:custDataLst>
              <p:tags r:id="rId6"/>
            </p:custDataLst>
          </p:nvPr>
        </p:nvSpPr>
        <p:spPr>
          <a:xfrm>
            <a:off x="9089355" y="2986901"/>
            <a:ext cx="633428" cy="262564"/>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ctr">
              <a:buClr>
                <a:schemeClr val="bg2"/>
              </a:buClr>
              <a:buSzPct val="80000"/>
            </a:pPr>
            <a:r>
              <a:rPr lang="en-US" altLang="zh-CN" sz="1200" b="1" i="1" spc="20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08</a:t>
            </a:r>
          </a:p>
        </p:txBody>
      </p:sp>
      <p:sp>
        <p:nvSpPr>
          <p:cNvPr id="35" name="Rectangle: Rounded Corners 7"/>
          <p:cNvSpPr/>
          <p:nvPr>
            <p:custDataLst>
              <p:tags r:id="rId7"/>
            </p:custDataLst>
          </p:nvPr>
        </p:nvSpPr>
        <p:spPr>
          <a:xfrm>
            <a:off x="10034689" y="2986901"/>
            <a:ext cx="633428" cy="262564"/>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ctr">
              <a:buClr>
                <a:schemeClr val="bg2"/>
              </a:buClr>
              <a:buSzPct val="80000"/>
            </a:pPr>
            <a:r>
              <a:rPr lang="en-US" altLang="zh-CN" sz="1200" b="1" i="1" spc="20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09</a:t>
            </a:r>
          </a:p>
        </p:txBody>
      </p:sp>
      <p:sp>
        <p:nvSpPr>
          <p:cNvPr id="36" name="Rectangle: Rounded Corners 7"/>
          <p:cNvSpPr/>
          <p:nvPr>
            <p:custDataLst>
              <p:tags r:id="rId8"/>
            </p:custDataLst>
          </p:nvPr>
        </p:nvSpPr>
        <p:spPr>
          <a:xfrm>
            <a:off x="10934572" y="2986901"/>
            <a:ext cx="633428" cy="262564"/>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ctr">
              <a:buClr>
                <a:schemeClr val="bg2"/>
              </a:buClr>
              <a:buSzPct val="80000"/>
            </a:pPr>
            <a:r>
              <a:rPr lang="en-US" altLang="zh-CN" sz="1200" b="1" i="1" spc="20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10</a:t>
            </a:r>
          </a:p>
        </p:txBody>
      </p:sp>
      <p:sp>
        <p:nvSpPr>
          <p:cNvPr id="20" name="Rectangle 19"/>
          <p:cNvSpPr/>
          <p:nvPr>
            <p:custDataLst>
              <p:tags r:id="rId9"/>
            </p:custDataLst>
          </p:nvPr>
        </p:nvSpPr>
        <p:spPr>
          <a:xfrm>
            <a:off x="435292" y="1385239"/>
            <a:ext cx="11321415" cy="1053465"/>
          </a:xfrm>
          <a:prstGeom prst="rect">
            <a:avLst/>
          </a:prstGeom>
        </p:spPr>
        <p:txBody>
          <a:bodyPr wrap="square">
            <a:noAutofit/>
          </a:bodyPr>
          <a:lstStyle/>
          <a:p>
            <a:pPr lvl="0" algn="ctr">
              <a:lnSpc>
                <a:spcPct val="150000"/>
              </a:lnSpc>
              <a:buClrTx/>
              <a:buSzTx/>
              <a:buFontTx/>
            </a:pPr>
            <a:r>
              <a:rPr lang="zh-CN" altLang="en-US" sz="1600" spc="20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思源黑体 Light" panose="020B0300000000000000" charset="-122"/>
              </a:rPr>
              <a:t>“目标店铺的新ASIN”标签下的推荐表示目标站点中没有其他卖家在销售相同的ASIN。</a:t>
            </a:r>
          </a:p>
          <a:p>
            <a:pPr lvl="0" algn="ctr">
              <a:lnSpc>
                <a:spcPct val="150000"/>
              </a:lnSpc>
              <a:buClrTx/>
              <a:buSzTx/>
              <a:buFontTx/>
            </a:pPr>
            <a:r>
              <a:rPr lang="zh-CN" altLang="en-US" sz="1600" spc="20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思源黑体 Light" panose="020B0300000000000000" charset="-122"/>
              </a:rPr>
              <a:t>您可以通过多个指标维度帮助卖家全方位理解被推荐的商品适合拓展到目标商城的原因。</a:t>
            </a:r>
          </a:p>
          <a:p>
            <a:pPr lvl="0" algn="ctr">
              <a:lnSpc>
                <a:spcPct val="150000"/>
              </a:lnSpc>
              <a:buClrTx/>
              <a:buSzTx/>
              <a:buFontTx/>
            </a:pPr>
            <a:endParaRPr lang="zh-CN" altLang="en-US" sz="1600" spc="20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思源黑体 Light" panose="020B0300000000000000" charset="-122"/>
            </a:endParaRPr>
          </a:p>
        </p:txBody>
      </p:sp>
      <p:sp>
        <p:nvSpPr>
          <p:cNvPr id="43" name="文本框 9"/>
          <p:cNvSpPr txBox="1"/>
          <p:nvPr>
            <p:custDataLst>
              <p:tags r:id="rId10"/>
            </p:custDataLst>
          </p:nvPr>
        </p:nvSpPr>
        <p:spPr>
          <a:xfrm>
            <a:off x="4517660" y="4722543"/>
            <a:ext cx="2447925" cy="3366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pPr>
            <a:r>
              <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rPr>
              <a:t>您在</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美国</a:t>
            </a:r>
            <a:r>
              <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rPr>
              <a:t>的上线商品价格。</a:t>
            </a:r>
          </a:p>
        </p:txBody>
      </p:sp>
      <p:sp>
        <p:nvSpPr>
          <p:cNvPr id="44" name="文本框 11"/>
          <p:cNvSpPr txBox="1"/>
          <p:nvPr>
            <p:custDataLst>
              <p:tags r:id="rId11"/>
            </p:custDataLst>
          </p:nvPr>
        </p:nvSpPr>
        <p:spPr>
          <a:xfrm>
            <a:off x="8340360" y="4722543"/>
            <a:ext cx="2931020" cy="3366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pPr>
            <a:r>
              <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rPr>
              <a:t>过去</a:t>
            </a:r>
            <a:r>
              <a:rPr lang="en-US" altLang="zh-CN" sz="1200" b="0" dirty="0">
                <a:solidFill>
                  <a:schemeClr val="tx1"/>
                </a:solidFill>
                <a:latin typeface="微软雅黑" panose="020B0503020204020204" pitchFamily="34" charset="-122"/>
                <a:ea typeface="微软雅黑" panose="020B0503020204020204" pitchFamily="34" charset="-122"/>
                <a:cs typeface="Amazon Ember" panose="020B0603020204020204" charset="0"/>
              </a:rPr>
              <a:t>12</a:t>
            </a:r>
            <a:r>
              <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rPr>
              <a:t>个月内</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美国</a:t>
            </a:r>
            <a:r>
              <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rPr>
              <a:t>站配送的商品数量。</a:t>
            </a:r>
          </a:p>
        </p:txBody>
      </p:sp>
      <p:sp>
        <p:nvSpPr>
          <p:cNvPr id="45" name="Rectangle: Rounded Corners 7"/>
          <p:cNvSpPr/>
          <p:nvPr>
            <p:custDataLst>
              <p:tags r:id="rId12"/>
            </p:custDataLst>
          </p:nvPr>
        </p:nvSpPr>
        <p:spPr>
          <a:xfrm>
            <a:off x="4440825" y="4306987"/>
            <a:ext cx="3311525" cy="41812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l">
              <a:buClr>
                <a:schemeClr val="bg2"/>
              </a:buClr>
              <a:buSzPct val="80000"/>
            </a:pPr>
            <a:r>
              <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05 </a:t>
            </a:r>
            <a:r>
              <a:rPr lang="en-US" altLang="zh-CN" sz="1600"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商品价格</a:t>
            </a:r>
            <a:r>
              <a:rPr lang="zh-CN" altLang="en-US"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 </a:t>
            </a:r>
            <a:r>
              <a:rPr lang="en-US" sz="10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Offer Price</a:t>
            </a:r>
            <a:endParaRPr lang="en-US" altLang="en-US" sz="10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endParaRPr>
          </a:p>
        </p:txBody>
      </p:sp>
      <p:sp>
        <p:nvSpPr>
          <p:cNvPr id="46" name="文本框 13"/>
          <p:cNvSpPr txBox="1"/>
          <p:nvPr>
            <p:custDataLst>
              <p:tags r:id="rId13"/>
            </p:custDataLst>
          </p:nvPr>
        </p:nvSpPr>
        <p:spPr>
          <a:xfrm>
            <a:off x="684525" y="4722543"/>
            <a:ext cx="2448000" cy="3366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美</a:t>
            </a:r>
            <a:r>
              <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rPr>
              <a:t>国的当前配送渠道。</a:t>
            </a:r>
          </a:p>
        </p:txBody>
      </p:sp>
      <p:sp>
        <p:nvSpPr>
          <p:cNvPr id="47" name="Rectangle: Rounded Corners 7"/>
          <p:cNvSpPr/>
          <p:nvPr>
            <p:custDataLst>
              <p:tags r:id="rId14"/>
            </p:custDataLst>
          </p:nvPr>
        </p:nvSpPr>
        <p:spPr>
          <a:xfrm>
            <a:off x="624000" y="4306987"/>
            <a:ext cx="3312000" cy="41812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l">
              <a:buClr>
                <a:schemeClr val="bg2"/>
              </a:buClr>
              <a:buSzPct val="80000"/>
            </a:pPr>
            <a:r>
              <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04 </a:t>
            </a:r>
            <a:r>
              <a:rPr lang="en-US" altLang="zh-CN" sz="1600"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配送渠道</a:t>
            </a:r>
            <a:r>
              <a:rPr lang="zh-CN" altLang="en-US"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 </a:t>
            </a:r>
            <a:r>
              <a:rPr lang="en-US" sz="10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Fulfilment Channel</a:t>
            </a:r>
            <a:endParaRPr lang="en-US" altLang="en-US" sz="10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endParaRPr>
          </a:p>
        </p:txBody>
      </p:sp>
      <p:sp>
        <p:nvSpPr>
          <p:cNvPr id="48" name="Rectangle: Rounded Corners 7"/>
          <p:cNvSpPr/>
          <p:nvPr>
            <p:custDataLst>
              <p:tags r:id="rId15"/>
            </p:custDataLst>
          </p:nvPr>
        </p:nvSpPr>
        <p:spPr>
          <a:xfrm>
            <a:off x="8257175" y="4306987"/>
            <a:ext cx="3311525" cy="41812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l">
              <a:buClr>
                <a:schemeClr val="bg2"/>
              </a:buClr>
              <a:buSzPct val="80000"/>
            </a:pPr>
            <a:r>
              <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06</a:t>
            </a:r>
            <a:r>
              <a:rPr lang="zh-CN" altLang="en-US"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 净</a:t>
            </a:r>
            <a:r>
              <a:rPr lang="en-US" altLang="zh-CN" sz="1600"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配送商品数量</a:t>
            </a:r>
            <a:r>
              <a:rPr lang="zh-CN" altLang="en-US"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 </a:t>
            </a:r>
            <a:r>
              <a:rPr lang="en-US" sz="10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Net Shipped Units</a:t>
            </a:r>
            <a:endParaRPr lang="en-US" altLang="en-US" sz="10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endParaRPr>
          </a:p>
        </p:txBody>
      </p:sp>
      <p:sp>
        <p:nvSpPr>
          <p:cNvPr id="49" name="Rectangle: Rounded Corners 7"/>
          <p:cNvSpPr/>
          <p:nvPr>
            <p:custDataLst>
              <p:tags r:id="rId16"/>
            </p:custDataLst>
          </p:nvPr>
        </p:nvSpPr>
        <p:spPr>
          <a:xfrm>
            <a:off x="624000" y="5178518"/>
            <a:ext cx="2448000" cy="41812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l">
              <a:buClr>
                <a:schemeClr val="bg2"/>
              </a:buClr>
              <a:buSzPct val="80000"/>
            </a:pPr>
            <a:r>
              <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07</a:t>
            </a:r>
            <a:r>
              <a:rPr lang="zh-CN" altLang="en-US"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 </a:t>
            </a:r>
            <a:r>
              <a:rPr lang="en-US" altLang="zh-CN" sz="1600"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畅销商品排名</a:t>
            </a:r>
            <a:r>
              <a:rPr lang="zh-CN" altLang="en-US"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 </a:t>
            </a:r>
            <a:r>
              <a:rPr lang="en-US" altLang="zh-CN" sz="10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BSR</a:t>
            </a:r>
          </a:p>
        </p:txBody>
      </p:sp>
      <p:sp>
        <p:nvSpPr>
          <p:cNvPr id="50" name="Rectangle: Rounded Corners 7"/>
          <p:cNvSpPr/>
          <p:nvPr>
            <p:custDataLst>
              <p:tags r:id="rId17"/>
            </p:custDataLst>
          </p:nvPr>
        </p:nvSpPr>
        <p:spPr>
          <a:xfrm>
            <a:off x="3456175" y="5178518"/>
            <a:ext cx="2447925" cy="41812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l">
              <a:buClr>
                <a:schemeClr val="bg2"/>
              </a:buClr>
              <a:buSzPct val="80000"/>
            </a:pPr>
            <a:r>
              <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08</a:t>
            </a:r>
            <a:r>
              <a:rPr lang="zh-CN" altLang="en-US"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 </a:t>
            </a:r>
            <a:r>
              <a:rPr lang="en-US" altLang="zh-CN" sz="1600"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买家评分</a:t>
            </a:r>
            <a:r>
              <a:rPr lang="zh-CN" altLang="en-US"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 </a:t>
            </a:r>
            <a:r>
              <a:rPr lang="en-US" altLang="zh-CN" sz="10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Customer Rating</a:t>
            </a:r>
          </a:p>
        </p:txBody>
      </p:sp>
      <p:sp>
        <p:nvSpPr>
          <p:cNvPr id="51" name="Rectangle: Rounded Corners 7"/>
          <p:cNvSpPr/>
          <p:nvPr>
            <p:custDataLst>
              <p:tags r:id="rId18"/>
            </p:custDataLst>
          </p:nvPr>
        </p:nvSpPr>
        <p:spPr>
          <a:xfrm>
            <a:off x="6288275" y="5178518"/>
            <a:ext cx="2447925" cy="41812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l">
              <a:buClr>
                <a:schemeClr val="bg2"/>
              </a:buClr>
              <a:buSzPct val="80000"/>
            </a:pPr>
            <a:r>
              <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09</a:t>
            </a:r>
            <a:r>
              <a:rPr lang="zh-CN" altLang="en-US"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 </a:t>
            </a:r>
            <a:r>
              <a:rPr lang="en-US" altLang="zh-CN" sz="1600"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搜索量</a:t>
            </a:r>
            <a:r>
              <a:rPr lang="zh-CN" altLang="en-US"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 </a:t>
            </a:r>
            <a:r>
              <a:rPr lang="en-US" altLang="zh-CN" sz="10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Search Volume</a:t>
            </a:r>
          </a:p>
        </p:txBody>
      </p:sp>
      <p:sp>
        <p:nvSpPr>
          <p:cNvPr id="52" name="Rectangle: Rounded Corners 7"/>
          <p:cNvSpPr/>
          <p:nvPr>
            <p:custDataLst>
              <p:tags r:id="rId19"/>
            </p:custDataLst>
          </p:nvPr>
        </p:nvSpPr>
        <p:spPr>
          <a:xfrm>
            <a:off x="9120375" y="5178518"/>
            <a:ext cx="2447925" cy="41812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l">
              <a:buClr>
                <a:schemeClr val="bg2"/>
              </a:buClr>
              <a:buSzPct val="80000"/>
            </a:pPr>
            <a:r>
              <a:rPr lang="en-US" altLang="zh-CN"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10</a:t>
            </a:r>
            <a:r>
              <a:rPr lang="zh-CN" altLang="en-US"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 </a:t>
            </a:r>
            <a:r>
              <a:rPr lang="en-US" altLang="zh-CN" sz="1600"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点击量</a:t>
            </a:r>
            <a:r>
              <a:rPr lang="zh-CN" altLang="en-US" sz="16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 </a:t>
            </a:r>
            <a:r>
              <a:rPr lang="en-US" altLang="zh-CN" sz="1000" b="1" kern="0" dirty="0">
                <a:solidFill>
                  <a:schemeClr val="bg1"/>
                </a:solidFill>
                <a:uFillTx/>
                <a:latin typeface="微软雅黑" panose="020B0503020204020204" pitchFamily="34" charset="-122"/>
                <a:ea typeface="微软雅黑" panose="020B0503020204020204" pitchFamily="34" charset="-122"/>
                <a:cs typeface="Amazon Ember" panose="020B0603020204020204" charset="0"/>
              </a:rPr>
              <a:t>click count</a:t>
            </a:r>
          </a:p>
        </p:txBody>
      </p:sp>
      <p:sp>
        <p:nvSpPr>
          <p:cNvPr id="53" name="文本框 13"/>
          <p:cNvSpPr txBox="1"/>
          <p:nvPr>
            <p:custDataLst>
              <p:tags r:id="rId20"/>
            </p:custDataLst>
          </p:nvPr>
        </p:nvSpPr>
        <p:spPr>
          <a:xfrm>
            <a:off x="673530" y="5599459"/>
            <a:ext cx="2448000" cy="6136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此类别和商品类型中，该</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ASIN</a:t>
            </a:r>
          </a:p>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在美国的畅销排名</a:t>
            </a:r>
            <a:r>
              <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rPr>
              <a:t>。</a:t>
            </a:r>
          </a:p>
        </p:txBody>
      </p:sp>
      <p:sp>
        <p:nvSpPr>
          <p:cNvPr id="54" name="文本框 13"/>
          <p:cNvSpPr txBox="1"/>
          <p:nvPr>
            <p:custDataLst>
              <p:tags r:id="rId21"/>
            </p:custDataLst>
          </p:nvPr>
        </p:nvSpPr>
        <p:spPr>
          <a:xfrm>
            <a:off x="3546980" y="5599459"/>
            <a:ext cx="2447925" cy="3366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美国境内对该</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ASIN</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的买家评分。</a:t>
            </a:r>
            <a:endPar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endParaRPr>
          </a:p>
        </p:txBody>
      </p:sp>
      <p:sp>
        <p:nvSpPr>
          <p:cNvPr id="55" name="文本框 13"/>
          <p:cNvSpPr txBox="1"/>
          <p:nvPr>
            <p:custDataLst>
              <p:tags r:id="rId22"/>
            </p:custDataLst>
          </p:nvPr>
        </p:nvSpPr>
        <p:spPr>
          <a:xfrm>
            <a:off x="6346060" y="5554257"/>
            <a:ext cx="2447925" cy="6136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过去</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12</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个月目标站点所有</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ASIN</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关键词的搜索量。</a:t>
            </a:r>
            <a:endPar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endParaRPr>
          </a:p>
        </p:txBody>
      </p:sp>
      <p:sp>
        <p:nvSpPr>
          <p:cNvPr id="56" name="文本框 13"/>
          <p:cNvSpPr txBox="1"/>
          <p:nvPr>
            <p:custDataLst>
              <p:tags r:id="rId23"/>
            </p:custDataLst>
          </p:nvPr>
        </p:nvSpPr>
        <p:spPr>
          <a:xfrm>
            <a:off x="9202925" y="5535876"/>
            <a:ext cx="2447925" cy="6136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过去</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12</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个月目标站点与该</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ASIN</a:t>
            </a:r>
          </a:p>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关键词的买家点击量。</a:t>
            </a:r>
            <a:endPar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endParaRPr>
          </a:p>
        </p:txBody>
      </p:sp>
      <p:pic>
        <p:nvPicPr>
          <p:cNvPr id="4" name="图片 3"/>
          <p:cNvPicPr>
            <a:picLocks noChangeAspect="1"/>
          </p:cNvPicPr>
          <p:nvPr/>
        </p:nvPicPr>
        <p:blipFill rotWithShape="1">
          <a:blip r:embed="rId31"/>
          <a:srcRect l="3640" t="48414" r="80139" b="34028"/>
          <a:stretch>
            <a:fillRect/>
          </a:stretch>
        </p:blipFill>
        <p:spPr>
          <a:xfrm>
            <a:off x="904548" y="3783088"/>
            <a:ext cx="992982" cy="314758"/>
          </a:xfrm>
          <a:prstGeom prst="rect">
            <a:avLst/>
          </a:prstGeom>
        </p:spPr>
      </p:pic>
      <p:sp>
        <p:nvSpPr>
          <p:cNvPr id="5" name="Rectangle 4"/>
          <p:cNvSpPr/>
          <p:nvPr>
            <p:custDataLst>
              <p:tags r:id="rId24"/>
            </p:custDataLst>
          </p:nvPr>
        </p:nvSpPr>
        <p:spPr bwMode="auto">
          <a:xfrm>
            <a:off x="370840" y="859122"/>
            <a:ext cx="4927600" cy="371512"/>
          </a:xfrm>
          <a:prstGeom prst="rect">
            <a:avLst/>
          </a:prstGeom>
          <a:noFill/>
          <a:ln w="9525" cap="flat" cmpd="sng" algn="ctr">
            <a:noFill/>
            <a:prstDash val="solid"/>
            <a:headEnd type="none" w="med" len="med"/>
            <a:tailEnd type="none" w="med" len="med"/>
          </a:ln>
          <a:effectLst/>
        </p:spPr>
        <p:txBody>
          <a:bodyPr wrap="square" lIns="0" tIns="0" rIns="0" bIns="0">
            <a:spAutoFit/>
          </a:bodyPr>
          <a:lstStyle/>
          <a:p>
            <a:pPr lvl="0" algn="l" defTabSz="932180" fontAlgn="base">
              <a:lnSpc>
                <a:spcPct val="150000"/>
              </a:lnSpc>
              <a:buClrTx/>
              <a:buSzTx/>
              <a:buFontTx/>
              <a:defRPr/>
            </a:pPr>
            <a:r>
              <a:rPr lang="zh-CN" altLang="en-US" spc="100" dirty="0">
                <a:gradFill>
                  <a:gsLst>
                    <a:gs pos="0">
                      <a:srgbClr val="FF9911"/>
                    </a:gs>
                    <a:gs pos="100000">
                      <a:srgbClr val="FFC000"/>
                    </a:gs>
                  </a:gsLst>
                  <a:lin ang="5400000" scaled="0"/>
                </a:gradFill>
                <a:latin typeface="微软雅黑" panose="020B0503020204020204" pitchFamily="34" charset="-122"/>
                <a:ea typeface="微软雅黑" panose="020B0503020204020204" pitchFamily="34" charset="-122"/>
                <a:cs typeface="Amazon Ember" panose="020B0603020204020204" charset="0"/>
                <a:sym typeface="+mn-ea"/>
              </a:rPr>
              <a:t>理解数据指标含义</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p:nvPr>
            <p:custDataLst>
              <p:tags r:id="rId1"/>
            </p:custDataLst>
          </p:nvPr>
        </p:nvSpPr>
        <p:spPr>
          <a:xfrm>
            <a:off x="388620" y="1346200"/>
            <a:ext cx="11415395" cy="4836160"/>
          </a:xfrm>
          <a:prstGeom prst="roundRect">
            <a:avLst>
              <a:gd name="adj" fmla="val 4845"/>
            </a:avLst>
          </a:prstGeom>
          <a:solidFill>
            <a:schemeClr val="bg1">
              <a:lumMod val="95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2" name="Title 3"/>
          <p:cNvSpPr txBox="1"/>
          <p:nvPr/>
        </p:nvSpPr>
        <p:spPr>
          <a:xfrm>
            <a:off x="149913" y="219070"/>
            <a:ext cx="678815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第五步：解锁目标店铺的新ASIN</a:t>
            </a:r>
          </a:p>
        </p:txBody>
      </p:sp>
      <p:sp>
        <p:nvSpPr>
          <p:cNvPr id="39" name="文本框 5"/>
          <p:cNvSpPr txBox="1"/>
          <p:nvPr>
            <p:custDataLst>
              <p:tags r:id="rId2"/>
            </p:custDataLst>
          </p:nvPr>
        </p:nvSpPr>
        <p:spPr>
          <a:xfrm>
            <a:off x="7195185" y="3020695"/>
            <a:ext cx="4167505" cy="6136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0000"/>
              </a:lnSpc>
            </a:pPr>
            <a:r>
              <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rPr>
              <a:t>了解您的</a:t>
            </a:r>
            <a:r>
              <a:rPr lang="en-US" altLang="zh-CN" sz="1200" b="0" dirty="0">
                <a:solidFill>
                  <a:schemeClr val="tx1"/>
                </a:solidFill>
                <a:latin typeface="微软雅黑" panose="020B0503020204020204" pitchFamily="34" charset="-122"/>
                <a:ea typeface="微软雅黑" panose="020B0503020204020204" pitchFamily="34" charset="-122"/>
                <a:cs typeface="Amazon Ember" panose="020B0603020204020204" charset="0"/>
              </a:rPr>
              <a:t>ASIN</a:t>
            </a:r>
            <a:r>
              <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rPr>
              <a:t>商品信息在美国使用的所有关键词在目标站点的搜索量趋势与买家点击量，</a:t>
            </a:r>
            <a:r>
              <a:rPr lang="zh-CN" altLang="en-US" sz="1200" dirty="0">
                <a:solidFill>
                  <a:srgbClr val="F89104"/>
                </a:solidFill>
                <a:latin typeface="微软雅黑" panose="020B0503020204020204" pitchFamily="34" charset="-122"/>
                <a:ea typeface="微软雅黑" panose="020B0503020204020204" pitchFamily="34" charset="-122"/>
                <a:cs typeface="Amazon Ember" panose="020B0603020204020204" charset="0"/>
              </a:rPr>
              <a:t>从而计算搜索转化率</a:t>
            </a:r>
          </a:p>
        </p:txBody>
      </p:sp>
      <p:sp>
        <p:nvSpPr>
          <p:cNvPr id="40" name="文本框 7"/>
          <p:cNvSpPr txBox="1"/>
          <p:nvPr>
            <p:custDataLst>
              <p:tags r:id="rId3"/>
            </p:custDataLst>
          </p:nvPr>
        </p:nvSpPr>
        <p:spPr>
          <a:xfrm>
            <a:off x="7195185" y="4246245"/>
            <a:ext cx="4167505" cy="9220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了解您的</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ASIN</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商品信息在美国使用的所有关键词在目标站点搜索量最高的关键词及过往时间段的搜索次数，帮助您</a:t>
            </a:r>
            <a:r>
              <a:rPr lang="zh-CN" altLang="en-US" sz="1200" dirty="0">
                <a:solidFill>
                  <a:srgbClr val="F89104"/>
                </a:solidFill>
                <a:latin typeface="微软雅黑" panose="020B0503020204020204" pitchFamily="34" charset="-122"/>
                <a:ea typeface="微软雅黑" panose="020B0503020204020204" pitchFamily="34" charset="-122"/>
                <a:cs typeface="Amazon Ember" panose="020B0603020204020204" charset="0"/>
              </a:rPr>
              <a:t>构建商品关键词</a:t>
            </a:r>
          </a:p>
        </p:txBody>
      </p:sp>
      <p:sp>
        <p:nvSpPr>
          <p:cNvPr id="41" name="Rectangle: Rounded Corners 7"/>
          <p:cNvSpPr/>
          <p:nvPr>
            <p:custDataLst>
              <p:tags r:id="rId4"/>
            </p:custDataLst>
          </p:nvPr>
        </p:nvSpPr>
        <p:spPr>
          <a:xfrm>
            <a:off x="7195185" y="2601383"/>
            <a:ext cx="2091600" cy="41812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l">
              <a:buClrTx/>
              <a:buSzTx/>
              <a:buFontTx/>
            </a:pPr>
            <a:r>
              <a:rPr lang="zh-CN" altLang="en-US" sz="1600"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rPr>
              <a:t>搜索绩效</a:t>
            </a:r>
          </a:p>
        </p:txBody>
      </p:sp>
      <p:sp>
        <p:nvSpPr>
          <p:cNvPr id="42" name="Rectangle: Rounded Corners 7"/>
          <p:cNvSpPr/>
          <p:nvPr>
            <p:custDataLst>
              <p:tags r:id="rId5"/>
            </p:custDataLst>
          </p:nvPr>
        </p:nvSpPr>
        <p:spPr>
          <a:xfrm>
            <a:off x="7195185" y="3817751"/>
            <a:ext cx="2091027" cy="41812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l">
              <a:buClrTx/>
              <a:buSzTx/>
              <a:buFontTx/>
            </a:pPr>
            <a:r>
              <a:rPr lang="zh-CN" altLang="en-US" sz="1600"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rPr>
              <a:t>最热门的关键词</a:t>
            </a:r>
          </a:p>
        </p:txBody>
      </p:sp>
      <p:sp>
        <p:nvSpPr>
          <p:cNvPr id="16" name="Rectangle: Rounded Corners 15"/>
          <p:cNvSpPr/>
          <p:nvPr>
            <p:custDataLst>
              <p:tags r:id="rId6"/>
            </p:custDataLst>
          </p:nvPr>
        </p:nvSpPr>
        <p:spPr>
          <a:xfrm>
            <a:off x="7195185" y="5378450"/>
            <a:ext cx="3954145" cy="62484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r>
              <a:rPr lang="zh-CN" altLang="en-US" sz="1200" dirty="0">
                <a:ln>
                  <a:noFill/>
                </a:ln>
                <a:solidFill>
                  <a:schemeClr val="tx1"/>
                </a:solidFill>
                <a:effectLst/>
                <a:uFillTx/>
                <a:latin typeface="微软雅黑" panose="020B0503020204020204" pitchFamily="34" charset="-122"/>
                <a:ea typeface="微软雅黑" panose="020B0503020204020204" pitchFamily="34" charset="-122"/>
                <a:sym typeface="微软雅黑" panose="020B0503020204020204" pitchFamily="34" charset="-122"/>
              </a:rPr>
              <a:t>请注意：</a:t>
            </a:r>
            <a:endParaRPr lang="zh-CN" altLang="en-US"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a:p>
            <a:pPr lvl="0" algn="l">
              <a:buClrTx/>
              <a:buSzTx/>
              <a:buFontTx/>
            </a:pPr>
            <a:r>
              <a:rPr lang="zh-CN" altLang="en-US" sz="1200" dirty="0">
                <a:ln>
                  <a:noFill/>
                </a:ln>
                <a:solidFill>
                  <a:schemeClr val="tx1"/>
                </a:solidFill>
                <a:effectLst/>
                <a:uFillTx/>
                <a:latin typeface="微软雅黑" panose="020B0503020204020204" pitchFamily="34" charset="-122"/>
                <a:ea typeface="微软雅黑" panose="020B0503020204020204" pitchFamily="34" charset="-122"/>
                <a:sym typeface="微软雅黑" panose="020B0503020204020204" pitchFamily="34" charset="-122"/>
              </a:rPr>
              <a:t>部分ASIN由于数据量不足，无法提供该功能</a:t>
            </a:r>
          </a:p>
        </p:txBody>
      </p:sp>
      <p:sp>
        <p:nvSpPr>
          <p:cNvPr id="17" name="文本框 5"/>
          <p:cNvSpPr txBox="1"/>
          <p:nvPr>
            <p:custDataLst>
              <p:tags r:id="rId7"/>
            </p:custDataLst>
          </p:nvPr>
        </p:nvSpPr>
        <p:spPr>
          <a:xfrm>
            <a:off x="748390" y="1431290"/>
            <a:ext cx="10791190" cy="10604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vertOverflow="overflow" horzOverflow="overflow" vert="horz" wrap="square" numCol="1" spcCol="0" rtlCol="0" fromWordArt="0" anchor="ctr" anchorCtr="0" forceAA="0" compatLnSpc="1">
            <a:spAutoFit/>
          </a:bodyPr>
          <a:lstStyle>
            <a:defPPr>
              <a:defRPr lang="zh-CN"/>
            </a:defPPr>
            <a:lvl1pPr algn="just">
              <a:lnSpc>
                <a:spcPct val="150000"/>
              </a:lnSpc>
              <a:defRPr sz="1200" b="0">
                <a:latin typeface="Amazon Ember" panose="020B0603020204020204" charset="0"/>
                <a:ea typeface="Amazon Ember" panose="020B0603020204020204" charset="0"/>
                <a:cs typeface="Amazon Ember" panose="020B0603020204020204" charset="0"/>
              </a:defRPr>
            </a:lvl1pPr>
          </a:lstStyle>
          <a:p>
            <a:pPr lvl="0" algn="just">
              <a:buClrTx/>
              <a:buSzTx/>
              <a:buFontTx/>
            </a:pPr>
            <a:r>
              <a:rPr lang="zh-CN" altLang="en-US" sz="1400" dirty="0">
                <a:latin typeface="微软雅黑" panose="020B0503020204020204" pitchFamily="34" charset="-122"/>
                <a:ea typeface="微软雅黑" panose="020B0503020204020204" pitchFamily="34" charset="-122"/>
                <a:sym typeface="+mn-ea"/>
              </a:rPr>
              <a:t>了解</a:t>
            </a:r>
            <a:r>
              <a:rPr lang="zh-CN" altLang="en-US" sz="1400" dirty="0">
                <a:latin typeface="微软雅黑" panose="020B0503020204020204" pitchFamily="34" charset="-122"/>
                <a:ea typeface="微软雅黑" panose="020B0503020204020204" pitchFamily="34" charset="-122"/>
                <a:sym typeface="思源黑体 Light" panose="020B0300000000000000" charset="-122"/>
              </a:rPr>
              <a:t>目标站点中其他卖家提供的ASIN时，除了以上提到的数据指标，通过下拉菜单您同样可以看到</a:t>
            </a:r>
            <a:r>
              <a:rPr lang="zh-CN" altLang="en-US" sz="1400" dirty="0">
                <a:solidFill>
                  <a:srgbClr val="F89104"/>
                </a:solidFill>
                <a:latin typeface="微软雅黑" panose="020B0503020204020204" pitchFamily="34" charset="-122"/>
                <a:ea typeface="微软雅黑" panose="020B0503020204020204" pitchFamily="34" charset="-122"/>
                <a:sym typeface="思源黑体 Light" panose="020B0300000000000000" charset="-122"/>
              </a:rPr>
              <a:t>需求和客户评论洞察分析</a:t>
            </a:r>
            <a:r>
              <a:rPr lang="zh-CN" altLang="en-US" sz="1400" dirty="0">
                <a:latin typeface="微软雅黑" panose="020B0503020204020204" pitchFamily="34" charset="-122"/>
                <a:ea typeface="微软雅黑" panose="020B0503020204020204" pitchFamily="34" charset="-122"/>
                <a:sym typeface="思源黑体 Light" panose="020B0300000000000000" charset="-122"/>
              </a:rPr>
              <a:t>，了解该商品被推荐拓展到目标站点的更多数据维度。您可以</a:t>
            </a:r>
            <a:r>
              <a:rPr lang="zh-CN" altLang="en-US" sz="1400" dirty="0">
                <a:latin typeface="微软雅黑" panose="020B0503020204020204" pitchFamily="34" charset="-122"/>
                <a:ea typeface="微软雅黑" panose="020B0503020204020204" pitchFamily="34" charset="-122"/>
                <a:sym typeface="+mn-ea"/>
              </a:rPr>
              <a:t>通过勾选过往7天、30天、90天及12个月的ASIN商品信息搜索绩效及热门搜索词，帮助您了解所推荐ASIN在目标站点的需求量，为您的拓展选品决定提供强力的数据支持。</a:t>
            </a:r>
          </a:p>
        </p:txBody>
      </p:sp>
      <p:grpSp>
        <p:nvGrpSpPr>
          <p:cNvPr id="4" name="组合 3"/>
          <p:cNvGrpSpPr/>
          <p:nvPr/>
        </p:nvGrpSpPr>
        <p:grpSpPr>
          <a:xfrm>
            <a:off x="972185" y="2621283"/>
            <a:ext cx="5897168" cy="3400351"/>
            <a:chOff x="1124" y="3953"/>
            <a:chExt cx="10577" cy="6099"/>
          </a:xfrm>
        </p:grpSpPr>
        <p:sp>
          <p:nvSpPr>
            <p:cNvPr id="37" name="Rectangle 36"/>
            <p:cNvSpPr/>
            <p:nvPr>
              <p:custDataLst>
                <p:tags r:id="rId9"/>
              </p:custDataLst>
            </p:nvPr>
          </p:nvSpPr>
          <p:spPr>
            <a:xfrm>
              <a:off x="10166" y="5787"/>
              <a:ext cx="234" cy="88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Rectangle 37"/>
            <p:cNvSpPr/>
            <p:nvPr>
              <p:custDataLst>
                <p:tags r:id="rId10"/>
              </p:custDataLst>
            </p:nvPr>
          </p:nvSpPr>
          <p:spPr>
            <a:xfrm>
              <a:off x="10726" y="5713"/>
              <a:ext cx="627" cy="88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7" name="Picture 6"/>
            <p:cNvPicPr>
              <a:picLocks noChangeAspect="1"/>
            </p:cNvPicPr>
            <p:nvPr>
              <p:custDataLst>
                <p:tags r:id="rId11"/>
              </p:custDataLst>
            </p:nvPr>
          </p:nvPicPr>
          <p:blipFill>
            <a:blip r:embed="rId16"/>
            <a:stretch>
              <a:fillRect/>
            </a:stretch>
          </p:blipFill>
          <p:spPr>
            <a:xfrm>
              <a:off x="1124" y="3953"/>
              <a:ext cx="10577" cy="1964"/>
            </a:xfrm>
            <a:prstGeom prst="rect">
              <a:avLst/>
            </a:prstGeom>
            <a:ln>
              <a:solidFill>
                <a:schemeClr val="bg2"/>
              </a:solidFill>
            </a:ln>
          </p:spPr>
        </p:pic>
        <p:pic>
          <p:nvPicPr>
            <p:cNvPr id="9" name="Picture 8"/>
            <p:cNvPicPr>
              <a:picLocks noChangeAspect="1"/>
            </p:cNvPicPr>
            <p:nvPr>
              <p:custDataLst>
                <p:tags r:id="rId12"/>
              </p:custDataLst>
            </p:nvPr>
          </p:nvPicPr>
          <p:blipFill>
            <a:blip r:embed="rId17"/>
            <a:stretch>
              <a:fillRect/>
            </a:stretch>
          </p:blipFill>
          <p:spPr>
            <a:xfrm>
              <a:off x="1124" y="5851"/>
              <a:ext cx="10577" cy="4201"/>
            </a:xfrm>
            <a:prstGeom prst="rect">
              <a:avLst/>
            </a:prstGeom>
            <a:ln>
              <a:solidFill>
                <a:schemeClr val="bg2"/>
              </a:solidFill>
            </a:ln>
          </p:spPr>
        </p:pic>
        <p:sp>
          <p:nvSpPr>
            <p:cNvPr id="19" name="Rectangle 18"/>
            <p:cNvSpPr/>
            <p:nvPr>
              <p:custDataLst>
                <p:tags r:id="rId13"/>
              </p:custDataLst>
            </p:nvPr>
          </p:nvSpPr>
          <p:spPr>
            <a:xfrm>
              <a:off x="1295" y="7360"/>
              <a:ext cx="2358" cy="883"/>
            </a:xfrm>
            <a:prstGeom prst="rect">
              <a:avLst/>
            </a:prstGeom>
            <a:noFill/>
            <a:ln w="44450" cap="flat">
              <a:solidFill>
                <a:srgbClr val="FF99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Rectangle 20"/>
            <p:cNvSpPr/>
            <p:nvPr>
              <p:custDataLst>
                <p:tags r:id="rId14"/>
              </p:custDataLst>
            </p:nvPr>
          </p:nvSpPr>
          <p:spPr>
            <a:xfrm>
              <a:off x="6303" y="7357"/>
              <a:ext cx="1993" cy="883"/>
            </a:xfrm>
            <a:prstGeom prst="rect">
              <a:avLst/>
            </a:prstGeom>
            <a:noFill/>
            <a:ln w="44450" cap="flat">
              <a:solidFill>
                <a:srgbClr val="FF99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3" name="Rectangle 4"/>
          <p:cNvSpPr/>
          <p:nvPr>
            <p:custDataLst>
              <p:tags r:id="rId8"/>
            </p:custDataLst>
          </p:nvPr>
        </p:nvSpPr>
        <p:spPr bwMode="auto">
          <a:xfrm>
            <a:off x="370840" y="859122"/>
            <a:ext cx="4927600" cy="371512"/>
          </a:xfrm>
          <a:prstGeom prst="rect">
            <a:avLst/>
          </a:prstGeom>
          <a:noFill/>
          <a:ln w="9525" cap="flat" cmpd="sng" algn="ctr">
            <a:noFill/>
            <a:prstDash val="solid"/>
            <a:headEnd type="none" w="med" len="med"/>
            <a:tailEnd type="none" w="med" len="med"/>
          </a:ln>
          <a:effectLst/>
        </p:spPr>
        <p:txBody>
          <a:bodyPr wrap="square" lIns="0" tIns="0" rIns="0" bIns="0">
            <a:spAutoFit/>
          </a:bodyPr>
          <a:lstStyle/>
          <a:p>
            <a:pPr lvl="0" algn="l" defTabSz="932180" fontAlgn="base">
              <a:lnSpc>
                <a:spcPct val="150000"/>
              </a:lnSpc>
              <a:buClrTx/>
              <a:buSzTx/>
              <a:buFontTx/>
              <a:defRPr/>
            </a:pPr>
            <a:r>
              <a:rPr lang="zh-CN" altLang="en-US" spc="100" dirty="0">
                <a:gradFill>
                  <a:gsLst>
                    <a:gs pos="0">
                      <a:srgbClr val="FF9911"/>
                    </a:gs>
                    <a:gs pos="100000">
                      <a:srgbClr val="FFC000"/>
                    </a:gs>
                  </a:gsLst>
                  <a:lin ang="5400000" scaled="0"/>
                </a:gradFill>
                <a:latin typeface="微软雅黑" panose="020B0503020204020204" pitchFamily="34" charset="-122"/>
                <a:ea typeface="微软雅黑" panose="020B0503020204020204" pitchFamily="34" charset="-122"/>
                <a:cs typeface="Amazon Ember" panose="020B0603020204020204" charset="0"/>
                <a:sym typeface="+mn-ea"/>
              </a:rPr>
              <a:t>进一步挖掘产品需求</a:t>
            </a:r>
          </a:p>
        </p:txBody>
      </p:sp>
      <p:pic>
        <p:nvPicPr>
          <p:cNvPr id="6" name="图片 5"/>
          <p:cNvPicPr>
            <a:picLocks noChangeAspect="1"/>
          </p:cNvPicPr>
          <p:nvPr/>
        </p:nvPicPr>
        <p:blipFill rotWithShape="1">
          <a:blip r:embed="rId18"/>
          <a:srcRect l="3640" t="48414" r="80100" b="34028"/>
          <a:stretch>
            <a:fillRect/>
          </a:stretch>
        </p:blipFill>
        <p:spPr>
          <a:xfrm>
            <a:off x="1362073" y="3772982"/>
            <a:ext cx="995364" cy="314758"/>
          </a:xfrm>
          <a:prstGeom prst="rect">
            <a:avLst/>
          </a:prstGeom>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p:nvPr>
            <p:custDataLst>
              <p:tags r:id="rId1"/>
            </p:custDataLst>
          </p:nvPr>
        </p:nvSpPr>
        <p:spPr>
          <a:xfrm>
            <a:off x="388620" y="1346200"/>
            <a:ext cx="11415395" cy="4836160"/>
          </a:xfrm>
          <a:prstGeom prst="roundRect">
            <a:avLst>
              <a:gd name="adj" fmla="val 4845"/>
            </a:avLst>
          </a:prstGeom>
          <a:solidFill>
            <a:schemeClr val="bg1">
              <a:lumMod val="95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grpSp>
        <p:nvGrpSpPr>
          <p:cNvPr id="6" name="组合 5"/>
          <p:cNvGrpSpPr/>
          <p:nvPr/>
        </p:nvGrpSpPr>
        <p:grpSpPr>
          <a:xfrm>
            <a:off x="972185" y="2544445"/>
            <a:ext cx="5648224" cy="3424454"/>
            <a:chOff x="1124" y="3768"/>
            <a:chExt cx="10577" cy="6412"/>
          </a:xfrm>
        </p:grpSpPr>
        <p:sp>
          <p:nvSpPr>
            <p:cNvPr id="8" name="Rectangle 36"/>
            <p:cNvSpPr/>
            <p:nvPr>
              <p:custDataLst>
                <p:tags r:id="rId9"/>
              </p:custDataLst>
            </p:nvPr>
          </p:nvSpPr>
          <p:spPr>
            <a:xfrm>
              <a:off x="10166" y="5767"/>
              <a:ext cx="234" cy="92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Rectangle 37"/>
            <p:cNvSpPr/>
            <p:nvPr>
              <p:custDataLst>
                <p:tags r:id="rId10"/>
              </p:custDataLst>
            </p:nvPr>
          </p:nvSpPr>
          <p:spPr>
            <a:xfrm>
              <a:off x="10726" y="5693"/>
              <a:ext cx="627" cy="922"/>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1" name="Group 1"/>
            <p:cNvGrpSpPr/>
            <p:nvPr/>
          </p:nvGrpSpPr>
          <p:grpSpPr>
            <a:xfrm>
              <a:off x="1124" y="3768"/>
              <a:ext cx="10577" cy="3256"/>
              <a:chOff x="713500" y="2392932"/>
              <a:chExt cx="6716233" cy="2067828"/>
            </a:xfrm>
          </p:grpSpPr>
          <p:pic>
            <p:nvPicPr>
              <p:cNvPr id="12" name="Picture 6"/>
              <p:cNvPicPr>
                <a:picLocks noChangeAspect="1"/>
              </p:cNvPicPr>
              <p:nvPr>
                <p:custDataLst>
                  <p:tags r:id="rId12"/>
                </p:custDataLst>
              </p:nvPr>
            </p:nvPicPr>
            <p:blipFill>
              <a:blip r:embed="rId15"/>
              <a:stretch>
                <a:fillRect/>
              </a:stretch>
            </p:blipFill>
            <p:spPr>
              <a:xfrm>
                <a:off x="713500" y="2392932"/>
                <a:ext cx="6716233" cy="1247358"/>
              </a:xfrm>
              <a:prstGeom prst="rect">
                <a:avLst/>
              </a:prstGeom>
              <a:ln>
                <a:solidFill>
                  <a:schemeClr val="bg2"/>
                </a:solidFill>
              </a:ln>
            </p:spPr>
          </p:pic>
          <p:pic>
            <p:nvPicPr>
              <p:cNvPr id="13" name="Picture 8"/>
              <p:cNvPicPr>
                <a:picLocks noChangeAspect="1"/>
              </p:cNvPicPr>
              <p:nvPr>
                <p:custDataLst>
                  <p:tags r:id="rId13"/>
                </p:custDataLst>
              </p:nvPr>
            </p:nvPicPr>
            <p:blipFill rotWithShape="1">
              <a:blip r:embed="rId16"/>
              <a:srcRect b="68065"/>
              <a:stretch>
                <a:fillRect/>
              </a:stretch>
            </p:blipFill>
            <p:spPr>
              <a:xfrm>
                <a:off x="713500" y="3608822"/>
                <a:ext cx="6716233" cy="851938"/>
              </a:xfrm>
              <a:prstGeom prst="rect">
                <a:avLst/>
              </a:prstGeom>
              <a:ln>
                <a:solidFill>
                  <a:schemeClr val="bg2"/>
                </a:solidFill>
              </a:ln>
            </p:spPr>
          </p:pic>
        </p:grpSp>
        <p:pic>
          <p:nvPicPr>
            <p:cNvPr id="15" name="图片 14"/>
            <p:cNvPicPr>
              <a:picLocks noChangeAspect="1"/>
            </p:cNvPicPr>
            <p:nvPr>
              <p:custDataLst>
                <p:tags r:id="rId11"/>
              </p:custDataLst>
            </p:nvPr>
          </p:nvPicPr>
          <p:blipFill>
            <a:blip r:embed="rId17"/>
            <a:stretch>
              <a:fillRect/>
            </a:stretch>
          </p:blipFill>
          <p:spPr>
            <a:xfrm>
              <a:off x="1124" y="6577"/>
              <a:ext cx="10577" cy="3603"/>
            </a:xfrm>
            <a:prstGeom prst="rect">
              <a:avLst/>
            </a:prstGeom>
            <a:ln>
              <a:solidFill>
                <a:schemeClr val="bg2"/>
              </a:solidFill>
            </a:ln>
          </p:spPr>
        </p:pic>
      </p:grpSp>
      <p:sp>
        <p:nvSpPr>
          <p:cNvPr id="2" name="Title 3"/>
          <p:cNvSpPr txBox="1"/>
          <p:nvPr/>
        </p:nvSpPr>
        <p:spPr>
          <a:xfrm>
            <a:off x="149913" y="219070"/>
            <a:ext cx="678815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第五步：解锁目标店铺的新ASIN</a:t>
            </a:r>
          </a:p>
        </p:txBody>
      </p:sp>
      <p:sp>
        <p:nvSpPr>
          <p:cNvPr id="39" name="文本框 5"/>
          <p:cNvSpPr txBox="1"/>
          <p:nvPr>
            <p:custDataLst>
              <p:tags r:id="rId2"/>
            </p:custDataLst>
          </p:nvPr>
        </p:nvSpPr>
        <p:spPr>
          <a:xfrm>
            <a:off x="6966585" y="2992120"/>
            <a:ext cx="4167505" cy="3366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了解该</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ASIN</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星级评定的五大正面及负面因素</a:t>
            </a:r>
            <a:endPar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40" name="文本框 7"/>
          <p:cNvSpPr txBox="1"/>
          <p:nvPr>
            <p:custDataLst>
              <p:tags r:id="rId3"/>
            </p:custDataLst>
          </p:nvPr>
        </p:nvSpPr>
        <p:spPr>
          <a:xfrm>
            <a:off x="6966585" y="4141470"/>
            <a:ext cx="4519295" cy="3366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了解不同客户对此</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ASIN</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的最佳正面、负面评论及被提及的次数</a:t>
            </a:r>
            <a:endPar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41" name="Rectangle: Rounded Corners 7"/>
          <p:cNvSpPr/>
          <p:nvPr>
            <p:custDataLst>
              <p:tags r:id="rId4"/>
            </p:custDataLst>
          </p:nvPr>
        </p:nvSpPr>
        <p:spPr>
          <a:xfrm>
            <a:off x="6966585" y="2544445"/>
            <a:ext cx="2395855" cy="417830"/>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l">
              <a:buClrTx/>
              <a:buSzTx/>
              <a:buFontTx/>
            </a:pPr>
            <a:r>
              <a:rPr lang="zh-CN" altLang="en-US" sz="1600"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rPr>
              <a:t>对星级评定的影响</a:t>
            </a:r>
          </a:p>
        </p:txBody>
      </p:sp>
      <p:sp>
        <p:nvSpPr>
          <p:cNvPr id="42" name="Rectangle: Rounded Corners 7"/>
          <p:cNvSpPr/>
          <p:nvPr>
            <p:custDataLst>
              <p:tags r:id="rId5"/>
            </p:custDataLst>
          </p:nvPr>
        </p:nvSpPr>
        <p:spPr>
          <a:xfrm>
            <a:off x="6966585" y="3684270"/>
            <a:ext cx="2395220" cy="417830"/>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l">
              <a:buClrTx/>
              <a:buSzTx/>
              <a:buFontTx/>
            </a:pPr>
            <a:r>
              <a:rPr lang="zh-CN" altLang="en-US" sz="1600"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rPr>
              <a:t>正负面评论主题</a:t>
            </a:r>
          </a:p>
        </p:txBody>
      </p:sp>
      <p:sp>
        <p:nvSpPr>
          <p:cNvPr id="16" name="Rectangle: Rounded Corners 15"/>
          <p:cNvSpPr/>
          <p:nvPr>
            <p:custDataLst>
              <p:tags r:id="rId6"/>
            </p:custDataLst>
          </p:nvPr>
        </p:nvSpPr>
        <p:spPr>
          <a:xfrm>
            <a:off x="6966585" y="4780280"/>
            <a:ext cx="4235450" cy="1188085"/>
          </a:xfrm>
          <a:prstGeom prst="roundRect">
            <a:avLst>
              <a:gd name="adj" fmla="val 10262"/>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r>
              <a:rPr lang="zh-CN" altLang="en-US" sz="1200" dirty="0">
                <a:ln>
                  <a:noFill/>
                </a:ln>
                <a:solidFill>
                  <a:schemeClr val="tx1"/>
                </a:solidFill>
                <a:effectLst/>
                <a:uFillTx/>
                <a:latin typeface="微软雅黑" panose="020B0503020204020204" pitchFamily="34" charset="-122"/>
                <a:ea typeface="微软雅黑" panose="020B0503020204020204" pitchFamily="34" charset="-122"/>
                <a:sym typeface="微软雅黑" panose="020B0503020204020204" pitchFamily="34" charset="-122"/>
              </a:rPr>
              <a:t>请注意：</a:t>
            </a:r>
          </a:p>
          <a:p>
            <a:pPr lvl="0" algn="l">
              <a:buClrTx/>
              <a:buSzTx/>
              <a:buFontTx/>
            </a:pPr>
            <a:r>
              <a:rPr lang="zh-CN" altLang="en-US" sz="1200" dirty="0">
                <a:ln>
                  <a:noFill/>
                </a:ln>
                <a:solidFill>
                  <a:schemeClr val="tx1"/>
                </a:solidFill>
                <a:effectLst/>
                <a:uFillTx/>
                <a:latin typeface="微软雅黑" panose="020B0503020204020204" pitchFamily="34" charset="-122"/>
                <a:ea typeface="微软雅黑" panose="020B0503020204020204" pitchFamily="34" charset="-122"/>
                <a:sym typeface="微软雅黑" panose="020B0503020204020204" pitchFamily="34" charset="-122"/>
              </a:rPr>
              <a:t>该功能的目标站点目前仅支持英国；</a:t>
            </a:r>
          </a:p>
          <a:p>
            <a:pPr lvl="0" algn="l">
              <a:buClrTx/>
              <a:buSzTx/>
              <a:buFontTx/>
            </a:pPr>
            <a:r>
              <a:rPr lang="zh-CN" altLang="en-US" sz="1200" dirty="0">
                <a:ln>
                  <a:noFill/>
                </a:ln>
                <a:solidFill>
                  <a:schemeClr val="tx1"/>
                </a:solidFill>
                <a:effectLst/>
                <a:uFillTx/>
                <a:latin typeface="微软雅黑" panose="020B0503020204020204" pitchFamily="34" charset="-122"/>
                <a:ea typeface="微软雅黑" panose="020B0503020204020204" pitchFamily="34" charset="-122"/>
                <a:sym typeface="微软雅黑" panose="020B0503020204020204" pitchFamily="34" charset="-122"/>
              </a:rPr>
              <a:t>只有在美国站有超过三条评论的ASIN才能使用该功能</a:t>
            </a:r>
          </a:p>
        </p:txBody>
      </p:sp>
      <p:sp>
        <p:nvSpPr>
          <p:cNvPr id="17" name="文本框 5"/>
          <p:cNvSpPr txBox="1"/>
          <p:nvPr>
            <p:custDataLst>
              <p:tags r:id="rId7"/>
            </p:custDataLst>
          </p:nvPr>
        </p:nvSpPr>
        <p:spPr>
          <a:xfrm>
            <a:off x="829310" y="1149985"/>
            <a:ext cx="10533380" cy="1490345"/>
          </a:xfrm>
          <a:prstGeom prst="rect">
            <a:avLst/>
          </a:prstGeom>
        </p:spPr>
        <p:txBody>
          <a:bodyPr vert="horz" wrap="square" lIns="243840" tIns="121920" rIns="243840" bIns="121920" rtlCol="0" anchor="ctr">
            <a:noAutofit/>
          </a:bodyPr>
          <a:lstStyle>
            <a:lvl1pPr defTabSz="685800">
              <a:spcBef>
                <a:spcPct val="0"/>
              </a:spcBef>
              <a:buNone/>
              <a:defRPr sz="1200" b="0" i="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lvl="0" algn="l">
              <a:lnSpc>
                <a:spcPct val="150000"/>
              </a:lnSpc>
              <a:buClrTx/>
              <a:buSzTx/>
              <a:buFontTx/>
            </a:pPr>
            <a:r>
              <a:rPr lang="zh-CN" altLang="en-US" sz="160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此外，为了了解目标站点消费者对于您的ASIN商品信息的真实反馈，您可以通过客户评论洞察分析了解目标站点消费者对您的ASIN商品信息的星级评定影响、正面及负面评论主题。</a:t>
            </a:r>
          </a:p>
        </p:txBody>
      </p:sp>
      <p:sp>
        <p:nvSpPr>
          <p:cNvPr id="3" name="Rectangle 4"/>
          <p:cNvSpPr/>
          <p:nvPr>
            <p:custDataLst>
              <p:tags r:id="rId8"/>
            </p:custDataLst>
          </p:nvPr>
        </p:nvSpPr>
        <p:spPr bwMode="auto">
          <a:xfrm>
            <a:off x="370840" y="859122"/>
            <a:ext cx="4927600" cy="371512"/>
          </a:xfrm>
          <a:prstGeom prst="rect">
            <a:avLst/>
          </a:prstGeom>
          <a:noFill/>
          <a:ln w="9525" cap="flat" cmpd="sng" algn="ctr">
            <a:noFill/>
            <a:prstDash val="solid"/>
            <a:headEnd type="none" w="med" len="med"/>
            <a:tailEnd type="none" w="med" len="med"/>
          </a:ln>
          <a:effectLst/>
        </p:spPr>
        <p:txBody>
          <a:bodyPr wrap="square" lIns="0" tIns="0" rIns="0" bIns="0">
            <a:spAutoFit/>
          </a:bodyPr>
          <a:lstStyle/>
          <a:p>
            <a:pPr lvl="0" algn="l" defTabSz="932180" fontAlgn="base">
              <a:lnSpc>
                <a:spcPct val="150000"/>
              </a:lnSpc>
              <a:buClrTx/>
              <a:buSzTx/>
              <a:buFontTx/>
              <a:defRPr/>
            </a:pPr>
            <a:r>
              <a:rPr lang="zh-CN" altLang="en-US" spc="100" dirty="0">
                <a:gradFill>
                  <a:gsLst>
                    <a:gs pos="0">
                      <a:srgbClr val="FF9911"/>
                    </a:gs>
                    <a:gs pos="100000">
                      <a:srgbClr val="FFC000"/>
                    </a:gs>
                  </a:gsLst>
                  <a:lin ang="5400000" scaled="0"/>
                </a:gradFill>
                <a:latin typeface="微软雅黑" panose="020B0503020204020204" pitchFamily="34" charset="-122"/>
                <a:ea typeface="微软雅黑" panose="020B0503020204020204" pitchFamily="34" charset="-122"/>
                <a:cs typeface="Amazon Ember" panose="020B0603020204020204" charset="0"/>
                <a:sym typeface="+mn-ea"/>
              </a:rPr>
              <a:t>了解客户评论洞察分析</a:t>
            </a:r>
          </a:p>
        </p:txBody>
      </p:sp>
      <p:pic>
        <p:nvPicPr>
          <p:cNvPr id="4" name="图片 3"/>
          <p:cNvPicPr>
            <a:picLocks noChangeAspect="1"/>
          </p:cNvPicPr>
          <p:nvPr/>
        </p:nvPicPr>
        <p:blipFill rotWithShape="1">
          <a:blip r:embed="rId18"/>
          <a:srcRect l="3640" t="48414" r="80139" b="34028"/>
          <a:stretch>
            <a:fillRect/>
          </a:stretch>
        </p:blipFill>
        <p:spPr>
          <a:xfrm>
            <a:off x="1312068" y="3633071"/>
            <a:ext cx="992982" cy="314758"/>
          </a:xfrm>
          <a:prstGeom prst="rect">
            <a:avLst/>
          </a:prstGeom>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p:nvPr>
            <p:custDataLst>
              <p:tags r:id="rId1"/>
            </p:custDataLst>
          </p:nvPr>
        </p:nvSpPr>
        <p:spPr>
          <a:xfrm>
            <a:off x="388620" y="1346200"/>
            <a:ext cx="11415395" cy="4836160"/>
          </a:xfrm>
          <a:prstGeom prst="roundRect">
            <a:avLst>
              <a:gd name="adj" fmla="val 4845"/>
            </a:avLst>
          </a:prstGeom>
          <a:solidFill>
            <a:schemeClr val="bg1">
              <a:lumMod val="95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2" name="Title 3"/>
          <p:cNvSpPr txBox="1"/>
          <p:nvPr/>
        </p:nvSpPr>
        <p:spPr>
          <a:xfrm>
            <a:off x="149860" y="219075"/>
            <a:ext cx="8792846"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第六步：解锁目标店铺中其他卖家提供的ASIN</a:t>
            </a:r>
          </a:p>
        </p:txBody>
      </p:sp>
      <p:pic>
        <p:nvPicPr>
          <p:cNvPr id="5" name="Picture 4"/>
          <p:cNvPicPr>
            <a:picLocks noChangeAspect="1"/>
          </p:cNvPicPr>
          <p:nvPr>
            <p:custDataLst>
              <p:tags r:id="rId2"/>
            </p:custDataLst>
          </p:nvPr>
        </p:nvPicPr>
        <p:blipFill rotWithShape="1">
          <a:blip r:embed="rId14"/>
          <a:srcRect b="44885"/>
          <a:stretch>
            <a:fillRect/>
          </a:stretch>
        </p:blipFill>
        <p:spPr>
          <a:xfrm>
            <a:off x="687685" y="2442756"/>
            <a:ext cx="10816630" cy="1972488"/>
          </a:xfrm>
          <a:prstGeom prst="rect">
            <a:avLst/>
          </a:prstGeom>
          <a:ln>
            <a:solidFill>
              <a:schemeClr val="bg2"/>
            </a:solidFill>
          </a:ln>
        </p:spPr>
      </p:pic>
      <p:sp>
        <p:nvSpPr>
          <p:cNvPr id="28" name="Rectangle: Rounded Corners 7"/>
          <p:cNvSpPr/>
          <p:nvPr>
            <p:custDataLst>
              <p:tags r:id="rId3"/>
            </p:custDataLst>
          </p:nvPr>
        </p:nvSpPr>
        <p:spPr>
          <a:xfrm>
            <a:off x="5354230" y="3297534"/>
            <a:ext cx="535258" cy="310180"/>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ctr">
              <a:buClr>
                <a:schemeClr val="bg2"/>
              </a:buClr>
              <a:buSzPct val="80000"/>
              <a:buFontTx/>
            </a:pPr>
            <a:r>
              <a:rPr lang="en-US" altLang="zh-CN" sz="1200" b="1" i="1" spc="2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01</a:t>
            </a:r>
          </a:p>
        </p:txBody>
      </p:sp>
      <p:sp>
        <p:nvSpPr>
          <p:cNvPr id="32" name="Rectangle: Rounded Corners 7"/>
          <p:cNvSpPr/>
          <p:nvPr>
            <p:custDataLst>
              <p:tags r:id="rId4"/>
            </p:custDataLst>
          </p:nvPr>
        </p:nvSpPr>
        <p:spPr>
          <a:xfrm>
            <a:off x="6142142" y="3297534"/>
            <a:ext cx="535258" cy="310180"/>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ctr">
              <a:buClr>
                <a:schemeClr val="bg2"/>
              </a:buClr>
              <a:buSzPct val="80000"/>
              <a:buFontTx/>
            </a:pPr>
            <a:r>
              <a:rPr lang="en-US" altLang="zh-CN" sz="1200" b="1" i="1" spc="2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rPr>
              <a:t>02</a:t>
            </a:r>
          </a:p>
        </p:txBody>
      </p:sp>
      <p:sp>
        <p:nvSpPr>
          <p:cNvPr id="20" name="Rectangle 19"/>
          <p:cNvSpPr txBox="1"/>
          <p:nvPr>
            <p:custDataLst>
              <p:tags r:id="rId5"/>
            </p:custDataLst>
          </p:nvPr>
        </p:nvSpPr>
        <p:spPr>
          <a:xfrm>
            <a:off x="687704" y="1490980"/>
            <a:ext cx="11115675" cy="785495"/>
          </a:xfrm>
          <a:prstGeom prst="rect">
            <a:avLst/>
          </a:prstGeom>
        </p:spPr>
        <p:txBody>
          <a:bodyPr vert="horz" wrap="square" lIns="243840" tIns="121920" rIns="243840" bIns="121920" rtlCol="0" anchor="ctr">
            <a:noAutofit/>
          </a:bodyPr>
          <a:lstStyle>
            <a:lvl1pPr defTabSz="685800">
              <a:spcBef>
                <a:spcPct val="0"/>
              </a:spcBef>
              <a:buNone/>
              <a:defRPr sz="1200" b="0" i="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lvl="0" algn="l">
              <a:lnSpc>
                <a:spcPct val="150000"/>
              </a:lnSpc>
              <a:buClrTx/>
              <a:buSzTx/>
              <a:buFontTx/>
            </a:pPr>
            <a:r>
              <a:rPr lang="zh-CN" altLang="en-US" sz="180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思源黑体 Light" panose="020B0300000000000000" charset="-122"/>
              </a:rPr>
              <a:t>“目标店铺中其他卖家提供的ASIN”标签下的推荐表示目标站点中至少有一个卖家在销售相同的ASIN。</a:t>
            </a:r>
          </a:p>
        </p:txBody>
      </p:sp>
      <p:sp>
        <p:nvSpPr>
          <p:cNvPr id="21" name="Rectangle 20"/>
          <p:cNvSpPr/>
          <p:nvPr>
            <p:custDataLst>
              <p:tags r:id="rId6"/>
            </p:custDataLst>
          </p:nvPr>
        </p:nvSpPr>
        <p:spPr>
          <a:xfrm>
            <a:off x="1364615" y="2903220"/>
            <a:ext cx="885190" cy="257175"/>
          </a:xfrm>
          <a:prstGeom prst="rect">
            <a:avLst/>
          </a:prstGeom>
          <a:noFill/>
          <a:ln w="44450" cap="flat">
            <a:solidFill>
              <a:srgbClr val="FF99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noAutofit/>
          </a:bodyPr>
          <a:lstStyle/>
          <a:p>
            <a:pPr lvl="0" algn="ctr" defTabSz="825500" hangingPunct="0">
              <a:spcBef>
                <a:spcPts val="0"/>
              </a:spcBef>
              <a:spcAft>
                <a:spcPts val="0"/>
              </a:spcAft>
              <a:buClrTx/>
              <a:buSzTx/>
              <a:buFontTx/>
            </a:pPr>
            <a:endParaRPr lang="zh-CN" altLang="en-US" sz="320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6" name="组合 5"/>
          <p:cNvGrpSpPr/>
          <p:nvPr/>
        </p:nvGrpSpPr>
        <p:grpSpPr>
          <a:xfrm>
            <a:off x="1892300" y="4949190"/>
            <a:ext cx="8408035" cy="839470"/>
            <a:chOff x="2463" y="7794"/>
            <a:chExt cx="13241" cy="1322"/>
          </a:xfrm>
        </p:grpSpPr>
        <p:sp>
          <p:nvSpPr>
            <p:cNvPr id="23" name="文本框 13"/>
            <p:cNvSpPr txBox="1"/>
            <p:nvPr>
              <p:custDataLst>
                <p:tags r:id="rId9"/>
              </p:custDataLst>
            </p:nvPr>
          </p:nvSpPr>
          <p:spPr>
            <a:xfrm>
              <a:off x="2565" y="8575"/>
              <a:ext cx="5465" cy="5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过去</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1</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周内，该</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ASIN</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的限时折扣总次数</a:t>
              </a:r>
              <a:r>
                <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rPr>
                <a:t>。</a:t>
              </a:r>
            </a:p>
          </p:txBody>
        </p:sp>
        <p:sp>
          <p:nvSpPr>
            <p:cNvPr id="24" name="Rectangle: Rounded Corners 7"/>
            <p:cNvSpPr/>
            <p:nvPr>
              <p:custDataLst>
                <p:tags r:id="rId10"/>
              </p:custDataLst>
            </p:nvPr>
          </p:nvSpPr>
          <p:spPr>
            <a:xfrm>
              <a:off x="2463" y="7814"/>
              <a:ext cx="5669" cy="65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l">
                <a:buClr>
                  <a:schemeClr val="bg2"/>
                </a:buClr>
                <a:buSzPct val="80000"/>
              </a:pPr>
              <a:r>
                <a:rPr lang="en-US" altLang="zh-CN" sz="1600" b="1" spc="300" dirty="0">
                  <a:solidFill>
                    <a:schemeClr val="bg1"/>
                  </a:solidFill>
                  <a:latin typeface="微软雅黑" panose="020B0503020204020204" pitchFamily="34" charset="-122"/>
                  <a:ea typeface="微软雅黑" panose="020B0503020204020204" pitchFamily="34" charset="-122"/>
                  <a:cs typeface="Amazon Ember" panose="020B0603020204020204" charset="0"/>
                </a:rPr>
                <a:t>01 </a:t>
              </a:r>
              <a:r>
                <a:rPr lang="zh-CN" altLang="en-US" sz="1600" spc="300" dirty="0">
                  <a:solidFill>
                    <a:schemeClr val="bg1"/>
                  </a:solidFill>
                  <a:latin typeface="微软雅黑" panose="020B0503020204020204" pitchFamily="34" charset="-122"/>
                  <a:ea typeface="微软雅黑" panose="020B0503020204020204" pitchFamily="34" charset="-122"/>
                  <a:cs typeface="Amazon Ember" panose="020B0603020204020204" charset="0"/>
                </a:rPr>
                <a:t>报价总数量</a:t>
              </a:r>
              <a:r>
                <a:rPr lang="zh-CN" altLang="en-US" sz="1600" b="1" spc="300" dirty="0">
                  <a:solidFill>
                    <a:schemeClr val="bg1"/>
                  </a:solidFill>
                  <a:latin typeface="微软雅黑" panose="020B0503020204020204" pitchFamily="34" charset="-122"/>
                  <a:ea typeface="微软雅黑" panose="020B0503020204020204" pitchFamily="34" charset="-122"/>
                  <a:cs typeface="Amazon Ember" panose="020B0603020204020204" charset="0"/>
                </a:rPr>
                <a:t> </a:t>
              </a:r>
              <a:r>
                <a:rPr lang="en-US" altLang="zh-CN" sz="1000" b="1" dirty="0">
                  <a:solidFill>
                    <a:schemeClr val="bg1"/>
                  </a:solidFill>
                  <a:latin typeface="微软雅黑" panose="020B0503020204020204" pitchFamily="34" charset="-122"/>
                  <a:ea typeface="微软雅黑" panose="020B0503020204020204" pitchFamily="34" charset="-122"/>
                  <a:cs typeface="Amazon Ember" panose="020B0603020204020204" charset="0"/>
                </a:rPr>
                <a:t>Offers</a:t>
              </a:r>
              <a:endParaRPr lang="zh-CN" altLang="en-US" sz="1000" b="1" dirty="0">
                <a:solidFill>
                  <a:schemeClr val="bg1"/>
                </a:solidFill>
                <a:latin typeface="微软雅黑" panose="020B0503020204020204" pitchFamily="34" charset="-122"/>
                <a:ea typeface="微软雅黑" panose="020B0503020204020204" pitchFamily="34" charset="-122"/>
                <a:cs typeface="Amazon Ember" panose="020B0603020204020204" charset="0"/>
              </a:endParaRPr>
            </a:p>
          </p:txBody>
        </p:sp>
        <p:sp>
          <p:nvSpPr>
            <p:cNvPr id="25" name="文本框 13"/>
            <p:cNvSpPr txBox="1"/>
            <p:nvPr>
              <p:custDataLst>
                <p:tags r:id="rId11"/>
              </p:custDataLst>
            </p:nvPr>
          </p:nvSpPr>
          <p:spPr>
            <a:xfrm>
              <a:off x="10137" y="8586"/>
              <a:ext cx="5465" cy="5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目标市场过去</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4</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周内</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ASIN</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rPr>
                <a:t>的平均报价中标价格</a:t>
              </a:r>
              <a:endParaRPr lang="zh-CN" altLang="en-US" sz="1200" b="0" dirty="0">
                <a:solidFill>
                  <a:schemeClr val="tx1"/>
                </a:solidFill>
                <a:latin typeface="微软雅黑" panose="020B0503020204020204" pitchFamily="34" charset="-122"/>
                <a:ea typeface="微软雅黑" panose="020B0503020204020204" pitchFamily="34" charset="-122"/>
                <a:cs typeface="Amazon Ember" panose="020B0603020204020204" charset="0"/>
              </a:endParaRPr>
            </a:p>
          </p:txBody>
        </p:sp>
        <p:sp>
          <p:nvSpPr>
            <p:cNvPr id="30" name="Rectangle: Rounded Corners 7"/>
            <p:cNvSpPr/>
            <p:nvPr>
              <p:custDataLst>
                <p:tags r:id="rId12"/>
              </p:custDataLst>
            </p:nvPr>
          </p:nvSpPr>
          <p:spPr>
            <a:xfrm>
              <a:off x="10035" y="7794"/>
              <a:ext cx="5669" cy="65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lstStyle/>
            <a:p>
              <a:pPr algn="l">
                <a:buClr>
                  <a:schemeClr val="bg2"/>
                </a:buClr>
                <a:buSzPct val="80000"/>
              </a:pPr>
              <a:r>
                <a:rPr lang="en-US" altLang="zh-CN" sz="1600" b="1" spc="300" dirty="0">
                  <a:solidFill>
                    <a:schemeClr val="bg1"/>
                  </a:solidFill>
                  <a:latin typeface="微软雅黑" panose="020B0503020204020204" pitchFamily="34" charset="-122"/>
                  <a:ea typeface="微软雅黑" panose="020B0503020204020204" pitchFamily="34" charset="-122"/>
                  <a:cs typeface="Amazon Ember" panose="020B0603020204020204" charset="0"/>
                </a:rPr>
                <a:t>02 </a:t>
              </a:r>
              <a:r>
                <a:rPr lang="zh-CN" altLang="en-US" sz="1600" spc="300" dirty="0">
                  <a:solidFill>
                    <a:schemeClr val="bg1"/>
                  </a:solidFill>
                  <a:latin typeface="微软雅黑" panose="020B0503020204020204" pitchFamily="34" charset="-122"/>
                  <a:ea typeface="微软雅黑" panose="020B0503020204020204" pitchFamily="34" charset="-122"/>
                  <a:cs typeface="Amazon Ember" panose="020B0603020204020204" charset="0"/>
                </a:rPr>
                <a:t>中标价</a:t>
              </a:r>
              <a:r>
                <a:rPr lang="en-US" altLang="zh-CN" sz="1000" b="1" dirty="0">
                  <a:solidFill>
                    <a:schemeClr val="bg1"/>
                  </a:solidFill>
                  <a:latin typeface="微软雅黑" panose="020B0503020204020204" pitchFamily="34" charset="-122"/>
                  <a:ea typeface="微软雅黑" panose="020B0503020204020204" pitchFamily="34" charset="-122"/>
                  <a:cs typeface="Amazon Ember" panose="020B0603020204020204" charset="0"/>
                </a:rPr>
                <a:t>offer winning price</a:t>
              </a:r>
              <a:endParaRPr lang="zh-CN" altLang="en-US" sz="1000" b="1" dirty="0">
                <a:solidFill>
                  <a:schemeClr val="bg1"/>
                </a:solidFill>
                <a:latin typeface="微软雅黑" panose="020B0503020204020204" pitchFamily="34" charset="-122"/>
                <a:ea typeface="微软雅黑" panose="020B0503020204020204" pitchFamily="34" charset="-122"/>
                <a:cs typeface="Amazon Ember" panose="020B0603020204020204" charset="0"/>
              </a:endParaRPr>
            </a:p>
          </p:txBody>
        </p:sp>
      </p:grpSp>
      <p:sp>
        <p:nvSpPr>
          <p:cNvPr id="14" name="Rectangle 4"/>
          <p:cNvSpPr/>
          <p:nvPr>
            <p:custDataLst>
              <p:tags r:id="rId7"/>
            </p:custDataLst>
          </p:nvPr>
        </p:nvSpPr>
        <p:spPr bwMode="auto">
          <a:xfrm>
            <a:off x="370840" y="859122"/>
            <a:ext cx="4927600" cy="371512"/>
          </a:xfrm>
          <a:prstGeom prst="rect">
            <a:avLst/>
          </a:prstGeom>
          <a:noFill/>
          <a:ln w="9525" cap="flat" cmpd="sng" algn="ctr">
            <a:noFill/>
            <a:prstDash val="solid"/>
            <a:headEnd type="none" w="med" len="med"/>
            <a:tailEnd type="none" w="med" len="med"/>
          </a:ln>
          <a:effectLst/>
        </p:spPr>
        <p:txBody>
          <a:bodyPr wrap="square" lIns="0" tIns="0" rIns="0" bIns="0">
            <a:spAutoFit/>
          </a:bodyPr>
          <a:lstStyle/>
          <a:p>
            <a:pPr lvl="0" algn="l" defTabSz="932180" fontAlgn="base">
              <a:lnSpc>
                <a:spcPct val="150000"/>
              </a:lnSpc>
              <a:buClrTx/>
              <a:buSzTx/>
              <a:buFontTx/>
              <a:defRPr/>
            </a:pPr>
            <a:r>
              <a:rPr lang="zh-CN" altLang="en-US" spc="100" dirty="0">
                <a:gradFill>
                  <a:gsLst>
                    <a:gs pos="0">
                      <a:srgbClr val="FF9911"/>
                    </a:gs>
                    <a:gs pos="100000">
                      <a:srgbClr val="FFC000"/>
                    </a:gs>
                  </a:gsLst>
                  <a:lin ang="5400000" scaled="0"/>
                </a:gradFill>
                <a:latin typeface="微软雅黑" panose="020B0503020204020204" pitchFamily="34" charset="-122"/>
                <a:ea typeface="微软雅黑" panose="020B0503020204020204" pitchFamily="34" charset="-122"/>
                <a:cs typeface="Amazon Ember" panose="020B0603020204020204" charset="0"/>
                <a:sym typeface="+mn-ea"/>
              </a:rPr>
              <a:t>理解数据指标含义</a:t>
            </a:r>
          </a:p>
        </p:txBody>
      </p:sp>
      <p:pic>
        <p:nvPicPr>
          <p:cNvPr id="4" name="图片 3"/>
          <p:cNvPicPr>
            <a:picLocks noChangeAspect="1"/>
          </p:cNvPicPr>
          <p:nvPr>
            <p:custDataLst>
              <p:tags r:id="rId8"/>
            </p:custDataLst>
          </p:nvPr>
        </p:nvPicPr>
        <p:blipFill rotWithShape="1">
          <a:blip r:embed="rId15"/>
          <a:srcRect l="3640" t="48414" r="80644" b="34028"/>
          <a:stretch>
            <a:fillRect/>
          </a:stretch>
        </p:blipFill>
        <p:spPr>
          <a:xfrm>
            <a:off x="1073943" y="4072159"/>
            <a:ext cx="962026" cy="314758"/>
          </a:xfrm>
          <a:prstGeom prst="rect">
            <a:avLst/>
          </a:prstGeom>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p:nvPr>
            <p:custDataLst>
              <p:tags r:id="rId1"/>
            </p:custDataLst>
          </p:nvPr>
        </p:nvSpPr>
        <p:spPr>
          <a:xfrm>
            <a:off x="388620" y="1346200"/>
            <a:ext cx="11415395" cy="4836160"/>
          </a:xfrm>
          <a:prstGeom prst="roundRect">
            <a:avLst>
              <a:gd name="adj" fmla="val 4845"/>
            </a:avLst>
          </a:prstGeom>
          <a:solidFill>
            <a:schemeClr val="bg1">
              <a:lumMod val="95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2" name="Title 3"/>
          <p:cNvSpPr txBox="1"/>
          <p:nvPr/>
        </p:nvSpPr>
        <p:spPr>
          <a:xfrm>
            <a:off x="149860" y="219075"/>
            <a:ext cx="874268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第六步：解锁目标店铺中其他卖家提供的ASIN</a:t>
            </a:r>
          </a:p>
        </p:txBody>
      </p:sp>
      <p:sp>
        <p:nvSpPr>
          <p:cNvPr id="39" name="文本框 5"/>
          <p:cNvSpPr txBox="1"/>
          <p:nvPr>
            <p:custDataLst>
              <p:tags r:id="rId2"/>
            </p:custDataLst>
          </p:nvPr>
        </p:nvSpPr>
        <p:spPr>
          <a:xfrm>
            <a:off x="8253730" y="3020695"/>
            <a:ext cx="3089910" cy="6136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了解您的</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ASIN</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商品信息在目标站点使用的所有关键词的搜索量趋势与买家点击量</a:t>
            </a:r>
            <a:endPar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40" name="文本框 7"/>
          <p:cNvSpPr txBox="1"/>
          <p:nvPr>
            <p:custDataLst>
              <p:tags r:id="rId3"/>
            </p:custDataLst>
          </p:nvPr>
        </p:nvSpPr>
        <p:spPr>
          <a:xfrm>
            <a:off x="8253730" y="4189095"/>
            <a:ext cx="3089910" cy="6136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了解您的</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ASIN</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商品信息在目标站点搜索量最高的关键词及过往时间段的搜索次数</a:t>
            </a:r>
            <a:endPar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41" name="Rectangle: Rounded Corners 7"/>
          <p:cNvSpPr/>
          <p:nvPr>
            <p:custDataLst>
              <p:tags r:id="rId4"/>
            </p:custDataLst>
          </p:nvPr>
        </p:nvSpPr>
        <p:spPr>
          <a:xfrm>
            <a:off x="8329295" y="2601383"/>
            <a:ext cx="2091600" cy="41812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l">
              <a:buClrTx/>
              <a:buSzTx/>
              <a:buFontTx/>
            </a:pPr>
            <a:r>
              <a:rPr lang="zh-CN" altLang="en-US" sz="1600"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rPr>
              <a:t>搜索绩效</a:t>
            </a:r>
            <a:endParaRPr lang="zh-CN" altLang="en-US" sz="1600" spc="2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42" name="Rectangle: Rounded Corners 7"/>
          <p:cNvSpPr/>
          <p:nvPr>
            <p:custDataLst>
              <p:tags r:id="rId5"/>
            </p:custDataLst>
          </p:nvPr>
        </p:nvSpPr>
        <p:spPr>
          <a:xfrm>
            <a:off x="8329295" y="3760601"/>
            <a:ext cx="2091027" cy="418128"/>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l">
              <a:buClrTx/>
              <a:buSzTx/>
              <a:buFontTx/>
            </a:pPr>
            <a:r>
              <a:rPr lang="zh-CN" altLang="en-US" sz="1600"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rPr>
              <a:t>最热门的关键词</a:t>
            </a:r>
            <a:endParaRPr lang="zh-CN" altLang="en-US" sz="1600" spc="2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endParaRPr>
          </a:p>
        </p:txBody>
      </p:sp>
      <p:grpSp>
        <p:nvGrpSpPr>
          <p:cNvPr id="6" name="组合 5"/>
          <p:cNvGrpSpPr/>
          <p:nvPr/>
        </p:nvGrpSpPr>
        <p:grpSpPr>
          <a:xfrm>
            <a:off x="953135" y="2610485"/>
            <a:ext cx="7037070" cy="3207385"/>
            <a:chOff x="587" y="3888"/>
            <a:chExt cx="13980" cy="6370"/>
          </a:xfrm>
        </p:grpSpPr>
        <p:pic>
          <p:nvPicPr>
            <p:cNvPr id="8" name="Picture 4"/>
            <p:cNvPicPr>
              <a:picLocks noChangeAspect="1"/>
            </p:cNvPicPr>
            <p:nvPr>
              <p:custDataLst>
                <p:tags r:id="rId9"/>
              </p:custDataLst>
            </p:nvPr>
          </p:nvPicPr>
          <p:blipFill>
            <a:blip r:embed="rId13"/>
            <a:stretch>
              <a:fillRect/>
            </a:stretch>
          </p:blipFill>
          <p:spPr>
            <a:xfrm>
              <a:off x="587" y="3888"/>
              <a:ext cx="13981" cy="6371"/>
            </a:xfrm>
            <a:prstGeom prst="rect">
              <a:avLst/>
            </a:prstGeom>
            <a:ln>
              <a:solidFill>
                <a:schemeClr val="bg2"/>
              </a:solidFill>
            </a:ln>
          </p:spPr>
        </p:pic>
        <p:sp>
          <p:nvSpPr>
            <p:cNvPr id="28" name="Rectangle 27"/>
            <p:cNvSpPr/>
            <p:nvPr>
              <p:custDataLst>
                <p:tags r:id="rId10"/>
              </p:custDataLst>
            </p:nvPr>
          </p:nvSpPr>
          <p:spPr>
            <a:xfrm>
              <a:off x="694" y="7708"/>
              <a:ext cx="2358" cy="609"/>
            </a:xfrm>
            <a:prstGeom prst="rect">
              <a:avLst/>
            </a:prstGeom>
            <a:noFill/>
            <a:ln w="44450" cap="flat">
              <a:solidFill>
                <a:srgbClr val="FF99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noAutofit/>
            </a:bodyPr>
            <a:lstStyle/>
            <a:p>
              <a:pPr lvl="0" algn="ctr" defTabSz="825500" hangingPunct="0">
                <a:spcBef>
                  <a:spcPts val="0"/>
                </a:spcBef>
                <a:spcAft>
                  <a:spcPts val="0"/>
                </a:spcAft>
                <a:buClrTx/>
                <a:buSzTx/>
                <a:buFontTx/>
              </a:pPr>
              <a:endParaRPr lang="zh-CN" altLang="en-US" sz="320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9" name="Rectangle 28"/>
            <p:cNvSpPr/>
            <p:nvPr>
              <p:custDataLst>
                <p:tags r:id="rId11"/>
              </p:custDataLst>
            </p:nvPr>
          </p:nvSpPr>
          <p:spPr>
            <a:xfrm>
              <a:off x="7438" y="7708"/>
              <a:ext cx="1993" cy="609"/>
            </a:xfrm>
            <a:prstGeom prst="rect">
              <a:avLst/>
            </a:prstGeom>
            <a:noFill/>
            <a:ln w="44450" cap="flat">
              <a:solidFill>
                <a:srgbClr val="FF99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noAutofit/>
            </a:bodyPr>
            <a:lstStyle/>
            <a:p>
              <a:pPr lvl="0" algn="ctr" defTabSz="825500" hangingPunct="0">
                <a:spcBef>
                  <a:spcPts val="0"/>
                </a:spcBef>
                <a:spcAft>
                  <a:spcPts val="0"/>
                </a:spcAft>
                <a:buClrTx/>
                <a:buSzTx/>
                <a:buFontTx/>
              </a:pPr>
              <a:endParaRPr lang="zh-CN" altLang="en-US" sz="3200" dirty="0">
                <a:ln>
                  <a:noFill/>
                </a:ln>
                <a:solidFill>
                  <a:srgbClr val="FFFFFF"/>
                </a:solidFill>
                <a:effectLst/>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6" name="Rectangle: Rounded Corners 15"/>
          <p:cNvSpPr/>
          <p:nvPr>
            <p:custDataLst>
              <p:tags r:id="rId6"/>
            </p:custDataLst>
          </p:nvPr>
        </p:nvSpPr>
        <p:spPr>
          <a:xfrm>
            <a:off x="8329295" y="4919980"/>
            <a:ext cx="3014345" cy="902335"/>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r>
              <a:rPr lang="zh-CN" altLang="en-US" sz="1200" dirty="0">
                <a:ln>
                  <a:noFill/>
                </a:ln>
                <a:solidFill>
                  <a:schemeClr val="tx1"/>
                </a:solidFill>
                <a:effectLst/>
                <a:uFillTx/>
                <a:latin typeface="微软雅黑" panose="020B0503020204020204" pitchFamily="34" charset="-122"/>
                <a:ea typeface="微软雅黑" panose="020B0503020204020204" pitchFamily="34" charset="-122"/>
                <a:sym typeface="微软雅黑" panose="020B0503020204020204" pitchFamily="34" charset="-122"/>
              </a:rPr>
              <a:t>请注意：</a:t>
            </a:r>
          </a:p>
          <a:p>
            <a:pPr lvl="0" algn="l">
              <a:buClrTx/>
              <a:buSzTx/>
              <a:buFontTx/>
            </a:pPr>
            <a:r>
              <a:rPr lang="zh-CN" altLang="en-US" sz="1200" dirty="0">
                <a:ln>
                  <a:noFill/>
                </a:ln>
                <a:solidFill>
                  <a:schemeClr val="tx1"/>
                </a:solidFill>
                <a:effectLst/>
                <a:uFillTx/>
                <a:latin typeface="微软雅黑" panose="020B0503020204020204" pitchFamily="34" charset="-122"/>
                <a:ea typeface="微软雅黑" panose="020B0503020204020204" pitchFamily="34" charset="-122"/>
                <a:sym typeface="微软雅黑" panose="020B0503020204020204" pitchFamily="34" charset="-122"/>
              </a:rPr>
              <a:t>部分ASIN由于数据量不足，无法提供该功能</a:t>
            </a:r>
          </a:p>
        </p:txBody>
      </p:sp>
      <p:sp>
        <p:nvSpPr>
          <p:cNvPr id="17" name="文本框 5"/>
          <p:cNvSpPr txBox="1"/>
          <p:nvPr>
            <p:custDataLst>
              <p:tags r:id="rId7"/>
            </p:custDataLst>
          </p:nvPr>
        </p:nvSpPr>
        <p:spPr>
          <a:xfrm>
            <a:off x="829310" y="1431290"/>
            <a:ext cx="10533380" cy="10604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vertOverflow="overflow" horzOverflow="overflow" vert="horz" wrap="square" numCol="1" spcCol="0" rtlCol="0" fromWordArt="0" anchor="ctr" anchorCtr="0" forceAA="0" compatLnSpc="1">
            <a:spAutoFit/>
          </a:bodyPr>
          <a:lstStyle>
            <a:defPPr>
              <a:defRPr lang="zh-CN"/>
            </a:defPPr>
            <a:lvl1pPr algn="just">
              <a:lnSpc>
                <a:spcPct val="150000"/>
              </a:lnSpc>
              <a:defRPr sz="1200" b="0">
                <a:latin typeface="Amazon Ember" panose="020B0603020204020204" charset="0"/>
                <a:ea typeface="Amazon Ember" panose="020B0603020204020204" charset="0"/>
                <a:cs typeface="Amazon Ember" panose="020B0603020204020204" charset="0"/>
              </a:defRPr>
            </a:lvl1pPr>
          </a:lstStyle>
          <a:p>
            <a:pPr lvl="0" algn="just">
              <a:buClrTx/>
              <a:buSzTx/>
              <a:buFontTx/>
            </a:pPr>
            <a:r>
              <a:rPr lang="zh-CN" altLang="en-US" sz="1400" dirty="0">
                <a:latin typeface="微软雅黑" panose="020B0503020204020204" pitchFamily="34" charset="-122"/>
                <a:ea typeface="微软雅黑" panose="020B0503020204020204" pitchFamily="34" charset="-122"/>
                <a:sym typeface="+mn-ea"/>
              </a:rPr>
              <a:t>了解目标站点中其他卖家提供的ASIN时，除了以上提到的数据指标，通过下拉菜单您同样可以看到</a:t>
            </a:r>
            <a:r>
              <a:rPr lang="zh-CN" altLang="en-US" sz="1400" dirty="0">
                <a:solidFill>
                  <a:srgbClr val="F89104"/>
                </a:solidFill>
                <a:latin typeface="微软雅黑" panose="020B0503020204020204" pitchFamily="34" charset="-122"/>
                <a:ea typeface="微软雅黑" panose="020B0503020204020204" pitchFamily="34" charset="-122"/>
                <a:sym typeface="+mn-ea"/>
              </a:rPr>
              <a:t>需求和客户评论洞察分析</a:t>
            </a:r>
            <a:r>
              <a:rPr lang="zh-CN" altLang="en-US" sz="1400" dirty="0">
                <a:latin typeface="微软雅黑" panose="020B0503020204020204" pitchFamily="34" charset="-122"/>
                <a:ea typeface="微软雅黑" panose="020B0503020204020204" pitchFamily="34" charset="-122"/>
                <a:sym typeface="+mn-ea"/>
              </a:rPr>
              <a:t>，了解</a:t>
            </a:r>
            <a:endParaRPr lang="en-US" altLang="zh-CN" sz="1400" dirty="0">
              <a:latin typeface="微软雅黑" panose="020B0503020204020204" pitchFamily="34" charset="-122"/>
              <a:ea typeface="微软雅黑" panose="020B0503020204020204" pitchFamily="34" charset="-122"/>
              <a:sym typeface="+mn-ea"/>
            </a:endParaRPr>
          </a:p>
          <a:p>
            <a:pPr lvl="0" algn="just">
              <a:buClrTx/>
              <a:buSzTx/>
              <a:buFontTx/>
            </a:pPr>
            <a:r>
              <a:rPr lang="zh-CN" altLang="en-US" sz="1400" dirty="0">
                <a:latin typeface="微软雅黑" panose="020B0503020204020204" pitchFamily="34" charset="-122"/>
                <a:ea typeface="微软雅黑" panose="020B0503020204020204" pitchFamily="34" charset="-122"/>
                <a:sym typeface="+mn-ea"/>
              </a:rPr>
              <a:t>该商品被推荐拓展到目标站点的更多数据维度。您可以通过勾选过往7天、30天、90天及12个月的ASIN商品信息搜索绩效及热门搜索词，帮助您了解所推荐ASIN在目标站点的需求量，为您的拓展选品决定提供强力的数据支持。</a:t>
            </a:r>
          </a:p>
        </p:txBody>
      </p:sp>
      <p:sp>
        <p:nvSpPr>
          <p:cNvPr id="3" name="Rectangle 4"/>
          <p:cNvSpPr/>
          <p:nvPr>
            <p:custDataLst>
              <p:tags r:id="rId8"/>
            </p:custDataLst>
          </p:nvPr>
        </p:nvSpPr>
        <p:spPr bwMode="auto">
          <a:xfrm>
            <a:off x="370840" y="859122"/>
            <a:ext cx="4927600" cy="371512"/>
          </a:xfrm>
          <a:prstGeom prst="rect">
            <a:avLst/>
          </a:prstGeom>
          <a:noFill/>
          <a:ln w="9525" cap="flat" cmpd="sng" algn="ctr">
            <a:noFill/>
            <a:prstDash val="solid"/>
            <a:headEnd type="none" w="med" len="med"/>
            <a:tailEnd type="none" w="med" len="med"/>
          </a:ln>
          <a:effectLst/>
        </p:spPr>
        <p:txBody>
          <a:bodyPr wrap="square" lIns="0" tIns="0" rIns="0" bIns="0">
            <a:spAutoFit/>
          </a:bodyPr>
          <a:lstStyle/>
          <a:p>
            <a:pPr lvl="0" algn="l" defTabSz="932180" fontAlgn="base">
              <a:lnSpc>
                <a:spcPct val="150000"/>
              </a:lnSpc>
              <a:buClrTx/>
              <a:buSzTx/>
              <a:buFontTx/>
              <a:defRPr/>
            </a:pPr>
            <a:r>
              <a:rPr lang="zh-CN" altLang="en-US" spc="100" dirty="0">
                <a:gradFill>
                  <a:gsLst>
                    <a:gs pos="0">
                      <a:srgbClr val="FF9911"/>
                    </a:gs>
                    <a:gs pos="100000">
                      <a:srgbClr val="FFC000"/>
                    </a:gs>
                  </a:gsLst>
                  <a:lin ang="5400000" scaled="0"/>
                </a:gradFill>
                <a:latin typeface="微软雅黑" panose="020B0503020204020204" pitchFamily="34" charset="-122"/>
                <a:ea typeface="微软雅黑" panose="020B0503020204020204" pitchFamily="34" charset="-122"/>
                <a:cs typeface="Amazon Ember" panose="020B0603020204020204" charset="0"/>
                <a:sym typeface="+mn-ea"/>
              </a:rPr>
              <a:t>进一步挖掘产品需求</a:t>
            </a:r>
          </a:p>
        </p:txBody>
      </p:sp>
      <p:pic>
        <p:nvPicPr>
          <p:cNvPr id="4" name="图片 3"/>
          <p:cNvPicPr>
            <a:picLocks noChangeAspect="1"/>
          </p:cNvPicPr>
          <p:nvPr/>
        </p:nvPicPr>
        <p:blipFill rotWithShape="1">
          <a:blip r:embed="rId14"/>
          <a:srcRect l="3640" t="48414" r="80644" b="34028"/>
          <a:stretch>
            <a:fillRect/>
          </a:stretch>
        </p:blipFill>
        <p:spPr>
          <a:xfrm>
            <a:off x="1264443" y="3790854"/>
            <a:ext cx="962026" cy="314758"/>
          </a:xfrm>
          <a:prstGeom prst="rect">
            <a:avLst/>
          </a:prstGeom>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p:nvPr>
            <p:custDataLst>
              <p:tags r:id="rId1"/>
            </p:custDataLst>
          </p:nvPr>
        </p:nvSpPr>
        <p:spPr>
          <a:xfrm>
            <a:off x="388620" y="1346200"/>
            <a:ext cx="11415395" cy="4836160"/>
          </a:xfrm>
          <a:prstGeom prst="roundRect">
            <a:avLst>
              <a:gd name="adj" fmla="val 4845"/>
            </a:avLst>
          </a:prstGeom>
          <a:solidFill>
            <a:schemeClr val="bg1">
              <a:lumMod val="95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pitchFamily="34" charset="-122"/>
              <a:ea typeface="微软雅黑" panose="020B0503020204020204" pitchFamily="34" charset="-122"/>
              <a:sym typeface="+mn-ea"/>
            </a:endParaRPr>
          </a:p>
        </p:txBody>
      </p:sp>
      <p:sp>
        <p:nvSpPr>
          <p:cNvPr id="2" name="Title 3"/>
          <p:cNvSpPr txBox="1"/>
          <p:nvPr/>
        </p:nvSpPr>
        <p:spPr>
          <a:xfrm>
            <a:off x="149860" y="219075"/>
            <a:ext cx="8742680" cy="734695"/>
          </a:xfrm>
          <a:prstGeom prst="rect">
            <a:avLst/>
          </a:prstGeom>
        </p:spPr>
        <p:txBody>
          <a:bodyPr vert="horz" wrap="square" lIns="182880" tIns="146304" rIns="182880" bIns="146304" rtlCol="0" anchor="t">
            <a:spAutoFit/>
          </a:bodyPr>
          <a:lstStyle>
            <a:lvl1pPr algn="l" defTabSz="1097280" rtl="0" eaLnBrk="1" fontAlgn="base" hangingPunct="1">
              <a:lnSpc>
                <a:spcPct val="90000"/>
              </a:lnSpc>
              <a:spcBef>
                <a:spcPct val="0"/>
              </a:spcBef>
              <a:spcAft>
                <a:spcPct val="0"/>
              </a:spcAft>
              <a:defRPr lang="en-US" sz="4800" b="0" i="0" kern="1200" spc="-120" baseline="0">
                <a:ln w="3175">
                  <a:noFill/>
                </a:ln>
                <a:solidFill>
                  <a:schemeClr val="bg1"/>
                </a:solidFill>
                <a:latin typeface="Amazon Ember Heavy" panose="020B0603020204020204" pitchFamily="34" charset="0"/>
                <a:ea typeface="Amazon Ember Heavy" panose="020B0603020204020204" pitchFamily="34" charset="0"/>
                <a:cs typeface="Amazon Ember Heavy" panose="020B0603020204020204" pitchFamily="34" charset="0"/>
              </a:defRPr>
            </a:lvl1pPr>
            <a:lvl2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2pPr>
            <a:lvl3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3pPr>
            <a:lvl4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4pPr>
            <a:lvl5pPr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5pPr>
            <a:lvl6pPr marL="4572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6pPr>
            <a:lvl7pPr marL="9144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7pPr>
            <a:lvl8pPr marL="13716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8pPr>
            <a:lvl9pPr marL="1828800" algn="l" defTabSz="1097280" rtl="0" eaLnBrk="1" fontAlgn="base" hangingPunct="1">
              <a:lnSpc>
                <a:spcPct val="90000"/>
              </a:lnSpc>
              <a:spcBef>
                <a:spcPct val="0"/>
              </a:spcBef>
              <a:spcAft>
                <a:spcPct val="0"/>
              </a:spcAft>
              <a:defRPr sz="4800">
                <a:solidFill>
                  <a:schemeClr val="tx2"/>
                </a:solidFill>
                <a:latin typeface="Amazon Ember Light" panose="020B0403020204020204" pitchFamily="34" charset="0"/>
                <a:cs typeface="Amazon Ember Light" panose="020B0403020204020204" pitchFamily="34" charset="0"/>
              </a:defRPr>
            </a:lvl9pPr>
          </a:lstStyle>
          <a:p>
            <a:pPr lvl="0" algn="l">
              <a:buClrTx/>
              <a:buSzTx/>
              <a:buFontTx/>
              <a:defRPr/>
            </a:pPr>
            <a:r>
              <a:rPr sz="3200" spc="0" dirty="0">
                <a:solidFill>
                  <a:schemeClr val="tx1"/>
                </a:solidFill>
                <a:uFillTx/>
                <a:latin typeface="微软雅黑" panose="020B0503020204020204" pitchFamily="34" charset="-122"/>
                <a:ea typeface="微软雅黑" panose="020B0503020204020204" pitchFamily="34" charset="-122"/>
                <a:cs typeface="Amazon Ember" panose="020B0603020204020204" charset="0"/>
                <a:sym typeface="+mn-ea"/>
              </a:rPr>
              <a:t>第六步：解锁目标店铺中其他卖家提供的ASIN</a:t>
            </a:r>
          </a:p>
        </p:txBody>
      </p:sp>
      <p:sp>
        <p:nvSpPr>
          <p:cNvPr id="17" name="文本框 5"/>
          <p:cNvSpPr txBox="1"/>
          <p:nvPr>
            <p:custDataLst>
              <p:tags r:id="rId2"/>
            </p:custDataLst>
          </p:nvPr>
        </p:nvSpPr>
        <p:spPr>
          <a:xfrm>
            <a:off x="829310" y="1611227"/>
            <a:ext cx="10533380" cy="7005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vertOverflow="overflow" horzOverflow="overflow" vert="horz" wrap="square" numCol="1" spcCol="0" rtlCol="0" fromWordArt="0" anchor="ctr" anchorCtr="0" forceAA="0" compatLnSpc="1">
            <a:spAutoFit/>
          </a:bodyPr>
          <a:lstStyle>
            <a:defPPr>
              <a:defRPr lang="zh-CN"/>
            </a:defPPr>
            <a:lvl1pPr algn="just">
              <a:lnSpc>
                <a:spcPct val="150000"/>
              </a:lnSpc>
              <a:defRPr sz="1200" b="0">
                <a:latin typeface="Amazon Ember" panose="020B0603020204020204" charset="0"/>
                <a:ea typeface="Amazon Ember" panose="020B0603020204020204" charset="0"/>
                <a:cs typeface="Amazon Ember" panose="020B0603020204020204" charset="0"/>
              </a:defRPr>
            </a:lvl1pPr>
          </a:lstStyle>
          <a:p>
            <a:pPr lvl="0" algn="just">
              <a:buClrTx/>
              <a:buSzTx/>
              <a:buFontTx/>
            </a:pPr>
            <a:r>
              <a:rPr lang="zh-CN" altLang="en-US" sz="1400" dirty="0">
                <a:solidFill>
                  <a:schemeClr val="tx1"/>
                </a:solidFill>
                <a:latin typeface="微软雅黑" panose="020B0503020204020204" pitchFamily="34" charset="-122"/>
                <a:ea typeface="微软雅黑" panose="020B0503020204020204" pitchFamily="34" charset="-122"/>
                <a:sym typeface="+mn-ea"/>
              </a:rPr>
              <a:t>此外，为了了解目标站点消费者对于您的ASIN商品信息的真实反馈，您可以通过客户评论洞察分析了解目标站点消费者对您的ASIN商品信息的星级评定影响、正面及负面评论主题。</a:t>
            </a:r>
          </a:p>
        </p:txBody>
      </p:sp>
      <p:sp>
        <p:nvSpPr>
          <p:cNvPr id="3" name="Rectangle 4"/>
          <p:cNvSpPr/>
          <p:nvPr>
            <p:custDataLst>
              <p:tags r:id="rId3"/>
            </p:custDataLst>
          </p:nvPr>
        </p:nvSpPr>
        <p:spPr bwMode="auto">
          <a:xfrm>
            <a:off x="370840" y="859122"/>
            <a:ext cx="4927600" cy="371512"/>
          </a:xfrm>
          <a:prstGeom prst="rect">
            <a:avLst/>
          </a:prstGeom>
          <a:noFill/>
          <a:ln w="9525" cap="flat" cmpd="sng" algn="ctr">
            <a:noFill/>
            <a:prstDash val="solid"/>
            <a:headEnd type="none" w="med" len="med"/>
            <a:tailEnd type="none" w="med" len="med"/>
          </a:ln>
          <a:effectLst/>
        </p:spPr>
        <p:txBody>
          <a:bodyPr wrap="square" lIns="0" tIns="0" rIns="0" bIns="0">
            <a:spAutoFit/>
          </a:bodyPr>
          <a:lstStyle/>
          <a:p>
            <a:pPr lvl="0" algn="l" defTabSz="932180" fontAlgn="base">
              <a:lnSpc>
                <a:spcPct val="150000"/>
              </a:lnSpc>
              <a:buClrTx/>
              <a:buSzTx/>
              <a:buFontTx/>
              <a:defRPr/>
            </a:pPr>
            <a:r>
              <a:rPr lang="zh-CN" altLang="en-US" spc="100" dirty="0">
                <a:gradFill>
                  <a:gsLst>
                    <a:gs pos="0">
                      <a:srgbClr val="FF9911"/>
                    </a:gs>
                    <a:gs pos="100000">
                      <a:srgbClr val="FFC000"/>
                    </a:gs>
                  </a:gsLst>
                  <a:lin ang="5400000" scaled="0"/>
                </a:gradFill>
                <a:latin typeface="微软雅黑" panose="020B0503020204020204" pitchFamily="34" charset="-122"/>
                <a:ea typeface="微软雅黑" panose="020B0503020204020204" pitchFamily="34" charset="-122"/>
                <a:cs typeface="Amazon Ember" panose="020B0603020204020204" charset="0"/>
                <a:sym typeface="+mn-ea"/>
              </a:rPr>
              <a:t>了解客户评论洞察分析</a:t>
            </a:r>
          </a:p>
        </p:txBody>
      </p:sp>
      <p:grpSp>
        <p:nvGrpSpPr>
          <p:cNvPr id="4" name="组合 3"/>
          <p:cNvGrpSpPr/>
          <p:nvPr/>
        </p:nvGrpSpPr>
        <p:grpSpPr>
          <a:xfrm>
            <a:off x="953135" y="2629535"/>
            <a:ext cx="6108065" cy="3415030"/>
            <a:chOff x="946" y="3592"/>
            <a:chExt cx="12454" cy="6962"/>
          </a:xfrm>
        </p:grpSpPr>
        <p:pic>
          <p:nvPicPr>
            <p:cNvPr id="7" name="Picture 3"/>
            <p:cNvPicPr>
              <a:picLocks noChangeAspect="1"/>
            </p:cNvPicPr>
            <p:nvPr>
              <p:custDataLst>
                <p:tags r:id="rId9"/>
              </p:custDataLst>
            </p:nvPr>
          </p:nvPicPr>
          <p:blipFill>
            <a:blip r:embed="rId12"/>
            <a:stretch>
              <a:fillRect/>
            </a:stretch>
          </p:blipFill>
          <p:spPr>
            <a:xfrm>
              <a:off x="946" y="3592"/>
              <a:ext cx="12455" cy="1816"/>
            </a:xfrm>
            <a:prstGeom prst="rect">
              <a:avLst/>
            </a:prstGeom>
            <a:ln>
              <a:solidFill>
                <a:schemeClr val="bg2"/>
              </a:solidFill>
            </a:ln>
          </p:spPr>
        </p:pic>
        <p:pic>
          <p:nvPicPr>
            <p:cNvPr id="20" name="图片 19"/>
            <p:cNvPicPr>
              <a:picLocks noChangeAspect="1"/>
            </p:cNvPicPr>
            <p:nvPr>
              <p:custDataLst>
                <p:tags r:id="rId10"/>
              </p:custDataLst>
            </p:nvPr>
          </p:nvPicPr>
          <p:blipFill>
            <a:blip r:embed="rId13"/>
            <a:stretch>
              <a:fillRect/>
            </a:stretch>
          </p:blipFill>
          <p:spPr>
            <a:xfrm>
              <a:off x="946" y="5400"/>
              <a:ext cx="12455" cy="5155"/>
            </a:xfrm>
            <a:prstGeom prst="rect">
              <a:avLst/>
            </a:prstGeom>
            <a:ln>
              <a:solidFill>
                <a:schemeClr val="bg2"/>
              </a:solidFill>
            </a:ln>
          </p:spPr>
        </p:pic>
      </p:grpSp>
      <p:sp>
        <p:nvSpPr>
          <p:cNvPr id="9" name="文本框 5"/>
          <p:cNvSpPr txBox="1"/>
          <p:nvPr>
            <p:custDataLst>
              <p:tags r:id="rId4"/>
            </p:custDataLst>
          </p:nvPr>
        </p:nvSpPr>
        <p:spPr>
          <a:xfrm>
            <a:off x="7309485" y="2963545"/>
            <a:ext cx="4167505" cy="3366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了解该</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ASIN</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星级评定的五大正面及负面因素</a:t>
            </a:r>
            <a:endPar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10" name="文本框 7"/>
          <p:cNvSpPr txBox="1"/>
          <p:nvPr>
            <p:custDataLst>
              <p:tags r:id="rId5"/>
            </p:custDataLst>
          </p:nvPr>
        </p:nvSpPr>
        <p:spPr>
          <a:xfrm>
            <a:off x="7328535" y="3970020"/>
            <a:ext cx="4034155" cy="6136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50000"/>
              </a:lnSpc>
            </a:pP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了解不同客户对此</a:t>
            </a:r>
            <a:r>
              <a:rPr lang="en-US" altLang="zh-CN"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ASIN</a:t>
            </a:r>
            <a:r>
              <a:rPr lang="zh-CN" altLang="en-US" sz="1200"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rPr>
              <a:t>的最佳正面、负面评论及被提及的次数</a:t>
            </a:r>
            <a:endParaRPr lang="zh-CN" altLang="en-US" sz="1200" b="1" dirty="0">
              <a:solidFill>
                <a:schemeClr val="tx1"/>
              </a:solidFill>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11" name="Rectangle: Rounded Corners 7"/>
          <p:cNvSpPr/>
          <p:nvPr>
            <p:custDataLst>
              <p:tags r:id="rId6"/>
            </p:custDataLst>
          </p:nvPr>
        </p:nvSpPr>
        <p:spPr>
          <a:xfrm>
            <a:off x="7309485" y="2544445"/>
            <a:ext cx="2395855" cy="417830"/>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l">
              <a:buClrTx/>
              <a:buSzTx/>
              <a:buFontTx/>
            </a:pPr>
            <a:r>
              <a:rPr lang="zh-CN" altLang="en-US" sz="1600"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rPr>
              <a:t>对星级评定的影响</a:t>
            </a:r>
            <a:endParaRPr lang="zh-CN" altLang="en-US" sz="1600" spc="200" dirty="0">
              <a:solidFill>
                <a:schemeClr val="bg1"/>
              </a:solidFill>
              <a:uFillTx/>
              <a:latin typeface="微软雅黑" panose="020B0503020204020204" pitchFamily="34" charset="-122"/>
              <a:ea typeface="微软雅黑" panose="020B0503020204020204" pitchFamily="34" charset="-122"/>
              <a:cs typeface="Amazon Ember" panose="020B0603020204020204" charset="0"/>
              <a:sym typeface="+mn-ea"/>
            </a:endParaRPr>
          </a:p>
        </p:txBody>
      </p:sp>
      <p:sp>
        <p:nvSpPr>
          <p:cNvPr id="12" name="Rectangle: Rounded Corners 7"/>
          <p:cNvSpPr/>
          <p:nvPr>
            <p:custDataLst>
              <p:tags r:id="rId7"/>
            </p:custDataLst>
          </p:nvPr>
        </p:nvSpPr>
        <p:spPr>
          <a:xfrm>
            <a:off x="7309485" y="3541395"/>
            <a:ext cx="2395220" cy="417830"/>
          </a:xfrm>
          <a:prstGeom prst="roundRect">
            <a:avLst>
              <a:gd name="adj" fmla="val 50000"/>
            </a:avLst>
          </a:prstGeom>
          <a:gradFill flip="none" rotWithShape="1">
            <a:gsLst>
              <a:gs pos="0">
                <a:srgbClr val="FF8F00"/>
              </a:gs>
              <a:gs pos="100000">
                <a:srgbClr val="FFC010"/>
              </a:gs>
            </a:gsLst>
            <a:lin ang="0" scaled="0"/>
            <a:tileRect/>
          </a:gradFill>
          <a:ln w="12700" cap="flat" cmpd="sng" algn="ctr">
            <a:noFill/>
            <a:prstDash val="solid"/>
            <a:miter lim="800000"/>
          </a:ln>
          <a:effectLst>
            <a:outerShdw blurRad="254000" dist="63500" dir="5400000" algn="t" rotWithShape="0">
              <a:sysClr val="windowText" lastClr="000000">
                <a:lumMod val="85000"/>
                <a:lumOff val="15000"/>
                <a:alpha val="40000"/>
              </a:sysClr>
            </a:outerShdw>
          </a:effectLst>
        </p:spPr>
        <p:txBody>
          <a:bodyPr rtlCol="0" anchor="ctr">
            <a:noAutofit/>
          </a:bodyPr>
          <a:lstStyle/>
          <a:p>
            <a:pPr lvl="0" algn="l">
              <a:buClrTx/>
              <a:buSzTx/>
              <a:buFontTx/>
            </a:pPr>
            <a:r>
              <a:rPr lang="zh-CN" altLang="en-US" sz="1600" spc="300" dirty="0">
                <a:solidFill>
                  <a:schemeClr val="bg1"/>
                </a:solidFill>
                <a:latin typeface="微软雅黑" panose="020B0503020204020204" pitchFamily="34" charset="-122"/>
                <a:ea typeface="微软雅黑" panose="020B0503020204020204" pitchFamily="34" charset="-122"/>
                <a:cs typeface="Amazon Ember" panose="020B0603020204020204" charset="0"/>
                <a:sym typeface="+mn-ea"/>
              </a:rPr>
              <a:t>正负面评论主题</a:t>
            </a:r>
          </a:p>
        </p:txBody>
      </p:sp>
      <p:sp>
        <p:nvSpPr>
          <p:cNvPr id="13" name="Rectangle: Rounded Corners 15"/>
          <p:cNvSpPr/>
          <p:nvPr>
            <p:custDataLst>
              <p:tags r:id="rId8"/>
            </p:custDataLst>
          </p:nvPr>
        </p:nvSpPr>
        <p:spPr>
          <a:xfrm>
            <a:off x="7309485" y="4780280"/>
            <a:ext cx="4053840" cy="1188085"/>
          </a:xfrm>
          <a:prstGeom prst="roundRect">
            <a:avLst>
              <a:gd name="adj" fmla="val 10262"/>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r>
              <a:rPr lang="zh-CN" altLang="en-US" sz="1200" dirty="0">
                <a:ln>
                  <a:noFill/>
                </a:ln>
                <a:solidFill>
                  <a:schemeClr val="tx1"/>
                </a:solidFill>
                <a:effectLst/>
                <a:uFillTx/>
                <a:latin typeface="微软雅黑" panose="020B0503020204020204" pitchFamily="34" charset="-122"/>
                <a:ea typeface="微软雅黑" panose="020B0503020204020204" pitchFamily="34" charset="-122"/>
                <a:sym typeface="微软雅黑" panose="020B0503020204020204" pitchFamily="34" charset="-122"/>
              </a:rPr>
              <a:t>请注意：</a:t>
            </a:r>
          </a:p>
          <a:p>
            <a:pPr lvl="0" algn="l">
              <a:buClrTx/>
              <a:buSzTx/>
              <a:buFontTx/>
            </a:pPr>
            <a:r>
              <a:rPr lang="zh-CN" altLang="en-US" sz="1200" dirty="0">
                <a:ln>
                  <a:noFill/>
                </a:ln>
                <a:solidFill>
                  <a:schemeClr val="tx1"/>
                </a:solidFill>
                <a:effectLst/>
                <a:uFillTx/>
                <a:latin typeface="微软雅黑" panose="020B0503020204020204" pitchFamily="34" charset="-122"/>
                <a:ea typeface="微软雅黑" panose="020B0503020204020204" pitchFamily="34" charset="-122"/>
                <a:sym typeface="微软雅黑" panose="020B0503020204020204" pitchFamily="34" charset="-122"/>
              </a:rPr>
              <a:t>该功能的目标站点目前仅支持英国；</a:t>
            </a:r>
          </a:p>
          <a:p>
            <a:pPr lvl="0" algn="l">
              <a:buClrTx/>
              <a:buSzTx/>
              <a:buFontTx/>
            </a:pPr>
            <a:r>
              <a:rPr lang="zh-CN" altLang="en-US" sz="1200" dirty="0">
                <a:ln>
                  <a:noFill/>
                </a:ln>
                <a:solidFill>
                  <a:schemeClr val="tx1"/>
                </a:solidFill>
                <a:effectLst/>
                <a:uFillTx/>
                <a:latin typeface="微软雅黑" panose="020B0503020204020204" pitchFamily="34" charset="-122"/>
                <a:ea typeface="微软雅黑" panose="020B0503020204020204" pitchFamily="34" charset="-122"/>
                <a:sym typeface="微软雅黑" panose="020B0503020204020204" pitchFamily="34" charset="-122"/>
              </a:rPr>
              <a:t>只有在目标站点有超过三条评论的ASIN才能使用该功能</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7">
            <a:extLst>
              <a:ext uri="{FF2B5EF4-FFF2-40B4-BE49-F238E27FC236}">
                <a16:creationId xmlns:a16="http://schemas.microsoft.com/office/drawing/2014/main" id="{A36C3CE7-053F-4C71-9874-A2E86B1F5D1C}"/>
              </a:ext>
            </a:extLst>
          </p:cNvPr>
          <p:cNvSpPr/>
          <p:nvPr/>
        </p:nvSpPr>
        <p:spPr>
          <a:xfrm>
            <a:off x="612613" y="1040570"/>
            <a:ext cx="3035300" cy="63183"/>
          </a:xfrm>
          <a:prstGeom prst="rect">
            <a:avLst/>
          </a:prstGeom>
          <a:gradFill>
            <a:gsLst>
              <a:gs pos="0">
                <a:srgbClr val="FECF40"/>
              </a:gs>
              <a:gs pos="99000">
                <a:schemeClr val="bg1">
                  <a:alpha val="0"/>
                </a:schemeClr>
              </a:gs>
            </a:gsLst>
            <a:lin ang="2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defTabSz="412750" hangingPunct="0">
              <a:defRPr/>
            </a:pPr>
            <a:endParaRPr lang="zh-CN" altLang="en-US" sz="1500" b="1" kern="0">
              <a:solidFill>
                <a:prstClr val="white"/>
              </a:solidFill>
              <a:latin typeface="微软雅黑" panose="020B0503020204020204" pitchFamily="34" charset="-122"/>
              <a:ea typeface="微软雅黑" panose="020B0503020204020204" pitchFamily="34" charset="-122"/>
              <a:sym typeface="Helvetica Neue"/>
            </a:endParaRPr>
          </a:p>
        </p:txBody>
      </p:sp>
      <p:sp>
        <p:nvSpPr>
          <p:cNvPr id="3" name="Rectangle 2">
            <a:extLst>
              <a:ext uri="{FF2B5EF4-FFF2-40B4-BE49-F238E27FC236}">
                <a16:creationId xmlns:a16="http://schemas.microsoft.com/office/drawing/2014/main" id="{7976696A-FC79-4A61-9168-3FB72A467FF8}"/>
              </a:ext>
            </a:extLst>
          </p:cNvPr>
          <p:cNvSpPr/>
          <p:nvPr/>
        </p:nvSpPr>
        <p:spPr>
          <a:xfrm>
            <a:off x="612613" y="383756"/>
            <a:ext cx="9611221" cy="543739"/>
          </a:xfrm>
          <a:prstGeom prst="rect">
            <a:avLst/>
          </a:prstGeom>
          <a:ln w="12700">
            <a:miter lim="400000"/>
          </a:ln>
        </p:spPr>
        <p:txBody>
          <a:bodyPr wrap="none" lIns="25400" tIns="25400" rIns="25400" bIns="25400" anchor="ctr">
            <a:spAutoFit/>
          </a:bodyPr>
          <a:lstStyle/>
          <a:p>
            <a:r>
              <a:rPr lang="zh-CN" alt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选品指南针</a:t>
            </a:r>
            <a:r>
              <a:rPr lang="en-US" altLang="zh-CN"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Similar ASIN Dashboard </a:t>
            </a:r>
            <a:r>
              <a:rPr lang="zh-CN" alt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的展示</a:t>
            </a:r>
            <a:endParaRPr 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endParaRPr>
          </a:p>
        </p:txBody>
      </p:sp>
      <p:pic>
        <p:nvPicPr>
          <p:cNvPr id="4" name="Picture 3">
            <a:extLst>
              <a:ext uri="{FF2B5EF4-FFF2-40B4-BE49-F238E27FC236}">
                <a16:creationId xmlns:a16="http://schemas.microsoft.com/office/drawing/2014/main" id="{172E69D7-AFFD-4D39-BB3B-5581C33CFC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2613" y="1320962"/>
            <a:ext cx="2357273" cy="2423118"/>
          </a:xfrm>
          <a:prstGeom prst="rect">
            <a:avLst/>
          </a:prstGeom>
        </p:spPr>
      </p:pic>
      <p:pic>
        <p:nvPicPr>
          <p:cNvPr id="5" name="Picture 4">
            <a:extLst>
              <a:ext uri="{FF2B5EF4-FFF2-40B4-BE49-F238E27FC236}">
                <a16:creationId xmlns:a16="http://schemas.microsoft.com/office/drawing/2014/main" id="{D2D6878B-8415-47AF-BE23-ED70B9725E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92204" y="2176620"/>
            <a:ext cx="9355930" cy="3735445"/>
          </a:xfrm>
          <a:prstGeom prst="rect">
            <a:avLst/>
          </a:prstGeom>
        </p:spPr>
      </p:pic>
    </p:spTree>
    <p:extLst>
      <p:ext uri="{BB962C8B-B14F-4D97-AF65-F5344CB8AC3E}">
        <p14:creationId xmlns:p14="http://schemas.microsoft.com/office/powerpoint/2010/main" val="1168484228"/>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7">
            <a:extLst>
              <a:ext uri="{FF2B5EF4-FFF2-40B4-BE49-F238E27FC236}">
                <a16:creationId xmlns:a16="http://schemas.microsoft.com/office/drawing/2014/main" id="{A36C3CE7-053F-4C71-9874-A2E86B1F5D1C}"/>
              </a:ext>
            </a:extLst>
          </p:cNvPr>
          <p:cNvSpPr/>
          <p:nvPr/>
        </p:nvSpPr>
        <p:spPr>
          <a:xfrm>
            <a:off x="612613" y="1040570"/>
            <a:ext cx="3035300" cy="63183"/>
          </a:xfrm>
          <a:prstGeom prst="rect">
            <a:avLst/>
          </a:prstGeom>
          <a:gradFill>
            <a:gsLst>
              <a:gs pos="0">
                <a:srgbClr val="FECF40"/>
              </a:gs>
              <a:gs pos="99000">
                <a:schemeClr val="bg1">
                  <a:alpha val="0"/>
                </a:schemeClr>
              </a:gs>
            </a:gsLst>
            <a:lin ang="2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defTabSz="412750" hangingPunct="0">
              <a:defRPr/>
            </a:pPr>
            <a:endParaRPr lang="zh-CN" altLang="en-US" sz="1500" b="1" kern="0">
              <a:solidFill>
                <a:prstClr val="white"/>
              </a:solidFill>
              <a:latin typeface="微软雅黑" panose="020B0503020204020204" pitchFamily="34" charset="-122"/>
              <a:ea typeface="微软雅黑" panose="020B0503020204020204" pitchFamily="34" charset="-122"/>
              <a:sym typeface="Helvetica Neue"/>
            </a:endParaRPr>
          </a:p>
        </p:txBody>
      </p:sp>
      <p:sp>
        <p:nvSpPr>
          <p:cNvPr id="3" name="Rectangle 2">
            <a:extLst>
              <a:ext uri="{FF2B5EF4-FFF2-40B4-BE49-F238E27FC236}">
                <a16:creationId xmlns:a16="http://schemas.microsoft.com/office/drawing/2014/main" id="{7976696A-FC79-4A61-9168-3FB72A467FF8}"/>
              </a:ext>
            </a:extLst>
          </p:cNvPr>
          <p:cNvSpPr/>
          <p:nvPr/>
        </p:nvSpPr>
        <p:spPr>
          <a:xfrm>
            <a:off x="612613" y="383756"/>
            <a:ext cx="9618018" cy="543739"/>
          </a:xfrm>
          <a:prstGeom prst="rect">
            <a:avLst/>
          </a:prstGeom>
          <a:ln w="12700">
            <a:miter lim="400000"/>
          </a:ln>
        </p:spPr>
        <p:txBody>
          <a:bodyPr wrap="none" lIns="25400" tIns="25400" rIns="25400" bIns="25400" anchor="ctr">
            <a:spAutoFit/>
          </a:bodyPr>
          <a:lstStyle/>
          <a:p>
            <a:r>
              <a:rPr lang="zh-CN" alt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选品指南针</a:t>
            </a:r>
            <a:r>
              <a:rPr lang="en-US" altLang="zh-CN"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Similar ASIN Dashboard </a:t>
            </a:r>
            <a:r>
              <a:rPr lang="zh-CN" alt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的展示</a:t>
            </a:r>
            <a:endParaRPr 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endParaRPr>
          </a:p>
        </p:txBody>
      </p:sp>
      <p:pic>
        <p:nvPicPr>
          <p:cNvPr id="6" name="Picture 5">
            <a:extLst>
              <a:ext uri="{FF2B5EF4-FFF2-40B4-BE49-F238E27FC236}">
                <a16:creationId xmlns:a16="http://schemas.microsoft.com/office/drawing/2014/main" id="{F122E179-9A9C-4523-8865-11921E25B7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601" y="1420266"/>
            <a:ext cx="6767559" cy="3050486"/>
          </a:xfrm>
          <a:prstGeom prst="rect">
            <a:avLst/>
          </a:prstGeom>
        </p:spPr>
      </p:pic>
      <p:pic>
        <p:nvPicPr>
          <p:cNvPr id="7" name="Picture 6">
            <a:extLst>
              <a:ext uri="{FF2B5EF4-FFF2-40B4-BE49-F238E27FC236}">
                <a16:creationId xmlns:a16="http://schemas.microsoft.com/office/drawing/2014/main" id="{D0D7DBBB-F345-4F2B-8EE6-BA99E0FF1A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2783" y="3186868"/>
            <a:ext cx="6246056" cy="2804800"/>
          </a:xfrm>
          <a:prstGeom prst="rect">
            <a:avLst/>
          </a:prstGeom>
        </p:spPr>
      </p:pic>
      <p:sp>
        <p:nvSpPr>
          <p:cNvPr id="4" name="Rectangle 3">
            <a:extLst>
              <a:ext uri="{FF2B5EF4-FFF2-40B4-BE49-F238E27FC236}">
                <a16:creationId xmlns:a16="http://schemas.microsoft.com/office/drawing/2014/main" id="{7D2543D9-5271-456A-AAB7-F82D17914DAF}"/>
              </a:ext>
            </a:extLst>
          </p:cNvPr>
          <p:cNvSpPr/>
          <p:nvPr/>
        </p:nvSpPr>
        <p:spPr>
          <a:xfrm>
            <a:off x="5889458" y="5348037"/>
            <a:ext cx="697831" cy="89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Rectangle 7">
            <a:extLst>
              <a:ext uri="{FF2B5EF4-FFF2-40B4-BE49-F238E27FC236}">
                <a16:creationId xmlns:a16="http://schemas.microsoft.com/office/drawing/2014/main" id="{81662C17-A70F-4271-96BA-3218E822182D}"/>
              </a:ext>
            </a:extLst>
          </p:cNvPr>
          <p:cNvSpPr/>
          <p:nvPr/>
        </p:nvSpPr>
        <p:spPr>
          <a:xfrm>
            <a:off x="5889457" y="5888474"/>
            <a:ext cx="697831" cy="89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89412860"/>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7">
            <a:extLst>
              <a:ext uri="{FF2B5EF4-FFF2-40B4-BE49-F238E27FC236}">
                <a16:creationId xmlns:a16="http://schemas.microsoft.com/office/drawing/2014/main" id="{A36C3CE7-053F-4C71-9874-A2E86B1F5D1C}"/>
              </a:ext>
            </a:extLst>
          </p:cNvPr>
          <p:cNvSpPr/>
          <p:nvPr/>
        </p:nvSpPr>
        <p:spPr>
          <a:xfrm>
            <a:off x="612613" y="1040570"/>
            <a:ext cx="3035300" cy="63183"/>
          </a:xfrm>
          <a:prstGeom prst="rect">
            <a:avLst/>
          </a:prstGeom>
          <a:gradFill>
            <a:gsLst>
              <a:gs pos="0">
                <a:srgbClr val="FECF40"/>
              </a:gs>
              <a:gs pos="99000">
                <a:schemeClr val="bg1">
                  <a:alpha val="0"/>
                </a:schemeClr>
              </a:gs>
            </a:gsLst>
            <a:lin ang="2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defTabSz="412750" hangingPunct="0">
              <a:defRPr/>
            </a:pPr>
            <a:endParaRPr lang="zh-CN" altLang="en-US" sz="1500" b="1" kern="0">
              <a:solidFill>
                <a:prstClr val="white"/>
              </a:solidFill>
              <a:latin typeface="微软雅黑" panose="020B0503020204020204" pitchFamily="34" charset="-122"/>
              <a:ea typeface="微软雅黑" panose="020B0503020204020204" pitchFamily="34" charset="-122"/>
              <a:sym typeface="Helvetica Neue"/>
            </a:endParaRPr>
          </a:p>
        </p:txBody>
      </p:sp>
      <p:sp>
        <p:nvSpPr>
          <p:cNvPr id="3" name="Rectangle 2">
            <a:extLst>
              <a:ext uri="{FF2B5EF4-FFF2-40B4-BE49-F238E27FC236}">
                <a16:creationId xmlns:a16="http://schemas.microsoft.com/office/drawing/2014/main" id="{7976696A-FC79-4A61-9168-3FB72A467FF8}"/>
              </a:ext>
            </a:extLst>
          </p:cNvPr>
          <p:cNvSpPr/>
          <p:nvPr/>
        </p:nvSpPr>
        <p:spPr>
          <a:xfrm>
            <a:off x="612613" y="383756"/>
            <a:ext cx="9611221" cy="543739"/>
          </a:xfrm>
          <a:prstGeom prst="rect">
            <a:avLst/>
          </a:prstGeom>
          <a:ln w="12700">
            <a:miter lim="400000"/>
          </a:ln>
        </p:spPr>
        <p:txBody>
          <a:bodyPr wrap="none" lIns="25400" tIns="25400" rIns="25400" bIns="25400" anchor="ctr">
            <a:spAutoFit/>
          </a:bodyPr>
          <a:lstStyle/>
          <a:p>
            <a:r>
              <a:rPr lang="zh-CN" alt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选品指南针</a:t>
            </a:r>
            <a:r>
              <a:rPr lang="en-US" altLang="zh-CN"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Similar ASIN Dashboard </a:t>
            </a:r>
            <a:r>
              <a:rPr lang="zh-CN" alt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的展示</a:t>
            </a:r>
            <a:endParaRPr 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endParaRPr>
          </a:p>
        </p:txBody>
      </p:sp>
      <p:pic>
        <p:nvPicPr>
          <p:cNvPr id="8" name="Picture 7">
            <a:extLst>
              <a:ext uri="{FF2B5EF4-FFF2-40B4-BE49-F238E27FC236}">
                <a16:creationId xmlns:a16="http://schemas.microsoft.com/office/drawing/2014/main" id="{FA44B2BE-3A50-4629-9723-523AF37566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4157" y="1357520"/>
            <a:ext cx="9760883" cy="4519026"/>
          </a:xfrm>
          <a:prstGeom prst="rect">
            <a:avLst/>
          </a:prstGeom>
        </p:spPr>
      </p:pic>
      <p:sp>
        <p:nvSpPr>
          <p:cNvPr id="4" name="Rectangle 3">
            <a:extLst>
              <a:ext uri="{FF2B5EF4-FFF2-40B4-BE49-F238E27FC236}">
                <a16:creationId xmlns:a16="http://schemas.microsoft.com/office/drawing/2014/main" id="{03BECAE1-3C4D-45F6-83EC-92D3C4F425D1}"/>
              </a:ext>
            </a:extLst>
          </p:cNvPr>
          <p:cNvSpPr/>
          <p:nvPr/>
        </p:nvSpPr>
        <p:spPr>
          <a:xfrm>
            <a:off x="2279984" y="3068053"/>
            <a:ext cx="745958" cy="902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6" name="Rectangle 5">
            <a:extLst>
              <a:ext uri="{FF2B5EF4-FFF2-40B4-BE49-F238E27FC236}">
                <a16:creationId xmlns:a16="http://schemas.microsoft.com/office/drawing/2014/main" id="{58A78E97-EE09-4982-A49C-1F9FF2256754}"/>
              </a:ext>
            </a:extLst>
          </p:cNvPr>
          <p:cNvSpPr/>
          <p:nvPr/>
        </p:nvSpPr>
        <p:spPr>
          <a:xfrm>
            <a:off x="2130263" y="5223710"/>
            <a:ext cx="745958" cy="902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7" name="Rectangle 6">
            <a:extLst>
              <a:ext uri="{FF2B5EF4-FFF2-40B4-BE49-F238E27FC236}">
                <a16:creationId xmlns:a16="http://schemas.microsoft.com/office/drawing/2014/main" id="{104A92BC-92FC-4D84-8C02-16FB7BA1F684}"/>
              </a:ext>
            </a:extLst>
          </p:cNvPr>
          <p:cNvSpPr/>
          <p:nvPr/>
        </p:nvSpPr>
        <p:spPr>
          <a:xfrm>
            <a:off x="2130263" y="5567713"/>
            <a:ext cx="745958" cy="902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 name="Rectangle 8">
            <a:extLst>
              <a:ext uri="{FF2B5EF4-FFF2-40B4-BE49-F238E27FC236}">
                <a16:creationId xmlns:a16="http://schemas.microsoft.com/office/drawing/2014/main" id="{170AFC29-161D-43EF-AF78-BA2B4188059E}"/>
              </a:ext>
            </a:extLst>
          </p:cNvPr>
          <p:cNvSpPr/>
          <p:nvPr/>
        </p:nvSpPr>
        <p:spPr>
          <a:xfrm>
            <a:off x="4021226" y="5088455"/>
            <a:ext cx="745958" cy="902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0" name="Rectangle 9">
            <a:extLst>
              <a:ext uri="{FF2B5EF4-FFF2-40B4-BE49-F238E27FC236}">
                <a16:creationId xmlns:a16="http://schemas.microsoft.com/office/drawing/2014/main" id="{B65EE398-1BEB-4072-8A26-066A14188F5A}"/>
              </a:ext>
            </a:extLst>
          </p:cNvPr>
          <p:cNvSpPr/>
          <p:nvPr/>
        </p:nvSpPr>
        <p:spPr>
          <a:xfrm>
            <a:off x="4195564" y="5455362"/>
            <a:ext cx="1074268" cy="153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9097698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7">
            <a:extLst>
              <a:ext uri="{FF2B5EF4-FFF2-40B4-BE49-F238E27FC236}">
                <a16:creationId xmlns:a16="http://schemas.microsoft.com/office/drawing/2014/main" id="{A36C3CE7-053F-4C71-9874-A2E86B1F5D1C}"/>
              </a:ext>
            </a:extLst>
          </p:cNvPr>
          <p:cNvSpPr/>
          <p:nvPr/>
        </p:nvSpPr>
        <p:spPr>
          <a:xfrm>
            <a:off x="612613" y="1040570"/>
            <a:ext cx="3035300" cy="63183"/>
          </a:xfrm>
          <a:prstGeom prst="rect">
            <a:avLst/>
          </a:prstGeom>
          <a:gradFill>
            <a:gsLst>
              <a:gs pos="0">
                <a:srgbClr val="FECF40"/>
              </a:gs>
              <a:gs pos="99000">
                <a:schemeClr val="bg1">
                  <a:alpha val="0"/>
                </a:schemeClr>
              </a:gs>
            </a:gsLst>
            <a:lin ang="2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defTabSz="412750" hangingPunct="0">
              <a:defRPr/>
            </a:pPr>
            <a:endParaRPr lang="zh-CN" altLang="en-US" sz="1500" b="1" kern="0">
              <a:solidFill>
                <a:prstClr val="white"/>
              </a:solidFill>
              <a:latin typeface="微软雅黑" panose="020B0503020204020204" pitchFamily="34" charset="-122"/>
              <a:ea typeface="微软雅黑" panose="020B0503020204020204" pitchFamily="34" charset="-122"/>
              <a:sym typeface="Helvetica Neue"/>
            </a:endParaRPr>
          </a:p>
        </p:txBody>
      </p:sp>
      <p:sp>
        <p:nvSpPr>
          <p:cNvPr id="3" name="Rectangle 2">
            <a:extLst>
              <a:ext uri="{FF2B5EF4-FFF2-40B4-BE49-F238E27FC236}">
                <a16:creationId xmlns:a16="http://schemas.microsoft.com/office/drawing/2014/main" id="{7976696A-FC79-4A61-9168-3FB72A467FF8}"/>
              </a:ext>
            </a:extLst>
          </p:cNvPr>
          <p:cNvSpPr/>
          <p:nvPr/>
        </p:nvSpPr>
        <p:spPr>
          <a:xfrm>
            <a:off x="612613" y="383756"/>
            <a:ext cx="9611221" cy="543739"/>
          </a:xfrm>
          <a:prstGeom prst="rect">
            <a:avLst/>
          </a:prstGeom>
          <a:ln w="12700">
            <a:miter lim="400000"/>
          </a:ln>
        </p:spPr>
        <p:txBody>
          <a:bodyPr wrap="none" lIns="25400" tIns="25400" rIns="25400" bIns="25400" anchor="ctr">
            <a:spAutoFit/>
          </a:bodyPr>
          <a:lstStyle/>
          <a:p>
            <a:r>
              <a:rPr lang="zh-CN" alt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选品指南针</a:t>
            </a:r>
            <a:r>
              <a:rPr lang="en-US" altLang="zh-CN"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Similar ASIN Dashboard </a:t>
            </a:r>
            <a:r>
              <a:rPr lang="zh-CN" alt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的展示</a:t>
            </a:r>
            <a:endParaRPr 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endParaRPr>
          </a:p>
        </p:txBody>
      </p:sp>
      <p:sp>
        <p:nvSpPr>
          <p:cNvPr id="5" name="矩形 17">
            <a:extLst>
              <a:ext uri="{FF2B5EF4-FFF2-40B4-BE49-F238E27FC236}">
                <a16:creationId xmlns:a16="http://schemas.microsoft.com/office/drawing/2014/main" id="{0FF83BDB-9625-42C1-A7D9-CE06B84CBF5B}"/>
              </a:ext>
            </a:extLst>
          </p:cNvPr>
          <p:cNvSpPr/>
          <p:nvPr/>
        </p:nvSpPr>
        <p:spPr>
          <a:xfrm>
            <a:off x="612613" y="1040570"/>
            <a:ext cx="3035300" cy="63183"/>
          </a:xfrm>
          <a:prstGeom prst="rect">
            <a:avLst/>
          </a:prstGeom>
          <a:gradFill>
            <a:gsLst>
              <a:gs pos="0">
                <a:srgbClr val="FECF40"/>
              </a:gs>
              <a:gs pos="99000">
                <a:schemeClr val="bg1">
                  <a:alpha val="0"/>
                </a:schemeClr>
              </a:gs>
            </a:gsLst>
            <a:lin ang="2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defTabSz="412750" hangingPunct="0">
              <a:defRPr/>
            </a:pPr>
            <a:endParaRPr lang="zh-CN" altLang="en-US" sz="1500" b="1" kern="0">
              <a:solidFill>
                <a:prstClr val="white"/>
              </a:solidFill>
              <a:latin typeface="微软雅黑" panose="020B0503020204020204" pitchFamily="34" charset="-122"/>
              <a:ea typeface="微软雅黑" panose="020B0503020204020204" pitchFamily="34" charset="-122"/>
              <a:sym typeface="Helvetica Neue"/>
            </a:endParaRPr>
          </a:p>
        </p:txBody>
      </p:sp>
      <p:pic>
        <p:nvPicPr>
          <p:cNvPr id="7" name="Picture 6">
            <a:extLst>
              <a:ext uri="{FF2B5EF4-FFF2-40B4-BE49-F238E27FC236}">
                <a16:creationId xmlns:a16="http://schemas.microsoft.com/office/drawing/2014/main" id="{77475462-5B11-4937-8836-0BA92DC9E8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613" y="1439948"/>
            <a:ext cx="7871123" cy="3644118"/>
          </a:xfrm>
          <a:prstGeom prst="rect">
            <a:avLst/>
          </a:prstGeom>
        </p:spPr>
      </p:pic>
      <p:pic>
        <p:nvPicPr>
          <p:cNvPr id="9" name="Picture 8">
            <a:extLst>
              <a:ext uri="{FF2B5EF4-FFF2-40B4-BE49-F238E27FC236}">
                <a16:creationId xmlns:a16="http://schemas.microsoft.com/office/drawing/2014/main" id="{FEBAB607-D018-43D6-BC5C-457B93DB97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7842" y="4152018"/>
            <a:ext cx="8203928" cy="2043183"/>
          </a:xfrm>
          <a:prstGeom prst="rect">
            <a:avLst/>
          </a:prstGeom>
        </p:spPr>
      </p:pic>
      <p:pic>
        <p:nvPicPr>
          <p:cNvPr id="10" name="Picture 9">
            <a:extLst>
              <a:ext uri="{FF2B5EF4-FFF2-40B4-BE49-F238E27FC236}">
                <a16:creationId xmlns:a16="http://schemas.microsoft.com/office/drawing/2014/main" id="{9DCDF5E5-1C8F-4F4E-9853-5632D2FC3F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15393" y="1752501"/>
            <a:ext cx="6536686" cy="2197642"/>
          </a:xfrm>
          <a:prstGeom prst="rect">
            <a:avLst/>
          </a:prstGeom>
        </p:spPr>
      </p:pic>
      <p:sp>
        <p:nvSpPr>
          <p:cNvPr id="4" name="Rectangle 3">
            <a:extLst>
              <a:ext uri="{FF2B5EF4-FFF2-40B4-BE49-F238E27FC236}">
                <a16:creationId xmlns:a16="http://schemas.microsoft.com/office/drawing/2014/main" id="{DB0FC9E0-3BC5-4059-8AB9-E8A3CB47A725}"/>
              </a:ext>
            </a:extLst>
          </p:cNvPr>
          <p:cNvSpPr/>
          <p:nvPr/>
        </p:nvSpPr>
        <p:spPr>
          <a:xfrm>
            <a:off x="1269332" y="4529889"/>
            <a:ext cx="649705" cy="902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 name="Rectangle 10">
            <a:extLst>
              <a:ext uri="{FF2B5EF4-FFF2-40B4-BE49-F238E27FC236}">
                <a16:creationId xmlns:a16="http://schemas.microsoft.com/office/drawing/2014/main" id="{73EBF4FF-6955-4A11-BAF8-89092EF7ED3D}"/>
              </a:ext>
            </a:extLst>
          </p:cNvPr>
          <p:cNvSpPr/>
          <p:nvPr/>
        </p:nvSpPr>
        <p:spPr>
          <a:xfrm>
            <a:off x="1223211" y="4834689"/>
            <a:ext cx="649705" cy="902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Rectangle 11">
            <a:extLst>
              <a:ext uri="{FF2B5EF4-FFF2-40B4-BE49-F238E27FC236}">
                <a16:creationId xmlns:a16="http://schemas.microsoft.com/office/drawing/2014/main" id="{D01A66B7-EEC0-4A5B-A3F6-CB65A4094CE8}"/>
              </a:ext>
            </a:extLst>
          </p:cNvPr>
          <p:cNvSpPr/>
          <p:nvPr/>
        </p:nvSpPr>
        <p:spPr>
          <a:xfrm>
            <a:off x="1355559" y="2811216"/>
            <a:ext cx="649705" cy="902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62933006"/>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7">
            <a:extLst>
              <a:ext uri="{FF2B5EF4-FFF2-40B4-BE49-F238E27FC236}">
                <a16:creationId xmlns:a16="http://schemas.microsoft.com/office/drawing/2014/main" id="{A36C3CE7-053F-4C71-9874-A2E86B1F5D1C}"/>
              </a:ext>
            </a:extLst>
          </p:cNvPr>
          <p:cNvSpPr/>
          <p:nvPr/>
        </p:nvSpPr>
        <p:spPr>
          <a:xfrm>
            <a:off x="612613" y="1040570"/>
            <a:ext cx="3035300" cy="63183"/>
          </a:xfrm>
          <a:prstGeom prst="rect">
            <a:avLst/>
          </a:prstGeom>
          <a:gradFill>
            <a:gsLst>
              <a:gs pos="0">
                <a:srgbClr val="FECF40"/>
              </a:gs>
              <a:gs pos="99000">
                <a:schemeClr val="bg1">
                  <a:alpha val="0"/>
                </a:schemeClr>
              </a:gs>
            </a:gsLst>
            <a:lin ang="2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defTabSz="412750" hangingPunct="0">
              <a:defRPr/>
            </a:pPr>
            <a:endParaRPr lang="zh-CN" altLang="en-US" sz="1500" b="1" kern="0">
              <a:solidFill>
                <a:prstClr val="white"/>
              </a:solidFill>
              <a:latin typeface="微软雅黑" panose="020B0503020204020204" pitchFamily="34" charset="-122"/>
              <a:ea typeface="微软雅黑" panose="020B0503020204020204" pitchFamily="34" charset="-122"/>
              <a:sym typeface="Helvetica Neue"/>
            </a:endParaRPr>
          </a:p>
        </p:txBody>
      </p:sp>
      <p:sp>
        <p:nvSpPr>
          <p:cNvPr id="3" name="Rectangle 2">
            <a:extLst>
              <a:ext uri="{FF2B5EF4-FFF2-40B4-BE49-F238E27FC236}">
                <a16:creationId xmlns:a16="http://schemas.microsoft.com/office/drawing/2014/main" id="{7976696A-FC79-4A61-9168-3FB72A467FF8}"/>
              </a:ext>
            </a:extLst>
          </p:cNvPr>
          <p:cNvSpPr/>
          <p:nvPr/>
        </p:nvSpPr>
        <p:spPr>
          <a:xfrm>
            <a:off x="612613" y="383756"/>
            <a:ext cx="9618018" cy="543739"/>
          </a:xfrm>
          <a:prstGeom prst="rect">
            <a:avLst/>
          </a:prstGeom>
          <a:ln w="12700">
            <a:miter lim="400000"/>
          </a:ln>
        </p:spPr>
        <p:txBody>
          <a:bodyPr wrap="none" lIns="25400" tIns="25400" rIns="25400" bIns="25400" anchor="ctr">
            <a:spAutoFit/>
          </a:bodyPr>
          <a:lstStyle/>
          <a:p>
            <a:r>
              <a:rPr lang="zh-CN" alt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选品指南针</a:t>
            </a:r>
            <a:r>
              <a:rPr lang="en-US" altLang="zh-CN"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Similar ASIN Dashboard </a:t>
            </a:r>
            <a:r>
              <a:rPr lang="zh-CN" alt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的展示</a:t>
            </a:r>
            <a:endParaRPr 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endParaRPr>
          </a:p>
        </p:txBody>
      </p:sp>
      <p:sp>
        <p:nvSpPr>
          <p:cNvPr id="5" name="矩形 17">
            <a:extLst>
              <a:ext uri="{FF2B5EF4-FFF2-40B4-BE49-F238E27FC236}">
                <a16:creationId xmlns:a16="http://schemas.microsoft.com/office/drawing/2014/main" id="{0FF83BDB-9625-42C1-A7D9-CE06B84CBF5B}"/>
              </a:ext>
            </a:extLst>
          </p:cNvPr>
          <p:cNvSpPr/>
          <p:nvPr/>
        </p:nvSpPr>
        <p:spPr>
          <a:xfrm>
            <a:off x="612613" y="1040570"/>
            <a:ext cx="3035300" cy="63183"/>
          </a:xfrm>
          <a:prstGeom prst="rect">
            <a:avLst/>
          </a:prstGeom>
          <a:gradFill>
            <a:gsLst>
              <a:gs pos="0">
                <a:srgbClr val="FECF40"/>
              </a:gs>
              <a:gs pos="99000">
                <a:schemeClr val="bg1">
                  <a:alpha val="0"/>
                </a:schemeClr>
              </a:gs>
            </a:gsLst>
            <a:lin ang="2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defTabSz="412750" hangingPunct="0">
              <a:defRPr/>
            </a:pPr>
            <a:endParaRPr lang="zh-CN" altLang="en-US" sz="1500" b="1" kern="0">
              <a:solidFill>
                <a:prstClr val="white"/>
              </a:solidFill>
              <a:latin typeface="微软雅黑" panose="020B0503020204020204" pitchFamily="34" charset="-122"/>
              <a:ea typeface="微软雅黑" panose="020B0503020204020204" pitchFamily="34" charset="-122"/>
              <a:sym typeface="Helvetica Neue"/>
            </a:endParaRPr>
          </a:p>
        </p:txBody>
      </p:sp>
      <p:pic>
        <p:nvPicPr>
          <p:cNvPr id="8" name="Picture 7">
            <a:extLst>
              <a:ext uri="{FF2B5EF4-FFF2-40B4-BE49-F238E27FC236}">
                <a16:creationId xmlns:a16="http://schemas.microsoft.com/office/drawing/2014/main" id="{5C759DF7-2024-4937-997C-463727B569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2613" y="3446747"/>
            <a:ext cx="5062561" cy="3027497"/>
          </a:xfrm>
          <a:prstGeom prst="rect">
            <a:avLst/>
          </a:prstGeom>
        </p:spPr>
      </p:pic>
      <p:pic>
        <p:nvPicPr>
          <p:cNvPr id="11" name="Picture 10">
            <a:extLst>
              <a:ext uri="{FF2B5EF4-FFF2-40B4-BE49-F238E27FC236}">
                <a16:creationId xmlns:a16="http://schemas.microsoft.com/office/drawing/2014/main" id="{F3C10B3A-E536-4FB9-9D9E-E7505F8E362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2613" y="1216828"/>
            <a:ext cx="5412833" cy="2613675"/>
          </a:xfrm>
          <a:prstGeom prst="rect">
            <a:avLst/>
          </a:prstGeom>
        </p:spPr>
      </p:pic>
      <p:pic>
        <p:nvPicPr>
          <p:cNvPr id="12" name="Picture 11">
            <a:extLst>
              <a:ext uri="{FF2B5EF4-FFF2-40B4-BE49-F238E27FC236}">
                <a16:creationId xmlns:a16="http://schemas.microsoft.com/office/drawing/2014/main" id="{80F2A58C-F66C-42FA-A655-76E503EE843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00195" y="1216828"/>
            <a:ext cx="5412833" cy="2276215"/>
          </a:xfrm>
          <a:prstGeom prst="rect">
            <a:avLst/>
          </a:prstGeom>
        </p:spPr>
      </p:pic>
      <p:pic>
        <p:nvPicPr>
          <p:cNvPr id="13" name="Picture 12">
            <a:extLst>
              <a:ext uri="{FF2B5EF4-FFF2-40B4-BE49-F238E27FC236}">
                <a16:creationId xmlns:a16="http://schemas.microsoft.com/office/drawing/2014/main" id="{5CA9E8D2-4B25-47DD-B5C5-700614B8784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78275" y="2898196"/>
            <a:ext cx="5715862" cy="2343662"/>
          </a:xfrm>
          <a:prstGeom prst="rect">
            <a:avLst/>
          </a:prstGeom>
        </p:spPr>
      </p:pic>
    </p:spTree>
    <p:extLst>
      <p:ext uri="{BB962C8B-B14F-4D97-AF65-F5344CB8AC3E}">
        <p14:creationId xmlns:p14="http://schemas.microsoft.com/office/powerpoint/2010/main" val="355093838"/>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7">
            <a:extLst>
              <a:ext uri="{FF2B5EF4-FFF2-40B4-BE49-F238E27FC236}">
                <a16:creationId xmlns:a16="http://schemas.microsoft.com/office/drawing/2014/main" id="{A36C3CE7-053F-4C71-9874-A2E86B1F5D1C}"/>
              </a:ext>
            </a:extLst>
          </p:cNvPr>
          <p:cNvSpPr/>
          <p:nvPr/>
        </p:nvSpPr>
        <p:spPr>
          <a:xfrm>
            <a:off x="612613" y="1040570"/>
            <a:ext cx="3035300" cy="63183"/>
          </a:xfrm>
          <a:prstGeom prst="rect">
            <a:avLst/>
          </a:prstGeom>
          <a:gradFill>
            <a:gsLst>
              <a:gs pos="0">
                <a:srgbClr val="FECF40"/>
              </a:gs>
              <a:gs pos="99000">
                <a:schemeClr val="bg1">
                  <a:alpha val="0"/>
                </a:schemeClr>
              </a:gs>
            </a:gsLst>
            <a:lin ang="2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defTabSz="412750" hangingPunct="0">
              <a:defRPr/>
            </a:pPr>
            <a:endParaRPr lang="zh-CN" altLang="en-US" sz="1500" b="1" kern="0">
              <a:solidFill>
                <a:prstClr val="white"/>
              </a:solidFill>
              <a:latin typeface="微软雅黑" panose="020B0503020204020204" pitchFamily="34" charset="-122"/>
              <a:ea typeface="微软雅黑" panose="020B0503020204020204" pitchFamily="34" charset="-122"/>
              <a:sym typeface="Helvetica Neue"/>
            </a:endParaRPr>
          </a:p>
        </p:txBody>
      </p:sp>
      <p:sp>
        <p:nvSpPr>
          <p:cNvPr id="3" name="Rectangle 2">
            <a:extLst>
              <a:ext uri="{FF2B5EF4-FFF2-40B4-BE49-F238E27FC236}">
                <a16:creationId xmlns:a16="http://schemas.microsoft.com/office/drawing/2014/main" id="{7976696A-FC79-4A61-9168-3FB72A467FF8}"/>
              </a:ext>
            </a:extLst>
          </p:cNvPr>
          <p:cNvSpPr/>
          <p:nvPr/>
        </p:nvSpPr>
        <p:spPr>
          <a:xfrm>
            <a:off x="612613" y="383756"/>
            <a:ext cx="9611221" cy="543739"/>
          </a:xfrm>
          <a:prstGeom prst="rect">
            <a:avLst/>
          </a:prstGeom>
          <a:ln w="12700">
            <a:miter lim="400000"/>
          </a:ln>
        </p:spPr>
        <p:txBody>
          <a:bodyPr wrap="none" lIns="25400" tIns="25400" rIns="25400" bIns="25400" anchor="ctr">
            <a:spAutoFit/>
          </a:bodyPr>
          <a:lstStyle/>
          <a:p>
            <a:r>
              <a:rPr lang="zh-CN" alt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选品指南针</a:t>
            </a:r>
            <a:r>
              <a:rPr lang="en-US" altLang="zh-CN"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Similar ASIN Dashboard </a:t>
            </a:r>
            <a:r>
              <a:rPr lang="zh-CN" alt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sym typeface="+mn-lt"/>
              </a:rPr>
              <a:t>的展示</a:t>
            </a:r>
            <a:endParaRPr lang="en-US" sz="3200" b="1" spc="300" dirty="0">
              <a:gradFill>
                <a:gsLst>
                  <a:gs pos="60000">
                    <a:srgbClr val="FFA106"/>
                  </a:gs>
                  <a:gs pos="43000">
                    <a:srgbClr val="FF8F00"/>
                  </a:gs>
                  <a:gs pos="84000">
                    <a:srgbClr val="FFC010"/>
                  </a:gs>
                </a:gsLst>
                <a:lin ang="0" scaled="0"/>
              </a:gradFill>
              <a:latin typeface="微软雅黑" panose="020B0503020204020204" pitchFamily="34" charset="-122"/>
              <a:ea typeface="微软雅黑" panose="020B0503020204020204" pitchFamily="34" charset="-122"/>
            </a:endParaRPr>
          </a:p>
        </p:txBody>
      </p:sp>
      <p:sp>
        <p:nvSpPr>
          <p:cNvPr id="5" name="矩形 17">
            <a:extLst>
              <a:ext uri="{FF2B5EF4-FFF2-40B4-BE49-F238E27FC236}">
                <a16:creationId xmlns:a16="http://schemas.microsoft.com/office/drawing/2014/main" id="{0FF83BDB-9625-42C1-A7D9-CE06B84CBF5B}"/>
              </a:ext>
            </a:extLst>
          </p:cNvPr>
          <p:cNvSpPr/>
          <p:nvPr/>
        </p:nvSpPr>
        <p:spPr>
          <a:xfrm>
            <a:off x="612613" y="1040570"/>
            <a:ext cx="3035300" cy="63183"/>
          </a:xfrm>
          <a:prstGeom prst="rect">
            <a:avLst/>
          </a:prstGeom>
          <a:gradFill>
            <a:gsLst>
              <a:gs pos="0">
                <a:srgbClr val="FECF40"/>
              </a:gs>
              <a:gs pos="99000">
                <a:schemeClr val="bg1">
                  <a:alpha val="0"/>
                </a:schemeClr>
              </a:gs>
            </a:gsLst>
            <a:lin ang="2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defTabSz="412750" hangingPunct="0">
              <a:defRPr/>
            </a:pPr>
            <a:endParaRPr lang="zh-CN" altLang="en-US" sz="1500" b="1" kern="0">
              <a:solidFill>
                <a:prstClr val="white"/>
              </a:solidFill>
              <a:latin typeface="微软雅黑" panose="020B0503020204020204" pitchFamily="34" charset="-122"/>
              <a:ea typeface="微软雅黑" panose="020B0503020204020204" pitchFamily="34" charset="-122"/>
              <a:sym typeface="Helvetica Neue"/>
            </a:endParaRPr>
          </a:p>
        </p:txBody>
      </p:sp>
      <p:pic>
        <p:nvPicPr>
          <p:cNvPr id="9" name="Picture 8">
            <a:extLst>
              <a:ext uri="{FF2B5EF4-FFF2-40B4-BE49-F238E27FC236}">
                <a16:creationId xmlns:a16="http://schemas.microsoft.com/office/drawing/2014/main" id="{EC14AA0F-84F4-455F-ABCA-52E265C01D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838" y="1549031"/>
            <a:ext cx="11142324" cy="3759937"/>
          </a:xfrm>
          <a:prstGeom prst="rect">
            <a:avLst/>
          </a:prstGeom>
        </p:spPr>
      </p:pic>
    </p:spTree>
    <p:extLst>
      <p:ext uri="{BB962C8B-B14F-4D97-AF65-F5344CB8AC3E}">
        <p14:creationId xmlns:p14="http://schemas.microsoft.com/office/powerpoint/2010/main" val="2284162475"/>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3936,&quot;width&quot;:5294}"/>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3053.1464566929135,&quot;width&quot;:17947.84251968504}"/>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3053.1464566929135,&quot;width&quot;:17947.84251968504}"/>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0.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设计方案">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自定义设计方案">
      <a:majorFont>
        <a:latin typeface="Helvetica"/>
        <a:ea typeface="Helvetica"/>
        <a:cs typeface="Helvetica"/>
      </a:majorFont>
      <a:minorFont>
        <a:latin typeface="Calibri"/>
        <a:ea typeface="Calibri"/>
        <a:cs typeface="Calibri"/>
      </a:minorFont>
    </a:fontScheme>
    <a:fmtScheme name="自定义设计方案">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等线"/>
            <a:ea typeface="等线"/>
            <a:cs typeface="等线"/>
            <a:sym typeface="等线"/>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等线"/>
            <a:ea typeface="等线"/>
            <a:cs typeface="等线"/>
            <a:sym typeface="等线"/>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2636</Words>
  <Application>Microsoft Office PowerPoint</Application>
  <PresentationFormat>宽屏</PresentationFormat>
  <Paragraphs>294</Paragraphs>
  <Slides>30</Slides>
  <Notes>7</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30</vt:i4>
      </vt:variant>
    </vt:vector>
  </HeadingPairs>
  <TitlesOfParts>
    <vt:vector size="41" baseType="lpstr">
      <vt:lpstr>Amazon Ember</vt:lpstr>
      <vt:lpstr>Source Han Sans CN Medium</vt:lpstr>
      <vt:lpstr>等线</vt:lpstr>
      <vt:lpstr>等线 Light</vt:lpstr>
      <vt:lpstr>思源黑体 CN Heavy</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Geng, Xiaowen</dc:creator>
  <cp:lastModifiedBy>Geng, Xiaowen</cp:lastModifiedBy>
  <cp:revision>2</cp:revision>
  <dcterms:created xsi:type="dcterms:W3CDTF">2024-05-15T02:45:41Z</dcterms:created>
  <dcterms:modified xsi:type="dcterms:W3CDTF">2024-05-15T02:47:14Z</dcterms:modified>
</cp:coreProperties>
</file>
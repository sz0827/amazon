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9"/>
  </p:handoutMasterIdLst>
  <p:sldIdLst>
    <p:sldId id="256" r:id="rId3"/>
    <p:sldId id="437" r:id="rId5"/>
    <p:sldId id="317" r:id="rId6"/>
    <p:sldId id="472" r:id="rId7"/>
    <p:sldId id="473" r:id="rId8"/>
    <p:sldId id="474" r:id="rId9"/>
    <p:sldId id="307" r:id="rId10"/>
    <p:sldId id="475" r:id="rId11"/>
    <p:sldId id="476" r:id="rId12"/>
    <p:sldId id="479" r:id="rId13"/>
    <p:sldId id="480" r:id="rId14"/>
    <p:sldId id="477" r:id="rId15"/>
    <p:sldId id="481" r:id="rId16"/>
    <p:sldId id="482" r:id="rId17"/>
    <p:sldId id="483" r:id="rId18"/>
    <p:sldId id="485" r:id="rId19"/>
    <p:sldId id="486" r:id="rId20"/>
    <p:sldId id="487" r:id="rId21"/>
    <p:sldId id="489" r:id="rId22"/>
    <p:sldId id="491" r:id="rId23"/>
    <p:sldId id="493" r:id="rId24"/>
    <p:sldId id="492" r:id="rId25"/>
    <p:sldId id="490" r:id="rId26"/>
    <p:sldId id="494" r:id="rId27"/>
    <p:sldId id="495" r:id="rId28"/>
    <p:sldId id="496" r:id="rId29"/>
    <p:sldId id="497" r:id="rId30"/>
    <p:sldId id="498" r:id="rId31"/>
    <p:sldId id="499" r:id="rId32"/>
    <p:sldId id="500" r:id="rId33"/>
    <p:sldId id="501" r:id="rId34"/>
    <p:sldId id="502" r:id="rId35"/>
    <p:sldId id="505" r:id="rId36"/>
    <p:sldId id="507" r:id="rId37"/>
    <p:sldId id="424" r:id="rId38"/>
  </p:sldIdLst>
  <p:sldSz cx="9144000" cy="5143500" type="screen16x9"/>
  <p:notesSz cx="6858000" cy="9144000"/>
  <p:custDataLst>
    <p:tags r:id="rId44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小黑" initials="小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4367"/>
    <a:srgbClr val="1D4865"/>
    <a:srgbClr val="1D4971"/>
    <a:srgbClr val="51B3CD"/>
    <a:srgbClr val="83C2DB"/>
    <a:srgbClr val="2980B4"/>
    <a:srgbClr val="4287C6"/>
    <a:srgbClr val="2780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-96" y="-15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86" d="100"/>
        <a:sy n="18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4" Type="http://schemas.openxmlformats.org/officeDocument/2006/relationships/tags" Target="tags/tag29.xml"/><Relationship Id="rId43" Type="http://schemas.openxmlformats.org/officeDocument/2006/relationships/commentAuthors" Target="commentAuthors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9" Type="http://schemas.openxmlformats.org/officeDocument/2006/relationships/handoutMaster" Target="handoutMasters/handoutMaster1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blipFill dpi="0" rotWithShape="1">
          <a:blip r:embed="rId2" cstate="screen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0" y="1333829"/>
            <a:ext cx="3655181" cy="617934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  <a:lvl6pPr marL="1714500" indent="0">
              <a:buNone/>
              <a:defRPr sz="1400"/>
            </a:lvl6pPr>
            <a:lvl7pPr marL="2057400" indent="0">
              <a:buNone/>
              <a:defRPr sz="1400"/>
            </a:lvl7pPr>
            <a:lvl8pPr marL="2400300" indent="0">
              <a:buNone/>
              <a:defRPr sz="1400"/>
            </a:lvl8pPr>
            <a:lvl9pPr marL="27432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0" y="1999034"/>
            <a:ext cx="3655181" cy="26432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333829"/>
            <a:ext cx="3673182" cy="617934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  <a:lvl6pPr marL="1714500" indent="0">
              <a:buNone/>
              <a:defRPr sz="1400"/>
            </a:lvl6pPr>
            <a:lvl7pPr marL="2057400" indent="0">
              <a:buNone/>
              <a:defRPr sz="1400"/>
            </a:lvl7pPr>
            <a:lvl8pPr marL="2400300" indent="0">
              <a:buNone/>
              <a:defRPr sz="1400"/>
            </a:lvl8pPr>
            <a:lvl9pPr marL="27432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1999034"/>
            <a:ext cx="3673182" cy="26432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3124012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342900"/>
            <a:ext cx="4629150" cy="4052888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3124012" cy="2858691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400"/>
            </a:lvl2pPr>
            <a:lvl3pPr marL="685800" indent="0">
              <a:buNone/>
              <a:defRPr sz="1200"/>
            </a:lvl3pPr>
            <a:lvl4pPr marL="1028700" indent="0">
              <a:buNone/>
              <a:defRPr sz="1100"/>
            </a:lvl4pPr>
            <a:lvl5pPr marL="1371600" indent="0">
              <a:buNone/>
              <a:defRPr sz="1100"/>
            </a:lvl5pPr>
            <a:lvl6pPr marL="1714500" indent="0">
              <a:buNone/>
              <a:defRPr sz="1100"/>
            </a:lvl6pPr>
            <a:lvl7pPr marL="2057400" indent="0">
              <a:buNone/>
              <a:defRPr sz="1100"/>
            </a:lvl7pPr>
            <a:lvl8pPr marL="2400300" indent="0">
              <a:buNone/>
              <a:defRPr sz="1100"/>
            </a:lvl8pPr>
            <a:lvl9pPr marL="2743200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843"/>
            <a:ext cx="7886700" cy="435887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tags" Target="../tags/tag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tags" Target="../tags/tag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tags" Target="../tags/tag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tags" Target="../tags/tag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tags" Target="../tags/tag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tags" Target="../tags/tag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tags" Target="../tags/tag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tags" Target="../tags/tag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tags" Target="../tags/tag12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8.png"/><Relationship Id="rId3" Type="http://schemas.openxmlformats.org/officeDocument/2006/relationships/tags" Target="../tags/tag14.xml"/><Relationship Id="rId2" Type="http://schemas.openxmlformats.org/officeDocument/2006/relationships/image" Target="../media/image27.png"/><Relationship Id="rId1" Type="http://schemas.openxmlformats.org/officeDocument/2006/relationships/tags" Target="../tags/tag13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image" Target="../media/image31.png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image" Target="../media/image30.png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image" Target="../media/image29.png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22.xml"/><Relationship Id="rId11" Type="http://schemas.openxmlformats.org/officeDocument/2006/relationships/image" Target="../media/image32.png"/><Relationship Id="rId10" Type="http://schemas.openxmlformats.org/officeDocument/2006/relationships/tags" Target="../tags/tag21.xml"/><Relationship Id="rId1" Type="http://schemas.openxmlformats.org/officeDocument/2006/relationships/tags" Target="../tags/tag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5.png"/><Relationship Id="rId2" Type="http://schemas.openxmlformats.org/officeDocument/2006/relationships/tags" Target="../tags/tag23.xml"/><Relationship Id="rId1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1" Type="http://schemas.openxmlformats.org/officeDocument/2006/relationships/tags" Target="../tags/tag2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1" Type="http://schemas.openxmlformats.org/officeDocument/2006/relationships/tags" Target="../tags/tag25.xml"/></Relationships>
</file>

<file path=ppt/slides/_rels/slide3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tags" Target="../tags/tag28.xml"/><Relationship Id="rId4" Type="http://schemas.openxmlformats.org/officeDocument/2006/relationships/image" Target="../media/image39.png"/><Relationship Id="rId3" Type="http://schemas.openxmlformats.org/officeDocument/2006/relationships/tags" Target="../tags/tag27.xml"/><Relationship Id="rId2" Type="http://schemas.openxmlformats.org/officeDocument/2006/relationships/image" Target="../media/image38.png"/><Relationship Id="rId1" Type="http://schemas.openxmlformats.org/officeDocument/2006/relationships/tags" Target="../tags/tag2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screen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387725" y="1007745"/>
            <a:ext cx="5340350" cy="3236595"/>
          </a:xfrm>
          <a:prstGeom prst="rect">
            <a:avLst/>
          </a:prstGeom>
          <a:noFill/>
        </p:spPr>
        <p:txBody>
          <a:bodyPr wrap="square" lIns="68580" tIns="34290" rIns="68580" bIns="34290" rtlCol="0">
            <a:noAutofit/>
          </a:bodyPr>
          <a:lstStyle/>
          <a:p>
            <a:r>
              <a:rPr lang="en-US" altLang="zh-CN" sz="4200" b="1" dirty="0">
                <a:solidFill>
                  <a:srgbClr val="1B4367"/>
                </a:solidFill>
                <a:cs typeface="+mn-ea"/>
                <a:sym typeface="+mn-lt"/>
              </a:rPr>
              <a:t>Amazon</a:t>
            </a:r>
            <a:r>
              <a:rPr lang="zh-CN" altLang="en-US" sz="4200" b="1" dirty="0">
                <a:solidFill>
                  <a:srgbClr val="1B4367"/>
                </a:solidFill>
                <a:cs typeface="+mn-ea"/>
                <a:sym typeface="+mn-lt"/>
              </a:rPr>
              <a:t>选品</a:t>
            </a:r>
            <a:r>
              <a:rPr lang="en-US" altLang="zh-CN" sz="4200" b="1" dirty="0">
                <a:solidFill>
                  <a:srgbClr val="1B4367"/>
                </a:solidFill>
                <a:cs typeface="+mn-ea"/>
                <a:sym typeface="+mn-lt"/>
              </a:rPr>
              <a:t>:</a:t>
            </a:r>
            <a:br>
              <a:rPr lang="en-US" altLang="zh-CN" sz="4200" b="1" dirty="0">
                <a:solidFill>
                  <a:srgbClr val="1B4367"/>
                </a:solidFill>
                <a:cs typeface="+mn-ea"/>
                <a:sym typeface="+mn-lt"/>
              </a:rPr>
            </a:br>
            <a:endParaRPr lang="en-US" altLang="zh-CN" sz="4200" b="1" dirty="0">
              <a:solidFill>
                <a:srgbClr val="1B4367"/>
              </a:solidFill>
              <a:cs typeface="+mn-ea"/>
              <a:sym typeface="+mn-lt"/>
            </a:endParaRPr>
          </a:p>
          <a:p>
            <a:r>
              <a:rPr lang="zh-CN" altLang="en-US" sz="4200" b="1" dirty="0">
                <a:solidFill>
                  <a:srgbClr val="1B4367"/>
                </a:solidFill>
                <a:cs typeface="+mn-ea"/>
                <a:sym typeface="+mn-lt"/>
              </a:rPr>
              <a:t>团队资源匹配、灵感与思维</a:t>
            </a:r>
            <a:endParaRPr lang="zh-CN" altLang="en-US" sz="4200" b="1" dirty="0">
              <a:solidFill>
                <a:srgbClr val="1B4367"/>
              </a:solidFill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457315" y="3369945"/>
            <a:ext cx="2313305" cy="140716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lvl="0" eaLnBrk="0" latinLnBrk="0" hangingPunct="0"/>
            <a:br>
              <a:rPr lang="zh-CN" altLang="en-US" sz="1450" dirty="0">
                <a:solidFill>
                  <a:srgbClr val="1B4367"/>
                </a:solidFill>
                <a:cs typeface="+mn-ea"/>
                <a:sym typeface="+mn-lt"/>
              </a:rPr>
            </a:br>
            <a:br>
              <a:rPr lang="zh-CN" altLang="en-US" sz="1450" dirty="0">
                <a:solidFill>
                  <a:srgbClr val="1B4367"/>
                </a:solidFill>
                <a:cs typeface="+mn-ea"/>
                <a:sym typeface="+mn-lt"/>
              </a:rPr>
            </a:br>
            <a:br>
              <a:rPr lang="zh-CN" altLang="en-US" sz="1450" dirty="0">
                <a:solidFill>
                  <a:srgbClr val="1B4367"/>
                </a:solidFill>
                <a:cs typeface="+mn-ea"/>
                <a:sym typeface="+mn-lt"/>
              </a:rPr>
            </a:br>
            <a:br>
              <a:rPr lang="zh-CN" altLang="en-US" sz="1450" dirty="0">
                <a:solidFill>
                  <a:srgbClr val="1B4367"/>
                </a:solidFill>
                <a:cs typeface="+mn-ea"/>
                <a:sym typeface="+mn-lt"/>
              </a:rPr>
            </a:br>
            <a:br>
              <a:rPr lang="zh-CN" altLang="en-US" sz="1450" dirty="0">
                <a:solidFill>
                  <a:srgbClr val="1B4367"/>
                </a:solidFill>
                <a:cs typeface="+mn-ea"/>
                <a:sym typeface="+mn-lt"/>
              </a:rPr>
            </a:br>
            <a:r>
              <a:rPr lang="zh-CN" altLang="en-US" sz="1450" dirty="0">
                <a:solidFill>
                  <a:srgbClr val="1B4367"/>
                </a:solidFill>
                <a:cs typeface="+mn-ea"/>
                <a:sym typeface="+mn-lt"/>
              </a:rPr>
              <a:t>阿志</a:t>
            </a:r>
            <a:r>
              <a:rPr lang="en-US" sz="1450" dirty="0">
                <a:solidFill>
                  <a:srgbClr val="1B4367"/>
                </a:solidFill>
                <a:cs typeface="+mn-ea"/>
                <a:sym typeface="+mn-lt"/>
              </a:rPr>
              <a:t>   2023</a:t>
            </a:r>
            <a:r>
              <a:rPr lang="zh-CN" altLang="en-US" sz="1450" dirty="0">
                <a:solidFill>
                  <a:srgbClr val="1B4367"/>
                </a:solidFill>
                <a:cs typeface="+mn-ea"/>
                <a:sym typeface="+mn-lt"/>
              </a:rPr>
              <a:t>年</a:t>
            </a:r>
            <a:r>
              <a:rPr lang="en-US" sz="1450" dirty="0">
                <a:solidFill>
                  <a:srgbClr val="1B4367"/>
                </a:solidFill>
                <a:cs typeface="+mn-ea"/>
                <a:sym typeface="+mn-lt"/>
              </a:rPr>
              <a:t>7</a:t>
            </a:r>
            <a:r>
              <a:rPr lang="zh-CN" altLang="en-US" sz="1450" dirty="0">
                <a:solidFill>
                  <a:srgbClr val="1B4367"/>
                </a:solidFill>
                <a:cs typeface="+mn-ea"/>
                <a:sym typeface="+mn-lt"/>
              </a:rPr>
              <a:t>月</a:t>
            </a:r>
            <a:r>
              <a:rPr lang="en-US" sz="1450" dirty="0">
                <a:solidFill>
                  <a:srgbClr val="1B4367"/>
                </a:solidFill>
                <a:cs typeface="+mn-ea"/>
                <a:sym typeface="+mn-lt"/>
              </a:rPr>
              <a:t>7</a:t>
            </a:r>
            <a:r>
              <a:rPr lang="zh-CN" altLang="en-US" sz="1450" dirty="0">
                <a:solidFill>
                  <a:srgbClr val="1B4367"/>
                </a:solidFill>
                <a:cs typeface="+mn-ea"/>
                <a:sym typeface="+mn-lt"/>
              </a:rPr>
              <a:t>日</a:t>
            </a:r>
            <a:endParaRPr lang="zh-CN" altLang="en-US" sz="1450" dirty="0">
              <a:solidFill>
                <a:srgbClr val="1B4367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 tmFilter="0,0; .5, 1; 1, 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440" y="329565"/>
            <a:ext cx="3963670" cy="435546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3740" y="329565"/>
            <a:ext cx="4415790" cy="43345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screen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框 32"/>
          <p:cNvSpPr txBox="1"/>
          <p:nvPr/>
        </p:nvSpPr>
        <p:spPr>
          <a:xfrm>
            <a:off x="2866491" y="2012712"/>
            <a:ext cx="2147298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4400" b="1" spc="-225" dirty="0">
                <a:solidFill>
                  <a:srgbClr val="1B4367"/>
                </a:solidFill>
                <a:cs typeface="+mn-ea"/>
                <a:sym typeface="+mn-lt"/>
              </a:rPr>
              <a:t>目 录</a:t>
            </a:r>
            <a:endParaRPr lang="zh-CN" altLang="en-US" sz="4400" b="1" spc="-225" dirty="0">
              <a:solidFill>
                <a:srgbClr val="1B4367"/>
              </a:solidFill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66491" y="2643910"/>
            <a:ext cx="2113154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400" b="1" dirty="0">
                <a:solidFill>
                  <a:srgbClr val="1B4367"/>
                </a:solidFill>
                <a:cs typeface="+mn-ea"/>
                <a:sym typeface="+mn-lt"/>
              </a:rPr>
              <a:t>CONTENTS</a:t>
            </a:r>
            <a:endParaRPr lang="en-US" altLang="zh-CN" sz="2400" b="1" dirty="0">
              <a:solidFill>
                <a:srgbClr val="1B4367"/>
              </a:solidFill>
              <a:cs typeface="+mn-ea"/>
              <a:sym typeface="+mn-lt"/>
            </a:endParaRPr>
          </a:p>
        </p:txBody>
      </p:sp>
      <p:sp>
        <p:nvSpPr>
          <p:cNvPr id="4" name="燕尾形 3"/>
          <p:cNvSpPr/>
          <p:nvPr/>
        </p:nvSpPr>
        <p:spPr>
          <a:xfrm>
            <a:off x="4284324" y="2183489"/>
            <a:ext cx="256853" cy="448435"/>
          </a:xfrm>
          <a:prstGeom prst="chevron">
            <a:avLst/>
          </a:prstGeom>
          <a:solidFill>
            <a:srgbClr val="1B43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-889000" y="456565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645032" y="1377153"/>
            <a:ext cx="2214693" cy="390555"/>
          </a:xfrm>
          <a:prstGeom prst="roundRect">
            <a:avLst/>
          </a:prstGeom>
          <a:solidFill>
            <a:srgbClr val="1B4367"/>
          </a:solidFill>
        </p:spPr>
        <p:txBody>
          <a:bodyPr wrap="square" rtlCol="0">
            <a:spAutoFit/>
          </a:bodyPr>
          <a:p>
            <a:r>
              <a:rPr lang="zh-CN" altLang="en-US" sz="1700" b="1" u="sng" dirty="0">
                <a:solidFill>
                  <a:schemeClr val="bg1"/>
                </a:solidFill>
                <a:effectLst/>
                <a:cs typeface="+mn-ea"/>
                <a:sym typeface="+mn-lt"/>
              </a:rPr>
              <a:t>匹配资源开发产品</a:t>
            </a:r>
            <a:endParaRPr lang="zh-CN" altLang="en-US" sz="1700" b="1" u="sng" dirty="0">
              <a:solidFill>
                <a:schemeClr val="bg1"/>
              </a:solidFill>
              <a:effectLst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135755" y="1357339"/>
            <a:ext cx="478533" cy="393570"/>
            <a:chOff x="5640108" y="966369"/>
            <a:chExt cx="476097" cy="391567"/>
          </a:xfrm>
        </p:grpSpPr>
        <p:sp>
          <p:nvSpPr>
            <p:cNvPr id="25" name="椭圆 24"/>
            <p:cNvSpPr/>
            <p:nvPr/>
          </p:nvSpPr>
          <p:spPr>
            <a:xfrm>
              <a:off x="5673454" y="966369"/>
              <a:ext cx="391567" cy="391567"/>
            </a:xfrm>
            <a:prstGeom prst="ellipse">
              <a:avLst/>
            </a:prstGeom>
            <a:solidFill>
              <a:srgbClr val="1B4367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6" name="文本框 17"/>
            <p:cNvSpPr txBox="1"/>
            <p:nvPr/>
          </p:nvSpPr>
          <p:spPr>
            <a:xfrm>
              <a:off x="5640108" y="975817"/>
              <a:ext cx="476097" cy="367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defRPr/>
              </a:pPr>
              <a:r>
                <a:rPr lang="en-US" altLang="zh-CN" sz="1800" dirty="0">
                  <a:solidFill>
                    <a:schemeClr val="bg1"/>
                  </a:solidFill>
                  <a:cs typeface="+mn-ea"/>
                  <a:sym typeface="+mn-lt"/>
                </a:rPr>
                <a:t>01</a:t>
              </a:r>
              <a:endParaRPr lang="en-US" altLang="zh-CN" sz="18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79" name="文本框 10"/>
          <p:cNvSpPr txBox="1"/>
          <p:nvPr/>
        </p:nvSpPr>
        <p:spPr>
          <a:xfrm>
            <a:off x="5645032" y="2094697"/>
            <a:ext cx="2214693" cy="390555"/>
          </a:xfrm>
          <a:prstGeom prst="roundRect">
            <a:avLst/>
          </a:prstGeom>
          <a:solidFill>
            <a:srgbClr val="1B4367"/>
          </a:solidFill>
        </p:spPr>
        <p:txBody>
          <a:bodyPr wrap="square" rtlCol="0">
            <a:spAutoFit/>
          </a:bodyPr>
          <a:p>
            <a:r>
              <a:rPr lang="zh-CN" altLang="en-US" sz="1700" dirty="0">
                <a:solidFill>
                  <a:schemeClr val="bg1"/>
                </a:solidFill>
                <a:cs typeface="+mn-ea"/>
                <a:sym typeface="+mn-lt"/>
              </a:rPr>
              <a:t>灵感获取及案例</a:t>
            </a:r>
            <a:endParaRPr lang="zh-CN" altLang="en-US" sz="17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5135755" y="2074883"/>
            <a:ext cx="478533" cy="393570"/>
            <a:chOff x="5640108" y="966369"/>
            <a:chExt cx="476097" cy="391567"/>
          </a:xfrm>
        </p:grpSpPr>
        <p:sp>
          <p:nvSpPr>
            <p:cNvPr id="81" name="椭圆 80"/>
            <p:cNvSpPr/>
            <p:nvPr/>
          </p:nvSpPr>
          <p:spPr>
            <a:xfrm>
              <a:off x="5673454" y="966369"/>
              <a:ext cx="391567" cy="391567"/>
            </a:xfrm>
            <a:prstGeom prst="ellipse">
              <a:avLst/>
            </a:prstGeom>
            <a:solidFill>
              <a:srgbClr val="1B4367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2" name="文本框 17"/>
            <p:cNvSpPr txBox="1"/>
            <p:nvPr/>
          </p:nvSpPr>
          <p:spPr>
            <a:xfrm>
              <a:off x="5640108" y="975817"/>
              <a:ext cx="476097" cy="367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defRPr/>
              </a:pPr>
              <a:r>
                <a:rPr lang="en-US" altLang="zh-CN" sz="1800" dirty="0" smtClean="0">
                  <a:solidFill>
                    <a:schemeClr val="bg1"/>
                  </a:solidFill>
                  <a:cs typeface="+mn-ea"/>
                  <a:sym typeface="+mn-lt"/>
                </a:rPr>
                <a:t>02</a:t>
              </a:r>
              <a:endParaRPr lang="en-US" altLang="zh-CN" sz="18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83" name="文本框 10"/>
          <p:cNvSpPr txBox="1"/>
          <p:nvPr/>
        </p:nvSpPr>
        <p:spPr>
          <a:xfrm>
            <a:off x="5645032" y="2812241"/>
            <a:ext cx="2214693" cy="390555"/>
          </a:xfrm>
          <a:prstGeom prst="roundRect">
            <a:avLst/>
          </a:prstGeom>
          <a:solidFill>
            <a:srgbClr val="1B4367"/>
          </a:solidFill>
        </p:spPr>
        <p:txBody>
          <a:bodyPr wrap="square" rtlCol="0">
            <a:spAutoFit/>
          </a:bodyPr>
          <a:p>
            <a:r>
              <a:rPr lang="zh-CN" altLang="en-US" sz="1700" dirty="0">
                <a:solidFill>
                  <a:schemeClr val="bg1"/>
                </a:solidFill>
                <a:cs typeface="+mn-ea"/>
                <a:sym typeface="+mn-lt"/>
              </a:rPr>
              <a:t>选品思维的总结</a:t>
            </a:r>
            <a:endParaRPr lang="zh-CN" altLang="en-US" sz="17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84" name="组合 83"/>
          <p:cNvGrpSpPr/>
          <p:nvPr/>
        </p:nvGrpSpPr>
        <p:grpSpPr>
          <a:xfrm>
            <a:off x="5135755" y="2792427"/>
            <a:ext cx="478533" cy="393570"/>
            <a:chOff x="5640108" y="966369"/>
            <a:chExt cx="476097" cy="391567"/>
          </a:xfrm>
        </p:grpSpPr>
        <p:sp>
          <p:nvSpPr>
            <p:cNvPr id="85" name="椭圆 84"/>
            <p:cNvSpPr/>
            <p:nvPr/>
          </p:nvSpPr>
          <p:spPr>
            <a:xfrm>
              <a:off x="5673454" y="966369"/>
              <a:ext cx="391567" cy="391567"/>
            </a:xfrm>
            <a:prstGeom prst="ellipse">
              <a:avLst/>
            </a:prstGeom>
            <a:solidFill>
              <a:srgbClr val="1B4367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6" name="文本框 17"/>
            <p:cNvSpPr txBox="1"/>
            <p:nvPr/>
          </p:nvSpPr>
          <p:spPr>
            <a:xfrm>
              <a:off x="5640108" y="975817"/>
              <a:ext cx="476097" cy="367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defRPr/>
              </a:pPr>
              <a:r>
                <a:rPr lang="en-US" altLang="zh-CN" sz="1800" dirty="0" smtClean="0">
                  <a:solidFill>
                    <a:schemeClr val="bg1"/>
                  </a:solidFill>
                  <a:cs typeface="+mn-ea"/>
                  <a:sym typeface="+mn-lt"/>
                </a:rPr>
                <a:t>03</a:t>
              </a:r>
              <a:endParaRPr lang="en-US" altLang="zh-CN" sz="18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500"/>
                            </p:stCondLst>
                            <p:childTnLst>
                              <p:par>
                                <p:cTn id="46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000"/>
                            </p:stCondLst>
                            <p:childTnLst>
                              <p:par>
                                <p:cTn id="5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" grpId="0"/>
      <p:bldP spid="4" grpId="0" bldLvl="0" animBg="1"/>
      <p:bldP spid="11" grpId="0" bldLvl="0" animBg="1"/>
      <p:bldP spid="79" grpId="0" bldLvl="0" animBg="1"/>
      <p:bldP spid="83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45" y="77470"/>
            <a:ext cx="8809990" cy="4988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939800" y="98425"/>
            <a:ext cx="7178675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1、每个公司得结合自己公司的运营实力、品类供应链优劣情况做出一个大致的方向，比如运营实力强，知道一些特殊运营操作的，基本就是往</a:t>
            </a:r>
            <a:r>
              <a:rPr lang="zh-CN" altLang="en-US" b="1">
                <a:solidFill>
                  <a:srgbClr val="FF0000"/>
                </a:solidFill>
              </a:rPr>
              <a:t>相对红海市场钻，要求市场容量较大、需求足够长久、不存在有太强季节性、单量要达到至少200单/天，供应商最好可控能够当天来回的工厂</a:t>
            </a:r>
            <a:r>
              <a:rPr lang="zh-CN" altLang="en-US"/>
              <a:t>，整个公司sku不超过50个的。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39800" y="1316355"/>
            <a:ext cx="7687310" cy="21221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2、中小团队，运营足够精细但纯白帽，可以找一些相对高门槛高利润的品类，不追求单量追求利润，何为高门槛？首先</a:t>
            </a:r>
            <a:r>
              <a:rPr lang="zh-CN" altLang="en-US" b="1">
                <a:solidFill>
                  <a:srgbClr val="FF0000"/>
                </a:solidFill>
              </a:rPr>
              <a:t>审核门槛，</a:t>
            </a:r>
            <a:r>
              <a:rPr lang="zh-CN" altLang="en-US">
                <a:solidFill>
                  <a:schemeClr val="tx1"/>
                </a:solidFill>
              </a:rPr>
              <a:t>许多特殊品类，小白卖家遇到审核就头疼不敢碰，大卖家又觉得市场容量较小不愿碰的类目；</a:t>
            </a:r>
            <a:r>
              <a:rPr lang="zh-CN" altLang="en-US" b="1">
                <a:solidFill>
                  <a:srgbClr val="FF0000"/>
                </a:solidFill>
              </a:rPr>
              <a:t>供应链门槛</a:t>
            </a:r>
            <a:r>
              <a:rPr lang="zh-CN" altLang="en-US">
                <a:solidFill>
                  <a:schemeClr val="tx1"/>
                </a:solidFill>
              </a:rPr>
              <a:t>，产品仅一两个工厂在做，且为纯外贸工厂，有着天然的信息差，不做国内市场的这种工厂。</a:t>
            </a:r>
            <a:r>
              <a:rPr lang="zh-CN" altLang="en-US"/>
              <a:t>（在18年以前特别多，近两年被亚马逊挖掘出来很多，目前相对较少）；</a:t>
            </a:r>
            <a:r>
              <a:rPr lang="zh-CN" altLang="en-US" b="1">
                <a:solidFill>
                  <a:srgbClr val="FF0000"/>
                </a:solidFill>
              </a:rPr>
              <a:t>客单价门槛，</a:t>
            </a:r>
            <a:r>
              <a:rPr lang="zh-CN" altLang="en-US">
                <a:solidFill>
                  <a:schemeClr val="tx1"/>
                </a:solidFill>
              </a:rPr>
              <a:t>比如有些相对大件，单量三四十每天，百来美金的产品，对于有一定沉淀的卖家还是相对容易做；</a:t>
            </a:r>
            <a:r>
              <a:rPr lang="zh-CN" altLang="en-US" b="1">
                <a:solidFill>
                  <a:srgbClr val="FF0000"/>
                </a:solidFill>
              </a:rPr>
              <a:t>信息差门槛</a:t>
            </a:r>
            <a:r>
              <a:rPr lang="zh-CN" altLang="en-US">
                <a:solidFill>
                  <a:schemeClr val="tx1"/>
                </a:solidFill>
              </a:rPr>
              <a:t>，我做过不少产品，原本用于A场景的产品，换个包装说明书，用于B场景上，同个产品，利润相差甚远，例如很多人使用的产品，可以运用到宠物身上；</a:t>
            </a:r>
            <a:r>
              <a:rPr lang="zh-CN" altLang="en-US" b="1">
                <a:solidFill>
                  <a:srgbClr val="FF0000"/>
                </a:solidFill>
              </a:rPr>
              <a:t>物流门槛产品</a:t>
            </a:r>
            <a:r>
              <a:rPr lang="zh-CN" altLang="en-US">
                <a:solidFill>
                  <a:schemeClr val="tx1"/>
                </a:solidFill>
              </a:rPr>
              <a:t>，很多人认知里面，膏体液体是不能做的，其实不然，有国人在售的产品，大都可以做；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6000" y="3498215"/>
            <a:ext cx="7611745" cy="14890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3、刚入行小白，建议从</a:t>
            </a:r>
            <a:r>
              <a:rPr lang="zh-CN" altLang="en-US" b="1">
                <a:solidFill>
                  <a:srgbClr val="FF0000"/>
                </a:solidFill>
              </a:rPr>
              <a:t>标品、采购成本相对低的产品</a:t>
            </a:r>
            <a:r>
              <a:rPr lang="zh-CN" altLang="en-US"/>
              <a:t>入手，还有</a:t>
            </a:r>
            <a:r>
              <a:rPr lang="zh-CN" altLang="en-US" b="1">
                <a:solidFill>
                  <a:srgbClr val="FF0000"/>
                </a:solidFill>
              </a:rPr>
              <a:t>季节性产品</a:t>
            </a:r>
            <a:r>
              <a:rPr lang="zh-CN" altLang="en-US"/>
              <a:t>入手，主要是前期需要把亚马逊整个环节都走通，标品所遇到的审核问题平台政策问题也相对较少，可以尝试各种运营策略，做调整与总结。而季节性产品也是，相对于常规品投入产出比高，更容易出单，也是能够更好的培养运营节奏与感觉。 另外，我们需要懂得给产品做一些分类，比如：现象级网红品、门槛高市场不太饱和产品、门槛低且市场饱和的产品、风险产品（禁售、侵权等）、门槛低市场不饱和产品等等，分别市场饱和不饱和有个比较重要的指标，就是利润指标，利润越高市场相对饱和度低。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7530" y="169545"/>
            <a:ext cx="5929630" cy="398208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770" y="3930015"/>
            <a:ext cx="5635625" cy="8870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5"/>
          <p:cNvSpPr txBox="1"/>
          <p:nvPr/>
        </p:nvSpPr>
        <p:spPr>
          <a:xfrm>
            <a:off x="709386" y="309785"/>
            <a:ext cx="5072647" cy="32956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zh-CN" sz="1700" b="1" dirty="0" smtClean="0">
                <a:solidFill>
                  <a:srgbClr val="1B4367"/>
                </a:solidFill>
                <a:cs typeface="+mn-ea"/>
                <a:sym typeface="+mn-lt"/>
              </a:rPr>
              <a:t>类似类目的特点</a:t>
            </a:r>
            <a:endParaRPr lang="zh-CN" sz="1700" b="1" dirty="0">
              <a:solidFill>
                <a:srgbClr val="1B4367"/>
              </a:solidFill>
              <a:cs typeface="+mn-ea"/>
              <a:sym typeface="+mn-lt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774478" y="657417"/>
            <a:ext cx="480259" cy="0"/>
          </a:xfrm>
          <a:prstGeom prst="line">
            <a:avLst/>
          </a:prstGeom>
          <a:ln w="9525">
            <a:solidFill>
              <a:srgbClr val="1B43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449657" y="1520462"/>
            <a:ext cx="7775838" cy="279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>
                <a:solidFill>
                  <a:srgbClr val="1B4367"/>
                </a:solidFill>
              </a:rPr>
              <a:t>1</a:t>
            </a:r>
            <a:r>
              <a:rPr lang="zh-CN" altLang="en-US" sz="1600" b="1" dirty="0" smtClean="0">
                <a:solidFill>
                  <a:srgbClr val="1B4367"/>
                </a:solidFill>
              </a:rPr>
              <a:t>、市场容量足够大</a:t>
            </a:r>
            <a:r>
              <a:rPr lang="en-US" altLang="zh-CN" sz="1600" b="1" dirty="0" smtClean="0">
                <a:solidFill>
                  <a:srgbClr val="1B4367"/>
                </a:solidFill>
              </a:rPr>
              <a:t>/</a:t>
            </a:r>
            <a:r>
              <a:rPr lang="zh-CN" altLang="en-US" sz="1600" b="1" dirty="0" smtClean="0">
                <a:solidFill>
                  <a:srgbClr val="1B4367"/>
                </a:solidFill>
              </a:rPr>
              <a:t>单链接销售额足够大</a:t>
            </a:r>
            <a:endParaRPr lang="zh-CN" altLang="en-US" sz="1600" b="1" dirty="0" smtClean="0">
              <a:solidFill>
                <a:srgbClr val="1B4367"/>
              </a:solidFill>
            </a:endParaRPr>
          </a:p>
          <a:p>
            <a:r>
              <a:rPr lang="en-US" altLang="zh-CN" sz="1600" b="1" dirty="0" smtClean="0">
                <a:solidFill>
                  <a:srgbClr val="1B4367"/>
                </a:solidFill>
              </a:rPr>
              <a:t>2</a:t>
            </a:r>
            <a:r>
              <a:rPr lang="zh-CN" altLang="en-US" sz="1600" b="1" dirty="0" smtClean="0">
                <a:solidFill>
                  <a:srgbClr val="1B4367"/>
                </a:solidFill>
              </a:rPr>
              <a:t>、多账号运营一个</a:t>
            </a:r>
            <a:r>
              <a:rPr lang="en-US" altLang="zh-CN" sz="1600" b="1" dirty="0" smtClean="0">
                <a:solidFill>
                  <a:srgbClr val="1B4367"/>
                </a:solidFill>
              </a:rPr>
              <a:t>listing</a:t>
            </a:r>
            <a:endParaRPr lang="zh-CN" altLang="en-US" sz="1600" b="1" dirty="0" smtClean="0">
              <a:solidFill>
                <a:srgbClr val="1B4367"/>
              </a:solidFill>
            </a:endParaRPr>
          </a:p>
          <a:p>
            <a:r>
              <a:rPr lang="en-US" altLang="zh-CN" sz="1600" b="1" dirty="0" smtClean="0">
                <a:solidFill>
                  <a:srgbClr val="1B4367"/>
                </a:solidFill>
              </a:rPr>
              <a:t>3</a:t>
            </a:r>
            <a:r>
              <a:rPr lang="zh-CN" altLang="en-US" sz="1600" b="1" dirty="0" smtClean="0">
                <a:solidFill>
                  <a:srgbClr val="1B4367"/>
                </a:solidFill>
              </a:rPr>
              <a:t>、运营层面技术较多，包括但不限于以下：</a:t>
            </a:r>
            <a:br>
              <a:rPr lang="zh-CN" altLang="en-US" sz="1600" b="1" dirty="0" smtClean="0">
                <a:solidFill>
                  <a:srgbClr val="1B4367"/>
                </a:solidFill>
              </a:rPr>
            </a:br>
            <a:r>
              <a:rPr lang="en-US" altLang="zh-CN" sz="1600" b="1" dirty="0" smtClean="0">
                <a:solidFill>
                  <a:srgbClr val="1B4367"/>
                </a:solidFill>
              </a:rPr>
              <a:t>     *</a:t>
            </a:r>
            <a:r>
              <a:rPr lang="zh-CN" altLang="en-US" sz="1600" b="1" dirty="0" smtClean="0">
                <a:solidFill>
                  <a:srgbClr val="1B4367"/>
                </a:solidFill>
              </a:rPr>
              <a:t>合并僵尸评论</a:t>
            </a:r>
            <a:br>
              <a:rPr lang="zh-CN" altLang="en-US" sz="1600" b="1" dirty="0" smtClean="0">
                <a:solidFill>
                  <a:srgbClr val="1B4367"/>
                </a:solidFill>
              </a:rPr>
            </a:br>
            <a:r>
              <a:rPr lang="zh-CN" altLang="en-US" sz="1600" b="1" dirty="0" smtClean="0">
                <a:solidFill>
                  <a:srgbClr val="1B4367"/>
                </a:solidFill>
              </a:rPr>
              <a:t> </a:t>
            </a:r>
            <a:r>
              <a:rPr lang="en-US" altLang="zh-CN" sz="1600" b="1" dirty="0" smtClean="0">
                <a:solidFill>
                  <a:srgbClr val="1B4367"/>
                </a:solidFill>
              </a:rPr>
              <a:t>    *</a:t>
            </a:r>
            <a:r>
              <a:rPr lang="zh-CN" altLang="en-US" sz="1600" b="1" dirty="0" smtClean="0">
                <a:solidFill>
                  <a:srgbClr val="1B4367"/>
                </a:solidFill>
              </a:rPr>
              <a:t>无限秒杀</a:t>
            </a:r>
            <a:br>
              <a:rPr lang="zh-CN" altLang="en-US" sz="1600" b="1" dirty="0" smtClean="0">
                <a:solidFill>
                  <a:srgbClr val="1B4367"/>
                </a:solidFill>
              </a:rPr>
            </a:br>
            <a:r>
              <a:rPr lang="zh-CN" altLang="en-US" sz="1600" b="1" dirty="0" smtClean="0">
                <a:solidFill>
                  <a:srgbClr val="1B4367"/>
                </a:solidFill>
              </a:rPr>
              <a:t> </a:t>
            </a:r>
            <a:r>
              <a:rPr lang="en-US" altLang="zh-CN" sz="1600" b="1" dirty="0" smtClean="0">
                <a:solidFill>
                  <a:srgbClr val="1B4367"/>
                </a:solidFill>
              </a:rPr>
              <a:t>    *</a:t>
            </a:r>
            <a:r>
              <a:rPr lang="zh-CN" altLang="en-US" sz="1600" b="1" dirty="0" smtClean="0">
                <a:solidFill>
                  <a:srgbClr val="1B4367"/>
                </a:solidFill>
              </a:rPr>
              <a:t>假标（多加节点，获取非）</a:t>
            </a:r>
            <a:br>
              <a:rPr lang="zh-CN" altLang="en-US" sz="1600" b="1" dirty="0" smtClean="0">
                <a:solidFill>
                  <a:srgbClr val="1B4367"/>
                </a:solidFill>
              </a:rPr>
            </a:br>
            <a:r>
              <a:rPr lang="zh-CN" altLang="en-US" sz="1600" b="1" dirty="0" smtClean="0">
                <a:solidFill>
                  <a:srgbClr val="1B4367"/>
                </a:solidFill>
              </a:rPr>
              <a:t> </a:t>
            </a:r>
            <a:r>
              <a:rPr lang="en-US" altLang="zh-CN" sz="1600" b="1" dirty="0" smtClean="0">
                <a:solidFill>
                  <a:srgbClr val="1B4367"/>
                </a:solidFill>
              </a:rPr>
              <a:t>    *</a:t>
            </a:r>
            <a:r>
              <a:rPr lang="zh-CN" altLang="en-US" sz="1600" b="1" dirty="0" smtClean="0">
                <a:solidFill>
                  <a:srgbClr val="1B4367"/>
                </a:solidFill>
              </a:rPr>
              <a:t>卡片返现</a:t>
            </a:r>
            <a:endParaRPr lang="en-US" altLang="zh-CN" sz="1600" b="1" dirty="0" smtClean="0">
              <a:solidFill>
                <a:srgbClr val="1B4367"/>
              </a:solidFill>
            </a:endParaRPr>
          </a:p>
          <a:p>
            <a:r>
              <a:rPr lang="en-US" altLang="zh-CN" sz="1600" b="1" dirty="0" smtClean="0">
                <a:solidFill>
                  <a:srgbClr val="1B4367"/>
                </a:solidFill>
              </a:rPr>
              <a:t>     *</a:t>
            </a:r>
            <a:r>
              <a:rPr lang="zh-CN" altLang="en-US" sz="1600" b="1" dirty="0" smtClean="0">
                <a:solidFill>
                  <a:srgbClr val="1B4367"/>
                </a:solidFill>
              </a:rPr>
              <a:t>种子链接</a:t>
            </a:r>
            <a:endParaRPr lang="en-US" altLang="zh-CN" sz="1600" b="1" dirty="0" smtClean="0">
              <a:solidFill>
                <a:srgbClr val="1B4367"/>
              </a:solidFill>
            </a:endParaRPr>
          </a:p>
          <a:p>
            <a:endParaRPr lang="en-US" altLang="zh-CN" sz="1600" b="1" dirty="0" smtClean="0">
              <a:solidFill>
                <a:srgbClr val="1B4367"/>
              </a:solidFill>
            </a:endParaRPr>
          </a:p>
          <a:p>
            <a:endParaRPr lang="en-US" altLang="zh-CN" sz="1600" b="1" dirty="0" smtClean="0">
              <a:solidFill>
                <a:srgbClr val="1B4367"/>
              </a:solidFill>
            </a:endParaRPr>
          </a:p>
          <a:p>
            <a:endParaRPr lang="en-US" altLang="zh-CN" sz="1600" b="1" dirty="0" smtClean="0">
              <a:solidFill>
                <a:srgbClr val="1B43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566545" y="160655"/>
            <a:ext cx="4572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https://www.amazon.com/s?me=A1GSAPRF42YKSC&amp;marketplaceID=ATVPDKIKX0DER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875" y="1395730"/>
            <a:ext cx="2574290" cy="24568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5165" y="1575435"/>
            <a:ext cx="2505075" cy="24574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7765" y="1628775"/>
            <a:ext cx="2203450" cy="23596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975" y="528955"/>
            <a:ext cx="8804275" cy="42303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45" y="77470"/>
            <a:ext cx="8809990" cy="4988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" name="燕尾形 12"/>
          <p:cNvSpPr>
            <a:spLocks noChangeArrowheads="1"/>
          </p:cNvSpPr>
          <p:nvPr/>
        </p:nvSpPr>
        <p:spPr bwMode="auto">
          <a:xfrm>
            <a:off x="902335" y="1492250"/>
            <a:ext cx="3145155" cy="614680"/>
          </a:xfrm>
          <a:prstGeom prst="chevron">
            <a:avLst>
              <a:gd name="adj" fmla="val 38367"/>
            </a:avLst>
          </a:prstGeom>
          <a:solidFill>
            <a:srgbClr val="1B4367"/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txBody>
          <a:bodyPr lIns="68580" tIns="34290" rIns="68580" bIns="34290" anchor="ctr"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产品审核门槛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34" name="燕尾形 13"/>
          <p:cNvSpPr>
            <a:spLocks noChangeArrowheads="1"/>
          </p:cNvSpPr>
          <p:nvPr/>
        </p:nvSpPr>
        <p:spPr bwMode="auto">
          <a:xfrm>
            <a:off x="902335" y="2271395"/>
            <a:ext cx="3145790" cy="614680"/>
          </a:xfrm>
          <a:prstGeom prst="chevron">
            <a:avLst>
              <a:gd name="adj" fmla="val 38367"/>
            </a:avLst>
          </a:prstGeom>
          <a:solidFill>
            <a:srgbClr val="1B4367"/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txBody>
          <a:bodyPr lIns="68580" tIns="34290" rIns="68580" bIns="34290" anchor="ctr"/>
          <a:p>
            <a:pPr algn="ctr"/>
            <a:r>
              <a:rPr lang="zh-CN" altLang="en-US" b="1" dirty="0" smtClean="0">
                <a:solidFill>
                  <a:schemeClr val="bg1"/>
                </a:solidFill>
              </a:rPr>
              <a:t>运营门槛</a:t>
            </a:r>
            <a:endParaRPr lang="zh-CN" altLang="en-US" b="1" dirty="0" smtClean="0">
              <a:solidFill>
                <a:schemeClr val="bg1"/>
              </a:solidFill>
            </a:endParaRPr>
          </a:p>
        </p:txBody>
      </p:sp>
      <p:sp>
        <p:nvSpPr>
          <p:cNvPr id="35" name="燕尾形 14"/>
          <p:cNvSpPr>
            <a:spLocks noChangeArrowheads="1"/>
          </p:cNvSpPr>
          <p:nvPr/>
        </p:nvSpPr>
        <p:spPr bwMode="auto">
          <a:xfrm>
            <a:off x="902335" y="3050540"/>
            <a:ext cx="3145790" cy="614680"/>
          </a:xfrm>
          <a:prstGeom prst="chevron">
            <a:avLst>
              <a:gd name="adj" fmla="val 38367"/>
            </a:avLst>
          </a:prstGeom>
          <a:solidFill>
            <a:srgbClr val="1B4367"/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txBody>
          <a:bodyPr lIns="68580" tIns="34290" rIns="68580" bIns="34290" anchor="ctr"/>
          <a:p>
            <a:pPr algn="ctr"/>
            <a:r>
              <a:rPr lang="zh-CN" altLang="en-US" b="1" dirty="0" smtClean="0">
                <a:solidFill>
                  <a:schemeClr val="bg1"/>
                </a:solidFill>
              </a:rPr>
              <a:t>资金门槛</a:t>
            </a:r>
            <a:endParaRPr lang="zh-CN" altLang="en-US" b="1" dirty="0" smtClean="0">
              <a:solidFill>
                <a:schemeClr val="bg1"/>
              </a:solidFill>
            </a:endParaRPr>
          </a:p>
        </p:txBody>
      </p:sp>
      <p:sp>
        <p:nvSpPr>
          <p:cNvPr id="2" name="燕尾形 1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02335" y="3829685"/>
            <a:ext cx="3145790" cy="614680"/>
          </a:xfrm>
          <a:prstGeom prst="chevron">
            <a:avLst>
              <a:gd name="adj" fmla="val 38367"/>
            </a:avLst>
          </a:prstGeom>
          <a:solidFill>
            <a:srgbClr val="1B4367"/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txBody>
          <a:bodyPr lIns="68580" tIns="34290" rIns="68580" bIns="34290" anchor="ctr"/>
          <a:p>
            <a:pPr algn="ctr"/>
            <a:r>
              <a:rPr lang="zh-CN" altLang="en-US" b="1" dirty="0" smtClean="0">
                <a:solidFill>
                  <a:schemeClr val="bg1"/>
                </a:solidFill>
              </a:rPr>
              <a:t>供应链门槛</a:t>
            </a:r>
            <a:endParaRPr lang="zh-CN" altLang="en-US" b="1" dirty="0" smtClean="0">
              <a:solidFill>
                <a:schemeClr val="bg1"/>
              </a:solidFill>
            </a:endParaRPr>
          </a:p>
        </p:txBody>
      </p:sp>
      <p:sp>
        <p:nvSpPr>
          <p:cNvPr id="4" name="燕尾形 1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02335" y="713105"/>
            <a:ext cx="3145155" cy="614680"/>
          </a:xfrm>
          <a:prstGeom prst="chevron">
            <a:avLst>
              <a:gd name="adj" fmla="val 38367"/>
            </a:avLst>
          </a:prstGeom>
          <a:solidFill>
            <a:srgbClr val="1B4367"/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txBody>
          <a:bodyPr lIns="68580" tIns="34290" rIns="68580" bIns="34290" anchor="ctr"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中等市场容量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5" name="右大括号 4"/>
          <p:cNvSpPr/>
          <p:nvPr/>
        </p:nvSpPr>
        <p:spPr>
          <a:xfrm>
            <a:off x="4228465" y="899160"/>
            <a:ext cx="406400" cy="34036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4948555" y="2106930"/>
            <a:ext cx="3208655" cy="965200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/>
              <a:t>牛逼且赚钱的团队</a:t>
            </a:r>
            <a:endParaRPr lang="zh-CN" altLang="en-US" sz="24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bldLvl="0" animBg="1"/>
      <p:bldP spid="34" grpId="0" bldLvl="0" animBg="1"/>
      <p:bldP spid="35" grpId="0" bldLvl="0" animBg="1"/>
      <p:bldP spid="2" grpId="0" bldLvl="0" animBg="1"/>
      <p:bldP spid="4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320" y="0"/>
            <a:ext cx="2823210" cy="28968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565" y="0"/>
            <a:ext cx="2795905" cy="289687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3470" y="168910"/>
            <a:ext cx="2739390" cy="27279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685" y="2983865"/>
            <a:ext cx="2087880" cy="215963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2965" y="3117215"/>
            <a:ext cx="1998980" cy="202628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3980" y="3059430"/>
            <a:ext cx="2042160" cy="20624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18870" y="565785"/>
            <a:ext cx="6906260" cy="41325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939800" y="98425"/>
            <a:ext cx="7178675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1、每个公司得结合自己公司的运营实力、品类供应链优劣情况做出一个大致的方向，比如运营实力强，知道一些特殊运营操作的，基本就是往</a:t>
            </a:r>
            <a:r>
              <a:rPr lang="zh-CN" altLang="en-US" b="1">
                <a:solidFill>
                  <a:srgbClr val="FF0000"/>
                </a:solidFill>
              </a:rPr>
              <a:t>相对红海市场钻，要求市场容量较大、需求足够长久、不存在有太强季节性、单量要达到至少200单/天，供应商最好可控能够当天来回的工厂</a:t>
            </a:r>
            <a:r>
              <a:rPr lang="zh-CN" altLang="en-US"/>
              <a:t>，整个公司sku不超过50个的。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39800" y="1316355"/>
            <a:ext cx="7687310" cy="21221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2、中小团队，运营足够精细但纯白帽，可以找一些相对高门槛高利润的品类，不追求单量追求利润，何为高门槛？首先</a:t>
            </a:r>
            <a:r>
              <a:rPr lang="zh-CN" altLang="en-US" b="1">
                <a:solidFill>
                  <a:srgbClr val="FF0000"/>
                </a:solidFill>
              </a:rPr>
              <a:t>审核门槛，</a:t>
            </a:r>
            <a:r>
              <a:rPr lang="zh-CN" altLang="en-US">
                <a:solidFill>
                  <a:schemeClr val="tx1"/>
                </a:solidFill>
              </a:rPr>
              <a:t>许多特殊品类，小白卖家遇到审核就头疼不敢碰，大卖家又觉得市场容量较小不愿碰的类目；</a:t>
            </a:r>
            <a:r>
              <a:rPr lang="zh-CN" altLang="en-US" b="1">
                <a:solidFill>
                  <a:srgbClr val="FF0000"/>
                </a:solidFill>
              </a:rPr>
              <a:t>供应链门槛</a:t>
            </a:r>
            <a:r>
              <a:rPr lang="zh-CN" altLang="en-US">
                <a:solidFill>
                  <a:schemeClr val="tx1"/>
                </a:solidFill>
              </a:rPr>
              <a:t>，产品仅一两个工厂在做，且为纯外贸工厂，有着天然的信息差，不做国内市场的这种工厂。</a:t>
            </a:r>
            <a:r>
              <a:rPr lang="zh-CN" altLang="en-US"/>
              <a:t>（在18年以前特别多，近两年被亚马逊挖掘出来很多，目前相对较少）；</a:t>
            </a:r>
            <a:r>
              <a:rPr lang="zh-CN" altLang="en-US" b="1">
                <a:solidFill>
                  <a:srgbClr val="FF0000"/>
                </a:solidFill>
              </a:rPr>
              <a:t>客单价门槛，</a:t>
            </a:r>
            <a:r>
              <a:rPr lang="zh-CN" altLang="en-US">
                <a:solidFill>
                  <a:schemeClr val="tx1"/>
                </a:solidFill>
              </a:rPr>
              <a:t>比如有些相对大件，单量三四十每天，百来美金的产品，对于有一定沉淀的卖家还是相对容易做；</a:t>
            </a:r>
            <a:r>
              <a:rPr lang="zh-CN" altLang="en-US" b="1">
                <a:solidFill>
                  <a:srgbClr val="FF0000"/>
                </a:solidFill>
              </a:rPr>
              <a:t>信息差门槛</a:t>
            </a:r>
            <a:r>
              <a:rPr lang="zh-CN" altLang="en-US">
                <a:solidFill>
                  <a:schemeClr val="tx1"/>
                </a:solidFill>
              </a:rPr>
              <a:t>，我做过不少产品，原本用于A场景的产品，换个包装说明书，用于B场景上，同个产品，利润相差甚远，例如很多人使用的产品，可以运用到宠物身上；</a:t>
            </a:r>
            <a:r>
              <a:rPr lang="zh-CN" altLang="en-US" b="1">
                <a:solidFill>
                  <a:srgbClr val="FF0000"/>
                </a:solidFill>
              </a:rPr>
              <a:t>物流门槛产品</a:t>
            </a:r>
            <a:r>
              <a:rPr lang="zh-CN" altLang="en-US">
                <a:solidFill>
                  <a:schemeClr val="tx1"/>
                </a:solidFill>
              </a:rPr>
              <a:t>，很多人认知里面，膏体液体是不能做的，其实不然，有国人在售的产品，大都可以做；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6000" y="3498215"/>
            <a:ext cx="7611745" cy="14890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3、刚入行小白，建议从</a:t>
            </a:r>
            <a:r>
              <a:rPr lang="zh-CN" altLang="en-US" b="1">
                <a:solidFill>
                  <a:srgbClr val="FF0000"/>
                </a:solidFill>
              </a:rPr>
              <a:t>标品、采购成本相对低的产品</a:t>
            </a:r>
            <a:r>
              <a:rPr lang="zh-CN" altLang="en-US"/>
              <a:t>入手，还有</a:t>
            </a:r>
            <a:r>
              <a:rPr lang="zh-CN" altLang="en-US" b="1">
                <a:solidFill>
                  <a:srgbClr val="FF0000"/>
                </a:solidFill>
              </a:rPr>
              <a:t>季节性产品</a:t>
            </a:r>
            <a:r>
              <a:rPr lang="zh-CN" altLang="en-US"/>
              <a:t>入手，主要是前期需要把亚马逊整个环节都走通，标品所遇到的审核问题平台政策问题也相对较少，可以尝试各种运营策略，做调整与总结。而季节性产品也是，相对于常规品投入产出比高，更容易出单，也是能够更好的培养运营节奏与感觉。 另外，我们需要懂得给产品做一些分类，比如：现象级网红品、门槛高市场不太饱和产品、门槛低且市场饱和的产品、风险产品（禁售、侵权等）、门槛低市场不饱和产品等等，分别市场饱和不饱和有个比较重要的指标，就是利润指标，利润越高市场相对饱和度低。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03910" y="460375"/>
            <a:ext cx="7536180" cy="42227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79400" y="167005"/>
            <a:ext cx="8296910" cy="48101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75590" y="139065"/>
            <a:ext cx="8592820" cy="50863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92455" y="345440"/>
            <a:ext cx="7959090" cy="445325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05130" y="409575"/>
            <a:ext cx="8333740" cy="432498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009140" y="308610"/>
            <a:ext cx="498983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939800" y="98425"/>
            <a:ext cx="7178675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1、每个公司得结合自己公司的运营实力、品类供应链优劣情况做出一个大致的方向，比如运营实力强，知道一些特殊运营操作的，基本就是往</a:t>
            </a:r>
            <a:r>
              <a:rPr lang="zh-CN" altLang="en-US" b="1">
                <a:solidFill>
                  <a:srgbClr val="FF0000"/>
                </a:solidFill>
              </a:rPr>
              <a:t>相对红海市场钻，要求市场容量较大、需求足够长久、不存在有太强季节性、单量要达到至少200单/天，供应商最好可控能够当天来回的工厂</a:t>
            </a:r>
            <a:r>
              <a:rPr lang="zh-CN" altLang="en-US"/>
              <a:t>，整个公司sku不超过50个的。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39800" y="1316355"/>
            <a:ext cx="7687310" cy="21221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2、中小团队，运营足够精细但纯白帽，可以找一些相对高门槛高利润的品类，不追求单量追求利润，何为高门槛？首先</a:t>
            </a:r>
            <a:r>
              <a:rPr lang="zh-CN" altLang="en-US" b="1">
                <a:solidFill>
                  <a:srgbClr val="FF0000"/>
                </a:solidFill>
              </a:rPr>
              <a:t>审核门槛，</a:t>
            </a:r>
            <a:r>
              <a:rPr lang="zh-CN" altLang="en-US">
                <a:solidFill>
                  <a:schemeClr val="tx1"/>
                </a:solidFill>
              </a:rPr>
              <a:t>许多特殊品类，小白卖家遇到审核就头疼不敢碰，大卖家又觉得市场容量较小不愿碰的类目；</a:t>
            </a:r>
            <a:r>
              <a:rPr lang="zh-CN" altLang="en-US" b="1">
                <a:solidFill>
                  <a:srgbClr val="FF0000"/>
                </a:solidFill>
              </a:rPr>
              <a:t>供应链门槛</a:t>
            </a:r>
            <a:r>
              <a:rPr lang="zh-CN" altLang="en-US">
                <a:solidFill>
                  <a:schemeClr val="tx1"/>
                </a:solidFill>
              </a:rPr>
              <a:t>，产品仅一两个工厂在做，且为纯外贸工厂，有着天然的信息差，不做国内市场的这种工厂。</a:t>
            </a:r>
            <a:r>
              <a:rPr lang="zh-CN" altLang="en-US"/>
              <a:t>（在18年以前特别多，近两年被亚马逊挖掘出来很多，目前相对较少）；</a:t>
            </a:r>
            <a:r>
              <a:rPr lang="zh-CN" altLang="en-US" b="1">
                <a:solidFill>
                  <a:srgbClr val="FF0000"/>
                </a:solidFill>
              </a:rPr>
              <a:t>客单价门槛，</a:t>
            </a:r>
            <a:r>
              <a:rPr lang="zh-CN" altLang="en-US">
                <a:solidFill>
                  <a:schemeClr val="tx1"/>
                </a:solidFill>
              </a:rPr>
              <a:t>比如有些相对大件，单量三四十每天，百来美金的产品，对于有一定沉淀的卖家还是相对容易做；</a:t>
            </a:r>
            <a:r>
              <a:rPr lang="zh-CN" altLang="en-US" b="1">
                <a:solidFill>
                  <a:srgbClr val="FF0000"/>
                </a:solidFill>
              </a:rPr>
              <a:t>信息差门槛</a:t>
            </a:r>
            <a:r>
              <a:rPr lang="zh-CN" altLang="en-US">
                <a:solidFill>
                  <a:schemeClr val="tx1"/>
                </a:solidFill>
              </a:rPr>
              <a:t>，我做过不少产品，原本用于A场景的产品，换个包装说明书，用于B场景上，同个产品，利润相差甚远，例如很多人使用的产品，可以运用到宠物身上；</a:t>
            </a:r>
            <a:r>
              <a:rPr lang="zh-CN" altLang="en-US" b="1">
                <a:solidFill>
                  <a:srgbClr val="FF0000"/>
                </a:solidFill>
              </a:rPr>
              <a:t>物流门槛产品</a:t>
            </a:r>
            <a:r>
              <a:rPr lang="zh-CN" altLang="en-US">
                <a:solidFill>
                  <a:schemeClr val="tx1"/>
                </a:solidFill>
              </a:rPr>
              <a:t>，很多人认知里面，膏体液体是不能做的，其实不然，有国人在售的产品，大都可以做；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6000" y="3498215"/>
            <a:ext cx="7611745" cy="14890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3、刚入行小白，建议从</a:t>
            </a:r>
            <a:r>
              <a:rPr lang="zh-CN" altLang="en-US" b="1">
                <a:solidFill>
                  <a:srgbClr val="FF0000"/>
                </a:solidFill>
              </a:rPr>
              <a:t>标品、采购成本相对低的产品</a:t>
            </a:r>
            <a:r>
              <a:rPr lang="zh-CN" altLang="en-US"/>
              <a:t>入手，还有</a:t>
            </a:r>
            <a:r>
              <a:rPr lang="zh-CN" altLang="en-US" b="1">
                <a:solidFill>
                  <a:srgbClr val="FF0000"/>
                </a:solidFill>
              </a:rPr>
              <a:t>季节性产品</a:t>
            </a:r>
            <a:r>
              <a:rPr lang="zh-CN" altLang="en-US"/>
              <a:t>入手，主要是前期需要把亚马逊整个环节都走通，标品所遇到的审核问题平台政策问题也相对较少，可以尝试各种运营策略，做调整与总结。而季节性产品也是，相对于常规品投入产出比高，更容易出单，也是能够更好的培养运营节奏与感觉。 另外，我们需要懂得给产品做一些分类，比如：现象级网红品、门槛高市场不太饱和产品、门槛低且市场饱和的产品、风险产品（禁售、侵权等）、门槛低市场不饱和产品等等，分别市场饱和不饱和有个比较重要的指标，就是利润指标，利润越高市场相对饱和度低。</a:t>
            </a:r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367790" y="626745"/>
            <a:ext cx="7039610" cy="33947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lnSpc>
                <a:spcPct val="150000"/>
              </a:lnSpc>
              <a:buSzPct val="100000"/>
              <a:buNone/>
            </a:pPr>
            <a:r>
              <a:rPr lang="en-US" altLang="zh-CN" sz="2000" b="1" dirty="0">
                <a:solidFill>
                  <a:srgbClr val="383838"/>
                </a:solidFill>
                <a:latin typeface="+mj-lt"/>
                <a:ea typeface="+mj-lt"/>
                <a:cs typeface="+mj-lt"/>
              </a:rPr>
              <a:t>ABA</a:t>
            </a:r>
            <a:r>
              <a:rPr lang="zh-CN" altLang="en-US" sz="2000" b="1" dirty="0">
                <a:solidFill>
                  <a:srgbClr val="383838"/>
                </a:solidFill>
                <a:latin typeface="+mj-lt"/>
                <a:ea typeface="+mj-lt"/>
                <a:cs typeface="+mj-lt"/>
              </a:rPr>
              <a:t>刷词维度拆分</a:t>
            </a:r>
            <a:endParaRPr lang="zh-CN" altLang="en-US" sz="2000" b="1" dirty="0">
              <a:solidFill>
                <a:srgbClr val="383838"/>
              </a:solidFill>
              <a:latin typeface="+mj-lt"/>
              <a:ea typeface="+mj-lt"/>
              <a:cs typeface="+mj-lt"/>
            </a:endParaRPr>
          </a:p>
          <a:p>
            <a:pPr indent="0" algn="l">
              <a:lnSpc>
                <a:spcPct val="150000"/>
              </a:lnSpc>
              <a:buSzPct val="100000"/>
              <a:buNone/>
            </a:pPr>
            <a:endParaRPr lang="zh-CN" altLang="en-US" sz="1535" dirty="0">
              <a:solidFill>
                <a:srgbClr val="383838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zh-CN" altLang="en-US" sz="1535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人群：大方向</a:t>
            </a:r>
            <a:r>
              <a:rPr lang="en-US" altLang="zh-CN" sz="1535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-</a:t>
            </a:r>
            <a:r>
              <a:rPr lang="zh-CN" altLang="en-US" sz="1535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男女老少；细分</a:t>
            </a:r>
            <a:r>
              <a:rPr lang="en-US" altLang="zh-CN" sz="1535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-</a:t>
            </a:r>
            <a:r>
              <a:rPr lang="zh-CN" altLang="en-US" sz="1535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老师，学生，母亲，妻子，护士，婴儿，儿童，青少年等等</a:t>
            </a:r>
            <a:endParaRPr lang="zh-CN" altLang="en-US" sz="1535" dirty="0">
              <a:solidFill>
                <a:srgbClr val="383838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zh-CN" altLang="en-US" sz="1535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场景：花园，客厅，浴室，厨房，办公室，餐厅，运动场所等等</a:t>
            </a:r>
            <a:endParaRPr lang="zh-CN" altLang="en-US" sz="1535" dirty="0">
              <a:solidFill>
                <a:srgbClr val="383838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zh-CN" altLang="en-US" sz="1535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材质：木制，竹制，纺织，塑料，硅胶，金属，石头，陶瓷，纸等等</a:t>
            </a:r>
            <a:endParaRPr lang="zh-CN" altLang="en-US" sz="1535" dirty="0">
              <a:solidFill>
                <a:srgbClr val="383838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zh-CN" altLang="en-US" sz="1535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主题：毕业，周年，新年，婚礼，乔迁等等</a:t>
            </a:r>
            <a:endParaRPr lang="zh-CN" altLang="en-US" sz="1535" dirty="0">
              <a:solidFill>
                <a:srgbClr val="383838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zh-CN" altLang="en-US" sz="1535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节日：</a:t>
            </a:r>
            <a:r>
              <a:rPr lang="zh-CN" altLang="en-US" sz="1535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+mn-ea"/>
              </a:rPr>
              <a:t>情人节，</a:t>
            </a:r>
            <a:r>
              <a:rPr lang="zh-CN" altLang="en-US" sz="1535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+mn-ea"/>
              </a:rPr>
              <a:t>复活节，</a:t>
            </a:r>
            <a:r>
              <a:rPr lang="zh-CN" altLang="en-US" sz="1535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+mn-ea"/>
              </a:rPr>
              <a:t>母亲节，父亲节，</a:t>
            </a:r>
            <a:r>
              <a:rPr lang="zh-CN" altLang="en-US" sz="1535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+mn-ea"/>
              </a:rPr>
              <a:t>感恩节，万圣节，圣诞节等等</a:t>
            </a:r>
            <a:endParaRPr lang="zh-CN" altLang="en-US" sz="1535" dirty="0">
              <a:solidFill>
                <a:srgbClr val="383838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zh-CN" altLang="en-US" sz="1535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元素：动物，花卉，植物，卡通等等</a:t>
            </a:r>
            <a:endParaRPr lang="zh-CN" altLang="en-US" sz="1535" dirty="0">
              <a:solidFill>
                <a:srgbClr val="383838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89280" y="203200"/>
            <a:ext cx="7965440" cy="473773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42010" y="201930"/>
            <a:ext cx="769747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16965" y="102870"/>
            <a:ext cx="7131050" cy="334581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93165" y="2470150"/>
            <a:ext cx="7054850" cy="26098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" name="图片 1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63245" y="1725295"/>
            <a:ext cx="1386205" cy="1792605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3"/>
            </p:custDataLst>
          </p:nvPr>
        </p:nvSpPr>
        <p:spPr>
          <a:xfrm>
            <a:off x="636905" y="1361440"/>
            <a:ext cx="14700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+mj-lt"/>
                <a:cs typeface="+mj-lt"/>
              </a:rPr>
              <a:t>B07VVLWTS7</a:t>
            </a:r>
            <a:r>
              <a:rPr lang="en-US" altLang="zh-CN">
                <a:latin typeface="+mj-lt"/>
                <a:cs typeface="+mj-lt"/>
              </a:rPr>
              <a:t>                   </a:t>
            </a:r>
            <a:endParaRPr lang="en-US" altLang="zh-CN">
              <a:latin typeface="+mj-lt"/>
              <a:cs typeface="+mj-lt"/>
            </a:endParaRPr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484120" y="1685925"/>
            <a:ext cx="1270635" cy="1788160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6"/>
            </p:custDataLst>
          </p:nvPr>
        </p:nvSpPr>
        <p:spPr>
          <a:xfrm>
            <a:off x="2534920" y="1302385"/>
            <a:ext cx="3361055" cy="4273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+mj-lt"/>
                <a:cs typeface="+mj-lt"/>
              </a:rPr>
              <a:t>B097B9H21P</a:t>
            </a:r>
            <a:endParaRPr lang="zh-CN" altLang="en-US">
              <a:latin typeface="+mj-lt"/>
              <a:cs typeface="+mj-lt"/>
            </a:endParaRPr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565015" y="1729740"/>
            <a:ext cx="1589405" cy="179578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9"/>
            </p:custDataLst>
          </p:nvPr>
        </p:nvSpPr>
        <p:spPr>
          <a:xfrm>
            <a:off x="4565015" y="136144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+mj-lt"/>
                <a:cs typeface="+mj-lt"/>
              </a:rPr>
              <a:t>B0BXY8NXF5</a:t>
            </a:r>
            <a:endParaRPr lang="zh-CN" altLang="en-US">
              <a:latin typeface="+mj-lt"/>
              <a:cs typeface="+mj-lt"/>
            </a:endParaRPr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794500" y="1729740"/>
            <a:ext cx="1816735" cy="1839595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12"/>
            </p:custDataLst>
          </p:nvPr>
        </p:nvSpPr>
        <p:spPr>
          <a:xfrm>
            <a:off x="6705600" y="136144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+mj-lt"/>
                <a:cs typeface="+mj-lt"/>
              </a:rPr>
              <a:t>B0BW8863PM</a:t>
            </a:r>
            <a:endParaRPr lang="zh-CN" altLang="en-US">
              <a:latin typeface="+mj-lt"/>
              <a:cs typeface="+mj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43255" y="382905"/>
            <a:ext cx="60198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产品节日化变更迁移</a:t>
            </a:r>
            <a:endParaRPr lang="zh-CN" altLang="en-US" sz="2800" b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screen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框 32"/>
          <p:cNvSpPr txBox="1"/>
          <p:nvPr/>
        </p:nvSpPr>
        <p:spPr>
          <a:xfrm>
            <a:off x="2866491" y="2012712"/>
            <a:ext cx="2147298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4400" b="1" spc="-225" dirty="0">
                <a:solidFill>
                  <a:srgbClr val="1B4367"/>
                </a:solidFill>
                <a:cs typeface="+mn-ea"/>
                <a:sym typeface="+mn-lt"/>
              </a:rPr>
              <a:t>目 录</a:t>
            </a:r>
            <a:endParaRPr lang="zh-CN" altLang="en-US" sz="4400" b="1" spc="-225" dirty="0">
              <a:solidFill>
                <a:srgbClr val="1B4367"/>
              </a:solidFill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66491" y="2643910"/>
            <a:ext cx="2113154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400" b="1" dirty="0">
                <a:solidFill>
                  <a:srgbClr val="1B4367"/>
                </a:solidFill>
                <a:cs typeface="+mn-ea"/>
                <a:sym typeface="+mn-lt"/>
              </a:rPr>
              <a:t>CONTENTS</a:t>
            </a:r>
            <a:endParaRPr lang="en-US" altLang="zh-CN" sz="2400" b="1" dirty="0">
              <a:solidFill>
                <a:srgbClr val="1B4367"/>
              </a:solidFill>
              <a:cs typeface="+mn-ea"/>
              <a:sym typeface="+mn-lt"/>
            </a:endParaRPr>
          </a:p>
        </p:txBody>
      </p:sp>
      <p:sp>
        <p:nvSpPr>
          <p:cNvPr id="4" name="燕尾形 3"/>
          <p:cNvSpPr/>
          <p:nvPr/>
        </p:nvSpPr>
        <p:spPr>
          <a:xfrm>
            <a:off x="4284324" y="2183489"/>
            <a:ext cx="256853" cy="448435"/>
          </a:xfrm>
          <a:prstGeom prst="chevron">
            <a:avLst/>
          </a:prstGeom>
          <a:solidFill>
            <a:srgbClr val="1B43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-889000" y="456565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645032" y="1377153"/>
            <a:ext cx="2214693" cy="390555"/>
          </a:xfrm>
          <a:prstGeom prst="roundRect">
            <a:avLst/>
          </a:prstGeom>
          <a:solidFill>
            <a:srgbClr val="1B4367"/>
          </a:solidFill>
        </p:spPr>
        <p:txBody>
          <a:bodyPr wrap="square" rtlCol="0">
            <a:spAutoFit/>
          </a:bodyPr>
          <a:p>
            <a:r>
              <a:rPr lang="zh-CN" altLang="en-US" sz="1700" dirty="0">
                <a:solidFill>
                  <a:schemeClr val="bg1"/>
                </a:solidFill>
                <a:effectLst/>
                <a:cs typeface="+mn-ea"/>
                <a:sym typeface="+mn-lt"/>
              </a:rPr>
              <a:t>匹配资源开发产品</a:t>
            </a:r>
            <a:endParaRPr lang="zh-CN" altLang="en-US" sz="1700" dirty="0">
              <a:solidFill>
                <a:schemeClr val="bg1"/>
              </a:solidFill>
              <a:effectLst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135755" y="1357339"/>
            <a:ext cx="478533" cy="393570"/>
            <a:chOff x="5640108" y="966369"/>
            <a:chExt cx="476097" cy="391567"/>
          </a:xfrm>
        </p:grpSpPr>
        <p:sp>
          <p:nvSpPr>
            <p:cNvPr id="25" name="椭圆 24"/>
            <p:cNvSpPr/>
            <p:nvPr/>
          </p:nvSpPr>
          <p:spPr>
            <a:xfrm>
              <a:off x="5673454" y="966369"/>
              <a:ext cx="391567" cy="391567"/>
            </a:xfrm>
            <a:prstGeom prst="ellipse">
              <a:avLst/>
            </a:prstGeom>
            <a:solidFill>
              <a:srgbClr val="1B4367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6" name="文本框 17"/>
            <p:cNvSpPr txBox="1"/>
            <p:nvPr/>
          </p:nvSpPr>
          <p:spPr>
            <a:xfrm>
              <a:off x="5640108" y="975817"/>
              <a:ext cx="476097" cy="367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defRPr/>
              </a:pPr>
              <a:r>
                <a:rPr lang="en-US" altLang="zh-CN" sz="1800" dirty="0">
                  <a:solidFill>
                    <a:schemeClr val="bg1"/>
                  </a:solidFill>
                  <a:cs typeface="+mn-ea"/>
                  <a:sym typeface="+mn-lt"/>
                </a:rPr>
                <a:t>01</a:t>
              </a:r>
              <a:endParaRPr lang="en-US" altLang="zh-CN" sz="18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79" name="文本框 10"/>
          <p:cNvSpPr txBox="1"/>
          <p:nvPr/>
        </p:nvSpPr>
        <p:spPr>
          <a:xfrm>
            <a:off x="5645032" y="2094697"/>
            <a:ext cx="2214693" cy="390555"/>
          </a:xfrm>
          <a:prstGeom prst="roundRect">
            <a:avLst/>
          </a:prstGeom>
          <a:solidFill>
            <a:srgbClr val="1B4367"/>
          </a:solidFill>
        </p:spPr>
        <p:txBody>
          <a:bodyPr wrap="square" rtlCol="0">
            <a:spAutoFit/>
          </a:bodyPr>
          <a:p>
            <a:r>
              <a:rPr lang="zh-CN" altLang="en-US" sz="1700" b="1" u="sng" dirty="0">
                <a:solidFill>
                  <a:schemeClr val="bg1"/>
                </a:solidFill>
                <a:cs typeface="+mn-ea"/>
                <a:sym typeface="+mn-lt"/>
              </a:rPr>
              <a:t>灵感获取及案例</a:t>
            </a:r>
            <a:endParaRPr lang="zh-CN" altLang="en-US" sz="1700" b="1" u="sng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5135755" y="2074883"/>
            <a:ext cx="478533" cy="393570"/>
            <a:chOff x="5640108" y="966369"/>
            <a:chExt cx="476097" cy="391567"/>
          </a:xfrm>
        </p:grpSpPr>
        <p:sp>
          <p:nvSpPr>
            <p:cNvPr id="81" name="椭圆 80"/>
            <p:cNvSpPr/>
            <p:nvPr/>
          </p:nvSpPr>
          <p:spPr>
            <a:xfrm>
              <a:off x="5673454" y="966369"/>
              <a:ext cx="391567" cy="391567"/>
            </a:xfrm>
            <a:prstGeom prst="ellipse">
              <a:avLst/>
            </a:prstGeom>
            <a:solidFill>
              <a:srgbClr val="1B4367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2" name="文本框 17"/>
            <p:cNvSpPr txBox="1"/>
            <p:nvPr/>
          </p:nvSpPr>
          <p:spPr>
            <a:xfrm>
              <a:off x="5640108" y="975817"/>
              <a:ext cx="476097" cy="367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defRPr/>
              </a:pPr>
              <a:r>
                <a:rPr lang="en-US" altLang="zh-CN" sz="1800" dirty="0" smtClean="0">
                  <a:solidFill>
                    <a:schemeClr val="bg1"/>
                  </a:solidFill>
                  <a:cs typeface="+mn-ea"/>
                  <a:sym typeface="+mn-lt"/>
                </a:rPr>
                <a:t>02</a:t>
              </a:r>
              <a:endParaRPr lang="en-US" altLang="zh-CN" sz="18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83" name="文本框 10"/>
          <p:cNvSpPr txBox="1"/>
          <p:nvPr/>
        </p:nvSpPr>
        <p:spPr>
          <a:xfrm>
            <a:off x="5645032" y="2812241"/>
            <a:ext cx="2214693" cy="390555"/>
          </a:xfrm>
          <a:prstGeom prst="roundRect">
            <a:avLst/>
          </a:prstGeom>
          <a:solidFill>
            <a:srgbClr val="1B4367"/>
          </a:solidFill>
        </p:spPr>
        <p:txBody>
          <a:bodyPr wrap="square" rtlCol="0">
            <a:spAutoFit/>
          </a:bodyPr>
          <a:p>
            <a:r>
              <a:rPr lang="zh-CN" altLang="en-US" sz="1700" dirty="0">
                <a:solidFill>
                  <a:schemeClr val="bg1"/>
                </a:solidFill>
                <a:cs typeface="+mn-ea"/>
                <a:sym typeface="+mn-lt"/>
              </a:rPr>
              <a:t>选品思维的总结</a:t>
            </a:r>
            <a:endParaRPr lang="zh-CN" altLang="en-US" sz="17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84" name="组合 83"/>
          <p:cNvGrpSpPr/>
          <p:nvPr/>
        </p:nvGrpSpPr>
        <p:grpSpPr>
          <a:xfrm>
            <a:off x="5135755" y="2792427"/>
            <a:ext cx="478533" cy="393570"/>
            <a:chOff x="5640108" y="966369"/>
            <a:chExt cx="476097" cy="391567"/>
          </a:xfrm>
        </p:grpSpPr>
        <p:sp>
          <p:nvSpPr>
            <p:cNvPr id="85" name="椭圆 84"/>
            <p:cNvSpPr/>
            <p:nvPr/>
          </p:nvSpPr>
          <p:spPr>
            <a:xfrm>
              <a:off x="5673454" y="966369"/>
              <a:ext cx="391567" cy="391567"/>
            </a:xfrm>
            <a:prstGeom prst="ellipse">
              <a:avLst/>
            </a:prstGeom>
            <a:solidFill>
              <a:srgbClr val="1B4367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6" name="文本框 17"/>
            <p:cNvSpPr txBox="1"/>
            <p:nvPr/>
          </p:nvSpPr>
          <p:spPr>
            <a:xfrm>
              <a:off x="5640108" y="975817"/>
              <a:ext cx="476097" cy="367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defRPr/>
              </a:pPr>
              <a:r>
                <a:rPr lang="en-US" altLang="zh-CN" sz="1800" dirty="0" smtClean="0">
                  <a:solidFill>
                    <a:schemeClr val="bg1"/>
                  </a:solidFill>
                  <a:cs typeface="+mn-ea"/>
                  <a:sym typeface="+mn-lt"/>
                </a:rPr>
                <a:t>03</a:t>
              </a:r>
              <a:endParaRPr lang="en-US" altLang="zh-CN" sz="18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500"/>
                            </p:stCondLst>
                            <p:childTnLst>
                              <p:par>
                                <p:cTn id="46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000"/>
                            </p:stCondLst>
                            <p:childTnLst>
                              <p:par>
                                <p:cTn id="5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" grpId="0"/>
      <p:bldP spid="4" grpId="0" bldLvl="0" animBg="1"/>
      <p:bldP spid="11" grpId="0" bldLvl="0" animBg="1"/>
      <p:bldP spid="79" grpId="0" bldLvl="0" animBg="1"/>
      <p:bldP spid="83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120" y="514985"/>
            <a:ext cx="7867650" cy="411353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9860" y="328295"/>
            <a:ext cx="2208530" cy="43351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507990" y="323850"/>
            <a:ext cx="2209165" cy="433959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64465" y="1872615"/>
            <a:ext cx="2396490" cy="1707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一个年利润</a:t>
            </a:r>
            <a:r>
              <a:rPr lang="en-US" altLang="zh-CN" sz="2400"/>
              <a:t>700</a:t>
            </a:r>
            <a:r>
              <a:rPr lang="zh-CN" altLang="en-US" sz="2400"/>
              <a:t>万产品的小故事</a:t>
            </a:r>
            <a:endParaRPr lang="zh-CN" altLang="en-US" sz="2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88975" y="445135"/>
            <a:ext cx="7766050" cy="425386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89635" y="1085215"/>
            <a:ext cx="7364730" cy="297307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78435" y="727075"/>
            <a:ext cx="2437765" cy="35712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773045" y="791210"/>
            <a:ext cx="3242310" cy="35071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063615" y="911860"/>
            <a:ext cx="2611120" cy="332549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screen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框 32"/>
          <p:cNvSpPr txBox="1"/>
          <p:nvPr/>
        </p:nvSpPr>
        <p:spPr>
          <a:xfrm>
            <a:off x="2866491" y="2012712"/>
            <a:ext cx="2147298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4400" b="1" spc="-225" dirty="0">
                <a:solidFill>
                  <a:srgbClr val="1B4367"/>
                </a:solidFill>
                <a:cs typeface="+mn-ea"/>
                <a:sym typeface="+mn-lt"/>
              </a:rPr>
              <a:t>目 录</a:t>
            </a:r>
            <a:endParaRPr lang="zh-CN" altLang="en-US" sz="4400" b="1" spc="-225" dirty="0">
              <a:solidFill>
                <a:srgbClr val="1B4367"/>
              </a:solidFill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66491" y="2643910"/>
            <a:ext cx="2113154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400" b="1" dirty="0">
                <a:solidFill>
                  <a:srgbClr val="1B4367"/>
                </a:solidFill>
                <a:cs typeface="+mn-ea"/>
                <a:sym typeface="+mn-lt"/>
              </a:rPr>
              <a:t>CONTENTS</a:t>
            </a:r>
            <a:endParaRPr lang="en-US" altLang="zh-CN" sz="2400" b="1" dirty="0">
              <a:solidFill>
                <a:srgbClr val="1B4367"/>
              </a:solidFill>
              <a:cs typeface="+mn-ea"/>
              <a:sym typeface="+mn-lt"/>
            </a:endParaRPr>
          </a:p>
        </p:txBody>
      </p:sp>
      <p:sp>
        <p:nvSpPr>
          <p:cNvPr id="4" name="燕尾形 3"/>
          <p:cNvSpPr/>
          <p:nvPr/>
        </p:nvSpPr>
        <p:spPr>
          <a:xfrm>
            <a:off x="4284324" y="2183489"/>
            <a:ext cx="256853" cy="448435"/>
          </a:xfrm>
          <a:prstGeom prst="chevron">
            <a:avLst/>
          </a:prstGeom>
          <a:solidFill>
            <a:srgbClr val="1B43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-889000" y="456565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645032" y="1377153"/>
            <a:ext cx="2214693" cy="390555"/>
          </a:xfrm>
          <a:prstGeom prst="roundRect">
            <a:avLst/>
          </a:prstGeom>
          <a:solidFill>
            <a:srgbClr val="1B4367"/>
          </a:solidFill>
        </p:spPr>
        <p:txBody>
          <a:bodyPr wrap="square" rtlCol="0">
            <a:spAutoFit/>
          </a:bodyPr>
          <a:p>
            <a:r>
              <a:rPr lang="zh-CN" altLang="en-US" sz="1700" dirty="0">
                <a:solidFill>
                  <a:schemeClr val="bg1"/>
                </a:solidFill>
                <a:effectLst/>
                <a:cs typeface="+mn-ea"/>
                <a:sym typeface="+mn-lt"/>
              </a:rPr>
              <a:t>匹配资源开发产品</a:t>
            </a:r>
            <a:endParaRPr lang="zh-CN" altLang="en-US" sz="1700" dirty="0">
              <a:solidFill>
                <a:schemeClr val="bg1"/>
              </a:solidFill>
              <a:effectLst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135755" y="1357339"/>
            <a:ext cx="478533" cy="393570"/>
            <a:chOff x="5640108" y="966369"/>
            <a:chExt cx="476097" cy="391567"/>
          </a:xfrm>
        </p:grpSpPr>
        <p:sp>
          <p:nvSpPr>
            <p:cNvPr id="25" name="椭圆 24"/>
            <p:cNvSpPr/>
            <p:nvPr/>
          </p:nvSpPr>
          <p:spPr>
            <a:xfrm>
              <a:off x="5673454" y="966369"/>
              <a:ext cx="391567" cy="391567"/>
            </a:xfrm>
            <a:prstGeom prst="ellipse">
              <a:avLst/>
            </a:prstGeom>
            <a:solidFill>
              <a:srgbClr val="1B4367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6" name="文本框 17"/>
            <p:cNvSpPr txBox="1"/>
            <p:nvPr/>
          </p:nvSpPr>
          <p:spPr>
            <a:xfrm>
              <a:off x="5640108" y="975817"/>
              <a:ext cx="476097" cy="367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defRPr/>
              </a:pPr>
              <a:r>
                <a:rPr lang="en-US" altLang="zh-CN" sz="1800" dirty="0">
                  <a:solidFill>
                    <a:schemeClr val="bg1"/>
                  </a:solidFill>
                  <a:cs typeface="+mn-ea"/>
                  <a:sym typeface="+mn-lt"/>
                </a:rPr>
                <a:t>01</a:t>
              </a:r>
              <a:endParaRPr lang="en-US" altLang="zh-CN" sz="18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79" name="文本框 10"/>
          <p:cNvSpPr txBox="1"/>
          <p:nvPr/>
        </p:nvSpPr>
        <p:spPr>
          <a:xfrm>
            <a:off x="5645032" y="2094697"/>
            <a:ext cx="2214693" cy="390555"/>
          </a:xfrm>
          <a:prstGeom prst="roundRect">
            <a:avLst/>
          </a:prstGeom>
          <a:solidFill>
            <a:srgbClr val="1B4367"/>
          </a:solidFill>
        </p:spPr>
        <p:txBody>
          <a:bodyPr wrap="square" rtlCol="0">
            <a:spAutoFit/>
          </a:bodyPr>
          <a:p>
            <a:r>
              <a:rPr lang="zh-CN" altLang="en-US" sz="1700" dirty="0">
                <a:solidFill>
                  <a:schemeClr val="bg1"/>
                </a:solidFill>
                <a:cs typeface="+mn-ea"/>
                <a:sym typeface="+mn-lt"/>
              </a:rPr>
              <a:t>灵感获取及案例</a:t>
            </a:r>
            <a:endParaRPr lang="zh-CN" altLang="en-US" sz="17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5135755" y="2074883"/>
            <a:ext cx="478533" cy="393570"/>
            <a:chOff x="5640108" y="966369"/>
            <a:chExt cx="476097" cy="391567"/>
          </a:xfrm>
        </p:grpSpPr>
        <p:sp>
          <p:nvSpPr>
            <p:cNvPr id="81" name="椭圆 80"/>
            <p:cNvSpPr/>
            <p:nvPr/>
          </p:nvSpPr>
          <p:spPr>
            <a:xfrm>
              <a:off x="5673454" y="966369"/>
              <a:ext cx="391567" cy="391567"/>
            </a:xfrm>
            <a:prstGeom prst="ellipse">
              <a:avLst/>
            </a:prstGeom>
            <a:solidFill>
              <a:srgbClr val="1B4367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2" name="文本框 17"/>
            <p:cNvSpPr txBox="1"/>
            <p:nvPr/>
          </p:nvSpPr>
          <p:spPr>
            <a:xfrm>
              <a:off x="5640108" y="975817"/>
              <a:ext cx="476097" cy="367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defRPr/>
              </a:pPr>
              <a:r>
                <a:rPr lang="en-US" altLang="zh-CN" sz="1800" dirty="0" smtClean="0">
                  <a:solidFill>
                    <a:schemeClr val="bg1"/>
                  </a:solidFill>
                  <a:cs typeface="+mn-ea"/>
                  <a:sym typeface="+mn-lt"/>
                </a:rPr>
                <a:t>02</a:t>
              </a:r>
              <a:endParaRPr lang="en-US" altLang="zh-CN" sz="18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83" name="文本框 10"/>
          <p:cNvSpPr txBox="1"/>
          <p:nvPr/>
        </p:nvSpPr>
        <p:spPr>
          <a:xfrm>
            <a:off x="5645032" y="2812241"/>
            <a:ext cx="2214693" cy="390555"/>
          </a:xfrm>
          <a:prstGeom prst="roundRect">
            <a:avLst/>
          </a:prstGeom>
          <a:solidFill>
            <a:srgbClr val="1B4367"/>
          </a:solidFill>
        </p:spPr>
        <p:txBody>
          <a:bodyPr wrap="square" rtlCol="0">
            <a:spAutoFit/>
          </a:bodyPr>
          <a:p>
            <a:r>
              <a:rPr lang="zh-CN" altLang="en-US" sz="1700" b="1" u="sng" dirty="0">
                <a:solidFill>
                  <a:schemeClr val="bg1"/>
                </a:solidFill>
                <a:cs typeface="+mn-ea"/>
                <a:sym typeface="+mn-lt"/>
              </a:rPr>
              <a:t>选品思维的总结</a:t>
            </a:r>
            <a:endParaRPr lang="zh-CN" altLang="en-US" sz="1700" b="1" u="sng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84" name="组合 83"/>
          <p:cNvGrpSpPr/>
          <p:nvPr/>
        </p:nvGrpSpPr>
        <p:grpSpPr>
          <a:xfrm>
            <a:off x="5135755" y="2792427"/>
            <a:ext cx="478533" cy="393570"/>
            <a:chOff x="5640108" y="966369"/>
            <a:chExt cx="476097" cy="391567"/>
          </a:xfrm>
        </p:grpSpPr>
        <p:sp>
          <p:nvSpPr>
            <p:cNvPr id="85" name="椭圆 84"/>
            <p:cNvSpPr/>
            <p:nvPr/>
          </p:nvSpPr>
          <p:spPr>
            <a:xfrm>
              <a:off x="5673454" y="966369"/>
              <a:ext cx="391567" cy="391567"/>
            </a:xfrm>
            <a:prstGeom prst="ellipse">
              <a:avLst/>
            </a:prstGeom>
            <a:solidFill>
              <a:srgbClr val="1B4367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6" name="文本框 17"/>
            <p:cNvSpPr txBox="1"/>
            <p:nvPr/>
          </p:nvSpPr>
          <p:spPr>
            <a:xfrm>
              <a:off x="5640108" y="975817"/>
              <a:ext cx="476097" cy="367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defRPr/>
              </a:pPr>
              <a:r>
                <a:rPr lang="en-US" altLang="zh-CN" sz="1800" dirty="0" smtClean="0">
                  <a:solidFill>
                    <a:schemeClr val="bg1"/>
                  </a:solidFill>
                  <a:cs typeface="+mn-ea"/>
                  <a:sym typeface="+mn-lt"/>
                </a:rPr>
                <a:t>03</a:t>
              </a:r>
              <a:endParaRPr lang="en-US" altLang="zh-CN" sz="18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500"/>
                            </p:stCondLst>
                            <p:childTnLst>
                              <p:par>
                                <p:cTn id="46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000"/>
                            </p:stCondLst>
                            <p:childTnLst>
                              <p:par>
                                <p:cTn id="5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" grpId="0"/>
      <p:bldP spid="4" grpId="0" bldLvl="0" animBg="1"/>
      <p:bldP spid="11" grpId="0" bldLvl="0" animBg="1"/>
      <p:bldP spid="79" grpId="0" bldLvl="0" animBg="1"/>
      <p:bldP spid="83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54735" y="772160"/>
            <a:ext cx="7296785" cy="3031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/>
              <a:t>1</a:t>
            </a:r>
            <a:r>
              <a:rPr lang="zh-CN" altLang="en-US" sz="2000"/>
              <a:t>、溯源思维</a:t>
            </a:r>
            <a:r>
              <a:rPr lang="en-US" altLang="zh-CN" sz="2000"/>
              <a:t>----</a:t>
            </a:r>
            <a:r>
              <a:rPr lang="zh-CN" altLang="en-US" sz="2000"/>
              <a:t>好奇心</a:t>
            </a:r>
            <a:r>
              <a:rPr lang="en-US" altLang="zh-CN" sz="2000"/>
              <a:t>/</a:t>
            </a:r>
            <a:r>
              <a:rPr lang="zh-CN" altLang="en-US" sz="2000"/>
              <a:t>学习动力的基础</a:t>
            </a:r>
            <a:br>
              <a:rPr lang="zh-CN" altLang="en-US" sz="2000"/>
            </a:br>
            <a:br>
              <a:rPr lang="zh-CN" altLang="en-US" sz="2000"/>
            </a:br>
            <a:r>
              <a:rPr lang="en-US" altLang="zh-CN" sz="2000"/>
              <a:t>2</a:t>
            </a:r>
            <a:r>
              <a:rPr lang="zh-CN" altLang="en-US" sz="2000"/>
              <a:t>、需求解决思维</a:t>
            </a:r>
            <a:r>
              <a:rPr lang="en-US" altLang="zh-CN" sz="2000"/>
              <a:t>----</a:t>
            </a:r>
            <a:r>
              <a:rPr lang="zh-CN" altLang="en-US" sz="2000"/>
              <a:t>规避同质化竞争利器</a:t>
            </a:r>
            <a:br>
              <a:rPr lang="zh-CN" altLang="en-US" sz="2000"/>
            </a:br>
            <a:br>
              <a:rPr lang="zh-CN" altLang="en-US" sz="2000"/>
            </a:br>
            <a:r>
              <a:rPr lang="en-US" altLang="zh-CN" sz="2000"/>
              <a:t>3</a:t>
            </a:r>
            <a:r>
              <a:rPr lang="zh-CN" altLang="en-US" sz="2000"/>
              <a:t>、降维攻击思维</a:t>
            </a:r>
            <a:r>
              <a:rPr lang="en-US" altLang="zh-CN" sz="2000"/>
              <a:t>----</a:t>
            </a:r>
            <a:r>
              <a:rPr lang="zh-CN" altLang="en-US" sz="2000"/>
              <a:t>匹配公司实力的开发方向</a:t>
            </a:r>
            <a:br>
              <a:rPr lang="zh-CN" altLang="en-US" sz="2000"/>
            </a:br>
            <a:br>
              <a:rPr lang="zh-CN" altLang="en-US" sz="2000"/>
            </a:br>
            <a:r>
              <a:rPr lang="en-US" altLang="zh-CN" sz="2000"/>
              <a:t>4</a:t>
            </a:r>
            <a:r>
              <a:rPr lang="zh-CN" altLang="en-US" sz="2000"/>
              <a:t>、场景互联思维</a:t>
            </a:r>
            <a:r>
              <a:rPr lang="en-US" altLang="zh-CN" sz="2000"/>
              <a:t>----</a:t>
            </a:r>
            <a:r>
              <a:rPr lang="zh-CN" altLang="en-US" sz="2000"/>
              <a:t>拓品方向</a:t>
            </a:r>
            <a:br>
              <a:rPr lang="zh-CN" altLang="en-US" sz="2000"/>
            </a:br>
            <a:br>
              <a:rPr lang="en-US" altLang="zh-CN" sz="2000"/>
            </a:br>
            <a:r>
              <a:rPr lang="en-US" altLang="zh-CN" sz="2000"/>
              <a:t>5</a:t>
            </a:r>
            <a:r>
              <a:rPr lang="zh-CN" altLang="en-US" sz="2000"/>
              <a:t>、互联网产品经理思维</a:t>
            </a:r>
            <a:r>
              <a:rPr lang="en-US" altLang="zh-CN" sz="2000"/>
              <a:t>----</a:t>
            </a:r>
            <a:r>
              <a:rPr lang="zh-CN" altLang="en-US" sz="2000"/>
              <a:t>项目跟进能力</a:t>
            </a:r>
            <a:endParaRPr lang="zh-CN" altLang="en-US" sz="2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3566160" y="1972310"/>
            <a:ext cx="201168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7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谢谢</a:t>
            </a:r>
            <a:endParaRPr lang="zh-CN" altLang="en-US" sz="7200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  <p:tag name="KSO_WM_UNIT_PLACING_PICTURE_USER_VIEWPORT" val="{&quot;height&quot;:9010,&quot;width&quot;:16080}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PP_MARK_KEY" val="ae20ce06-47a1-432c-ae72-c78bb7acda3b"/>
  <p:tag name="COMMONDATA" val="eyJoZGlkIjoiNDUxMDQ4ODgxYmMwYWViNzAwNGNiMzFmMzU1NTQyZTE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p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2998</Words>
  <Application>WPS 演示</Application>
  <PresentationFormat>全屏显示(16:9)</PresentationFormat>
  <Paragraphs>120</Paragraphs>
  <Slides>35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7" baseType="lpstr">
      <vt:lpstr>Arial</vt:lpstr>
      <vt:lpstr>宋体</vt:lpstr>
      <vt:lpstr>Wingdings</vt:lpstr>
      <vt:lpstr>微软雅黑</vt:lpstr>
      <vt:lpstr>Arial Unicode MS</vt:lpstr>
      <vt:lpstr>Calibri</vt:lpstr>
      <vt:lpstr>Noto Sans SC</vt:lpstr>
      <vt:lpstr>Noto Sans SC</vt:lpstr>
      <vt:lpstr>Noto Sans SC</vt:lpstr>
      <vt:lpstr>Segoe Print</vt:lpstr>
      <vt:lpstr>MingLiU-ExtB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毕业答辩</dc:title>
  <dc:creator>第一PPT</dc:creator>
  <cp:keywords>www.1ppt.com</cp:keywords>
  <dc:description>www.1ppt.com</dc:description>
  <cp:lastModifiedBy>创方采购曾先生</cp:lastModifiedBy>
  <cp:revision>71</cp:revision>
  <dcterms:created xsi:type="dcterms:W3CDTF">2016-05-20T12:59:00Z</dcterms:created>
  <dcterms:modified xsi:type="dcterms:W3CDTF">2023-07-10T09:07:50Z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2052-11.1.0.12763</vt:lpwstr>
  </property>
  <property fmtid="{D5CDD505-2E9C-101B-9397-08002B2CF9AE}" pid="3" name="ICV">
    <vt:lpwstr>0DC61A0ECABD4E16B6D064926E427EA6_12</vt:lpwstr>
  </property>
</Properties>
</file>
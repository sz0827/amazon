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304" r:id="rId3"/>
    <p:sldId id="257" r:id="rId4"/>
    <p:sldId id="347" r:id="rId5"/>
    <p:sldId id="363" r:id="rId6"/>
    <p:sldId id="368" r:id="rId7"/>
    <p:sldId id="369" r:id="rId8"/>
    <p:sldId id="371" r:id="rId9"/>
    <p:sldId id="366" r:id="rId10"/>
    <p:sldId id="372" r:id="rId11"/>
    <p:sldId id="374" r:id="rId12"/>
    <p:sldId id="365" r:id="rId13"/>
    <p:sldId id="258" r:id="rId15"/>
    <p:sldId id="378" r:id="rId16"/>
    <p:sldId id="379" r:id="rId17"/>
    <p:sldId id="375" r:id="rId18"/>
    <p:sldId id="380" r:id="rId19"/>
    <p:sldId id="263" r:id="rId20"/>
    <p:sldId id="389" r:id="rId21"/>
    <p:sldId id="382" r:id="rId22"/>
    <p:sldId id="383" r:id="rId23"/>
    <p:sldId id="384" r:id="rId24"/>
    <p:sldId id="385" r:id="rId25"/>
    <p:sldId id="386" r:id="rId26"/>
    <p:sldId id="387" r:id="rId27"/>
    <p:sldId id="388" r:id="rId28"/>
    <p:sldId id="392" r:id="rId29"/>
    <p:sldId id="361" r:id="rId30"/>
    <p:sldId id="381" r:id="rId31"/>
    <p:sldId id="362" r:id="rId32"/>
    <p:sldId id="391" r:id="rId33"/>
    <p:sldId id="267" r:id="rId34"/>
    <p:sldId id="393" r:id="rId35"/>
    <p:sldId id="262" r:id="rId36"/>
    <p:sldId id="376" r:id="rId37"/>
    <p:sldId id="359" r:id="rId38"/>
    <p:sldId id="377" r:id="rId39"/>
  </p:sldIdLst>
  <p:sldSz cx="12192000" cy="6858000"/>
  <p:notesSz cx="6858000" cy="9144000"/>
  <p:embeddedFontLst>
    <p:embeddedFont>
      <p:font typeface="Bahnschrift Light" panose="020B0502040204020203" pitchFamily="34" charset="0"/>
      <p:regular r:id="rId44"/>
    </p:embeddedFont>
    <p:embeddedFont>
      <p:font typeface="微软雅黑" panose="020B0503020204020204" charset="-122"/>
      <p:regular r:id="rId45"/>
    </p:embeddedFont>
    <p:embeddedFont>
      <p:font typeface="等线" panose="02010600030101010101" charset="-122"/>
      <p:regular r:id="rId46"/>
    </p:embeddedFont>
  </p:embeddedFontLst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1" clrIdx="1"/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44" y="72"/>
      </p:cViewPr>
      <p:guideLst>
        <p:guide orient="horz" pos="19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92.xml"/><Relationship Id="rId46" Type="http://schemas.openxmlformats.org/officeDocument/2006/relationships/font" Target="fonts/font3.fntdata"/><Relationship Id="rId45" Type="http://schemas.openxmlformats.org/officeDocument/2006/relationships/font" Target="fonts/font2.fntdata"/><Relationship Id="rId44" Type="http://schemas.openxmlformats.org/officeDocument/2006/relationships/font" Target="fonts/font1.fntdata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26F94B-A24F-4B98-91D6-4E5B556E1B4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DE78C9-1A1C-4DF4-9D61-E3B66EC768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文本框 7"/>
          <p:cNvSpPr txBox="1"/>
          <p:nvPr userDrawn="1"/>
        </p:nvSpPr>
        <p:spPr>
          <a:xfrm rot="2340000">
            <a:off x="1639570" y="2513965"/>
            <a:ext cx="38868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bg2"/>
                </a:solidFill>
              </a:rPr>
              <a:t>海外营销王师傅</a:t>
            </a:r>
            <a:endParaRPr lang="zh-CN" altLang="en-US" sz="3600">
              <a:solidFill>
                <a:schemeClr val="bg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2572bee519d_0_8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2572bee519d_0_8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矩形 1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 flipH="1">
            <a:off x="4520665" y="584201"/>
            <a:ext cx="7133310" cy="5368024"/>
          </a:xfrm>
          <a:custGeom>
            <a:avLst/>
            <a:gdLst>
              <a:gd name="connsiteX0" fmla="*/ 0 w 5448300"/>
              <a:gd name="connsiteY0" fmla="*/ 0 h 4180682"/>
              <a:gd name="connsiteX1" fmla="*/ 1945346 w 5448300"/>
              <a:gd name="connsiteY1" fmla="*/ 0 h 4180682"/>
              <a:gd name="connsiteX2" fmla="*/ 5448300 w 5448300"/>
              <a:gd name="connsiteY2" fmla="*/ 4180682 h 4180682"/>
              <a:gd name="connsiteX3" fmla="*/ 0 w 5448300"/>
              <a:gd name="connsiteY3" fmla="*/ 4180682 h 418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8300" h="4180682">
                <a:moveTo>
                  <a:pt x="0" y="0"/>
                </a:moveTo>
                <a:lnTo>
                  <a:pt x="1945346" y="0"/>
                </a:lnTo>
                <a:lnTo>
                  <a:pt x="5448300" y="4180682"/>
                </a:lnTo>
                <a:lnTo>
                  <a:pt x="0" y="4180682"/>
                </a:ln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2508250" y="2114660"/>
            <a:ext cx="7175500" cy="2554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zh-CN" altLang="en-US" sz="8000" spc="600" dirty="0">
                <a:solidFill>
                  <a:schemeClr val="bg1"/>
                </a:solidFill>
                <a:latin typeface="+mj-ea"/>
                <a:ea typeface="+mj-ea"/>
              </a:rPr>
              <a:t>杂志风</a:t>
            </a:r>
            <a:endParaRPr lang="en-US" altLang="zh-CN" sz="8000" spc="60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r"/>
            <a:r>
              <a:rPr lang="zh-CN" altLang="en-US" sz="8000" spc="600" dirty="0">
                <a:solidFill>
                  <a:schemeClr val="bg1"/>
                </a:solidFill>
                <a:latin typeface="+mj-ea"/>
                <a:ea typeface="+mj-ea"/>
              </a:rPr>
              <a:t>产品宣传</a:t>
            </a:r>
            <a:r>
              <a:rPr lang="en-US" altLang="zh-CN" sz="8000" spc="600" dirty="0">
                <a:solidFill>
                  <a:schemeClr val="bg1"/>
                </a:solidFill>
                <a:latin typeface="+mj-ea"/>
                <a:ea typeface="+mj-ea"/>
              </a:rPr>
              <a:t>PPT</a:t>
            </a:r>
            <a:endParaRPr lang="zh-CN" altLang="en-US" sz="80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5715000" y="1306034"/>
            <a:ext cx="396875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4000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TEMPLATE</a:t>
            </a:r>
            <a:endParaRPr lang="zh-CN" altLang="en-US" sz="4000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2170982" y="4669205"/>
            <a:ext cx="751276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pc="30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JOURNAL STYLE PPT TAMPLATE</a:t>
            </a:r>
            <a:endParaRPr lang="zh-CN" altLang="en-US" spc="30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538025" y="4991023"/>
            <a:ext cx="6497775" cy="15465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Nunc viverra imperdiet enim. Fusce est. Vivamus a tellus.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Pellentesque habitant morbi tristique senectus et netus et malesuada fames ac turpis egestas. Proin pharetra nonummy pede. Mauris et orci.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zh-CN" altLang="en-US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3" name="加号 22"/>
          <p:cNvSpPr/>
          <p:nvPr userDrawn="1"/>
        </p:nvSpPr>
        <p:spPr>
          <a:xfrm>
            <a:off x="538025" y="584200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半闭框 23"/>
          <p:cNvSpPr/>
          <p:nvPr userDrawn="1"/>
        </p:nvSpPr>
        <p:spPr>
          <a:xfrm rot="10800000">
            <a:off x="11176000" y="5471859"/>
            <a:ext cx="717354" cy="717354"/>
          </a:xfrm>
          <a:prstGeom prst="halfFrame">
            <a:avLst>
              <a:gd name="adj1" fmla="val 15315"/>
              <a:gd name="adj2" fmla="val 14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7" name="矩形 26"/>
          <p:cNvSpPr/>
          <p:nvPr userDrawn="1"/>
        </p:nvSpPr>
        <p:spPr>
          <a:xfrm>
            <a:off x="0" y="0"/>
            <a:ext cx="7756071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5" r="7031"/>
          <a:stretch>
            <a:fillRect/>
          </a:stretch>
        </p:blipFill>
        <p:spPr>
          <a:xfrm>
            <a:off x="5965372" y="1065440"/>
            <a:ext cx="5089071" cy="4412795"/>
          </a:xfrm>
          <a:prstGeom prst="rect">
            <a:avLst/>
          </a:prstGeom>
        </p:spPr>
      </p:pic>
      <p:sp>
        <p:nvSpPr>
          <p:cNvPr id="29" name="文本框 28"/>
          <p:cNvSpPr txBox="1"/>
          <p:nvPr userDrawn="1"/>
        </p:nvSpPr>
        <p:spPr>
          <a:xfrm>
            <a:off x="1847868" y="1289133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+mj-ea"/>
                <a:ea typeface="+mj-ea"/>
              </a:rPr>
              <a:t>产品简介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1847868" y="2519631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+mj-ea"/>
                <a:ea typeface="+mj-ea"/>
              </a:rPr>
              <a:t>宣传计划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1847868" y="3764951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+mj-ea"/>
                <a:ea typeface="+mj-ea"/>
              </a:rPr>
              <a:t>市场调查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1847868" y="5020208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+mj-ea"/>
                <a:ea typeface="+mj-ea"/>
              </a:rPr>
              <a:t>结果汇报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文本框 32"/>
          <p:cNvSpPr txBox="1"/>
          <p:nvPr userDrawn="1"/>
        </p:nvSpPr>
        <p:spPr>
          <a:xfrm>
            <a:off x="2569664" y="1846485"/>
            <a:ext cx="26718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—Product Profile</a:t>
            </a:r>
            <a:endParaRPr lang="zh-CN" altLang="en-US" sz="14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4" name="文本框 33"/>
          <p:cNvSpPr txBox="1"/>
          <p:nvPr userDrawn="1"/>
        </p:nvSpPr>
        <p:spPr>
          <a:xfrm>
            <a:off x="2569664" y="3120114"/>
            <a:ext cx="26718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—Spread Plan</a:t>
            </a:r>
            <a:endParaRPr lang="zh-CN" altLang="en-US" sz="14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5" name="文本框 34"/>
          <p:cNvSpPr txBox="1"/>
          <p:nvPr userDrawn="1"/>
        </p:nvSpPr>
        <p:spPr>
          <a:xfrm>
            <a:off x="2569664" y="4417670"/>
            <a:ext cx="26718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—Market Investigation</a:t>
            </a:r>
            <a:endParaRPr lang="zh-CN" altLang="en-US" sz="14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6" name="文本框 35"/>
          <p:cNvSpPr txBox="1"/>
          <p:nvPr userDrawn="1"/>
        </p:nvSpPr>
        <p:spPr>
          <a:xfrm>
            <a:off x="2569664" y="5666539"/>
            <a:ext cx="2671807" cy="307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—Outcomes Reporting</a:t>
            </a:r>
            <a:endParaRPr lang="zh-CN" altLang="en-US" sz="14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7" name="文本框 36"/>
          <p:cNvSpPr txBox="1"/>
          <p:nvPr userDrawn="1"/>
        </p:nvSpPr>
        <p:spPr>
          <a:xfrm>
            <a:off x="1071813" y="1319911"/>
            <a:ext cx="810985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01</a:t>
            </a:r>
            <a:endParaRPr lang="zh-CN" altLang="en-US" sz="3200" dirty="0">
              <a:solidFill>
                <a:schemeClr val="bg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/>
          <p:cNvSpPr txBox="1"/>
          <p:nvPr userDrawn="1"/>
        </p:nvSpPr>
        <p:spPr>
          <a:xfrm>
            <a:off x="1071813" y="2550409"/>
            <a:ext cx="810985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02</a:t>
            </a:r>
            <a:endParaRPr lang="zh-CN" altLang="en-US" sz="3200" dirty="0">
              <a:solidFill>
                <a:schemeClr val="bg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1071813" y="3795729"/>
            <a:ext cx="810985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03</a:t>
            </a:r>
            <a:endParaRPr lang="zh-CN" altLang="en-US" sz="3200" dirty="0">
              <a:solidFill>
                <a:schemeClr val="bg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071813" y="5050986"/>
            <a:ext cx="810985" cy="584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04</a:t>
            </a:r>
            <a:endParaRPr lang="zh-CN" altLang="en-US" sz="3200" dirty="0">
              <a:solidFill>
                <a:schemeClr val="bg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5965371" y="1065439"/>
            <a:ext cx="5089071" cy="4412795"/>
          </a:xfrm>
          <a:prstGeom prst="rect">
            <a:avLst/>
          </a:prstGeom>
          <a:solidFill>
            <a:schemeClr val="tx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>
            <a:off x="8280627" y="2641146"/>
            <a:ext cx="3200400" cy="35269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 userDrawn="1"/>
        </p:nvSpPr>
        <p:spPr>
          <a:xfrm>
            <a:off x="8481786" y="2946482"/>
            <a:ext cx="2572657" cy="13234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zh-CN" altLang="en-US" sz="8000" spc="6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80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4" name="文本框 43"/>
          <p:cNvSpPr txBox="1"/>
          <p:nvPr userDrawn="1"/>
        </p:nvSpPr>
        <p:spPr>
          <a:xfrm>
            <a:off x="7994196" y="4738189"/>
            <a:ext cx="3913414" cy="523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2800" spc="600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28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副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73" b="15625"/>
          <a:stretch>
            <a:fillRect/>
          </a:stretch>
        </p:blipFill>
        <p:spPr>
          <a:xfrm>
            <a:off x="0" y="39736"/>
            <a:ext cx="8427962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1625601"/>
            <a:ext cx="8427962" cy="52323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/>
        </p:nvSpPr>
        <p:spPr>
          <a:xfrm>
            <a:off x="0" y="1"/>
            <a:ext cx="8428596" cy="162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加号 23"/>
          <p:cNvSpPr/>
          <p:nvPr userDrawn="1"/>
        </p:nvSpPr>
        <p:spPr>
          <a:xfrm>
            <a:off x="7692359" y="259602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349266" y="259602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</a:rPr>
              <a:t>PART ONE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3213313" y="259602"/>
            <a:ext cx="2572657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PRODUCT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文本框 26"/>
          <p:cNvSpPr txBox="1"/>
          <p:nvPr userDrawn="1"/>
        </p:nvSpPr>
        <p:spPr>
          <a:xfrm>
            <a:off x="5331368" y="259602"/>
            <a:ext cx="2572657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PROFILE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8" name="文本框 27"/>
          <p:cNvSpPr txBox="1"/>
          <p:nvPr userDrawn="1"/>
        </p:nvSpPr>
        <p:spPr>
          <a:xfrm>
            <a:off x="8500197" y="259602"/>
            <a:ext cx="3158066" cy="13234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+mj-ea"/>
                <a:ea typeface="+mj-ea"/>
              </a:rPr>
              <a:t>PRODUCT PROFILE</a:t>
            </a:r>
            <a:endParaRPr lang="zh-CN" altLang="en-US" sz="4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9" name="文本框 28"/>
          <p:cNvSpPr txBox="1"/>
          <p:nvPr userDrawn="1"/>
        </p:nvSpPr>
        <p:spPr>
          <a:xfrm>
            <a:off x="8571797" y="1625601"/>
            <a:ext cx="3158066" cy="25391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PRODUCT PROFILE</a:t>
            </a:r>
            <a:endParaRPr lang="zh-CN" altLang="en-US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8758464" y="2191464"/>
            <a:ext cx="2572657" cy="2554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000" dirty="0">
                <a:latin typeface="+mj-ea"/>
                <a:ea typeface="+mj-ea"/>
              </a:rPr>
              <a:t>产品简介</a:t>
            </a:r>
            <a:endParaRPr lang="zh-CN" altLang="en-US" sz="8000" dirty="0">
              <a:latin typeface="+mj-ea"/>
              <a:ea typeface="+mj-ea"/>
            </a:endParaRPr>
          </a:p>
        </p:txBody>
      </p:sp>
      <p:sp>
        <p:nvSpPr>
          <p:cNvPr id="31" name="文本框 30"/>
          <p:cNvSpPr txBox="1"/>
          <p:nvPr userDrawn="1"/>
        </p:nvSpPr>
        <p:spPr>
          <a:xfrm>
            <a:off x="1494065" y="2191464"/>
            <a:ext cx="5992586" cy="21236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66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01</a:t>
            </a:r>
            <a:endParaRPr lang="en-US" altLang="zh-CN" sz="66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66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  PROFILE</a:t>
            </a:r>
            <a:endParaRPr lang="zh-CN" altLang="en-US" sz="66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文本框 31"/>
          <p:cNvSpPr txBox="1"/>
          <p:nvPr userDrawn="1"/>
        </p:nvSpPr>
        <p:spPr>
          <a:xfrm>
            <a:off x="873578" y="4929601"/>
            <a:ext cx="6613072" cy="89082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1200" dirty="0" err="1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urna</a:t>
            </a:r>
            <a:r>
              <a:rPr lang="en-US" altLang="zh-CN" sz="1200" dirty="0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.</a:t>
            </a:r>
            <a:endParaRPr lang="en-US" altLang="zh-CN" sz="1200" dirty="0">
              <a:solidFill>
                <a:schemeClr val="bg1">
                  <a:lumMod val="95000"/>
                  <a:alpha val="56000"/>
                </a:schemeClr>
              </a:solidFill>
              <a:latin typeface="+mn-ea"/>
            </a:endParaRPr>
          </a:p>
        </p:txBody>
      </p:sp>
      <p:cxnSp>
        <p:nvCxnSpPr>
          <p:cNvPr id="33" name="直接连接符 32"/>
          <p:cNvCxnSpPr/>
          <p:nvPr userDrawn="1"/>
        </p:nvCxnSpPr>
        <p:spPr>
          <a:xfrm>
            <a:off x="2375807" y="4204607"/>
            <a:ext cx="4963886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 userDrawn="1"/>
        </p:nvSpPr>
        <p:spPr>
          <a:xfrm>
            <a:off x="8794644" y="5062714"/>
            <a:ext cx="3051735" cy="12193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我们的产品具有着良好的外形，优异的性能和舒适度极高的体验感。产品的外观得益于我们的设计师的精心设计，优异的性能得益于研发团队的精心打造的体系。并且经过了广泛且精准的调研得到了舒适度极高的体验感。</a:t>
            </a:r>
            <a:endParaRPr lang="en-US" altLang="zh-CN" sz="1000" dirty="0">
              <a:solidFill>
                <a:schemeClr val="accent2">
                  <a:alpha val="56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8" r="1"/>
          <a:stretch>
            <a:fillRect/>
          </a:stretch>
        </p:blipFill>
        <p:spPr>
          <a:xfrm>
            <a:off x="2779204" y="0"/>
            <a:ext cx="9412796" cy="6871136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2779202" y="0"/>
            <a:ext cx="9412797" cy="809968"/>
          </a:xfrm>
          <a:prstGeom prst="rect">
            <a:avLst/>
          </a:prstGeom>
          <a:solidFill>
            <a:schemeClr val="tx1">
              <a:alpha val="4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1934936"/>
            <a:ext cx="4947557" cy="451320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423636" y="2871596"/>
            <a:ext cx="1931932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产品简介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423635" y="3246193"/>
            <a:ext cx="4589236" cy="700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在这里输入正文，根据自己的需要进行内容调整。在这里输入正文，根据自己的需要进行内容调整。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23636" y="4446396"/>
            <a:ext cx="1931932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j-ea"/>
                <a:ea typeface="+mj-ea"/>
              </a:rPr>
              <a:t>产品简介</a:t>
            </a:r>
            <a:endParaRPr lang="zh-CN" altLang="en-US" sz="2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423635" y="4820993"/>
            <a:ext cx="4589236" cy="7007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</a:rPr>
              <a:t>在这里输入正文，根据自己的需要进行内容调整。在这里输入正文，根据自己的需要进行内容调整。</a:t>
            </a:r>
            <a:endParaRPr lang="zh-CN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5" name="加号 14"/>
          <p:cNvSpPr/>
          <p:nvPr userDrawn="1"/>
        </p:nvSpPr>
        <p:spPr>
          <a:xfrm>
            <a:off x="11336867" y="191487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5344192" y="230245"/>
            <a:ext cx="2572657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PRODUCT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8601499" y="230245"/>
            <a:ext cx="2572657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PROFILE</a:t>
            </a:r>
            <a:endParaRPr lang="zh-CN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52773" y="191487"/>
            <a:ext cx="2572657" cy="64633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产品简介</a:t>
            </a:r>
            <a:endParaRPr lang="zh-CN" altLang="en-US" sz="3600" dirty="0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362" y="2143050"/>
            <a:ext cx="2999340" cy="168177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824824"/>
            <a:ext cx="3257782" cy="217185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36"/>
          <a:stretch>
            <a:fillRect/>
          </a:stretch>
        </p:blipFill>
        <p:spPr>
          <a:xfrm>
            <a:off x="3257782" y="3824824"/>
            <a:ext cx="1983920" cy="21718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3050"/>
            <a:ext cx="2242362" cy="168177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5241702" y="2143050"/>
            <a:ext cx="6950298" cy="38536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422234" y="3184560"/>
            <a:ext cx="1931932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dirty="0">
                <a:latin typeface="+mj-ea"/>
                <a:ea typeface="+mj-ea"/>
              </a:rPr>
              <a:t>产品简介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6422233" y="3559157"/>
            <a:ext cx="4589236" cy="16702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+mn-ea"/>
              </a:rPr>
              <a:t>在这里输入正文，根据自己的需要进行内容调整。在这里输入正文，根据自己的需要进行内容调整。在这里输入正文，根据自己的需要进行内容调整。在这里输入正文，根据自己的需要进行内容调整。</a:t>
            </a:r>
            <a:endParaRPr lang="zh-CN" altLang="en-US" sz="1400" dirty="0"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latin typeface="+mn-ea"/>
            </a:endParaRPr>
          </a:p>
        </p:txBody>
      </p:sp>
      <p:sp>
        <p:nvSpPr>
          <p:cNvPr id="17" name="文本框 16"/>
          <p:cNvSpPr txBox="1"/>
          <p:nvPr userDrawn="1"/>
        </p:nvSpPr>
        <p:spPr>
          <a:xfrm>
            <a:off x="10723603" y="2396613"/>
            <a:ext cx="1515533" cy="2215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8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”</a:t>
            </a:r>
            <a:endParaRPr lang="zh-CN" altLang="en-US" sz="13800" dirty="0">
              <a:solidFill>
                <a:schemeClr val="accent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2568515" y="598972"/>
            <a:ext cx="8442954" cy="11585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200000"/>
              </a:lnSpc>
            </a:pPr>
            <a:r>
              <a:rPr lang="en-US" altLang="zh-CN" sz="900" dirty="0">
                <a:solidFill>
                  <a:schemeClr val="accent2">
                    <a:alpha val="51000"/>
                  </a:schemeClr>
                </a:solidFill>
                <a:latin typeface="+mn-ea"/>
              </a:rPr>
              <a:t>Lorem ipsum dolor sit amet, consectetuer adipiscing elit. Maecenas porttitor congue massa. Fusce posuere, magna sed pulvinar ultricies, purus lectus malesuada libero, sit amet commodo magna eros quis </a:t>
            </a:r>
            <a:r>
              <a:rPr lang="en-US" altLang="zh-CN" sz="900" dirty="0" err="1">
                <a:solidFill>
                  <a:schemeClr val="accent2">
                    <a:alpha val="51000"/>
                  </a:schemeClr>
                </a:solidFill>
                <a:latin typeface="+mn-ea"/>
              </a:rPr>
              <a:t>urna.Nunc</a:t>
            </a:r>
            <a:r>
              <a:rPr lang="en-US" altLang="zh-CN" sz="900" dirty="0">
                <a:solidFill>
                  <a:schemeClr val="accent2">
                    <a:alpha val="51000"/>
                  </a:schemeClr>
                </a:solidFill>
                <a:latin typeface="+mn-ea"/>
              </a:rPr>
              <a:t> viverra imperdiet enim. Fusce est. Vivamus a </a:t>
            </a:r>
            <a:r>
              <a:rPr lang="en-US" altLang="zh-CN" sz="900" dirty="0" err="1">
                <a:solidFill>
                  <a:schemeClr val="accent2">
                    <a:alpha val="51000"/>
                  </a:schemeClr>
                </a:solidFill>
                <a:latin typeface="+mn-ea"/>
              </a:rPr>
              <a:t>tellus.Pellentesque</a:t>
            </a:r>
            <a:r>
              <a:rPr lang="en-US" altLang="zh-CN" sz="900" dirty="0">
                <a:solidFill>
                  <a:schemeClr val="accent2">
                    <a:alpha val="51000"/>
                  </a:schemeClr>
                </a:solidFill>
                <a:latin typeface="+mn-ea"/>
              </a:rPr>
              <a:t> habitant morbi tristique senectus et netus et malesuada fames ac turpis egestas. Proin pharetra nonummy pede. Mauris et orci.</a:t>
            </a:r>
            <a:endParaRPr lang="en-US" altLang="zh-CN" sz="900" dirty="0">
              <a:solidFill>
                <a:schemeClr val="accent2">
                  <a:alpha val="51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endParaRPr lang="zh-CN" altLang="en-US" sz="900" dirty="0">
              <a:solidFill>
                <a:schemeClr val="accent2">
                  <a:alpha val="51000"/>
                </a:schemeClr>
              </a:solidFill>
              <a:latin typeface="+mn-ea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584316" y="592284"/>
            <a:ext cx="146957" cy="11216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731273" y="491369"/>
            <a:ext cx="1664339" cy="120032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PRODUCT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 rot="5400000">
            <a:off x="576443" y="243411"/>
            <a:ext cx="5953401" cy="6209138"/>
          </a:xfrm>
          <a:custGeom>
            <a:avLst/>
            <a:gdLst>
              <a:gd name="connsiteX0" fmla="*/ 0 w 5448300"/>
              <a:gd name="connsiteY0" fmla="*/ 0 h 4180682"/>
              <a:gd name="connsiteX1" fmla="*/ 1945346 w 5448300"/>
              <a:gd name="connsiteY1" fmla="*/ 0 h 4180682"/>
              <a:gd name="connsiteX2" fmla="*/ 5448300 w 5448300"/>
              <a:gd name="connsiteY2" fmla="*/ 4180682 h 4180682"/>
              <a:gd name="connsiteX3" fmla="*/ 0 w 5448300"/>
              <a:gd name="connsiteY3" fmla="*/ 4180682 h 418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8300" h="4180682">
                <a:moveTo>
                  <a:pt x="0" y="0"/>
                </a:moveTo>
                <a:lnTo>
                  <a:pt x="1945346" y="0"/>
                </a:lnTo>
                <a:lnTo>
                  <a:pt x="5448300" y="4180682"/>
                </a:lnTo>
                <a:lnTo>
                  <a:pt x="0" y="4180682"/>
                </a:ln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2688964" y="2817394"/>
            <a:ext cx="7175500" cy="13234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8000" spc="600" dirty="0">
                <a:solidFill>
                  <a:schemeClr val="bg1"/>
                </a:solidFill>
                <a:latin typeface="+mj-ea"/>
                <a:ea typeface="+mj-ea"/>
              </a:rPr>
              <a:t>谢谢！</a:t>
            </a:r>
            <a:endParaRPr lang="zh-CN" altLang="en-US" sz="80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2688964" y="2008768"/>
            <a:ext cx="3968750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THANK YOU!</a:t>
            </a:r>
            <a:endParaRPr lang="zh-CN" altLang="en-US" sz="4000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2723432" y="3977423"/>
            <a:ext cx="7512768" cy="36933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pc="30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JOURNAL STYLE PPT TAMPLATE</a:t>
            </a:r>
            <a:endParaRPr lang="zh-CN" altLang="en-US" spc="30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5245650" y="4733495"/>
            <a:ext cx="6497775" cy="15465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Lorem ipsum dolor sit amet, consectetuer adipiscing elit. Maecenas porttitor congue massa. Fusce posuere, magna sed pulvinar ultricies, purus lectus malesuada libero, sit amet commodo magna eros quis urna.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Nunc viverra imperdiet enim. Fusce est. Vivamus a tellus.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r>
              <a:rPr lang="en-US" altLang="zh-CN" sz="1050" dirty="0">
                <a:solidFill>
                  <a:schemeClr val="bg1">
                    <a:lumMod val="65000"/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Pellentesque habitant morbi tristique senectus et netus et malesuada fames ac turpis egestas. Proin pharetra nonummy pede. Mauris et orci.</a:t>
            </a:r>
            <a:endParaRPr lang="en-US" altLang="zh-CN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endParaRPr lang="zh-CN" altLang="en-US" sz="1050" dirty="0">
              <a:solidFill>
                <a:schemeClr val="bg1">
                  <a:lumMod val="65000"/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2" name="加号 21"/>
          <p:cNvSpPr/>
          <p:nvPr userDrawn="1"/>
        </p:nvSpPr>
        <p:spPr>
          <a:xfrm>
            <a:off x="11480800" y="371278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半闭框 22"/>
          <p:cNvSpPr/>
          <p:nvPr userDrawn="1"/>
        </p:nvSpPr>
        <p:spPr>
          <a:xfrm rot="10800000">
            <a:off x="11186779" y="5607326"/>
            <a:ext cx="717354" cy="717354"/>
          </a:xfrm>
          <a:prstGeom prst="halfFrame">
            <a:avLst>
              <a:gd name="adj1" fmla="val 15315"/>
              <a:gd name="adj2" fmla="val 1413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背景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/>
          <a:srcRect l="104756" t="-108210" r="280062" b="47851"/>
          <a:stretch>
            <a:fillRect/>
          </a:stretch>
        </p:blipFill>
        <p:spPr>
          <a:xfrm rot="10800000">
            <a:off x="1767" y="-2183"/>
            <a:ext cx="12188600" cy="686236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85200" cy="7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3335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tags" Target="../tags/tag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21.jpeg"/><Relationship Id="rId25" Type="http://schemas.openxmlformats.org/officeDocument/2006/relationships/tags" Target="../tags/tag41.xml"/><Relationship Id="rId24" Type="http://schemas.openxmlformats.org/officeDocument/2006/relationships/tags" Target="../tags/tag40.xml"/><Relationship Id="rId23" Type="http://schemas.openxmlformats.org/officeDocument/2006/relationships/tags" Target="../tags/tag39.xml"/><Relationship Id="rId22" Type="http://schemas.openxmlformats.org/officeDocument/2006/relationships/tags" Target="../tags/tag38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tags" Target="../tags/tag4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45.xml"/><Relationship Id="rId5" Type="http://schemas.openxmlformats.org/officeDocument/2006/relationships/image" Target="../media/image29.png"/><Relationship Id="rId4" Type="http://schemas.openxmlformats.org/officeDocument/2006/relationships/image" Target="../media/image28.wmf"/><Relationship Id="rId3" Type="http://schemas.openxmlformats.org/officeDocument/2006/relationships/oleObject" Target="../embeddings/oleObject1.bin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image" Target="../media/image21.jpeg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54.xml"/><Relationship Id="rId4" Type="http://schemas.openxmlformats.org/officeDocument/2006/relationships/image" Target="../media/image30.jpeg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31.jpe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image" Target="../media/image32.png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9.xml"/><Relationship Id="rId5" Type="http://schemas.openxmlformats.org/officeDocument/2006/relationships/image" Target="../media/image33.png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1.xml"/><Relationship Id="rId6" Type="http://schemas.openxmlformats.org/officeDocument/2006/relationships/tags" Target="../tags/tag74.xml"/><Relationship Id="rId5" Type="http://schemas.openxmlformats.org/officeDocument/2006/relationships/image" Target="../media/image34.png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tags" Target="../tags/tag80.xml"/><Relationship Id="rId7" Type="http://schemas.openxmlformats.org/officeDocument/2006/relationships/image" Target="../media/image36.png"/><Relationship Id="rId6" Type="http://schemas.openxmlformats.org/officeDocument/2006/relationships/tags" Target="../tags/tag79.xml"/><Relationship Id="rId5" Type="http://schemas.openxmlformats.org/officeDocument/2006/relationships/image" Target="../media/image35.png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85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1.xml"/><Relationship Id="rId5" Type="http://schemas.openxmlformats.org/officeDocument/2006/relationships/tags" Target="../tags/tag89.xml"/><Relationship Id="rId4" Type="http://schemas.openxmlformats.org/officeDocument/2006/relationships/image" Target="../media/image41.png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5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 flipH="1">
            <a:off x="4520665" y="584201"/>
            <a:ext cx="7133310" cy="5368024"/>
          </a:xfrm>
          <a:custGeom>
            <a:avLst/>
            <a:gdLst>
              <a:gd name="connsiteX0" fmla="*/ 0 w 5448300"/>
              <a:gd name="connsiteY0" fmla="*/ 0 h 4180682"/>
              <a:gd name="connsiteX1" fmla="*/ 1945346 w 5448300"/>
              <a:gd name="connsiteY1" fmla="*/ 0 h 4180682"/>
              <a:gd name="connsiteX2" fmla="*/ 5448300 w 5448300"/>
              <a:gd name="connsiteY2" fmla="*/ 4180682 h 4180682"/>
              <a:gd name="connsiteX3" fmla="*/ 0 w 5448300"/>
              <a:gd name="connsiteY3" fmla="*/ 4180682 h 4180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8300" h="4180682">
                <a:moveTo>
                  <a:pt x="0" y="0"/>
                </a:moveTo>
                <a:lnTo>
                  <a:pt x="1945346" y="0"/>
                </a:lnTo>
                <a:lnTo>
                  <a:pt x="5448300" y="4180682"/>
                </a:lnTo>
                <a:lnTo>
                  <a:pt x="0" y="4180682"/>
                </a:lnTo>
                <a:close/>
              </a:path>
            </a:pathLst>
          </a:custGeom>
          <a:solidFill>
            <a:schemeClr val="accent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1142" y="2758489"/>
            <a:ext cx="71755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3600" spc="600" dirty="0">
                <a:solidFill>
                  <a:schemeClr val="bg1"/>
                </a:solidFill>
                <a:latin typeface="Bahnschrift Light" panose="020B0502040204020203" pitchFamily="34" charset="0"/>
                <a:ea typeface="+mj-ea"/>
              </a:rPr>
              <a:t>“ If you’re in marketing, you have to be comfortable with change.</a:t>
            </a:r>
            <a:r>
              <a:rPr lang="en-US" altLang="zh-CN" sz="3600" spc="600" dirty="0">
                <a:solidFill>
                  <a:schemeClr val="bg1"/>
                </a:solidFill>
                <a:latin typeface="+mj-ea"/>
                <a:ea typeface="+mj-ea"/>
              </a:rPr>
              <a:t>”</a:t>
            </a:r>
            <a:endParaRPr lang="en-US" altLang="zh-CN" sz="36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45573" y="1306034"/>
            <a:ext cx="1080840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000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亚马逊联盟营销新趋势</a:t>
            </a:r>
            <a:r>
              <a:rPr lang="en-US" altLang="zh-CN" sz="4000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&amp; ACC</a:t>
            </a:r>
            <a:r>
              <a:rPr lang="zh-CN" altLang="en-US" sz="4000" spc="300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进阶版策略</a:t>
            </a:r>
            <a:endParaRPr lang="zh-CN" altLang="en-US" sz="4000" spc="300" dirty="0">
              <a:solidFill>
                <a:schemeClr val="bg1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50941" y="5486603"/>
            <a:ext cx="751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pc="300" dirty="0">
                <a:solidFill>
                  <a:schemeClr val="bg1">
                    <a:alpha val="5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 —REMBERTO DEL REAL, CMO AT DEVRY UNIVERSITY</a:t>
            </a:r>
            <a:endParaRPr lang="en-US" altLang="zh-CN" spc="300" dirty="0">
              <a:solidFill>
                <a:schemeClr val="bg1">
                  <a:alpha val="5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538025" y="584200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0" name="半闭框 9"/>
          <p:cNvSpPr/>
          <p:nvPr/>
        </p:nvSpPr>
        <p:spPr>
          <a:xfrm rot="10800000">
            <a:off x="11176000" y="5471859"/>
            <a:ext cx="717354" cy="717354"/>
          </a:xfrm>
          <a:prstGeom prst="halfFrame">
            <a:avLst>
              <a:gd name="adj1" fmla="val 15315"/>
              <a:gd name="adj2" fmla="val 141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76200"/>
            <a:ext cx="7756071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grpSp>
        <p:nvGrpSpPr>
          <p:cNvPr id="45" name="组合 44"/>
          <p:cNvGrpSpPr/>
          <p:nvPr>
            <p:custDataLst>
              <p:tags r:id="rId2"/>
            </p:custDataLst>
          </p:nvPr>
        </p:nvGrpSpPr>
        <p:grpSpPr>
          <a:xfrm>
            <a:off x="1451584" y="1816887"/>
            <a:ext cx="3185006" cy="640093"/>
            <a:chOff x="1486509" y="309397"/>
            <a:chExt cx="3185006" cy="640093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845295" y="309397"/>
              <a:ext cx="257265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亚马逊营销趋势洞察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4"/>
              </p:custDataLst>
            </p:nvPr>
          </p:nvSpPr>
          <p:spPr>
            <a:xfrm>
              <a:off x="1999708" y="704380"/>
              <a:ext cx="2671807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alpha val="47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Affiliate </a:t>
              </a:r>
              <a:r>
                <a:rPr lang="en-US" altLang="zh-CN" sz="1000" dirty="0">
                  <a:solidFill>
                    <a:schemeClr val="bg1">
                      <a:alpha val="47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marketing</a:t>
              </a:r>
              <a:endParaRPr lang="en-US" altLang="zh-CN" sz="1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5"/>
              </p:custDataLst>
            </p:nvPr>
          </p:nvSpPr>
          <p:spPr>
            <a:xfrm>
              <a:off x="1486509" y="330211"/>
              <a:ext cx="810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01</a:t>
              </a:r>
              <a:endParaRPr lang="zh-CN" altLang="en-US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6"/>
            </p:custDataLst>
          </p:nvPr>
        </p:nvGrpSpPr>
        <p:grpSpPr>
          <a:xfrm>
            <a:off x="1451584" y="2551460"/>
            <a:ext cx="3338754" cy="610691"/>
            <a:chOff x="1486509" y="1240738"/>
            <a:chExt cx="3338754" cy="610691"/>
          </a:xfrm>
        </p:grpSpPr>
        <p:sp>
          <p:nvSpPr>
            <p:cNvPr id="6" name="文本框 5"/>
            <p:cNvSpPr txBox="1"/>
            <p:nvPr>
              <p:custDataLst>
                <p:tags r:id="rId7"/>
              </p:custDataLst>
            </p:nvPr>
          </p:nvSpPr>
          <p:spPr>
            <a:xfrm>
              <a:off x="1845295" y="1240738"/>
              <a:ext cx="297994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+mj-ea"/>
                  <a:ea typeface="+mj-ea"/>
                </a:rPr>
                <a:t>ACC</a:t>
              </a:r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为什么是重点？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2153456" y="1606319"/>
              <a:ext cx="2671807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alpha val="47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why </a:t>
              </a:r>
              <a:r>
                <a:rPr lang="en-US" altLang="zh-CN" sz="1000" dirty="0">
                  <a:solidFill>
                    <a:schemeClr val="bg1">
                      <a:alpha val="47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affiliate marketing</a:t>
              </a:r>
              <a:endParaRPr lang="en-US" altLang="zh-CN" sz="1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1486509" y="1271516"/>
              <a:ext cx="810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02</a:t>
              </a:r>
              <a:endParaRPr lang="zh-CN" altLang="en-US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0"/>
            </p:custDataLst>
          </p:nvPr>
        </p:nvGrpSpPr>
        <p:grpSpPr>
          <a:xfrm>
            <a:off x="1451584" y="3289652"/>
            <a:ext cx="3338676" cy="599027"/>
            <a:chOff x="1486509" y="2486058"/>
            <a:chExt cx="3338676" cy="599027"/>
          </a:xfrm>
        </p:grpSpPr>
        <p:sp>
          <p:nvSpPr>
            <p:cNvPr id="7" name="文本框 6"/>
            <p:cNvSpPr txBox="1"/>
            <p:nvPr>
              <p:custDataLst>
                <p:tags r:id="rId11"/>
              </p:custDataLst>
            </p:nvPr>
          </p:nvSpPr>
          <p:spPr>
            <a:xfrm>
              <a:off x="1845295" y="2486058"/>
              <a:ext cx="2572657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bg1"/>
                  </a:solidFill>
                  <a:latin typeface="+mj-ea"/>
                  <a:ea typeface="+mj-ea"/>
                </a:rPr>
                <a:t> ACC Campaign </a:t>
              </a:r>
              <a:r>
                <a:rPr lang="zh-CN" altLang="en-US" sz="2000" dirty="0">
                  <a:solidFill>
                    <a:schemeClr val="bg1"/>
                  </a:solidFill>
                  <a:latin typeface="+mj-ea"/>
                  <a:ea typeface="+mj-ea"/>
                </a:rPr>
                <a:t>创建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2"/>
              </p:custDataLst>
            </p:nvPr>
          </p:nvSpPr>
          <p:spPr>
            <a:xfrm>
              <a:off x="2153378" y="2839975"/>
              <a:ext cx="2671807" cy="245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>
                  <a:solidFill>
                    <a:schemeClr val="bg1">
                      <a:alpha val="47000"/>
                    </a:schemeClr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affliate sand affiliate platform</a:t>
              </a:r>
              <a:endParaRPr lang="en-US" altLang="zh-CN" sz="1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13"/>
              </p:custDataLst>
            </p:nvPr>
          </p:nvSpPr>
          <p:spPr>
            <a:xfrm>
              <a:off x="1486509" y="2516836"/>
              <a:ext cx="8109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chemeClr val="bg2"/>
                  </a:solidFill>
                  <a:latin typeface="思源黑体 CN Normal" panose="020B0400000000000000" pitchFamily="34" charset="-122"/>
                  <a:ea typeface="思源黑体 CN Normal" panose="020B0400000000000000" pitchFamily="34" charset="-122"/>
                </a:rPr>
                <a:t>03</a:t>
              </a:r>
              <a:endParaRPr lang="zh-CN" altLang="en-US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endParaRPr>
            </a:p>
          </p:txBody>
        </p:sp>
      </p:grp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1457812" y="4041228"/>
            <a:ext cx="810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2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04</a:t>
            </a:r>
            <a:endParaRPr lang="zh-CN" altLang="en-US" dirty="0">
              <a:solidFill>
                <a:schemeClr val="bg2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7994242" y="1413691"/>
            <a:ext cx="3200400" cy="35269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8546556" y="2215597"/>
            <a:ext cx="25726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8000" spc="600" dirty="0">
                <a:solidFill>
                  <a:schemeClr val="bg1"/>
                </a:solidFill>
                <a:latin typeface="+mj-ea"/>
                <a:ea typeface="+mj-ea"/>
              </a:rPr>
              <a:t>目录</a:t>
            </a:r>
            <a:endParaRPr lang="zh-CN" altLang="en-US" sz="80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058966" y="4007304"/>
            <a:ext cx="39134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spc="600" dirty="0">
                <a:solidFill>
                  <a:schemeClr val="bg1"/>
                </a:solidFill>
                <a:latin typeface="+mj-ea"/>
                <a:ea typeface="+mj-ea"/>
              </a:rPr>
              <a:t>CONTENT</a:t>
            </a:r>
            <a:endParaRPr lang="zh-CN" altLang="en-US" sz="2800" spc="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>
            <p:custDataLst>
              <p:tags r:id="rId15"/>
            </p:custDataLst>
          </p:nvPr>
        </p:nvSpPr>
        <p:spPr>
          <a:xfrm>
            <a:off x="1900134" y="4039164"/>
            <a:ext cx="257265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j-ea"/>
                <a:ea typeface="+mj-ea"/>
              </a:rPr>
              <a:t>ACC </a:t>
            </a:r>
            <a:r>
              <a:rPr lang="zh-CN" altLang="en-US" sz="2000" dirty="0">
                <a:solidFill>
                  <a:schemeClr val="bg1"/>
                </a:solidFill>
                <a:latin typeface="+mj-ea"/>
                <a:ea typeface="+mj-ea"/>
              </a:rPr>
              <a:t>进阶版策略</a:t>
            </a:r>
            <a:endParaRPr lang="zh-CN" altLang="en-US" sz="2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>
            <p:custDataLst>
              <p:tags r:id="rId16"/>
            </p:custDataLst>
          </p:nvPr>
        </p:nvSpPr>
        <p:spPr>
          <a:xfrm>
            <a:off x="1964671" y="4521933"/>
            <a:ext cx="2671807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Affiliate Marketing  S</a:t>
            </a:r>
            <a:r>
              <a:rPr lang="en-US" altLang="zh-CN" sz="1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tragety</a:t>
            </a:r>
            <a:endParaRPr lang="en-US" altLang="zh-CN" sz="10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39736"/>
            <a:ext cx="8427962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625601"/>
            <a:ext cx="8427962" cy="52323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"/>
            <a:ext cx="8428596" cy="162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加号 3"/>
          <p:cNvSpPr/>
          <p:nvPr/>
        </p:nvSpPr>
        <p:spPr>
          <a:xfrm>
            <a:off x="7692359" y="259602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9266" y="259602"/>
            <a:ext cx="2572657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</a:rPr>
              <a:t>PART ONE</a:t>
            </a:r>
            <a:endParaRPr lang="en-US" altLang="zh-CN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3100" y="507365"/>
            <a:ext cx="4095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A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ffliate marketing  insight</a:t>
            </a:r>
            <a:endParaRPr lang="en-US" altLang="zh-CN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0196" y="259602"/>
            <a:ext cx="3488603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Marketing</a:t>
            </a:r>
            <a:endParaRPr lang="en-US" altLang="zh-CN" sz="4000" dirty="0">
              <a:solidFill>
                <a:schemeClr val="accent1"/>
              </a:solidFill>
              <a:latin typeface="+mj-ea"/>
              <a:ea typeface="+mj-ea"/>
              <a:sym typeface="+mn-ea"/>
            </a:endParaRPr>
          </a:p>
          <a:p>
            <a:r>
              <a:rPr lang="en-US" altLang="zh-CN" sz="40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Strategy</a:t>
            </a:r>
            <a:endParaRPr lang="en-US" altLang="zh-CN" sz="4000" dirty="0">
              <a:solidFill>
                <a:schemeClr val="accent1"/>
              </a:solidFill>
              <a:latin typeface="+mj-ea"/>
              <a:ea typeface="+mj-ea"/>
            </a:endParaRPr>
          </a:p>
          <a:p>
            <a:endParaRPr lang="en-US" altLang="zh-CN" sz="4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58464" y="2191464"/>
            <a:ext cx="257265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+mj-ea"/>
                <a:ea typeface="+mj-ea"/>
              </a:rPr>
              <a:t>联盟</a:t>
            </a:r>
            <a:endParaRPr lang="zh-CN" altLang="en-US" sz="8000" dirty="0">
              <a:latin typeface="+mj-ea"/>
              <a:ea typeface="+mj-ea"/>
            </a:endParaRPr>
          </a:p>
          <a:p>
            <a:r>
              <a:rPr lang="zh-CN" altLang="en-US" sz="8000" dirty="0">
                <a:latin typeface="+mj-ea"/>
                <a:ea typeface="+mj-ea"/>
              </a:rPr>
              <a:t>洞察 </a:t>
            </a:r>
            <a:endParaRPr lang="zh-CN" altLang="en-US" sz="8000" dirty="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94065" y="2100024"/>
            <a:ext cx="5992586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01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Affiliate Marketing 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Insight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endParaRPr lang="zh-CN" altLang="en-US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3578" y="4929601"/>
            <a:ext cx="6613072" cy="33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Artificial intelligence</a:t>
            </a:r>
            <a:endParaRPr lang="en-US" altLang="zh-CN" sz="1200" dirty="0">
              <a:solidFill>
                <a:schemeClr val="bg1">
                  <a:lumMod val="95000"/>
                  <a:alpha val="56000"/>
                </a:schemeClr>
              </a:solidFill>
              <a:latin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375807" y="4204607"/>
            <a:ext cx="4963886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794644" y="5062714"/>
            <a:ext cx="305173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A</a:t>
            </a: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ffiliate marketing</a:t>
            </a:r>
            <a:endParaRPr lang="en-US" altLang="zh-CN" sz="1000" dirty="0">
              <a:solidFill>
                <a:schemeClr val="accent2">
                  <a:alpha val="56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71359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1996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年</a:t>
            </a:r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-Amazon associates 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：平台主动</a:t>
            </a:r>
            <a:endParaRPr lang="en-US" altLang="zh-CN" sz="3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80" y="1052830"/>
            <a:ext cx="6750050" cy="5020945"/>
          </a:xfrm>
          <a:prstGeom prst="rect">
            <a:avLst/>
          </a:prstGeom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81755" y="1709894"/>
            <a:ext cx="4985894" cy="3855126"/>
          </a:xfrm>
          <a:prstGeom prst="roundRect">
            <a:avLst>
              <a:gd name="adj" fmla="val 2357"/>
            </a:avLst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71359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Amazon associates 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：从站外获取流量</a:t>
            </a:r>
            <a:endParaRPr lang="en-US" altLang="zh-CN" sz="3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0" y="1849120"/>
            <a:ext cx="5772150" cy="394335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110" y="1744980"/>
            <a:ext cx="5812790" cy="383095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480185" y="5842000"/>
            <a:ext cx="970597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400">
                <a:solidFill>
                  <a:schemeClr val="accent4"/>
                </a:solidFill>
                <a:effectLst/>
              </a:rPr>
              <a:t>卖家介入：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 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直接找联盟客合作并获取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 associates report 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支付</a:t>
            </a:r>
            <a:endParaRPr lang="zh-CN" altLang="en-US" sz="2400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1129919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2019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年</a:t>
            </a:r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-Amazon Attribution 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：卖家主动</a:t>
            </a:r>
            <a:endParaRPr lang="en-US" altLang="zh-CN" sz="3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487535" y="2348230"/>
            <a:ext cx="2376170" cy="48310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en-US" altLang="zh-CN" sz="2800">
                <a:solidFill>
                  <a:schemeClr val="accent4"/>
                </a:solidFill>
              </a:rPr>
              <a:t>1-  </a:t>
            </a:r>
            <a:r>
              <a:rPr lang="zh-CN" altLang="en-US" sz="2800">
                <a:solidFill>
                  <a:schemeClr val="accent4"/>
                </a:solidFill>
              </a:rPr>
              <a:t>亚马逊鼓励卖家站外寻找流量。</a:t>
            </a:r>
            <a:endParaRPr lang="zh-CN" altLang="en-US" sz="2800">
              <a:solidFill>
                <a:schemeClr val="accent4"/>
              </a:solidFill>
            </a:endParaRPr>
          </a:p>
          <a:p>
            <a:endParaRPr lang="zh-CN" altLang="en-US" sz="2800">
              <a:solidFill>
                <a:schemeClr val="accent4"/>
              </a:solidFill>
            </a:endParaRPr>
          </a:p>
          <a:p>
            <a:r>
              <a:rPr lang="en-US" altLang="zh-CN" sz="2800">
                <a:solidFill>
                  <a:schemeClr val="accent4"/>
                </a:solidFill>
              </a:rPr>
              <a:t>2-</a:t>
            </a:r>
            <a:r>
              <a:rPr lang="zh-CN" altLang="en-US" sz="2800">
                <a:solidFill>
                  <a:schemeClr val="accent4"/>
                </a:solidFill>
              </a:rPr>
              <a:t>给予品牌奖励金。</a:t>
            </a:r>
            <a:endParaRPr lang="zh-CN" altLang="en-US" sz="2800">
              <a:solidFill>
                <a:schemeClr val="accent4"/>
              </a:solidFill>
            </a:endParaRPr>
          </a:p>
          <a:p>
            <a:endParaRPr lang="zh-CN" altLang="en-US" sz="2800">
              <a:solidFill>
                <a:schemeClr val="accent4"/>
              </a:solidFill>
            </a:endParaRPr>
          </a:p>
          <a:p>
            <a:r>
              <a:rPr lang="en-US" altLang="zh-CN" sz="2800">
                <a:solidFill>
                  <a:schemeClr val="accent4"/>
                </a:solidFill>
              </a:rPr>
              <a:t>3- </a:t>
            </a:r>
            <a:r>
              <a:rPr lang="zh-CN" altLang="en-US" sz="2800">
                <a:solidFill>
                  <a:schemeClr val="accent4"/>
                </a:solidFill>
              </a:rPr>
              <a:t>归因没打通</a:t>
            </a:r>
            <a:r>
              <a:rPr lang="en-US" altLang="zh-CN" sz="2800">
                <a:solidFill>
                  <a:schemeClr val="accent4"/>
                </a:solidFill>
              </a:rPr>
              <a:t>-</a:t>
            </a:r>
            <a:r>
              <a:rPr lang="zh-CN" altLang="en-US" sz="2800">
                <a:solidFill>
                  <a:schemeClr val="accent4"/>
                </a:solidFill>
              </a:rPr>
              <a:t>效果不好</a:t>
            </a:r>
            <a:endParaRPr lang="zh-CN" altLang="en-US" sz="2800">
              <a:solidFill>
                <a:schemeClr val="accent4"/>
              </a:solidFill>
            </a:endParaRPr>
          </a:p>
          <a:p>
            <a:endParaRPr lang="zh-CN" altLang="en-US" sz="2800">
              <a:solidFill>
                <a:schemeClr val="accent4"/>
              </a:solidFill>
            </a:endParaRPr>
          </a:p>
          <a:p>
            <a:endParaRPr lang="zh-CN" altLang="en-US" sz="2800">
              <a:solidFill>
                <a:schemeClr val="accent4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772285"/>
            <a:ext cx="8021320" cy="31261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395845" y="6200140"/>
            <a:ext cx="1645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上图</a:t>
            </a:r>
            <a:r>
              <a:rPr lang="en-US" altLang="zh-CN"/>
              <a:t>- </a:t>
            </a:r>
            <a:r>
              <a:rPr lang="zh-CN" altLang="en-US"/>
              <a:t>萧帮主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11299190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2023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年</a:t>
            </a:r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-Amazon Attribution 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：卖家</a:t>
            </a:r>
            <a:r>
              <a:rPr lang="en-US" altLang="zh-CN" sz="3600" dirty="0">
                <a:solidFill>
                  <a:schemeClr val="accent4"/>
                </a:solidFill>
                <a:latin typeface="+mj-ea"/>
                <a:ea typeface="+mj-ea"/>
              </a:rPr>
              <a:t>-</a:t>
            </a:r>
            <a:r>
              <a:rPr lang="zh-CN" altLang="en-US" sz="3600" dirty="0">
                <a:solidFill>
                  <a:schemeClr val="accent4"/>
                </a:solidFill>
                <a:latin typeface="+mj-ea"/>
                <a:ea typeface="+mj-ea"/>
              </a:rPr>
              <a:t>联盟平台</a:t>
            </a:r>
            <a:endParaRPr lang="zh-CN" altLang="en-US" sz="3600" dirty="0">
              <a:solidFill>
                <a:schemeClr val="accent4"/>
              </a:solidFill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37235" y="1814830"/>
            <a:ext cx="1921510" cy="1251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2021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卖家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广告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+kol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2854325" y="2391410"/>
            <a:ext cx="1153160" cy="1212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203065" y="1814830"/>
            <a:ext cx="1921510" cy="125158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2023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年</a:t>
            </a:r>
            <a:r>
              <a:rPr lang="en-US" altLang="zh-CN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</a:t>
            </a:r>
            <a:endParaRPr lang="en-US" altLang="zh-CN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联盟平台为主</a:t>
            </a:r>
            <a:endParaRPr lang="zh-CN" altLang="en-US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900" y="1501140"/>
            <a:ext cx="3890010" cy="336994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" y="3163570"/>
            <a:ext cx="6680200" cy="34620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6781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亚马逊联盟</a:t>
            </a:r>
            <a:r>
              <a:rPr lang="en-US" altLang="zh-CN" sz="3600" dirty="0">
                <a:latin typeface="+mj-ea"/>
                <a:ea typeface="+mj-ea"/>
              </a:rPr>
              <a:t>-attribution </a:t>
            </a:r>
            <a:r>
              <a:rPr lang="zh-CN" altLang="en-US" sz="3600" dirty="0">
                <a:latin typeface="+mj-ea"/>
                <a:ea typeface="+mj-ea"/>
              </a:rPr>
              <a:t>特点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139190"/>
            <a:ext cx="10166985" cy="5139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610" y="2162810"/>
            <a:ext cx="7092315" cy="3554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2022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 Amazon Creator connections</a:t>
            </a:r>
            <a:endParaRPr lang="en-US" altLang="zh-CN" sz="3600" dirty="0">
              <a:latin typeface="+mj-ea"/>
              <a:ea typeface="+mj-ea"/>
            </a:endParaRPr>
          </a:p>
        </p:txBody>
      </p:sp>
      <p:sp>
        <p:nvSpPr>
          <p:cNvPr id="2" name="矩形: 圆角 2"/>
          <p:cNvSpPr/>
          <p:nvPr>
            <p:custDataLst>
              <p:tags r:id="rId1"/>
            </p:custDataLst>
          </p:nvPr>
        </p:nvSpPr>
        <p:spPr>
          <a:xfrm>
            <a:off x="284903" y="2667368"/>
            <a:ext cx="2089009" cy="34626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06" tIns="46453" rIns="92906" bIns="46453" rtlCol="0" anchor="ctr"/>
          <a:p>
            <a:pPr algn="l"/>
            <a:endParaRPr lang="zh-CN" altLang="en-US" sz="1625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67917" y="3813678"/>
            <a:ext cx="1539271" cy="212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Amazon Creator Connections 是一个品牌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-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创作者连接计划，可让品牌接触亚马逊创作者们，是世界上最大的联盟营销计划之一</a:t>
            </a:r>
            <a:endParaRPr lang="zh-CN" altLang="en-US" sz="1335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3"/>
            </p:custDataLst>
          </p:nvPr>
        </p:nvSpPr>
        <p:spPr>
          <a:xfrm>
            <a:off x="567629" y="1999271"/>
            <a:ext cx="973899" cy="9274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60" dirty="0">
                <a:solidFill>
                  <a:schemeClr val="lt1"/>
                </a:solidFill>
                <a:sym typeface="+mn-ea"/>
              </a:rPr>
              <a:t>What</a:t>
            </a:r>
            <a:endParaRPr lang="en-US" altLang="zh-CN" sz="2260" b="1" dirty="0">
              <a:solidFill>
                <a:schemeClr val="lt1"/>
              </a:solidFill>
              <a:cs typeface="+mn-ea"/>
              <a:sym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4"/>
            </p:custDataLst>
          </p:nvPr>
        </p:nvCxnSpPr>
        <p:spPr>
          <a:xfrm flipV="1">
            <a:off x="483079" y="3671152"/>
            <a:ext cx="1729983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571311" y="3062366"/>
            <a:ext cx="1539271" cy="4737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35" b="1" dirty="0">
                <a:solidFill>
                  <a:schemeClr val="accent1"/>
                </a:solidFill>
                <a:cs typeface="+mn-ea"/>
              </a:rPr>
              <a:t>世界最大的联盟营销计划之一</a:t>
            </a:r>
            <a:endParaRPr lang="zh-CN" altLang="en-US" sz="1335" b="1" dirty="0">
              <a:solidFill>
                <a:schemeClr val="accent1"/>
              </a:solidFill>
              <a:cs typeface="+mn-ea"/>
            </a:endParaRPr>
          </a:p>
        </p:txBody>
      </p:sp>
      <p:sp>
        <p:nvSpPr>
          <p:cNvPr id="19" name="矩形: 圆角 2"/>
          <p:cNvSpPr/>
          <p:nvPr>
            <p:custDataLst>
              <p:tags r:id="rId6"/>
            </p:custDataLst>
          </p:nvPr>
        </p:nvSpPr>
        <p:spPr>
          <a:xfrm>
            <a:off x="2641318" y="2683656"/>
            <a:ext cx="2089009" cy="34626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06" tIns="46453" rIns="92906" bIns="46453" rtlCol="0" anchor="ctr"/>
          <a:p>
            <a:pPr algn="l"/>
            <a:endParaRPr lang="zh-CN" altLang="en-US" sz="1625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2775131" y="3834047"/>
            <a:ext cx="1821149" cy="21874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35">
                <a:solidFill>
                  <a:schemeClr val="tx1"/>
                </a:solidFill>
                <a:sym typeface="+mn-ea"/>
              </a:rPr>
              <a:t>属于</a:t>
            </a:r>
            <a:r>
              <a:rPr lang="en-US" altLang="zh-CN" sz="1335">
                <a:solidFill>
                  <a:schemeClr val="tx1"/>
                </a:solidFill>
                <a:sym typeface="+mn-ea"/>
              </a:rPr>
              <a:t>Amazon Associates</a:t>
            </a:r>
            <a:r>
              <a:rPr lang="zh-CN" altLang="en-US" sz="1335">
                <a:solidFill>
                  <a:schemeClr val="tx1"/>
                </a:solidFill>
                <a:sym typeface="+mn-ea"/>
              </a:rPr>
              <a:t>会员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，在邀请下可以加入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Creator Connections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项目，为亚马逊上销售的产品提供创作和推广内容</a:t>
            </a:r>
            <a:endParaRPr lang="zh-CN" altLang="en-US" sz="1335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sp>
        <p:nvSpPr>
          <p:cNvPr id="21" name="圆角矩形 20"/>
          <p:cNvSpPr/>
          <p:nvPr>
            <p:custDataLst>
              <p:tags r:id="rId8"/>
            </p:custDataLst>
          </p:nvPr>
        </p:nvSpPr>
        <p:spPr>
          <a:xfrm>
            <a:off x="2924222" y="1983240"/>
            <a:ext cx="973899" cy="930613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60" dirty="0">
                <a:solidFill>
                  <a:schemeClr val="accent1"/>
                </a:solidFill>
                <a:sym typeface="+mn-ea"/>
              </a:rPr>
              <a:t>Who</a:t>
            </a:r>
            <a:endParaRPr lang="en-US" altLang="zh-CN" sz="226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9"/>
            </p:custDataLst>
          </p:nvPr>
        </p:nvCxnSpPr>
        <p:spPr>
          <a:xfrm flipV="1">
            <a:off x="2839495" y="3701692"/>
            <a:ext cx="1731340" cy="0"/>
          </a:xfrm>
          <a:prstGeom prst="line">
            <a:avLst/>
          </a:prstGeom>
          <a:ln w="22225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>
            <p:custDataLst>
              <p:tags r:id="rId10"/>
            </p:custDataLst>
          </p:nvPr>
        </p:nvSpPr>
        <p:spPr>
          <a:xfrm>
            <a:off x="2930439" y="3067116"/>
            <a:ext cx="1539271" cy="48119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335" b="1">
                <a:solidFill>
                  <a:schemeClr val="accent2"/>
                </a:solidFill>
                <a:sym typeface="+mn-ea"/>
              </a:rPr>
              <a:t>Amazon Associates</a:t>
            </a:r>
            <a:r>
              <a:rPr lang="zh-CN" altLang="en-US" sz="1335" b="1">
                <a:solidFill>
                  <a:schemeClr val="accent2"/>
                </a:solidFill>
                <a:sym typeface="+mn-ea"/>
              </a:rPr>
              <a:t>成员</a:t>
            </a:r>
            <a:endParaRPr lang="zh-CN" altLang="en-US" sz="1335" b="1">
              <a:solidFill>
                <a:schemeClr val="accent2"/>
              </a:solidFill>
              <a:cs typeface="+mn-ea"/>
              <a:sym typeface="+mn-ea"/>
            </a:endParaRPr>
          </a:p>
        </p:txBody>
      </p:sp>
      <p:sp>
        <p:nvSpPr>
          <p:cNvPr id="24" name="矩形: 圆角 2"/>
          <p:cNvSpPr/>
          <p:nvPr>
            <p:custDataLst>
              <p:tags r:id="rId11"/>
            </p:custDataLst>
          </p:nvPr>
        </p:nvSpPr>
        <p:spPr>
          <a:xfrm>
            <a:off x="4984106" y="2683592"/>
            <a:ext cx="2089009" cy="34626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06" tIns="46453" rIns="92906" bIns="46453" rtlCol="0" anchor="ctr"/>
          <a:p>
            <a:pPr algn="l"/>
            <a:endParaRPr lang="zh-CN" altLang="en-US" sz="1625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>
            <p:custDataLst>
              <p:tags r:id="rId12"/>
            </p:custDataLst>
          </p:nvPr>
        </p:nvSpPr>
        <p:spPr>
          <a:xfrm>
            <a:off x="5280745" y="3827251"/>
            <a:ext cx="1539271" cy="212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23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年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Q2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开启内测，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Q3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实践，至今仍在慢慢开放</a:t>
            </a:r>
            <a:endParaRPr lang="zh-CN" altLang="en-US" sz="1335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sp>
        <p:nvSpPr>
          <p:cNvPr id="26" name="圆角矩形 25"/>
          <p:cNvSpPr/>
          <p:nvPr>
            <p:custDataLst>
              <p:tags r:id="rId13"/>
            </p:custDataLst>
          </p:nvPr>
        </p:nvSpPr>
        <p:spPr>
          <a:xfrm>
            <a:off x="5280814" y="1986446"/>
            <a:ext cx="973899" cy="929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60" dirty="0">
                <a:solidFill>
                  <a:schemeClr val="lt1"/>
                </a:solidFill>
                <a:sym typeface="+mn-ea"/>
              </a:rPr>
              <a:t>When</a:t>
            </a:r>
            <a:endParaRPr lang="en-US" altLang="zh-CN" sz="2260" b="1" dirty="0">
              <a:solidFill>
                <a:schemeClr val="lt1"/>
              </a:solidFill>
              <a:cs typeface="+mn-ea"/>
              <a:sym typeface="+mn-ea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14"/>
            </p:custDataLst>
          </p:nvPr>
        </p:nvCxnSpPr>
        <p:spPr>
          <a:xfrm flipV="1">
            <a:off x="5195911" y="3679296"/>
            <a:ext cx="1731340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5280745" y="3061010"/>
            <a:ext cx="1539271" cy="4737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35" b="1" dirty="0">
                <a:solidFill>
                  <a:schemeClr val="accent1"/>
                </a:solidFill>
                <a:cs typeface="+mn-ea"/>
              </a:rPr>
              <a:t>最新的风口</a:t>
            </a:r>
            <a:endParaRPr lang="zh-CN" altLang="en-US" sz="1335" b="1" dirty="0">
              <a:solidFill>
                <a:schemeClr val="accent1"/>
              </a:solidFill>
              <a:cs typeface="+mn-ea"/>
            </a:endParaRPr>
          </a:p>
        </p:txBody>
      </p:sp>
      <p:sp>
        <p:nvSpPr>
          <p:cNvPr id="29" name="矩形: 圆角 2"/>
          <p:cNvSpPr/>
          <p:nvPr>
            <p:custDataLst>
              <p:tags r:id="rId16"/>
            </p:custDataLst>
          </p:nvPr>
        </p:nvSpPr>
        <p:spPr>
          <a:xfrm>
            <a:off x="7354146" y="2679584"/>
            <a:ext cx="2089009" cy="34626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06" tIns="46453" rIns="92906" bIns="46453" rtlCol="0" anchor="ctr"/>
          <a:p>
            <a:pPr algn="l"/>
            <a:endParaRPr lang="zh-CN" altLang="en-US" sz="1625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矩形 29"/>
          <p:cNvSpPr/>
          <p:nvPr>
            <p:custDataLst>
              <p:tags r:id="rId17"/>
            </p:custDataLst>
          </p:nvPr>
        </p:nvSpPr>
        <p:spPr>
          <a:xfrm>
            <a:off x="7637159" y="3831323"/>
            <a:ext cx="1539271" cy="212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在亚马逊后台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-Brand Content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可找到入口</a:t>
            </a:r>
            <a:endParaRPr lang="en-US" altLang="zh-CN" sz="1335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335" dirty="0">
              <a:solidFill>
                <a:schemeClr val="tx1"/>
              </a:solidFill>
              <a:cs typeface="+mn-ea"/>
            </a:endParaRPr>
          </a:p>
        </p:txBody>
      </p:sp>
      <p:sp>
        <p:nvSpPr>
          <p:cNvPr id="31" name="圆角矩形 30"/>
          <p:cNvSpPr/>
          <p:nvPr>
            <p:custDataLst>
              <p:tags r:id="rId18"/>
            </p:custDataLst>
          </p:nvPr>
        </p:nvSpPr>
        <p:spPr>
          <a:xfrm>
            <a:off x="7637407" y="1986446"/>
            <a:ext cx="973899" cy="929812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60" dirty="0">
                <a:solidFill>
                  <a:schemeClr val="accent1"/>
                </a:solidFill>
                <a:sym typeface="+mn-ea"/>
              </a:rPr>
              <a:t>Where</a:t>
            </a:r>
            <a:endParaRPr lang="en-US" altLang="zh-CN" sz="226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cxnSp>
        <p:nvCxnSpPr>
          <p:cNvPr id="32" name="直接连接符 31"/>
          <p:cNvCxnSpPr/>
          <p:nvPr>
            <p:custDataLst>
              <p:tags r:id="rId19"/>
            </p:custDataLst>
          </p:nvPr>
        </p:nvCxnSpPr>
        <p:spPr>
          <a:xfrm flipV="1">
            <a:off x="7552323" y="3682011"/>
            <a:ext cx="1731340" cy="0"/>
          </a:xfrm>
          <a:prstGeom prst="line">
            <a:avLst/>
          </a:prstGeom>
          <a:ln w="22225">
            <a:solidFill>
              <a:schemeClr val="accent2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>
            <p:custDataLst>
              <p:tags r:id="rId20"/>
            </p:custDataLst>
          </p:nvPr>
        </p:nvSpPr>
        <p:spPr>
          <a:xfrm>
            <a:off x="7637159" y="3062366"/>
            <a:ext cx="1539271" cy="4737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335" b="1">
                <a:solidFill>
                  <a:schemeClr val="accent2"/>
                </a:solidFill>
                <a:sym typeface="+mn-ea"/>
              </a:rPr>
              <a:t>Brand Content</a:t>
            </a:r>
            <a:r>
              <a:rPr lang="zh-CN" altLang="en-US" sz="1335" b="1">
                <a:solidFill>
                  <a:schemeClr val="accent2"/>
                </a:solidFill>
                <a:sym typeface="+mn-ea"/>
              </a:rPr>
              <a:t>找到</a:t>
            </a:r>
            <a:r>
              <a:rPr lang="en-US" altLang="zh-CN" sz="1335" b="1">
                <a:solidFill>
                  <a:schemeClr val="accent2"/>
                </a:solidFill>
                <a:sym typeface="+mn-ea"/>
              </a:rPr>
              <a:t>入口</a:t>
            </a:r>
            <a:endParaRPr lang="en-US" altLang="zh-CN" sz="1335" b="1" dirty="0">
              <a:solidFill>
                <a:schemeClr val="accent2"/>
              </a:solidFill>
              <a:cs typeface="+mn-ea"/>
              <a:sym typeface="+mn-ea"/>
            </a:endParaRPr>
          </a:p>
        </p:txBody>
      </p:sp>
      <p:sp>
        <p:nvSpPr>
          <p:cNvPr id="35" name="矩形: 圆角 2"/>
          <p:cNvSpPr/>
          <p:nvPr>
            <p:custDataLst>
              <p:tags r:id="rId21"/>
            </p:custDataLst>
          </p:nvPr>
        </p:nvSpPr>
        <p:spPr>
          <a:xfrm>
            <a:off x="9710561" y="2679584"/>
            <a:ext cx="2089009" cy="3462680"/>
          </a:xfrm>
          <a:prstGeom prst="roundRect">
            <a:avLst>
              <a:gd name="adj" fmla="val 0"/>
            </a:avLst>
          </a:prstGeom>
          <a:solidFill>
            <a:schemeClr val="tx1">
              <a:lumMod val="40000"/>
              <a:lumOff val="60000"/>
              <a:alpha val="15000"/>
            </a:schemeClr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906" tIns="46453" rIns="92906" bIns="46453" rtlCol="0" anchor="ctr"/>
          <a:p>
            <a:pPr algn="l"/>
            <a:endParaRPr lang="zh-CN" altLang="en-US" sz="1625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6" name="矩形 35"/>
          <p:cNvSpPr/>
          <p:nvPr>
            <p:custDataLst>
              <p:tags r:id="rId22"/>
            </p:custDataLst>
          </p:nvPr>
        </p:nvSpPr>
        <p:spPr>
          <a:xfrm>
            <a:off x="9993575" y="3827251"/>
            <a:ext cx="1539271" cy="21256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广告主创建广告</a:t>
            </a:r>
            <a:r>
              <a:rPr lang="en-US" altLang="zh-CN" sz="1335" dirty="0">
                <a:solidFill>
                  <a:schemeClr val="tx1"/>
                </a:solidFill>
                <a:sym typeface="+mn-ea"/>
              </a:rPr>
              <a:t>campaign</a:t>
            </a:r>
            <a:r>
              <a:rPr lang="zh-CN" altLang="en-US" sz="1335" dirty="0">
                <a:solidFill>
                  <a:schemeClr val="tx1"/>
                </a:solidFill>
                <a:sym typeface="+mn-ea"/>
              </a:rPr>
              <a:t>，平台内的创作者自主选择是否加入活动</a:t>
            </a:r>
            <a:endParaRPr lang="zh-CN" altLang="en-US" sz="1335" dirty="0">
              <a:solidFill>
                <a:schemeClr val="tx1"/>
              </a:solidFill>
              <a:cs typeface="+mn-ea"/>
              <a:sym typeface="+mn-ea"/>
            </a:endParaRPr>
          </a:p>
        </p:txBody>
      </p:sp>
      <p:sp>
        <p:nvSpPr>
          <p:cNvPr id="37" name="圆角矩形 36"/>
          <p:cNvSpPr/>
          <p:nvPr>
            <p:custDataLst>
              <p:tags r:id="rId23"/>
            </p:custDataLst>
          </p:nvPr>
        </p:nvSpPr>
        <p:spPr>
          <a:xfrm>
            <a:off x="9993198" y="1986446"/>
            <a:ext cx="973899" cy="929812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260" dirty="0">
                <a:solidFill>
                  <a:schemeClr val="lt1"/>
                </a:solidFill>
                <a:sym typeface="+mn-ea"/>
              </a:rPr>
              <a:t>How</a:t>
            </a:r>
            <a:endParaRPr lang="en-US" altLang="zh-CN" sz="2260" b="1" dirty="0">
              <a:solidFill>
                <a:schemeClr val="lt1"/>
              </a:solidFill>
              <a:cs typeface="+mn-ea"/>
              <a:sym typeface="+mn-ea"/>
            </a:endParaRPr>
          </a:p>
        </p:txBody>
      </p:sp>
      <p:cxnSp>
        <p:nvCxnSpPr>
          <p:cNvPr id="38" name="直接连接符 37"/>
          <p:cNvCxnSpPr/>
          <p:nvPr>
            <p:custDataLst>
              <p:tags r:id="rId24"/>
            </p:custDataLst>
          </p:nvPr>
        </p:nvCxnSpPr>
        <p:spPr>
          <a:xfrm flipV="1">
            <a:off x="9908739" y="3679296"/>
            <a:ext cx="1731340" cy="0"/>
          </a:xfrm>
          <a:prstGeom prst="line">
            <a:avLst/>
          </a:prstGeom>
          <a:ln w="22225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矩形 38"/>
          <p:cNvSpPr/>
          <p:nvPr>
            <p:custDataLst>
              <p:tags r:id="rId25"/>
            </p:custDataLst>
          </p:nvPr>
        </p:nvSpPr>
        <p:spPr>
          <a:xfrm>
            <a:off x="9993575" y="3061010"/>
            <a:ext cx="1539271" cy="4737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35" b="1" dirty="0">
                <a:solidFill>
                  <a:schemeClr val="accent1"/>
                </a:solidFill>
                <a:cs typeface="+mn-ea"/>
              </a:rPr>
              <a:t>以成单计算佣金</a:t>
            </a:r>
            <a:endParaRPr lang="zh-CN" altLang="en-US" sz="1335" b="1" dirty="0">
              <a:solidFill>
                <a:schemeClr val="accent1"/>
              </a:solidFill>
              <a:cs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26"/>
        </p:blipFill>
        <p:spPr>
          <a:xfrm>
            <a:off x="3571240" y="1312545"/>
            <a:ext cx="5441950" cy="4833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2022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 Amazon Creator connections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" y="1183005"/>
            <a:ext cx="6121400" cy="5111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050" y="1602740"/>
            <a:ext cx="6502400" cy="406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5"/>
          <p:cNvSpPr txBox="1"/>
          <p:nvPr/>
        </p:nvSpPr>
        <p:spPr>
          <a:xfrm>
            <a:off x="1154762" y="16570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1996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72" name="Google Shape;572;p65"/>
          <p:cNvSpPr txBox="1"/>
          <p:nvPr/>
        </p:nvSpPr>
        <p:spPr>
          <a:xfrm>
            <a:off x="953187" y="217958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亚马逊联盟营销诞生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73" name="Google Shape;573;p65"/>
          <p:cNvSpPr txBox="1"/>
          <p:nvPr/>
        </p:nvSpPr>
        <p:spPr>
          <a:xfrm>
            <a:off x="4381867" y="16570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201</a:t>
            </a:r>
            <a:r>
              <a:rPr lang="en-US" alt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9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75" name="Google Shape;575;p65"/>
          <p:cNvSpPr txBox="1"/>
          <p:nvPr/>
        </p:nvSpPr>
        <p:spPr>
          <a:xfrm>
            <a:off x="7810267" y="16570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2020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77" name="Google Shape;577;p65"/>
          <p:cNvSpPr/>
          <p:nvPr/>
        </p:nvSpPr>
        <p:spPr>
          <a:xfrm>
            <a:off x="2587061" y="33498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8" name="Google Shape;578;p65"/>
          <p:cNvSpPr txBox="1"/>
          <p:nvPr/>
        </p:nvSpPr>
        <p:spPr>
          <a:xfrm>
            <a:off x="953467" y="40702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2022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80" name="Google Shape;580;p65"/>
          <p:cNvSpPr txBox="1"/>
          <p:nvPr/>
        </p:nvSpPr>
        <p:spPr>
          <a:xfrm>
            <a:off x="4381867" y="40702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2023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82" name="Google Shape;582;p65"/>
          <p:cNvSpPr txBox="1"/>
          <p:nvPr/>
        </p:nvSpPr>
        <p:spPr>
          <a:xfrm>
            <a:off x="7810267" y="4070267"/>
            <a:ext cx="3428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202</a:t>
            </a:r>
            <a:r>
              <a:rPr lang="en-US" altLang="en-GB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4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年</a:t>
            </a:r>
            <a:r>
              <a:rPr lang="en-US" altLang="zh-CN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12</a:t>
            </a:r>
            <a:r>
              <a:rPr lang="zh-CN" altLang="en-US" sz="2400" b="1" dirty="0">
                <a:solidFill>
                  <a:schemeClr val="accent4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月新政</a:t>
            </a:r>
            <a:endParaRPr lang="zh-CN" altLang="en-US" sz="2400" b="1" dirty="0">
              <a:solidFill>
                <a:schemeClr val="accent4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84" name="Google Shape;584;p65"/>
          <p:cNvSpPr/>
          <p:nvPr/>
        </p:nvSpPr>
        <p:spPr>
          <a:xfrm>
            <a:off x="2587061" y="57630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5" name="Google Shape;585;p65"/>
          <p:cNvSpPr/>
          <p:nvPr/>
        </p:nvSpPr>
        <p:spPr>
          <a:xfrm>
            <a:off x="6015461" y="33498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6" name="Google Shape;586;p65"/>
          <p:cNvSpPr/>
          <p:nvPr/>
        </p:nvSpPr>
        <p:spPr>
          <a:xfrm>
            <a:off x="6015461" y="57630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7" name="Google Shape;587;p65"/>
          <p:cNvSpPr/>
          <p:nvPr/>
        </p:nvSpPr>
        <p:spPr>
          <a:xfrm>
            <a:off x="9443861" y="33498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8" name="Google Shape;588;p65"/>
          <p:cNvSpPr/>
          <p:nvPr/>
        </p:nvSpPr>
        <p:spPr>
          <a:xfrm>
            <a:off x="9443861" y="5763053"/>
            <a:ext cx="161200" cy="16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9" name="Google Shape;589;p65"/>
          <p:cNvCxnSpPr>
            <a:stCxn id="577" idx="3"/>
            <a:endCxn id="585" idx="1"/>
          </p:cNvCxnSpPr>
          <p:nvPr/>
        </p:nvCxnSpPr>
        <p:spPr>
          <a:xfrm>
            <a:off x="2748261" y="3430453"/>
            <a:ext cx="326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0" name="Google Shape;590;p65"/>
          <p:cNvCxnSpPr>
            <a:stCxn id="585" idx="3"/>
            <a:endCxn id="587" idx="1"/>
          </p:cNvCxnSpPr>
          <p:nvPr/>
        </p:nvCxnSpPr>
        <p:spPr>
          <a:xfrm>
            <a:off x="6176661" y="3430453"/>
            <a:ext cx="326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1" name="Google Shape;591;p65"/>
          <p:cNvCxnSpPr>
            <a:stCxn id="584" idx="3"/>
            <a:endCxn id="586" idx="1"/>
          </p:cNvCxnSpPr>
          <p:nvPr/>
        </p:nvCxnSpPr>
        <p:spPr>
          <a:xfrm>
            <a:off x="2748261" y="5843653"/>
            <a:ext cx="326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2" name="Google Shape;592;p65"/>
          <p:cNvCxnSpPr>
            <a:stCxn id="586" idx="3"/>
            <a:endCxn id="588" idx="1"/>
          </p:cNvCxnSpPr>
          <p:nvPr/>
        </p:nvCxnSpPr>
        <p:spPr>
          <a:xfrm>
            <a:off x="6176661" y="5843653"/>
            <a:ext cx="326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65"/>
          <p:cNvCxnSpPr>
            <a:stCxn id="587" idx="3"/>
            <a:endCxn id="584" idx="1"/>
          </p:cNvCxnSpPr>
          <p:nvPr/>
        </p:nvCxnSpPr>
        <p:spPr>
          <a:xfrm flipH="1">
            <a:off x="2587061" y="3430453"/>
            <a:ext cx="7018000" cy="2413200"/>
          </a:xfrm>
          <a:prstGeom prst="bentConnector5">
            <a:avLst>
              <a:gd name="adj1" fmla="val -23330"/>
              <a:gd name="adj2" fmla="val 19096"/>
              <a:gd name="adj3" fmla="val 12331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572;p65"/>
          <p:cNvSpPr txBox="1"/>
          <p:nvPr/>
        </p:nvSpPr>
        <p:spPr>
          <a:xfrm>
            <a:off x="953461" y="257944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Amazon Associates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项目登录</a:t>
            </a:r>
            <a:endParaRPr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3" name="Google Shape;572;p65"/>
          <p:cNvSpPr txBox="1"/>
          <p:nvPr/>
        </p:nvSpPr>
        <p:spPr>
          <a:xfrm>
            <a:off x="4381735" y="210689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归因链接内测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4" name="Google Shape;572;p65"/>
          <p:cNvSpPr txBox="1"/>
          <p:nvPr/>
        </p:nvSpPr>
        <p:spPr>
          <a:xfrm>
            <a:off x="4381729" y="252127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Attribution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开始鼓励卖家自主</a:t>
            </a:r>
            <a:endParaRPr lang="zh-CN" alt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站外引流</a:t>
            </a:r>
            <a:endParaRPr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5" name="Google Shape;572;p65"/>
          <p:cNvSpPr txBox="1"/>
          <p:nvPr/>
        </p:nvSpPr>
        <p:spPr>
          <a:xfrm>
            <a:off x="7809992" y="210689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亚马逊逐步降低佣金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6" name="Google Shape;572;p65"/>
          <p:cNvSpPr txBox="1"/>
          <p:nvPr/>
        </p:nvSpPr>
        <p:spPr>
          <a:xfrm>
            <a:off x="7809987" y="2521277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联盟客逐渐对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Amazon Associates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失去兴趣</a:t>
            </a:r>
            <a:endParaRPr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7" name="Google Shape;572;p65"/>
          <p:cNvSpPr txBox="1"/>
          <p:nvPr/>
        </p:nvSpPr>
        <p:spPr>
          <a:xfrm>
            <a:off x="953187" y="4591335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Creator Connections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8" name="Google Shape;572;p65"/>
          <p:cNvSpPr txBox="1"/>
          <p:nvPr/>
        </p:nvSpPr>
        <p:spPr>
          <a:xfrm>
            <a:off x="953461" y="4991195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亚马逊推出全新项目以和</a:t>
            </a:r>
            <a:r>
              <a:rPr lang="en-US" altLang="zh-CN" sz="1600" dirty="0" err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Temu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, Shein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竞争站外流量</a:t>
            </a:r>
            <a:endParaRPr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9" name="Google Shape;572;p65"/>
          <p:cNvSpPr txBox="1"/>
          <p:nvPr/>
        </p:nvSpPr>
        <p:spPr>
          <a:xfrm>
            <a:off x="4534587" y="4597363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第三方联盟平台出现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10" name="Google Shape;572;p65"/>
          <p:cNvSpPr txBox="1"/>
          <p:nvPr/>
        </p:nvSpPr>
        <p:spPr>
          <a:xfrm>
            <a:off x="4534861" y="4997223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Attribution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联盟客拿高佣金，卖家终于开始拿品牌引流计划返点</a:t>
            </a:r>
            <a:endParaRPr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11" name="Google Shape;572;p65"/>
          <p:cNvSpPr txBox="1"/>
          <p:nvPr/>
        </p:nvSpPr>
        <p:spPr>
          <a:xfrm>
            <a:off x="7890861" y="4583053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4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新纪元</a:t>
            </a:r>
            <a:endParaRPr sz="24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12" name="Google Shape;572;p65"/>
          <p:cNvSpPr txBox="1"/>
          <p:nvPr/>
        </p:nvSpPr>
        <p:spPr>
          <a:xfrm>
            <a:off x="7891136" y="4982913"/>
            <a:ext cx="3428400" cy="54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ACC, 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第三方联盟归因，</a:t>
            </a:r>
            <a:r>
              <a:rPr lang="en-US" altLang="zh-CN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Associatess</a:t>
            </a:r>
            <a:r>
              <a:rPr lang="zh-CN" altLang="en-US" sz="1600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Alexandria Medium"/>
                <a:sym typeface="Alexandria Medium"/>
              </a:rPr>
              <a:t>三头并进</a:t>
            </a:r>
            <a:endParaRPr lang="zh-CN" altLang="en-US" sz="1600" dirty="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Alexandria Medium"/>
              <a:sym typeface="Alexandria Medium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64845" y="413385"/>
            <a:ext cx="9713595" cy="78359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pPr indent="0" algn="l">
              <a:lnSpc>
                <a:spcPct val="125000"/>
              </a:lnSpc>
              <a:defRPr/>
            </a:pPr>
            <a:r>
              <a:rPr lang="en-US" altLang="zh-CN" sz="3600" b="1" dirty="0" err="1">
                <a:solidFill>
                  <a:schemeClr val="accent4"/>
                </a:solidFill>
                <a:latin typeface="Noto Sans SC"/>
                <a:ea typeface="Noto Sans SC"/>
                <a:cs typeface="Noto Sans SC"/>
                <a:sym typeface="Noto Sans SC"/>
              </a:rPr>
              <a:t>亚马逊联盟营销的新纪元</a:t>
            </a:r>
            <a:endParaRPr lang="en-US" altLang="zh-CN" sz="3600" b="1" dirty="0" err="1">
              <a:solidFill>
                <a:schemeClr val="accent4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08077" y="120357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39736"/>
            <a:ext cx="8427962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625601"/>
            <a:ext cx="8427962" cy="52323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"/>
            <a:ext cx="8428596" cy="162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加号 3"/>
          <p:cNvSpPr/>
          <p:nvPr/>
        </p:nvSpPr>
        <p:spPr>
          <a:xfrm>
            <a:off x="7692359" y="259602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9266" y="259602"/>
            <a:ext cx="25726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</a:rPr>
              <a:t>PART ONE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3100" y="507365"/>
            <a:ext cx="33540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W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hy A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ffliate marketing</a:t>
            </a:r>
            <a:endParaRPr lang="en-US" altLang="zh-CN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0196" y="259602"/>
            <a:ext cx="3488603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Affliate marketing</a:t>
            </a:r>
            <a:endParaRPr lang="en-US" altLang="zh-CN" sz="4000" dirty="0">
              <a:solidFill>
                <a:schemeClr val="accent1"/>
              </a:solidFill>
              <a:latin typeface="+mj-ea"/>
              <a:ea typeface="+mj-ea"/>
            </a:endParaRPr>
          </a:p>
          <a:p>
            <a:endParaRPr lang="en-US" altLang="zh-CN" sz="40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58464" y="2191464"/>
            <a:ext cx="257265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latin typeface="+mj-ea"/>
                <a:ea typeface="+mj-ea"/>
              </a:rPr>
              <a:t>ACC</a:t>
            </a:r>
            <a:r>
              <a:rPr lang="zh-CN" altLang="en-US" sz="8000" dirty="0">
                <a:latin typeface="+mj-ea"/>
                <a:ea typeface="+mj-ea"/>
              </a:rPr>
              <a:t>崛起 </a:t>
            </a:r>
            <a:endParaRPr lang="zh-CN" altLang="en-US" sz="8000" dirty="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494065" y="2100024"/>
            <a:ext cx="5992586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02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  W</a:t>
            </a:r>
            <a:r>
              <a:rPr lang="en-US" altLang="zh-CN" sz="44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hy ACC is the king now</a:t>
            </a:r>
            <a:endParaRPr lang="en-US" altLang="zh-CN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endParaRPr lang="zh-CN" altLang="en-US" sz="44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73578" y="4929601"/>
            <a:ext cx="6613072" cy="33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Artificial intelligence</a:t>
            </a:r>
            <a:endParaRPr lang="en-US" altLang="zh-CN" sz="1200" dirty="0">
              <a:solidFill>
                <a:schemeClr val="bg1">
                  <a:lumMod val="95000"/>
                  <a:alpha val="56000"/>
                </a:schemeClr>
              </a:solidFill>
              <a:latin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375807" y="4204607"/>
            <a:ext cx="4963886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794644" y="5062714"/>
            <a:ext cx="305173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A</a:t>
            </a: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ffiliate marketing</a:t>
            </a:r>
            <a:endParaRPr lang="en-US" altLang="zh-CN" sz="1000" dirty="0">
              <a:solidFill>
                <a:schemeClr val="accent2">
                  <a:alpha val="56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2024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12</a:t>
            </a:r>
            <a:r>
              <a:rPr lang="zh-CN" altLang="en-US" sz="3600" dirty="0">
                <a:latin typeface="+mj-ea"/>
                <a:ea typeface="+mj-ea"/>
              </a:rPr>
              <a:t>月</a:t>
            </a:r>
            <a:r>
              <a:rPr lang="en-US" altLang="zh-CN" sz="3600" dirty="0">
                <a:latin typeface="+mj-ea"/>
                <a:ea typeface="+mj-ea"/>
              </a:rPr>
              <a:t>20</a:t>
            </a:r>
            <a:r>
              <a:rPr lang="zh-CN" altLang="en-US" sz="3600" dirty="0">
                <a:latin typeface="+mj-ea"/>
                <a:ea typeface="+mj-ea"/>
              </a:rPr>
              <a:t>日亚马逊新政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50" y="1189355"/>
            <a:ext cx="7256780" cy="4182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</p:pic>
      <p:sp>
        <p:nvSpPr>
          <p:cNvPr id="4" name="文本框 3"/>
          <p:cNvSpPr txBox="1"/>
          <p:nvPr/>
        </p:nvSpPr>
        <p:spPr>
          <a:xfrm>
            <a:off x="8443595" y="1894205"/>
            <a:ext cx="3372485" cy="36760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800" dirty="0">
                <a:solidFill>
                  <a:schemeClr val="accent4"/>
                </a:solidFill>
                <a:effectLst/>
              </a:rPr>
              <a:t>不再允许联盟客同时从任意两个项目同时获取佣金</a:t>
            </a:r>
            <a:endParaRPr lang="zh-CN" altLang="en-US" sz="2800" dirty="0">
              <a:solidFill>
                <a:schemeClr val="accent4"/>
              </a:solidFill>
              <a:effectLst/>
            </a:endParaRPr>
          </a:p>
          <a:p>
            <a:endParaRPr lang="en-US" altLang="zh-CN" sz="2800" dirty="0">
              <a:solidFill>
                <a:schemeClr val="accent4"/>
              </a:solidFill>
              <a:effectLst/>
            </a:endParaRPr>
          </a:p>
          <a:p>
            <a:endParaRPr lang="en-US" altLang="zh-CN" sz="2800" dirty="0">
              <a:solidFill>
                <a:schemeClr val="accent4"/>
              </a:solidFill>
              <a:effectLst/>
            </a:endParaRPr>
          </a:p>
          <a:p>
            <a:r>
              <a:rPr lang="zh-CN" altLang="en-US" sz="2800" dirty="0">
                <a:solidFill>
                  <a:schemeClr val="accent4"/>
                </a:solidFill>
                <a:effectLst/>
              </a:rPr>
              <a:t>禁止叠加使用</a:t>
            </a:r>
            <a:r>
              <a:rPr lang="en-US" altLang="zh-CN" sz="2800" dirty="0">
                <a:solidFill>
                  <a:schemeClr val="accent4"/>
                </a:solidFill>
                <a:effectLst/>
              </a:rPr>
              <a:t>Associates+  Attribution </a:t>
            </a:r>
            <a:endParaRPr lang="zh-CN" altLang="en-US" sz="2800" dirty="0">
              <a:solidFill>
                <a:schemeClr val="accent4"/>
              </a:solidFill>
              <a:effectLst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595" y="2684145"/>
            <a:ext cx="3992880" cy="38773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1827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2025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1</a:t>
            </a:r>
            <a:r>
              <a:rPr lang="zh-CN" altLang="en-US" sz="3600" dirty="0">
                <a:latin typeface="+mj-ea"/>
                <a:ea typeface="+mj-ea"/>
              </a:rPr>
              <a:t>月</a:t>
            </a:r>
            <a:r>
              <a:rPr lang="en-US" altLang="zh-CN" sz="3600" dirty="0">
                <a:latin typeface="+mj-ea"/>
                <a:ea typeface="+mj-ea"/>
              </a:rPr>
              <a:t>-</a:t>
            </a:r>
            <a:r>
              <a:rPr lang="zh-CN" altLang="en-US" sz="3600" dirty="0">
                <a:latin typeface="+mj-ea"/>
                <a:ea typeface="+mj-ea"/>
              </a:rPr>
              <a:t>亚马逊联盟归因的黄金时代结束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27380" y="1130935"/>
            <a:ext cx="9334500" cy="401129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56995" y="5293360"/>
            <a:ext cx="9615170" cy="8299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2400">
                <a:solidFill>
                  <a:schemeClr val="accent4"/>
                </a:solidFill>
                <a:effectLst/>
              </a:rPr>
              <a:t>王师傅的联盟代运营业务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 2025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年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1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月在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attribution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板块数据下滑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60%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以上。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  ACC 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，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Associates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，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Attribution </a:t>
            </a:r>
            <a:r>
              <a:rPr lang="zh-CN" altLang="en-US" sz="2400">
                <a:solidFill>
                  <a:schemeClr val="accent4"/>
                </a:solidFill>
                <a:effectLst/>
              </a:rPr>
              <a:t>三巨头时代来临。</a:t>
            </a:r>
            <a:r>
              <a:rPr lang="en-US" altLang="zh-CN" sz="2400">
                <a:solidFill>
                  <a:schemeClr val="accent4"/>
                </a:solidFill>
                <a:effectLst/>
              </a:rPr>
              <a:t> </a:t>
            </a:r>
            <a:endParaRPr lang="en-US" altLang="zh-CN" sz="2400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三巨头对比：</a:t>
            </a:r>
            <a:r>
              <a:rPr lang="en-US" altLang="zh-CN" sz="3600" dirty="0">
                <a:latin typeface="+mj-ea"/>
                <a:ea typeface="+mj-ea"/>
              </a:rPr>
              <a:t>  Associates</a:t>
            </a:r>
            <a:r>
              <a:rPr lang="zh-CN" altLang="en-US" sz="3600" dirty="0">
                <a:latin typeface="+mj-ea"/>
                <a:ea typeface="+mj-ea"/>
              </a:rPr>
              <a:t>，</a:t>
            </a:r>
            <a:r>
              <a:rPr lang="en-US" altLang="zh-CN" sz="3600" dirty="0">
                <a:latin typeface="+mj-ea"/>
                <a:ea typeface="+mj-ea"/>
              </a:rPr>
              <a:t> ACC</a:t>
            </a:r>
            <a:r>
              <a:rPr lang="zh-CN" altLang="en-US" sz="3600" dirty="0">
                <a:latin typeface="+mj-ea"/>
                <a:ea typeface="+mj-ea"/>
              </a:rPr>
              <a:t>，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  <a:r>
              <a:rPr lang="zh-CN" altLang="en-US" sz="3600" dirty="0">
                <a:latin typeface="+mj-ea"/>
                <a:ea typeface="+mj-ea"/>
              </a:rPr>
              <a:t>归因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845" y="1118870"/>
            <a:ext cx="10196195" cy="52647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2022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 Amazon Creator connections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" y="1183005"/>
            <a:ext cx="6121400" cy="5111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085" y="1706880"/>
            <a:ext cx="6502400" cy="406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39736"/>
            <a:ext cx="8427962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625601"/>
            <a:ext cx="8427962" cy="52323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"/>
            <a:ext cx="8428596" cy="162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加号 3"/>
          <p:cNvSpPr/>
          <p:nvPr/>
        </p:nvSpPr>
        <p:spPr>
          <a:xfrm>
            <a:off x="7692359" y="259602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19075" y="259715"/>
            <a:ext cx="3809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</a:rPr>
              <a:t>PART THREE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213313" y="259602"/>
            <a:ext cx="447841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>
                    <a:alpha val="47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sym typeface="+mn-ea"/>
              </a:rPr>
              <a:t>affliate and affiliate platform</a:t>
            </a:r>
            <a:endParaRPr lang="en-US" altLang="zh-CN" sz="20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endParaRPr lang="en-US" altLang="zh-CN" sz="20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0197" y="259602"/>
            <a:ext cx="3158066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Affliates and Platforms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571797" y="1625601"/>
            <a:ext cx="3158066" cy="252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Affliates </a:t>
            </a:r>
            <a:r>
              <a:rPr lang="en-US" altLang="zh-CN" sz="1050" dirty="0">
                <a:solidFill>
                  <a:schemeClr val="accent1"/>
                </a:solidFill>
                <a:latin typeface="+mj-ea"/>
                <a:ea typeface="+mj-ea"/>
              </a:rPr>
              <a:t>and platforms</a:t>
            </a:r>
            <a:endParaRPr lang="en-US" altLang="zh-CN" sz="105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58464" y="2191464"/>
            <a:ext cx="3335213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>
                <a:latin typeface="+mj-ea"/>
                <a:ea typeface="+mj-ea"/>
              </a:rPr>
              <a:t>ACC </a:t>
            </a:r>
            <a:endParaRPr lang="en-US" altLang="zh-CN" sz="8000" dirty="0">
              <a:latin typeface="+mj-ea"/>
              <a:ea typeface="+mj-ea"/>
            </a:endParaRPr>
          </a:p>
          <a:p>
            <a:r>
              <a:rPr lang="zh-CN" altLang="en-US" sz="8000" dirty="0">
                <a:latin typeface="+mj-ea"/>
                <a:ea typeface="+mj-ea"/>
              </a:rPr>
              <a:t>策略</a:t>
            </a:r>
            <a:endParaRPr lang="zh-CN" altLang="en-US" sz="8000" dirty="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81548" y="2191464"/>
            <a:ext cx="642143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03</a:t>
            </a:r>
            <a:endParaRPr lang="en-US" altLang="zh-CN" sz="40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   ACC strategy</a:t>
            </a:r>
            <a:endParaRPr lang="en-US" altLang="zh-CN" sz="4000" dirty="0">
              <a:solidFill>
                <a:schemeClr val="bg1">
                  <a:alpha val="47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  <a:p>
            <a:pPr algn="r"/>
            <a:endParaRPr lang="en-US" altLang="zh-CN" sz="40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endParaRPr lang="zh-CN" altLang="en-US" sz="40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86426" y="4929601"/>
            <a:ext cx="661307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+mj-ea"/>
                <a:ea typeface="+mj-ea"/>
                <a:sym typeface="+mn-ea"/>
              </a:rPr>
              <a:t>Affliates and platforms</a:t>
            </a:r>
            <a:endParaRPr lang="en-US" altLang="zh-CN" sz="1200" dirty="0">
              <a:solidFill>
                <a:schemeClr val="bg2"/>
              </a:solidFill>
              <a:latin typeface="+mj-ea"/>
              <a:ea typeface="+mj-ea"/>
              <a:sym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392135" y="4204607"/>
            <a:ext cx="4963886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677804" y="5058904"/>
            <a:ext cx="3051735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ea"/>
                <a:ea typeface="+mj-ea"/>
                <a:sym typeface="+mn-ea"/>
              </a:rPr>
              <a:t>Affliates and platforms</a:t>
            </a:r>
            <a:endParaRPr lang="en-US" altLang="zh-CN" sz="1000" dirty="0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1000" dirty="0">
              <a:solidFill>
                <a:schemeClr val="accent1">
                  <a:lumMod val="40000"/>
                  <a:lumOff val="60000"/>
                </a:schemeClr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8000" y="1092200"/>
            <a:ext cx="10160000" cy="52137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altLang="zh-CN" sz="1865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7697" y="266293"/>
            <a:ext cx="10285200" cy="7316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Creator Connections策略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07220" y="563880"/>
          <a:ext cx="3018790" cy="1463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971550" imgH="952500" progId="Package">
                  <p:embed/>
                </p:oleObj>
              </mc:Choice>
              <mc:Fallback>
                <p:oleObj name="" showAsIcon="1" r:id="rId3" imgW="971550" imgH="9525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07220" y="563880"/>
                        <a:ext cx="3018790" cy="14630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935" y="1165225"/>
            <a:ext cx="8851265" cy="52539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Creator Connections入口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953467" y="1607396"/>
            <a:ext cx="4981787" cy="5038513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400800" y="3124200"/>
            <a:ext cx="477858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最新消息：</a:t>
            </a:r>
            <a:r>
              <a:rPr lang="en-US" altLang="zh-CN" sz="2400" dirty="0">
                <a:solidFill>
                  <a:schemeClr val="tx1"/>
                </a:solidFill>
              </a:rPr>
              <a:t>25</a:t>
            </a:r>
            <a:r>
              <a:rPr lang="zh-CN" altLang="en-US" sz="2400" dirty="0">
                <a:solidFill>
                  <a:schemeClr val="tx1"/>
                </a:solidFill>
              </a:rPr>
              <a:t>年</a:t>
            </a:r>
            <a:r>
              <a:rPr lang="en-US" altLang="zh-CN" sz="2400" dirty="0">
                <a:solidFill>
                  <a:schemeClr val="tx1"/>
                </a:solidFill>
              </a:rPr>
              <a:t>2</a:t>
            </a:r>
            <a:r>
              <a:rPr lang="zh-CN" altLang="en-US" sz="2400" dirty="0">
                <a:solidFill>
                  <a:schemeClr val="tx1"/>
                </a:solidFill>
              </a:rPr>
              <a:t>月有大批开放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11200" y="177967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2-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Creator Connections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campaign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页面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533400" y="1193800"/>
            <a:ext cx="10774680" cy="530182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53400" y="606173"/>
            <a:ext cx="10285200" cy="7316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Creator Connections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campaign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第一步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/>
          <p:nvPr>
            <p:custDataLst>
              <p:tags r:id="rId3"/>
            </p:custDataLst>
          </p:nvPr>
        </p:nvPicPr>
        <p:blipFill>
          <a:blip r:embed="rId4"/>
        </p:blipFill>
        <p:spPr>
          <a:xfrm>
            <a:off x="460587" y="1607396"/>
            <a:ext cx="7583593" cy="4882727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229600" y="1701800"/>
            <a:ext cx="3844713" cy="45231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l"/>
            <a:r>
              <a:rPr lang="zh-CN" altLang="en-US" sz="2400" dirty="0">
                <a:solidFill>
                  <a:schemeClr val="accent4"/>
                </a:solidFill>
                <a:effectLst/>
              </a:rPr>
              <a:t>步骤：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1.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识别产品的定位，例如：蓝海产品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/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品牌化产品，根据产品的定位来写标题和开发信。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2.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跟随页面指引，尽可能多地展现品牌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3.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做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A/B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测试，同一款产品不同的标题、内容会不会得到不同的结果，持续优化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4.什么是Creator Connections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295" y="1919685"/>
            <a:ext cx="7416800" cy="363728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115300" y="1581785"/>
            <a:ext cx="3575685" cy="512381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1.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开始时间：创建日后的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6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个工作日生效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2.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目前最低佣金率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10%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，最低预算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5000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美金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endParaRPr lang="zh-CN" altLang="en-US" sz="2400" dirty="0">
              <a:solidFill>
                <a:schemeClr val="accent4"/>
              </a:solidFill>
              <a:effectLst/>
            </a:endParaRPr>
          </a:p>
          <a:p>
            <a:pPr algn="l"/>
            <a:r>
              <a:rPr lang="en-US" altLang="zh-CN" sz="2400" dirty="0">
                <a:solidFill>
                  <a:schemeClr val="accent4"/>
                </a:solidFill>
                <a:effectLst/>
              </a:rPr>
              <a:t>3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：预算可加，周期可延长</a:t>
            </a:r>
            <a:endParaRPr lang="zh-CN" altLang="en-US" sz="2400" dirty="0">
              <a:solidFill>
                <a:schemeClr val="accent4"/>
              </a:solidFill>
              <a:effectLst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9600" y="177967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.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ACC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的联盟客数量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-800 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23333" y="5730240"/>
            <a:ext cx="10364047" cy="388535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创作者数量上限：</a:t>
            </a:r>
            <a:r>
              <a:rPr lang="en-US" altLang="zh-CN" sz="2400" dirty="0">
                <a:solidFill>
                  <a:schemeClr val="tx1"/>
                </a:solidFill>
              </a:rPr>
              <a:t>800*</a:t>
            </a:r>
            <a:r>
              <a:rPr lang="zh-CN" altLang="en-US" sz="2400" dirty="0">
                <a:solidFill>
                  <a:schemeClr val="tx1"/>
                </a:solidFill>
              </a:rPr>
              <a:t>（最新数据），一般加入的创作者在</a:t>
            </a:r>
            <a:r>
              <a:rPr lang="en-US" altLang="zh-CN" sz="2400" dirty="0">
                <a:solidFill>
                  <a:schemeClr val="tx1"/>
                </a:solidFill>
              </a:rPr>
              <a:t>50-70</a:t>
            </a:r>
            <a:r>
              <a:rPr lang="zh-CN" altLang="en-US" sz="2400" dirty="0">
                <a:solidFill>
                  <a:schemeClr val="tx1"/>
                </a:solidFill>
              </a:rPr>
              <a:t>人左右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84200" y="1125220"/>
            <a:ext cx="10130367" cy="459486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6.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下载报表界面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47387" y="5908472"/>
            <a:ext cx="10040620" cy="13411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目前每个活动组都有下载单量报告、创作者提交内容报告的窗口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0011" y="1735507"/>
            <a:ext cx="11750040" cy="36144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7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.联盟客信息回复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- 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送样要谨慎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4317969" y="5560060"/>
            <a:ext cx="7352453" cy="129794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l"/>
            <a:r>
              <a:rPr lang="zh-CN" altLang="en-US" sz="2400" dirty="0">
                <a:solidFill>
                  <a:schemeClr val="tx1"/>
                </a:solidFill>
              </a:rPr>
              <a:t>创作者站内信，可以通过提供的链接了解该红人，进行沟通。此处可以提供邮箱、电话号码，建立长久联系。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64405" y="1720111"/>
            <a:ext cx="3249745" cy="48145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4511473" y="1782493"/>
            <a:ext cx="3738744" cy="3440007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60587" y="1295400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06400" y="76367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8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.联盟客看到的界面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419773" y="5765800"/>
            <a:ext cx="7352453" cy="1214967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l"/>
            <a:r>
              <a:rPr lang="zh-CN" altLang="en-US" sz="2400" dirty="0">
                <a:solidFill>
                  <a:schemeClr val="accent4"/>
                </a:solidFill>
                <a:effectLst/>
              </a:rPr>
              <a:t>创作者看到的界面，根据此界面斟酌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campaign</a:t>
            </a:r>
            <a:r>
              <a:rPr lang="zh-CN" altLang="en-US" sz="2400" dirty="0">
                <a:solidFill>
                  <a:schemeClr val="accent4"/>
                </a:solidFill>
                <a:effectLst/>
              </a:rPr>
              <a:t>设计</a:t>
            </a:r>
            <a:r>
              <a:rPr lang="en-US" altLang="zh-CN" sz="2400" dirty="0">
                <a:solidFill>
                  <a:schemeClr val="accent4"/>
                </a:solidFill>
                <a:effectLst/>
              </a:rPr>
              <a:t>                                         </a:t>
            </a:r>
            <a:endParaRPr lang="en-US" altLang="zh-CN" sz="2400" dirty="0">
              <a:solidFill>
                <a:schemeClr val="accent4"/>
              </a:solidFill>
              <a:effectLst/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4294967295"/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05105" y="1070187"/>
            <a:ext cx="5758180" cy="439081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935" y="1295400"/>
            <a:ext cx="5682615" cy="409511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5165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ACC </a:t>
            </a:r>
            <a:r>
              <a:rPr lang="zh-CN" altLang="en-US" sz="3600" dirty="0">
                <a:latin typeface="+mj-ea"/>
                <a:ea typeface="+mj-ea"/>
              </a:rPr>
              <a:t>特点：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  <a:r>
              <a:rPr lang="zh-CN" altLang="en-US" sz="3600" dirty="0">
                <a:latin typeface="+mj-ea"/>
                <a:ea typeface="+mj-ea"/>
              </a:rPr>
              <a:t>界面简单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140460"/>
            <a:ext cx="10973435" cy="48882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516572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ACC </a:t>
            </a:r>
            <a:r>
              <a:rPr lang="zh-CN" altLang="en-US" sz="3600" dirty="0">
                <a:latin typeface="+mj-ea"/>
                <a:ea typeface="+mj-ea"/>
              </a:rPr>
              <a:t>特点：报告系统难用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140460"/>
            <a:ext cx="10973435" cy="488823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66998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ACC </a:t>
            </a:r>
            <a:r>
              <a:rPr lang="zh-CN" altLang="en-US" sz="3600" dirty="0">
                <a:latin typeface="+mj-ea"/>
                <a:ea typeface="+mj-ea"/>
              </a:rPr>
              <a:t>特点：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  <a:r>
              <a:rPr lang="zh-CN" altLang="en-US" sz="3600" dirty="0">
                <a:latin typeface="+mj-ea"/>
                <a:ea typeface="+mj-ea"/>
              </a:rPr>
              <a:t>报告系统难用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1275715"/>
            <a:ext cx="11030585" cy="47307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1129453"/>
            <a:ext cx="3360420" cy="623993"/>
          </a:xfrm>
          <a:prstGeom prst="rect">
            <a:avLst/>
          </a:prstGeom>
        </p:spPr>
        <p:txBody>
          <a:bodyPr vert="horz" lIns="120000" tIns="62400" rIns="120000" bIns="62400" rtlCol="0">
            <a:no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l"/>
            <a:endParaRPr lang="en-US" altLang="zh-CN" sz="1465" spc="100" dirty="0">
              <a:solidFill>
                <a:srgbClr val="363636"/>
              </a:solidFill>
              <a:effectLst/>
              <a:uFillTx/>
              <a:cs typeface="微软雅黑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5.Creator Connections策略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75624" y="1680183"/>
            <a:ext cx="10579100" cy="4727787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email"/>
          <a:srcRect/>
          <a:stretch>
            <a:fillRect/>
          </a:stretch>
        </p:blipFill>
        <p:spPr>
          <a:xfrm>
            <a:off x="0" y="0"/>
            <a:ext cx="8426539" cy="6858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625601"/>
            <a:ext cx="8427962" cy="5232399"/>
          </a:xfrm>
          <a:prstGeom prst="rect">
            <a:avLst/>
          </a:prstGeom>
          <a:solidFill>
            <a:schemeClr val="tx1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0" y="1"/>
            <a:ext cx="8428596" cy="1625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4" name="加号 3"/>
          <p:cNvSpPr/>
          <p:nvPr/>
        </p:nvSpPr>
        <p:spPr>
          <a:xfrm>
            <a:off x="7692359" y="259602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49266" y="259602"/>
            <a:ext cx="328384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+mj-ea"/>
                <a:ea typeface="+mj-ea"/>
              </a:rPr>
              <a:t>PART FOUR</a:t>
            </a:r>
            <a:endParaRPr lang="zh-CN" altLang="en-US" sz="3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35827" y="259602"/>
            <a:ext cx="257265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A</a:t>
            </a:r>
            <a:r>
              <a:rPr lang="en-US" altLang="zh-CN" sz="2000" dirty="0">
                <a:solidFill>
                  <a:schemeClr val="bg1"/>
                </a:solidFill>
                <a:latin typeface="+mn-ea"/>
              </a:rPr>
              <a:t>ffliates sales</a:t>
            </a:r>
            <a:endParaRPr lang="en-US" altLang="zh-CN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500110" y="259715"/>
            <a:ext cx="47155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accent1"/>
                </a:solidFill>
                <a:latin typeface="+mj-ea"/>
                <a:ea typeface="+mj-ea"/>
              </a:rPr>
              <a:t>Affiliates sales</a:t>
            </a:r>
            <a:endParaRPr lang="en-US" altLang="zh-CN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58464" y="2191464"/>
            <a:ext cx="2572657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atin typeface="+mj-ea"/>
                <a:ea typeface="+mj-ea"/>
              </a:rPr>
              <a:t>进阶策略</a:t>
            </a:r>
            <a:endParaRPr lang="zh-CN" altLang="en-US" sz="8000" dirty="0"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1370" y="2191464"/>
            <a:ext cx="6847116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66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04 </a:t>
            </a:r>
            <a:endParaRPr lang="en-US" altLang="zh-CN" sz="66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CN" sz="6600" dirty="0"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rPr>
              <a:t>ACC Affiliates Strategy</a:t>
            </a:r>
            <a:endParaRPr lang="en-US" altLang="zh-CN" sz="6600" dirty="0">
              <a:solidFill>
                <a:schemeClr val="bg1">
                  <a:lumMod val="9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65412" y="4929601"/>
            <a:ext cx="6613072" cy="33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1200" dirty="0">
                <a:solidFill>
                  <a:schemeClr val="bg1">
                    <a:lumMod val="95000"/>
                    <a:alpha val="56000"/>
                  </a:schemeClr>
                </a:solidFill>
                <a:latin typeface="+mn-ea"/>
              </a:rPr>
              <a:t>UGC content</a:t>
            </a:r>
            <a:endParaRPr lang="en-US" altLang="zh-CN" sz="1200" dirty="0">
              <a:solidFill>
                <a:schemeClr val="bg1">
                  <a:lumMod val="95000"/>
                  <a:alpha val="56000"/>
                </a:schemeClr>
              </a:solidFill>
              <a:latin typeface="+mn-ea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367641" y="4204607"/>
            <a:ext cx="4963886" cy="0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794644" y="5062714"/>
            <a:ext cx="3051735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A</a:t>
            </a:r>
            <a:r>
              <a:rPr lang="en-US" altLang="zh-CN" sz="1000" dirty="0">
                <a:solidFill>
                  <a:schemeClr val="accent2">
                    <a:alpha val="56000"/>
                  </a:schemeClr>
                </a:solidFill>
                <a:latin typeface="+mn-ea"/>
              </a:rPr>
              <a:t>ffliates sales</a:t>
            </a:r>
            <a:endParaRPr lang="en-US" altLang="zh-CN" sz="1000" dirty="0">
              <a:solidFill>
                <a:schemeClr val="accent2">
                  <a:alpha val="56000"/>
                </a:schemeClr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4411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2022</a:t>
            </a:r>
            <a:r>
              <a:rPr lang="zh-CN" altLang="en-US" sz="3600" dirty="0">
                <a:latin typeface="+mj-ea"/>
                <a:ea typeface="+mj-ea"/>
              </a:rPr>
              <a:t>年</a:t>
            </a:r>
            <a:r>
              <a:rPr lang="en-US" altLang="zh-CN" sz="3600" dirty="0">
                <a:latin typeface="+mj-ea"/>
                <a:ea typeface="+mj-ea"/>
              </a:rPr>
              <a:t> Amazon Creator connections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" y="1183005"/>
            <a:ext cx="6121400" cy="51117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085" y="1706880"/>
            <a:ext cx="6502400" cy="406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38639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latin typeface="+mj-ea"/>
                <a:ea typeface="+mj-ea"/>
              </a:rPr>
              <a:t>ACC </a:t>
            </a:r>
            <a:r>
              <a:rPr lang="zh-CN" altLang="en-US" sz="3600" dirty="0">
                <a:latin typeface="+mj-ea"/>
                <a:ea typeface="+mj-ea"/>
              </a:rPr>
              <a:t>护城河</a:t>
            </a:r>
            <a:endParaRPr lang="zh-CN" altLang="en-US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605" y="1362075"/>
            <a:ext cx="10880090" cy="449199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9725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站外流量板块</a:t>
            </a:r>
            <a:r>
              <a:rPr lang="en-US" altLang="zh-CN" sz="3600" dirty="0">
                <a:latin typeface="+mj-ea"/>
                <a:ea typeface="+mj-ea"/>
              </a:rPr>
              <a:t>- levanta Integration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885" y="1158240"/>
            <a:ext cx="9918700" cy="514477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47436" y="2307716"/>
            <a:ext cx="24070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能出单</a:t>
            </a:r>
            <a:endParaRPr lang="en-US" altLang="zh-CN" sz="4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联盟媒体</a:t>
            </a:r>
            <a:endParaRPr lang="en-US" altLang="zh-CN" sz="40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en-US" altLang="zh-CN" sz="4000" dirty="0">
                <a:solidFill>
                  <a:schemeClr val="bg1"/>
                </a:solidFill>
                <a:latin typeface="+mj-ea"/>
                <a:ea typeface="+mj-ea"/>
              </a:rPr>
              <a:t>- 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怎么找？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36867" y="191487"/>
            <a:ext cx="423333" cy="423333"/>
          </a:xfrm>
          <a:prstGeom prst="mathPlus">
            <a:avLst>
              <a:gd name="adj1" fmla="val 131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53085" y="191770"/>
            <a:ext cx="78346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 dirty="0">
                <a:latin typeface="+mj-ea"/>
                <a:ea typeface="+mj-ea"/>
              </a:rPr>
              <a:t>2025</a:t>
            </a:r>
            <a:r>
              <a:rPr lang="zh-CN" altLang="en-US" sz="3600" dirty="0">
                <a:latin typeface="+mj-ea"/>
                <a:ea typeface="+mj-ea"/>
              </a:rPr>
              <a:t>年各大亚马逊联盟平台的选择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65" y="1675130"/>
            <a:ext cx="100076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193497" y="837818"/>
            <a:ext cx="3318933" cy="14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9" name="加号 8"/>
          <p:cNvSpPr/>
          <p:nvPr/>
        </p:nvSpPr>
        <p:spPr>
          <a:xfrm>
            <a:off x="11342597" y="311151"/>
            <a:ext cx="252602" cy="252602"/>
          </a:xfrm>
          <a:prstGeom prst="mathPlus">
            <a:avLst>
              <a:gd name="adj1" fmla="val 1316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3085" y="191770"/>
            <a:ext cx="89509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亚马逊联盟代运营</a:t>
            </a:r>
            <a:r>
              <a:rPr lang="en-US" altLang="zh-CN" sz="3600" dirty="0">
                <a:latin typeface="+mj-ea"/>
                <a:ea typeface="+mj-ea"/>
              </a:rPr>
              <a:t>-  ACC </a:t>
            </a:r>
            <a:r>
              <a:rPr lang="zh-CN" altLang="en-US" sz="3600" dirty="0">
                <a:latin typeface="+mj-ea"/>
                <a:ea typeface="+mj-ea"/>
              </a:rPr>
              <a:t>新增板块</a:t>
            </a:r>
            <a:r>
              <a:rPr lang="en-US" altLang="zh-CN" sz="3600" dirty="0">
                <a:latin typeface="+mj-ea"/>
                <a:ea typeface="+mj-ea"/>
              </a:rPr>
              <a:t> </a:t>
            </a:r>
            <a:endParaRPr lang="en-US" altLang="zh-CN" sz="3600" dirty="0">
              <a:latin typeface="+mj-ea"/>
              <a:ea typeface="+mj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40" y="1096010"/>
            <a:ext cx="9845675" cy="556196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2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3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4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5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6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7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8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9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0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1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2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3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4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5.xml><?xml version="1.0" encoding="utf-8"?>
<p:tagLst xmlns:p="http://schemas.openxmlformats.org/presentationml/2006/main">
  <p:tag name="KSO_WM_DIAGRAM_VIRTUALLY_FRAME" val="{&quot;height&quot;:232.3832283464567,&quot;left&quot;:114.29795275590553,&quot;top&quot;:143.061968503937,&quot;width&quot;:262.8940157480315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1973_4*l_h_i*1_1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1973_4*l_h_f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8"/>
  <p:tag name="KSO_WM_UNIT_TEXT_TYPE" val="1"/>
  <p:tag name="KSO_WM_UNIT_PRESET_TEXT" val="单击此处添加文本具体内容，简明扼要地阐述您的观点。根据需要您可酌情增减文字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1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1973_4*l_h_i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1973_4*l_h_i*1_1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1973_4*l_h_a*1_1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3"/>
  <p:tag name="KSO_WM_UNIT_ID" val="diagram20231973_4*l_h_i*1_2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2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1973_4*l_h_f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8"/>
  <p:tag name="KSO_WM_UNIT_TEXT_TYPE" val="1"/>
  <p:tag name="KSO_WM_UNIT_PRESET_TEXT" val="单击此处添加文本具体内容，简明扼要地阐述您的观点。根据需要您可酌情增减文字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1973_4*l_h_i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1973_4*l_h_i*1_2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1973_4*l_h_a*1_2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3"/>
  <p:tag name="KSO_WM_UNIT_ID" val="diagram20231973_4*l_h_i*1_3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1973_4*l_h_f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8"/>
  <p:tag name="KSO_WM_UNIT_TEXT_TYPE" val="1"/>
  <p:tag name="KSO_WM_UNIT_PRESET_TEXT" val="单击此处添加文本具体内容，简明扼要地阐述您的观点。根据需要您可酌情增减文字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1973_4*l_h_i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1973_4*l_h_i*1_3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3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1973_4*l_h_a*1_3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6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1973_4*l_h_i*1_4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3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1973_4*l_h_f*1_4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8"/>
  <p:tag name="KSO_WM_UNIT_TEXT_TYPE" val="1"/>
  <p:tag name="KSO_WM_UNIT_PRESET_TEXT" val="单击此处添加文本具体内容，简明扼要地阐述您的观点。根据需要您可酌情增减文字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1973_4*l_h_i*1_4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1973_4*l_h_i*1_4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3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1973_4*l_h_a*1_4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3"/>
  <p:tag name="KSO_WM_UNIT_ID" val="diagram20231973_4*l_h_i*1_5_3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DIAGRAM_USE_COLOR_VALUE" val="{&quot;color_scheme&quot;:1,&quot;color_type&quot;:1,&quot;theme_color_indexes&quot;:[5,6,5,6,5,6]}"/>
</p:tagLst>
</file>

<file path=ppt/tags/tag3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1973_4*l_h_f*1_5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48"/>
  <p:tag name="KSO_WM_UNIT_TEXT_TYPE" val="1"/>
  <p:tag name="KSO_WM_UNIT_PRESET_TEXT" val="单击此处添加文本具体内容，简明扼要地阐述您的观点。根据需要您可酌情增减文字内容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3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1973_4*l_h_i*1_5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1973_4*l_h_i*1_5_2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DIAGRAM_USE_COLOR_VALUE" val="{&quot;color_scheme&quot;:1,&quot;color_type&quot;:1,&quot;theme_color_indexes&quot;:[5,6,5,6,5,6]}"/>
</p:tagLst>
</file>

<file path=ppt/tags/tag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1973_4*l_h_a*1_5_1"/>
  <p:tag name="KSO_WM_TEMPLATE_CATEGORY" val="diagram"/>
  <p:tag name="KSO_WM_TEMPLATE_INDEX" val="20231973"/>
  <p:tag name="KSO_WM_UNIT_LAYERLEVEL" val="1_1_1"/>
  <p:tag name="KSO_WM_TAG_VERSION" val="3.0"/>
  <p:tag name="KSO_WM_BEAUTIFY_FLAG" val="#wm#"/>
  <p:tag name="KSO_WM_DIAGRAM_MAX_ITEMCNT" val="5"/>
  <p:tag name="KSO_WM_DIAGRAM_MIN_ITEMCNT" val="2"/>
  <p:tag name="KSO_WM_DIAGRAM_VIRTUALLY_FRAME" val="{&quot;height&quot;:373.31009395427265,&quot;left&quot;:18,&quot;top&quot;:110.65339685937559,&quot;width&quot;:911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DIAGRAM_USE_COLOR_VALUE" val="{&quot;color_scheme&quot;:1,&quot;color_type&quot;:1,&quot;theme_color_indexes&quot;:[5,6,5,6,5,6]}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45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48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49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50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53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54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57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58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59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62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63.xml><?xml version="1.0" encoding="utf-8"?>
<p:tagLst xmlns:p="http://schemas.openxmlformats.org/presentationml/2006/main">
  <p:tag name="KSO_WM_UNIT_INDEX" val="3"/>
  <p:tag name="KSO_WM_UNIT_TEXT_SUBTYPE" val="a"/>
  <p:tag name="KSO_WM_UNIT_SUBTYPE" val="a"/>
  <p:tag name="KSO_WM_UNIT_TYPE" val="f"/>
  <p:tag name="KSO_WM_BEAUTIFY_FLAG" val="#wm#"/>
</p:tagLst>
</file>

<file path=ppt/tags/tag64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67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68.xml><?xml version="1.0" encoding="utf-8"?>
<p:tagLst xmlns:p="http://schemas.openxmlformats.org/presentationml/2006/main">
  <p:tag name="KSO_WM_UNIT_INDEX" val="3"/>
  <p:tag name="KSO_WM_UNIT_TYPE" val="d"/>
  <p:tag name="KSO_WM_BEAUTIFY_FLAG" val="#wm#"/>
</p:tagLst>
</file>

<file path=ppt/tags/tag69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72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73.xml><?xml version="1.0" encoding="utf-8"?>
<p:tagLst xmlns:p="http://schemas.openxmlformats.org/presentationml/2006/main">
  <p:tag name="KSO_WM_UNIT_INDEX" val="3"/>
  <p:tag name="KSO_WM_UNIT_TYPE" val="d"/>
  <p:tag name="KSO_WM_BEAUTIFY_FLAG" val="#wm#"/>
</p:tagLst>
</file>

<file path=ppt/tags/tag74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77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78.xml><?xml version="1.0" encoding="utf-8"?>
<p:tagLst xmlns:p="http://schemas.openxmlformats.org/presentationml/2006/main">
  <p:tag name="KSO_WM_UNIT_INDEX" val="3"/>
  <p:tag name="KSO_WM_UNIT_TYPE" val="d"/>
  <p:tag name="KSO_WM_BEAUTIFY_FLAG" val="#wm#"/>
</p:tagLst>
</file>

<file path=ppt/tags/tag79.xml><?xml version="1.0" encoding="utf-8"?>
<p:tagLst xmlns:p="http://schemas.openxmlformats.org/presentationml/2006/main">
  <p:tag name="KSO_WM_UNIT_INDEX" val="4"/>
  <p:tag name="KSO_WM_UNIT_TYPE" val="d"/>
  <p:tag name="KSO_WM_BEAUTIFY_FLAG" val="#wm#"/>
</p:tagLst>
</file>

<file path=ppt/tags/tag80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83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84.xml><?xml version="1.0" encoding="utf-8"?>
<p:tagLst xmlns:p="http://schemas.openxmlformats.org/presentationml/2006/main">
  <p:tag name="KSO_WM_UNIT_INDEX" val="3"/>
  <p:tag name="KSO_WM_UNIT_TYPE" val="d"/>
  <p:tag name="KSO_WM_BEAUTIFY_FLAG" val="#wm#"/>
</p:tagLst>
</file>

<file path=ppt/tags/tag85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"/>
  <p:tag name="KSO_WM_UNIT_TYPE" val="a"/>
</p:tagLst>
</file>

<file path=ppt/tags/tag88.xml><?xml version="1.0" encoding="utf-8"?>
<p:tagLst xmlns:p="http://schemas.openxmlformats.org/presentationml/2006/main">
  <p:tag name="KSO_WM_UNIT_INDEX" val="2"/>
  <p:tag name="KSO_WM_UNIT_TYPE" val="d"/>
  <p:tag name="KSO_WM_BEAUTIFY_FLAG" val="#wm#"/>
</p:tagLst>
</file>

<file path=ppt/tags/tag89.xml><?xml version="1.0" encoding="utf-8"?>
<p:tagLst xmlns:p="http://schemas.openxmlformats.org/presentationml/2006/main">
  <p:tag name="KSO_WM_SLIDE_TYPE" val="text"/>
  <p:tag name="KSO_WM_BEAUTIFY_FLAG" val="#wm#"/>
  <p:tag name="KSO_WM_SLIDE_ID" val="custom20236339_8"/>
  <p:tag name="KSO_WM_TEMPLATE_SUBCATEGORY" val="29"/>
  <p:tag name="KSO_WM_TEMPLATE_MASTER_TYPE" val="0"/>
  <p:tag name="KSO_WM_TEMPLATE_COLOR_TYPE" val="0"/>
  <p:tag name="KSO_WM_SLIDE_ITEM_CNT" val="0"/>
  <p:tag name="KSO_WM_SLIDE_INDEX" val="8"/>
  <p:tag name="KSO_WM_TAG_VERSION" val="3.0"/>
  <p:tag name="KSO_WM_TEMPLATE_CATEGORY" val="custom"/>
  <p:tag name="KSO_WM_TEMPLATE_INDEX" val="20236339"/>
  <p:tag name="KSO_WM_SLIDE_SUBTYPE" val="pureTxt"/>
  <p:tag name="KSO_WM_SLIDE_SIZE" val="850*457"/>
  <p:tag name="KSO_WM_SLIDE_POSITION" val="54*28"/>
  <p:tag name="KSO_WM_SLIDE_LAYOUT" val="a_f"/>
  <p:tag name="KSO_WM_SLIDE_LAYOUT_CNT" val="1_1"/>
  <p:tag name="KSO_WM_TEMPLATE_COLORSEQUENCE" val="1,2,3,1,2,3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commondata" val="eyJoZGlkIjoiZGZmNzdkY2Q2YjRkZWVjMjIwYmZlMTZjNGE1OGZkNzAifQ=="/>
</p:tagLst>
</file>

<file path=ppt/theme/theme1.xml><?xml version="1.0" encoding="utf-8"?>
<a:theme xmlns:a="http://schemas.openxmlformats.org/drawingml/2006/main" name="自定义设计方案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1">
      <a:majorFont>
        <a:latin typeface="思源黑体 CN Heavy"/>
        <a:ea typeface="思源黑体 CN Heavy"/>
        <a:cs typeface=""/>
      </a:majorFont>
      <a:minorFont>
        <a:latin typeface="思源黑体 CN Normal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2626</Words>
  <Application>WPS 演示</Application>
  <PresentationFormat>宽屏</PresentationFormat>
  <Paragraphs>288</Paragraphs>
  <Slides>36</Slides>
  <Notes>1</Notes>
  <HiddenSlides>0</HiddenSlides>
  <MMClips>3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3" baseType="lpstr">
      <vt:lpstr>Arial</vt:lpstr>
      <vt:lpstr>宋体</vt:lpstr>
      <vt:lpstr>Wingdings</vt:lpstr>
      <vt:lpstr>思源黑体 CN Normal</vt:lpstr>
      <vt:lpstr>黑体</vt:lpstr>
      <vt:lpstr>Bahnschrift Light</vt:lpstr>
      <vt:lpstr>思源黑体 CN Heavy</vt:lpstr>
      <vt:lpstr>微软雅黑</vt:lpstr>
      <vt:lpstr>Arial Unicode MS</vt:lpstr>
      <vt:lpstr>等线</vt:lpstr>
      <vt:lpstr>Alexandria Medium</vt:lpstr>
      <vt:lpstr>cinecaption</vt:lpstr>
      <vt:lpstr>Noto Sans SC</vt:lpstr>
      <vt:lpstr>思源黑体 CN Normal</vt:lpstr>
      <vt:lpstr>Calibri</vt:lpstr>
      <vt:lpstr>自定义设计方案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Creator Connections策略</vt:lpstr>
      <vt:lpstr>1-Creator Connections入口</vt:lpstr>
      <vt:lpstr>2-Creator Connections  campaign页面</vt:lpstr>
      <vt:lpstr>3-Creator Connections 创建campaign第一步</vt:lpstr>
      <vt:lpstr>4.什么是Creator Connections</vt:lpstr>
      <vt:lpstr>5. ACC的联盟客数量-800 </vt:lpstr>
      <vt:lpstr>6. 下载报表界面</vt:lpstr>
      <vt:lpstr>7.联盟客信息回复-  送样要谨慎</vt:lpstr>
      <vt:lpstr>8 .联盟客看到的界面</vt:lpstr>
      <vt:lpstr>PowerPoint 演示文稿</vt:lpstr>
      <vt:lpstr>PowerPoint 演示文稿</vt:lpstr>
      <vt:lpstr>PowerPoint 演示文稿</vt:lpstr>
      <vt:lpstr>5.Creator Connections策略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薛 兆丰</dc:creator>
  <cp:lastModifiedBy>李晗</cp:lastModifiedBy>
  <cp:revision>93</cp:revision>
  <dcterms:created xsi:type="dcterms:W3CDTF">2022-06-30T00:49:00Z</dcterms:created>
  <dcterms:modified xsi:type="dcterms:W3CDTF">2025-03-10T02:07:48Z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B577BCE4040A464680AA9763E32E92F6_13</vt:lpwstr>
  </property>
  <property fmtid="{D5CDD505-2E9C-101B-9397-08002B2CF9AE}" pid="3" name="KSOProductBuildVer">
    <vt:lpwstr>2052-12.1.0.20305</vt:lpwstr>
  </property>
</Properties>
</file>
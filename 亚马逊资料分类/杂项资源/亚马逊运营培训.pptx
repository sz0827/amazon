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0" r:id="rId3"/>
    <p:sldMasterId id="2147483652" r:id="rId4"/>
    <p:sldMasterId id="214748365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440" r:id="rId111"/>
    <p:sldId id="361" r:id="rId112"/>
    <p:sldId id="442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520" r:id="rId126"/>
    <p:sldId id="374" r:id="rId127"/>
    <p:sldId id="375" r:id="rId128"/>
    <p:sldId id="524" r:id="rId129"/>
    <p:sldId id="376" r:id="rId130"/>
    <p:sldId id="377" r:id="rId131"/>
    <p:sldId id="378" r:id="rId132"/>
    <p:sldId id="379" r:id="rId133"/>
    <p:sldId id="380" r:id="rId134"/>
    <p:sldId id="381" r:id="rId135"/>
    <p:sldId id="522" r:id="rId136"/>
    <p:sldId id="382" r:id="rId137"/>
    <p:sldId id="383" r:id="rId138"/>
    <p:sldId id="384" r:id="rId139"/>
    <p:sldId id="385" r:id="rId140"/>
    <p:sldId id="386" r:id="rId141"/>
    <p:sldId id="387" r:id="rId142"/>
    <p:sldId id="388" r:id="rId143"/>
    <p:sldId id="389" r:id="rId144"/>
    <p:sldId id="390" r:id="rId145"/>
    <p:sldId id="391" r:id="rId146"/>
    <p:sldId id="392" r:id="rId147"/>
    <p:sldId id="393" r:id="rId148"/>
    <p:sldId id="394" r:id="rId149"/>
    <p:sldId id="395" r:id="rId150"/>
    <p:sldId id="396" r:id="rId151"/>
    <p:sldId id="397" r:id="rId152"/>
    <p:sldId id="398" r:id="rId153"/>
    <p:sldId id="399" r:id="rId154"/>
    <p:sldId id="400" r:id="rId155"/>
    <p:sldId id="401" r:id="rId156"/>
    <p:sldId id="402" r:id="rId157"/>
    <p:sldId id="403" r:id="rId158"/>
    <p:sldId id="404" r:id="rId159"/>
    <p:sldId id="405" r:id="rId160"/>
    <p:sldId id="406" r:id="rId161"/>
    <p:sldId id="407" r:id="rId162"/>
    <p:sldId id="408" r:id="rId163"/>
    <p:sldId id="409" r:id="rId164"/>
    <p:sldId id="410" r:id="rId165"/>
    <p:sldId id="411" r:id="rId166"/>
    <p:sldId id="412" r:id="rId167"/>
    <p:sldId id="413" r:id="rId168"/>
    <p:sldId id="414" r:id="rId169"/>
    <p:sldId id="415" r:id="rId170"/>
    <p:sldId id="416" r:id="rId171"/>
    <p:sldId id="417" r:id="rId172"/>
    <p:sldId id="418" r:id="rId173"/>
    <p:sldId id="419" r:id="rId174"/>
    <p:sldId id="420" r:id="rId175"/>
    <p:sldId id="421" r:id="rId176"/>
    <p:sldId id="422" r:id="rId177"/>
    <p:sldId id="423" r:id="rId178"/>
    <p:sldId id="424" r:id="rId179"/>
    <p:sldId id="425" r:id="rId180"/>
    <p:sldId id="426" r:id="rId181"/>
    <p:sldId id="427" r:id="rId182"/>
    <p:sldId id="428" r:id="rId183"/>
    <p:sldId id="429" r:id="rId184"/>
    <p:sldId id="430" r:id="rId185"/>
    <p:sldId id="431" r:id="rId186"/>
    <p:sldId id="432" r:id="rId187"/>
    <p:sldId id="433" r:id="rId188"/>
    <p:sldId id="434" r:id="rId189"/>
    <p:sldId id="435" r:id="rId190"/>
    <p:sldId id="436" r:id="rId191"/>
    <p:sldId id="437" r:id="rId192"/>
    <p:sldId id="589" r:id="rId193"/>
    <p:sldId id="438" r:id="rId194"/>
  </p:sldIdLst>
  <p:sldSz cx="12192000" cy="6858000"/>
  <p:notesSz cx="12192000" cy="6858000"/>
  <p:embeddedFontLst>
    <p:embeddedFont>
      <p:font typeface="BAPNIG+MicrosoftYaHei-Bold" panose="02000500000000000000"/>
      <p:regular r:id="rId200"/>
    </p:embeddedFont>
    <p:embeddedFont>
      <p:font typeface="等线" panose="02010600030101010101" charset="-122"/>
      <p:regular r:id="rId201"/>
    </p:embeddedFont>
    <p:embeddedFont>
      <p:font typeface="黑体" panose="02010609060101010101" charset="-122"/>
      <p:regular r:id="rId202"/>
    </p:embeddedFont>
    <p:embeddedFont>
      <p:font typeface="KUMBUU+MicrosoftYaHei" panose="02000500000000000000"/>
      <p:regular r:id="rId203"/>
    </p:embeddedFont>
    <p:embeddedFont>
      <p:font typeface="Calibri" panose="020F0502020204030204" charset="0"/>
      <p:regular r:id="rId204"/>
      <p:bold r:id="rId205"/>
      <p:italic r:id="rId206"/>
      <p:boldItalic r:id="rId207"/>
    </p:embeddedFont>
    <p:embeddedFont>
      <p:font typeface="IBWIQP+ArialMT" panose="02000500000000000000"/>
      <p:regular r:id="rId208"/>
    </p:embeddedFont>
  </p:embeddedFontLst>
  <p:custDataLst>
    <p:tags r:id="rId20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" Type="http://schemas.openxmlformats.org/officeDocument/2006/relationships/slide" Target="slides/slide4.xml"/><Relationship Id="rId89" Type="http://schemas.openxmlformats.org/officeDocument/2006/relationships/slide" Target="slides/slide84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slide" Target="slides/slide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9" Type="http://schemas.openxmlformats.org/officeDocument/2006/relationships/tags" Target="tags/tag4.xml"/><Relationship Id="rId208" Type="http://schemas.openxmlformats.org/officeDocument/2006/relationships/font" Target="fonts/font9.fntdata"/><Relationship Id="rId207" Type="http://schemas.openxmlformats.org/officeDocument/2006/relationships/font" Target="fonts/font8.fntdata"/><Relationship Id="rId206" Type="http://schemas.openxmlformats.org/officeDocument/2006/relationships/font" Target="fonts/font7.fntdata"/><Relationship Id="rId205" Type="http://schemas.openxmlformats.org/officeDocument/2006/relationships/font" Target="fonts/font6.fntdata"/><Relationship Id="rId204" Type="http://schemas.openxmlformats.org/officeDocument/2006/relationships/font" Target="fonts/font5.fntdata"/><Relationship Id="rId203" Type="http://schemas.openxmlformats.org/officeDocument/2006/relationships/font" Target="fonts/font4.fntdata"/><Relationship Id="rId202" Type="http://schemas.openxmlformats.org/officeDocument/2006/relationships/font" Target="fonts/font3.fntdata"/><Relationship Id="rId201" Type="http://schemas.openxmlformats.org/officeDocument/2006/relationships/font" Target="fonts/font2.fntdata"/><Relationship Id="rId200" Type="http://schemas.openxmlformats.org/officeDocument/2006/relationships/font" Target="fonts/font1.fntdata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9" Type="http://schemas.openxmlformats.org/officeDocument/2006/relationships/customXml" Target="../customXml/item1.xml"/><Relationship Id="rId198" Type="http://schemas.openxmlformats.org/officeDocument/2006/relationships/customXmlProps" Target="../customXml/itemProps3.xml"/><Relationship Id="rId197" Type="http://schemas.openxmlformats.org/officeDocument/2006/relationships/tableStyles" Target="tableStyles.xml"/><Relationship Id="rId196" Type="http://schemas.openxmlformats.org/officeDocument/2006/relationships/viewProps" Target="viewProps.xml"/><Relationship Id="rId195" Type="http://schemas.openxmlformats.org/officeDocument/2006/relationships/presProps" Target="presProps.xml"/><Relationship Id="rId194" Type="http://schemas.openxmlformats.org/officeDocument/2006/relationships/slide" Target="slides/slide189.xml"/><Relationship Id="rId193" Type="http://schemas.openxmlformats.org/officeDocument/2006/relationships/slide" Target="slides/slide188.xml"/><Relationship Id="rId192" Type="http://schemas.openxmlformats.org/officeDocument/2006/relationships/slide" Target="slides/slide187.xml"/><Relationship Id="rId191" Type="http://schemas.openxmlformats.org/officeDocument/2006/relationships/slide" Target="slides/slide186.xml"/><Relationship Id="rId190" Type="http://schemas.openxmlformats.org/officeDocument/2006/relationships/slide" Target="slides/slide185.xml"/><Relationship Id="rId19" Type="http://schemas.openxmlformats.org/officeDocument/2006/relationships/slide" Target="slides/slide14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187" Type="http://schemas.openxmlformats.org/officeDocument/2006/relationships/slide" Target="slides/slide18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184" Type="http://schemas.openxmlformats.org/officeDocument/2006/relationships/slide" Target="slides/slide179.xml"/><Relationship Id="rId183" Type="http://schemas.openxmlformats.org/officeDocument/2006/relationships/slide" Target="slides/slide178.xml"/><Relationship Id="rId182" Type="http://schemas.openxmlformats.org/officeDocument/2006/relationships/slide" Target="slides/slide177.xml"/><Relationship Id="rId181" Type="http://schemas.openxmlformats.org/officeDocument/2006/relationships/slide" Target="slides/slide176.xml"/><Relationship Id="rId180" Type="http://schemas.openxmlformats.org/officeDocument/2006/relationships/slide" Target="slides/slide175.xml"/><Relationship Id="rId18" Type="http://schemas.openxmlformats.org/officeDocument/2006/relationships/slide" Target="slides/slide13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176" Type="http://schemas.openxmlformats.org/officeDocument/2006/relationships/slide" Target="slides/slide171.xml"/><Relationship Id="rId175" Type="http://schemas.openxmlformats.org/officeDocument/2006/relationships/slide" Target="slides/slide170.xml"/><Relationship Id="rId174" Type="http://schemas.openxmlformats.org/officeDocument/2006/relationships/slide" Target="slides/slide169.xml"/><Relationship Id="rId173" Type="http://schemas.openxmlformats.org/officeDocument/2006/relationships/slide" Target="slides/slide168.xml"/><Relationship Id="rId172" Type="http://schemas.openxmlformats.org/officeDocument/2006/relationships/slide" Target="slides/slide167.xml"/><Relationship Id="rId171" Type="http://schemas.openxmlformats.org/officeDocument/2006/relationships/slide" Target="slides/slide166.xml"/><Relationship Id="rId170" Type="http://schemas.openxmlformats.org/officeDocument/2006/relationships/slide" Target="slides/slide165.xml"/><Relationship Id="rId17" Type="http://schemas.openxmlformats.org/officeDocument/2006/relationships/slide" Target="slides/slide12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165" Type="http://schemas.openxmlformats.org/officeDocument/2006/relationships/slide" Target="slides/slide160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1" Type="http://schemas.openxmlformats.org/officeDocument/2006/relationships/slide" Target="slides/slide156.xml"/><Relationship Id="rId160" Type="http://schemas.openxmlformats.org/officeDocument/2006/relationships/slide" Target="slides/slide155.xml"/><Relationship Id="rId16" Type="http://schemas.openxmlformats.org/officeDocument/2006/relationships/slide" Target="slides/slide11.xml"/><Relationship Id="rId159" Type="http://schemas.openxmlformats.org/officeDocument/2006/relationships/slide" Target="slides/slide154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54" Type="http://schemas.openxmlformats.org/officeDocument/2006/relationships/slide" Target="slides/slide149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0" Type="http://schemas.openxmlformats.org/officeDocument/2006/relationships/slide" Target="slides/slide145.xml"/><Relationship Id="rId15" Type="http://schemas.openxmlformats.org/officeDocument/2006/relationships/slide" Target="slides/slide10.xml"/><Relationship Id="rId149" Type="http://schemas.openxmlformats.org/officeDocument/2006/relationships/slide" Target="slides/slide144.xml"/><Relationship Id="rId148" Type="http://schemas.openxmlformats.org/officeDocument/2006/relationships/slide" Target="slides/slide143.xml"/><Relationship Id="rId147" Type="http://schemas.openxmlformats.org/officeDocument/2006/relationships/slide" Target="slides/slide142.xml"/><Relationship Id="rId146" Type="http://schemas.openxmlformats.org/officeDocument/2006/relationships/slide" Target="slides/slide141.xml"/><Relationship Id="rId145" Type="http://schemas.openxmlformats.org/officeDocument/2006/relationships/slide" Target="slides/slide140.xml"/><Relationship Id="rId144" Type="http://schemas.openxmlformats.org/officeDocument/2006/relationships/slide" Target="slides/slide139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14" Type="http://schemas.openxmlformats.org/officeDocument/2006/relationships/slide" Target="slides/slide9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" Type="http://schemas.openxmlformats.org/officeDocument/2006/relationships/slide" Target="slides/slide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" Type="http://schemas.openxmlformats.org/officeDocument/2006/relationships/slide" Target="slides/slide7.xml"/><Relationship Id="rId119" Type="http://schemas.openxmlformats.org/officeDocument/2006/relationships/slide" Target="slides/slide114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110" Type="http://schemas.openxmlformats.org/officeDocument/2006/relationships/slide" Target="slides/slide105.xml"/><Relationship Id="rId11" Type="http://schemas.openxmlformats.org/officeDocument/2006/relationships/slide" Target="slides/slide6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1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4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6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7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8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9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0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1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2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3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5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6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2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8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9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0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1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2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3.jpe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4.jpe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5.jpe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6.jpe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7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8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9.jpe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0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0.jpe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1.jpe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2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3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4.jpe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5.jpe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6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7.jpe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8.jpe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9.jpe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0.jpe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1.jpe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2.jpe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3.jpe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4.jpe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5.jpe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6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7.jpe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8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9.jpe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0.jpe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1.jpe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2.jpe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3.jpe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4.jpe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5.jpe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3.jpe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6.jpe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7.jpe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8.jpe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9.jpeg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0.jpe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1.jpe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1.jpe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2.jpe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3.jpe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4.jpe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5.jpe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6.jpe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7.jpe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8.jpeg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9.jpe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0.jpeg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1.jpe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2.jpeg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3.jpeg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4.jpe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1.jpeg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5.jpeg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3.jpeg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6.jpeg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7.jpeg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8.jpe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9.jpeg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0.jpeg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1.jpeg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2.jpeg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3.jpeg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4.jpeg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5.jpe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6.jpeg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7.jpeg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8.jpeg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9.jpeg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0.jpeg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1.jpeg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2.jpeg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3.jpeg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4.jpeg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5.jpeg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4.jpeg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6.jpeg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7.jpeg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4.jpeg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8.jpeg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9.jpeg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0.jpeg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0.jpeg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4.jpeg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0.jpeg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1.jpeg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2.jpeg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3.jpeg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4.jpeg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5.jpeg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3.jpeg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6.jpeg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7.jpeg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8.jpeg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9.jpeg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0.jpeg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1.jpeg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7072" y="2231062"/>
            <a:ext cx="6019800" cy="911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875"/>
              </a:lnSpc>
              <a:spcBef>
                <a:spcPts val="0"/>
              </a:spcBef>
              <a:spcAft>
                <a:spcPts val="0"/>
              </a:spcAft>
            </a:pPr>
            <a:r>
              <a:rPr sz="6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亚马逊运营体系</a:t>
            </a:r>
            <a:endParaRPr sz="6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13430" y="3484245"/>
            <a:ext cx="1473200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2021.</a:t>
            </a:r>
            <a:r>
              <a:rPr lang="en-US" sz="2400" b="1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12</a:t>
            </a:r>
            <a:endParaRPr lang="en-US" sz="2400" b="1" dirty="0">
              <a:solidFill>
                <a:srgbClr val="FFFFFF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943" y="496975"/>
            <a:ext cx="1066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课程内容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7425" y="702097"/>
            <a:ext cx="9319256" cy="1675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第一部分：A9算法运用与其方法论（</a:t>
            </a: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运营方向、打法策略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）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第二部分：关键词运营（</a:t>
            </a: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词根频率、质量系数、矩阵组合、高效出单词、</a:t>
            </a:r>
            <a:r>
              <a:rPr sz="2000" dirty="0">
                <a:solidFill>
                  <a:schemeClr val="tx2"/>
                </a:solidFill>
                <a:latin typeface="BAPNIG+MicrosoftYaHei-Bold" panose="02000500000000000000"/>
                <a:cs typeface="BAPNIG+MicrosoftYaHei-Bold" panose="02000500000000000000"/>
              </a:rPr>
              <a:t>延伸词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）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第三部分：listing文案写法（</a:t>
            </a: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词根布局、海量关键词关联收录、</a:t>
            </a:r>
            <a:r>
              <a:rPr sz="2000" dirty="0">
                <a:solidFill>
                  <a:schemeClr val="tx2"/>
                </a:solidFill>
                <a:latin typeface="BAPNIG+MicrosoftYaHei-Bold" panose="02000500000000000000"/>
                <a:cs typeface="BAPNIG+MicrosoftYaHei-Bold" panose="02000500000000000000"/>
              </a:rPr>
              <a:t>肯定词产出比）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第四部分：转化率（</a:t>
            </a: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转化指标&amp;reviews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）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7425" y="2530897"/>
            <a:ext cx="4481194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第五部分：流量（</a:t>
            </a: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搜索、关联、广告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）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9874" y="2855852"/>
            <a:ext cx="1170940" cy="913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运营体系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8100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与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爆款运营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7425" y="2988097"/>
            <a:ext cx="7027170" cy="760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第六部分：节奏与打法（</a:t>
            </a: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CPC推词、递增量、3+1加权打法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）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1.“快马加鞭”新品前14天的运营与打法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7425" y="3902497"/>
            <a:ext cx="4940979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2.“险中求胜”新品15-45天的运营与打法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7425" y="4359697"/>
            <a:ext cx="4940979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3.“小步快跑”新品45-90天的运营与打法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7425" y="4816897"/>
            <a:ext cx="5605045" cy="760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4.“平稳续曝”3个月后老品&amp;BSR的运营与打法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5.“死水盘活”老品复盘优化的运营与打法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07425" y="5731297"/>
            <a:ext cx="6263638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第七部分：爆款运营（</a:t>
            </a: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爆款判断、爆款案例数据演示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）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7727" y="725482"/>
            <a:ext cx="3408934" cy="1166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44546A"/>
                </a:solidFill>
                <a:latin typeface="BAPNIG+MicrosoftYaHei-Bold" panose="02000500000000000000"/>
                <a:cs typeface="BAPNIG+MicrosoftYaHei-Bold" panose="02000500000000000000"/>
              </a:rPr>
              <a:t>亚马逊运营体系</a:t>
            </a:r>
            <a:endParaRPr sz="2400" dirty="0">
              <a:solidFill>
                <a:srgbClr val="44546A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808990" marR="0">
              <a:lnSpc>
                <a:spcPts val="2400"/>
              </a:lnSpc>
              <a:spcBef>
                <a:spcPts val="3985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递增量打法为进攻</a:t>
            </a:r>
            <a:endParaRPr sz="24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3670" y="1254707"/>
            <a:ext cx="495300" cy="1203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递</a:t>
            </a:r>
            <a:endParaRPr sz="27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700"/>
              </a:lnSpc>
              <a:spcBef>
                <a:spcPts val="540"/>
              </a:spcBef>
              <a:spcAft>
                <a:spcPts val="0"/>
              </a:spcAft>
            </a:pPr>
            <a:r>
              <a:rPr sz="27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增</a:t>
            </a:r>
            <a:endParaRPr sz="27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700"/>
              </a:lnSpc>
              <a:spcBef>
                <a:spcPts val="590"/>
              </a:spcBef>
              <a:spcAft>
                <a:spcPts val="0"/>
              </a:spcAft>
            </a:pPr>
            <a:r>
              <a:rPr sz="27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量</a:t>
            </a:r>
            <a:endParaRPr sz="27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8907" y="1764053"/>
            <a:ext cx="840104" cy="792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spc="15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运营</a:t>
            </a:r>
            <a:endParaRPr sz="2700" spc="15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700"/>
              </a:lnSpc>
              <a:spcBef>
                <a:spcPts val="540"/>
              </a:spcBef>
              <a:spcAft>
                <a:spcPts val="0"/>
              </a:spcAft>
            </a:pPr>
            <a:r>
              <a:rPr sz="2700" spc="15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数据</a:t>
            </a:r>
            <a:endParaRPr sz="2700" spc="15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62" y="2058276"/>
            <a:ext cx="2599687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运营数据化为决策</a:t>
            </a:r>
            <a:endParaRPr sz="24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0757" y="2582367"/>
            <a:ext cx="559434" cy="932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05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文</a:t>
            </a:r>
            <a:endParaRPr sz="32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3205"/>
              </a:lnSpc>
              <a:spcBef>
                <a:spcPts val="635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案</a:t>
            </a:r>
            <a:endParaRPr sz="32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8683" y="3153715"/>
            <a:ext cx="559434" cy="932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05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广</a:t>
            </a:r>
            <a:endParaRPr sz="32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3205"/>
              </a:lnSpc>
              <a:spcBef>
                <a:spcPts val="635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告</a:t>
            </a:r>
            <a:endParaRPr sz="32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4288" y="3559568"/>
            <a:ext cx="229362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文案体系为布阵</a:t>
            </a:r>
            <a:endParaRPr sz="24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24497" y="3791458"/>
            <a:ext cx="2599687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广告体系为助力车</a:t>
            </a:r>
            <a:endParaRPr sz="24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95178" y="4309883"/>
            <a:ext cx="495300" cy="1203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关</a:t>
            </a:r>
            <a:endParaRPr sz="27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700"/>
              </a:lnSpc>
              <a:spcBef>
                <a:spcPts val="540"/>
              </a:spcBef>
              <a:spcAft>
                <a:spcPts val="0"/>
              </a:spcAft>
            </a:pPr>
            <a:r>
              <a:rPr sz="27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键</a:t>
            </a:r>
            <a:endParaRPr sz="27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700"/>
              </a:lnSpc>
              <a:spcBef>
                <a:spcPts val="590"/>
              </a:spcBef>
              <a:spcAft>
                <a:spcPts val="0"/>
              </a:spcAft>
            </a:pPr>
            <a:r>
              <a:rPr sz="27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词</a:t>
            </a:r>
            <a:endParaRPr sz="27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61457" y="5354904"/>
            <a:ext cx="2905759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关键词体系为根基地</a:t>
            </a:r>
            <a:endParaRPr sz="24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243542"/>
            <a:ext cx="8700133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亚马逊电商运营科学公式逻辑：突破销量的分解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30688" y="1500330"/>
            <a:ext cx="66167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流量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21366" y="1514986"/>
            <a:ext cx="91630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客单价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5802" y="1520714"/>
            <a:ext cx="66167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销量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0443" y="1520841"/>
            <a:ext cx="91630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转化率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2058" y="2719527"/>
            <a:ext cx="12954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流量体量大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相对易获得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8279" y="2748825"/>
            <a:ext cx="10668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转化率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有极限性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67480" y="2740037"/>
            <a:ext cx="10668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客单价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比较稳定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17601" y="4146803"/>
            <a:ext cx="12954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影响转化率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因素有哪些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03701" y="4155592"/>
            <a:ext cx="15240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客单价变动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影响哪些变量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84613" y="4179036"/>
            <a:ext cx="15240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获取流量的入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2860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口在哪里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7768" y="4283963"/>
            <a:ext cx="8382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关键词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87547" y="5606312"/>
            <a:ext cx="15240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如何获取流量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2860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入口坑位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14324" y="5623915"/>
            <a:ext cx="10668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如何提高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1430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转化率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23512" y="5597537"/>
            <a:ext cx="10668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价格策略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促销折扣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3613" y="5641492"/>
            <a:ext cx="12954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海量关键词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2860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上首页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8819" y="275424"/>
            <a:ext cx="10906869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精细化运营+爆款运营思维+打广告的目的是不打广告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65863" y="1192778"/>
            <a:ext cx="96646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评论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65863" y="1631563"/>
            <a:ext cx="4148340" cy="1071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体系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081655" marR="0">
              <a:lnSpc>
                <a:spcPts val="23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关键词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234055" marR="0">
              <a:lnSpc>
                <a:spcPts val="2500"/>
              </a:lnSpc>
              <a:spcBef>
                <a:spcPts val="9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体系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1565" y="2767198"/>
            <a:ext cx="966469" cy="949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打法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340"/>
              </a:lnSpc>
              <a:spcBef>
                <a:spcPts val="55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体系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790" y="3031731"/>
            <a:ext cx="559434" cy="932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05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销</a:t>
            </a:r>
            <a:endParaRPr sz="32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3205"/>
              </a:lnSpc>
              <a:spcBef>
                <a:spcPts val="635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量</a:t>
            </a:r>
            <a:endParaRPr sz="32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26417" y="3168877"/>
            <a:ext cx="1271269" cy="12915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运营</a:t>
            </a:r>
            <a:endParaRPr sz="4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590"/>
              </a:lnSpc>
              <a:spcBef>
                <a:spcPts val="690"/>
              </a:spcBef>
              <a:spcAft>
                <a:spcPts val="0"/>
              </a:spcAft>
            </a:pPr>
            <a:r>
              <a:rPr sz="4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体系</a:t>
            </a:r>
            <a:endParaRPr sz="4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62398" y="4327880"/>
            <a:ext cx="1066800" cy="109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70AD47"/>
                </a:solidFill>
                <a:latin typeface="等线" panose="02010600030101010101" charset="-122"/>
                <a:cs typeface="等线" panose="02010600030101010101" charset="-122"/>
              </a:rPr>
              <a:t>A9抓词</a:t>
            </a:r>
            <a:endParaRPr sz="1800" dirty="0">
              <a:solidFill>
                <a:srgbClr val="70AD47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70AD47"/>
                </a:solidFill>
                <a:latin typeface="等线" panose="02010600030101010101" charset="-122"/>
                <a:cs typeface="等线" panose="02010600030101010101" charset="-122"/>
              </a:rPr>
              <a:t>（产品</a:t>
            </a:r>
            <a:endParaRPr sz="1800" dirty="0">
              <a:solidFill>
                <a:srgbClr val="70AD47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70AD47"/>
                </a:solidFill>
                <a:latin typeface="等线" panose="02010600030101010101" charset="-122"/>
                <a:cs typeface="等线" panose="02010600030101010101" charset="-122"/>
              </a:rPr>
              <a:t>上架15</a:t>
            </a:r>
            <a:endParaRPr sz="1800" dirty="0">
              <a:solidFill>
                <a:srgbClr val="70AD47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70AD47"/>
                </a:solidFill>
                <a:latin typeface="等线" panose="02010600030101010101" charset="-122"/>
                <a:cs typeface="等线" panose="02010600030101010101" charset="-122"/>
              </a:rPr>
              <a:t>分钟内）</a:t>
            </a:r>
            <a:endParaRPr sz="1800" dirty="0">
              <a:solidFill>
                <a:srgbClr val="70AD47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00198" y="4447357"/>
            <a:ext cx="966469" cy="949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文案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340"/>
              </a:lnSpc>
              <a:spcBef>
                <a:spcPts val="55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体系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7594" y="4635080"/>
            <a:ext cx="3810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70AD47"/>
                </a:solidFill>
                <a:latin typeface="等线" panose="02010600030101010101" charset="-122"/>
                <a:cs typeface="等线" panose="02010600030101010101" charset="-122"/>
              </a:rPr>
              <a:t>根</a:t>
            </a:r>
            <a:endParaRPr sz="1800" dirty="0">
              <a:solidFill>
                <a:srgbClr val="70AD47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70AD47"/>
                </a:solidFill>
                <a:latin typeface="等线" panose="02010600030101010101" charset="-122"/>
                <a:cs typeface="等线" panose="02010600030101010101" charset="-122"/>
              </a:rPr>
              <a:t>基</a:t>
            </a:r>
            <a:endParaRPr sz="1800" dirty="0">
              <a:solidFill>
                <a:srgbClr val="70AD47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4588" y="4778890"/>
            <a:ext cx="966469" cy="949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340"/>
              </a:lnSpc>
              <a:spcBef>
                <a:spcPts val="55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体系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78895" y="6208259"/>
            <a:ext cx="3047257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highlight>
                  <a:srgbClr val="FFFF00"/>
                </a:highlight>
                <a:latin typeface="BAPNIG+MicrosoftYaHei-Bold" panose="02000500000000000000"/>
                <a:cs typeface="BAPNIG+MicrosoftYaHei-Bold" panose="02000500000000000000"/>
              </a:rPr>
              <a:t>围绕A9搭建运营打法体系</a:t>
            </a:r>
            <a:endParaRPr sz="2000" dirty="0">
              <a:solidFill>
                <a:srgbClr val="000000"/>
              </a:solidFill>
              <a:highlight>
                <a:srgbClr val="FFFF00"/>
              </a:highlight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305087"/>
            <a:ext cx="7886063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亚马逊突破销量的运营重心分解：流量思维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39515" y="1876974"/>
            <a:ext cx="66167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排名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2249" y="2381282"/>
            <a:ext cx="2630652" cy="462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促销</a:t>
            </a:r>
            <a:r>
              <a:rPr sz="3200" spc="5909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搜索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54669" y="2474852"/>
            <a:ext cx="66167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收录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5425" y="3154785"/>
            <a:ext cx="91630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关键词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80055" y="3238173"/>
            <a:ext cx="1167765" cy="1785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站内</a:t>
            </a:r>
            <a:endParaRPr sz="4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流量</a:t>
            </a:r>
            <a:endParaRPr sz="4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端口</a:t>
            </a:r>
            <a:endParaRPr sz="4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5901" y="3280112"/>
            <a:ext cx="1010056" cy="16844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品牌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44450" marR="0">
              <a:lnSpc>
                <a:spcPts val="3340"/>
              </a:lnSpc>
              <a:spcBef>
                <a:spcPts val="6335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属性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95964" y="3284570"/>
            <a:ext cx="992479" cy="1666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关联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6670" marR="0">
              <a:lnSpc>
                <a:spcPts val="3340"/>
              </a:lnSpc>
              <a:spcBef>
                <a:spcPts val="6195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5968" y="4526097"/>
            <a:ext cx="13716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海量关键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词上首页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42245" y="5399031"/>
            <a:ext cx="96646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类目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76514" y="5425663"/>
            <a:ext cx="96646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爱好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24130" y="4445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243542"/>
            <a:ext cx="7218073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Listing收录词的关联与延伸：滚球原理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1426" y="1798036"/>
            <a:ext cx="1370964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组合的关键词</a:t>
            </a:r>
            <a:endParaRPr sz="16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3749" y="1809758"/>
            <a:ext cx="1370965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买家点击的词</a:t>
            </a:r>
            <a:endParaRPr sz="16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9563" y="2424751"/>
            <a:ext cx="91630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流量池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09584" y="4043908"/>
            <a:ext cx="1066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首次收录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51729" y="4061485"/>
            <a:ext cx="1066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二次收录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40428" y="4834838"/>
            <a:ext cx="2927349" cy="109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Listing上线后（可售状态）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5875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买家点击的信息（关键词）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30175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被亚马逊抓取到且分解词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701675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根进入数据库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97761" y="4960276"/>
            <a:ext cx="2020713" cy="824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Listing文案刊登后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15分内被亚马逊抓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9685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取的信息（词根）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23567" y="5082793"/>
            <a:ext cx="19812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海量关键词上首页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22860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（或前三页）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135505" y="242506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词根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99965" y="249301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词根的扩容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78025" y="215137"/>
            <a:ext cx="19812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相关性（肯定词）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26679" y="200494"/>
            <a:ext cx="2209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不相关性（否定词）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6194" y="955750"/>
            <a:ext cx="1507856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solar</a:t>
            </a:r>
            <a:r>
              <a:rPr sz="1800" spc="85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power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9497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bank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07666" y="949540"/>
            <a:ext cx="1436067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Solar</a:t>
            </a:r>
            <a:r>
              <a:rPr sz="1800" spc="85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panel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0447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charger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60342" y="940751"/>
            <a:ext cx="1294841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Bluetooth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3335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charger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308" y="1001847"/>
            <a:ext cx="1738757" cy="493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battary</a:t>
            </a:r>
            <a:r>
              <a:rPr sz="1600" spc="67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charger</a:t>
            </a:r>
            <a:endParaRPr sz="16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5654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10000mah</a:t>
            </a:r>
            <a:endParaRPr sz="16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56154" y="1095209"/>
            <a:ext cx="3547527" cy="2850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usb</a:t>
            </a:r>
            <a:r>
              <a:rPr sz="1800" spc="86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charger</a:t>
            </a:r>
            <a:r>
              <a:rPr sz="1800" spc="2449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power</a:t>
            </a:r>
            <a:r>
              <a:rPr sz="1800" spc="88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charger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12136" y="1657781"/>
            <a:ext cx="1028848" cy="550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78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Solar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charger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97807" y="1648980"/>
            <a:ext cx="122039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2000mah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95885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charger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1835" y="1701109"/>
            <a:ext cx="1225497" cy="493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256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battary</a:t>
            </a:r>
            <a:endParaRPr sz="16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10000mah</a:t>
            </a:r>
            <a:endParaRPr sz="16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56154" y="1812225"/>
            <a:ext cx="1509127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usb</a:t>
            </a:r>
            <a:r>
              <a:rPr sz="1800" spc="86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charger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28185" y="1803437"/>
            <a:ext cx="1528176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fast</a:t>
            </a:r>
            <a:r>
              <a:rPr sz="1800" spc="84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charger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0784" y="1804462"/>
            <a:ext cx="1718438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Wireless</a:t>
            </a:r>
            <a:r>
              <a:rPr sz="1600" spc="76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power</a:t>
            </a:r>
            <a:endParaRPr sz="16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70857" y="3187610"/>
            <a:ext cx="1290823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bluetooth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6489" y="3234842"/>
            <a:ext cx="1361368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10000mah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23922" y="3246564"/>
            <a:ext cx="565636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usb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37560" y="3237762"/>
            <a:ext cx="992961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battery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62347" y="3219843"/>
            <a:ext cx="1028848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charger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70103" y="3202596"/>
            <a:ext cx="712836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solar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51508" y="3214331"/>
            <a:ext cx="122039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2000mah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8145" y="3205530"/>
            <a:ext cx="1071698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wireless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03170" y="4072914"/>
            <a:ext cx="1512969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685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2000mah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power</a:t>
            </a:r>
            <a:r>
              <a:rPr sz="1800" spc="88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bank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548556" y="4064113"/>
            <a:ext cx="1184728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wirelesss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7874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charger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39416" y="4105147"/>
            <a:ext cx="1360537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usb</a:t>
            </a:r>
            <a:r>
              <a:rPr sz="1800" spc="86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power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2131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bank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87341" y="4096359"/>
            <a:ext cx="1028848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battery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charger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47903" y="4089357"/>
            <a:ext cx="1351397" cy="493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052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solar</a:t>
            </a:r>
            <a:endParaRPr sz="16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spc="-17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Power</a:t>
            </a:r>
            <a:r>
              <a:rPr sz="1600" spc="93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bank</a:t>
            </a:r>
            <a:endParaRPr sz="16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0606" y="4242875"/>
            <a:ext cx="1805887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power</a:t>
            </a:r>
            <a:r>
              <a:rPr sz="1600" spc="79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1000mah</a:t>
            </a:r>
            <a:endParaRPr sz="16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07235" y="4876242"/>
            <a:ext cx="8328656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二次收录（动态）：listing上线后打广告点击、自然点击、人为操控</a:t>
            </a:r>
            <a:endParaRPr sz="21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69266" y="5637317"/>
            <a:ext cx="962308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power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849956" y="5657828"/>
            <a:ext cx="785879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bank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69374" y="5694819"/>
            <a:ext cx="1512969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power</a:t>
            </a:r>
            <a:r>
              <a:rPr sz="1800" spc="88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bank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49752" y="6310339"/>
            <a:ext cx="6186168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首次收录（静态）：刊登listing15分钟亚马逊抓取</a:t>
            </a:r>
            <a:endParaRPr sz="21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0935" y="2302526"/>
            <a:ext cx="10740390" cy="673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第一部分：A9算法运用与爆款打法策略</a:t>
            </a:r>
            <a:endParaRPr sz="4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3453" y="3904317"/>
            <a:ext cx="9009980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两条主线：“爆款”+“打广告目的是不打广告</a:t>
            </a:r>
            <a:r>
              <a:rPr sz="32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”</a:t>
            </a:r>
            <a:endParaRPr sz="32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6844" y="275327"/>
            <a:ext cx="11752586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————看得见的运营————</a:t>
            </a:r>
            <a:r>
              <a:rPr sz="2000" spc="208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dirty="0">
                <a:solidFill>
                  <a:srgbClr val="70AD47"/>
                </a:solidFill>
                <a:latin typeface="KUMBUU+MicrosoftYaHei" panose="02000500000000000000"/>
                <a:cs typeface="KUMBUU+MicrosoftYaHei" panose="02000500000000000000"/>
              </a:rPr>
              <a:t>————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看不见的运营</a:t>
            </a:r>
            <a:r>
              <a:rPr sz="2000" dirty="0">
                <a:solidFill>
                  <a:srgbClr val="70AD47"/>
                </a:solidFill>
                <a:latin typeface="KUMBUU+MicrosoftYaHei" panose="02000500000000000000"/>
                <a:cs typeface="KUMBUU+MicrosoftYaHei" panose="02000500000000000000"/>
              </a:rPr>
              <a:t>————</a:t>
            </a:r>
            <a:r>
              <a:rPr sz="2000" spc="2225" dirty="0">
                <a:solidFill>
                  <a:srgbClr val="70AD47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————实操的运营————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629" y="958329"/>
            <a:ext cx="108042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LISTING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2065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匹配度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61743" y="1091513"/>
            <a:ext cx="8382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相关性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72228" y="1151229"/>
            <a:ext cx="838200" cy="897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点击量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14935" marR="0">
              <a:lnSpc>
                <a:spcPts val="1875"/>
              </a:lnSpc>
              <a:spcBef>
                <a:spcPts val="301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CTR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0593" y="1190916"/>
            <a:ext cx="1068273" cy="9436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搜索排名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270" marR="0">
              <a:lnSpc>
                <a:spcPts val="1875"/>
              </a:lnSpc>
              <a:spcBef>
                <a:spcPts val="333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广告排名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01601" y="1529486"/>
            <a:ext cx="618477" cy="2167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排名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8890" marR="0">
              <a:lnSpc>
                <a:spcPts val="1875"/>
              </a:lnSpc>
              <a:spcBef>
                <a:spcPts val="1301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推送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12719" y="1529486"/>
            <a:ext cx="1066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流量热度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8165" y="2138078"/>
            <a:ext cx="2650490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0AD47"/>
                </a:solidFill>
                <a:latin typeface="等线" panose="02010600030101010101" charset="-122"/>
                <a:cs typeface="等线" panose="02010600030101010101" charset="-122"/>
              </a:rPr>
              <a:t>动销高、周转快，库存才会增加</a:t>
            </a:r>
            <a:endParaRPr sz="1400" b="1" dirty="0">
              <a:solidFill>
                <a:srgbClr val="70AD47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91855" y="2255087"/>
            <a:ext cx="711834" cy="26327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运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590"/>
              </a:lnSpc>
              <a:spcBef>
                <a:spcPts val="69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营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590"/>
              </a:lnSpc>
              <a:spcBef>
                <a:spcPts val="64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打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590"/>
              </a:lnSpc>
              <a:spcBef>
                <a:spcPts val="69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法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2324" y="2298012"/>
            <a:ext cx="711834" cy="621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影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2279" y="2551277"/>
            <a:ext cx="8382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动销率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存留率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7516" y="2673235"/>
            <a:ext cx="609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库存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12324" y="2952291"/>
            <a:ext cx="1763103" cy="1978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响</a:t>
            </a:r>
            <a:r>
              <a:rPr sz="4400" spc="2777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权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69215" marR="0">
              <a:lnSpc>
                <a:spcPts val="4590"/>
              </a:lnSpc>
              <a:spcBef>
                <a:spcPts val="51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A</a:t>
            </a:r>
            <a:r>
              <a:rPr sz="4400" spc="3324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重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06680" marR="0">
              <a:lnSpc>
                <a:spcPts val="4590"/>
              </a:lnSpc>
              <a:spcBef>
                <a:spcPts val="69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9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99821" y="3092220"/>
            <a:ext cx="1066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广告推送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27019" y="3420439"/>
            <a:ext cx="8382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转化率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83214" y="3407650"/>
            <a:ext cx="1201776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REVIEWS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86994" y="3759529"/>
            <a:ext cx="12954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购物车推送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9452" y="4315586"/>
            <a:ext cx="1066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同行比价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68639" y="4324489"/>
            <a:ext cx="618477" cy="1803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价格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101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销量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90613" y="5205119"/>
            <a:ext cx="903609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LD/BD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10479" y="5515546"/>
            <a:ext cx="609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促销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98419" y="5522950"/>
            <a:ext cx="12954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销量递增率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669879" y="5529918"/>
            <a:ext cx="1233378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LISTING表现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575" y="5851410"/>
            <a:ext cx="1066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销量增减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10171" y="5872428"/>
            <a:ext cx="1066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其他活动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40342" y="344444"/>
            <a:ext cx="1758315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0AD47"/>
                </a:solidFill>
                <a:latin typeface="等线" panose="02010600030101010101" charset="-122"/>
                <a:cs typeface="等线" panose="02010600030101010101" charset="-122"/>
              </a:rPr>
              <a:t>为权重—侧重点击量</a:t>
            </a:r>
            <a:endParaRPr sz="1400" b="1" dirty="0">
              <a:solidFill>
                <a:srgbClr val="70AD47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14571" y="344444"/>
            <a:ext cx="1575872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0AD47"/>
                </a:solidFill>
                <a:latin typeface="等线" panose="02010600030101010101" charset="-122"/>
                <a:cs typeface="等线" panose="02010600030101010101" charset="-122"/>
              </a:rPr>
              <a:t>7:3-3:7(45天为限)</a:t>
            </a:r>
            <a:endParaRPr sz="1400" b="1" dirty="0">
              <a:solidFill>
                <a:srgbClr val="70AD47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16451" y="800450"/>
            <a:ext cx="7620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9723" y="874864"/>
            <a:ext cx="8382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点击量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05455" y="1118598"/>
            <a:ext cx="4572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比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例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585" y="1140992"/>
            <a:ext cx="573068" cy="12915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A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7465" marR="0">
              <a:lnSpc>
                <a:spcPts val="4590"/>
              </a:lnSpc>
              <a:spcBef>
                <a:spcPts val="69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9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4469" y="1395670"/>
            <a:ext cx="1170940" cy="2249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流量热度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19380" marR="0">
              <a:lnSpc>
                <a:spcPts val="2090"/>
              </a:lnSpc>
              <a:spcBef>
                <a:spcPts val="1323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转化率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82145" y="1263154"/>
            <a:ext cx="862965" cy="23943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1278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74165" y="1263154"/>
            <a:ext cx="862965" cy="23943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自然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1278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自然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16451" y="1714850"/>
            <a:ext cx="7620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自然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82682" y="1819490"/>
            <a:ext cx="60893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CTR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8643" y="2369612"/>
            <a:ext cx="2257114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0AD47"/>
                </a:solidFill>
                <a:latin typeface="等线" panose="02010600030101010101" charset="-122"/>
                <a:cs typeface="等线" panose="02010600030101010101" charset="-122"/>
              </a:rPr>
              <a:t>为某一个词排名—侧重CTR</a:t>
            </a:r>
            <a:endParaRPr sz="1400" b="1" dirty="0">
              <a:solidFill>
                <a:srgbClr val="70AD47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32097" y="2395989"/>
            <a:ext cx="1579880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0AD47"/>
                </a:solidFill>
                <a:latin typeface="等线" panose="02010600030101010101" charset="-122"/>
                <a:cs typeface="等线" panose="02010600030101010101" charset="-122"/>
              </a:rPr>
              <a:t>数据在品牌分析里</a:t>
            </a:r>
            <a:endParaRPr sz="1400" b="1" dirty="0">
              <a:solidFill>
                <a:srgbClr val="70AD47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1370" y="2482112"/>
            <a:ext cx="711834" cy="33032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体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590"/>
              </a:lnSpc>
              <a:spcBef>
                <a:spcPts val="69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系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590"/>
              </a:lnSpc>
              <a:spcBef>
                <a:spcPts val="64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化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590"/>
              </a:lnSpc>
              <a:spcBef>
                <a:spcPts val="69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运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590"/>
              </a:lnSpc>
              <a:spcBef>
                <a:spcPts val="69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营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06101" y="2819365"/>
            <a:ext cx="218948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与同行头部链接比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01125" y="3091657"/>
            <a:ext cx="4572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组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合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46970" y="3328694"/>
            <a:ext cx="1085217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Reviews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48722" y="3748421"/>
            <a:ext cx="218948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自身转化率提升度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202722" y="4826600"/>
            <a:ext cx="1680210" cy="1232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流量热度递增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27000" marR="0">
              <a:lnSpc>
                <a:spcPts val="2090"/>
              </a:lnSpc>
              <a:spcBef>
                <a:spcPts val="522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转化率递增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82145" y="5029961"/>
            <a:ext cx="862965" cy="83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流量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热度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74165" y="5029961"/>
            <a:ext cx="862965" cy="83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转化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7780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率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01125" y="5058811"/>
            <a:ext cx="4572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同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频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22040" y="5179224"/>
            <a:ext cx="920901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Listing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55575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表现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40065" y="5287051"/>
            <a:ext cx="142557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销量递增率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291688"/>
            <a:ext cx="7040314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A9算法中listing运营的数据模型：SWOT分析模型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39" y="885981"/>
            <a:ext cx="1965804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2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SWOT分析模型</a:t>
            </a:r>
            <a:endParaRPr sz="2000" spc="-12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3488" y="1523593"/>
            <a:ext cx="8382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转化率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7269" y="1943044"/>
            <a:ext cx="340369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94763" y="1942803"/>
            <a:ext cx="19812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爆款短期激活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9166" y="2614010"/>
            <a:ext cx="340369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4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3077" y="2608143"/>
            <a:ext cx="384324" cy="2518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43815" marR="0">
              <a:lnSpc>
                <a:spcPts val="2500"/>
              </a:lnSpc>
              <a:spcBef>
                <a:spcPts val="1453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23811" y="2877954"/>
            <a:ext cx="363827" cy="26035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1430" marR="0">
              <a:lnSpc>
                <a:spcPts val="2500"/>
              </a:lnSpc>
              <a:spcBef>
                <a:spcPts val="6315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3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3495" marR="0">
              <a:lnSpc>
                <a:spcPts val="2500"/>
              </a:lnSpc>
              <a:spcBef>
                <a:spcPts val="6385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4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6519" y="2877726"/>
            <a:ext cx="2590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爆款长期稳定递增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83041" y="3817437"/>
            <a:ext cx="19812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权重即下滑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甚至变成死水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30965" y="4120260"/>
            <a:ext cx="1066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流量热度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59344" y="4788631"/>
            <a:ext cx="340369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3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87753" y="5117726"/>
            <a:ext cx="2395855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压制Listing权重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291688"/>
            <a:ext cx="8061959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A9算法中关键词排名/listing运营的数据模型：三角形模型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39" y="803913"/>
            <a:ext cx="142557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三角形模型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56307" y="939651"/>
            <a:ext cx="244411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新品期的收录速度快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3334" y="1265499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点击量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59228" y="1567437"/>
            <a:ext cx="244411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老品期的收录影响小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76423" y="1649420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点击量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78228" y="1872237"/>
            <a:ext cx="320802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但有足够点击量激活有效果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7528" y="2144910"/>
            <a:ext cx="7620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收录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48218" y="2530013"/>
            <a:ext cx="2895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新品期的排名速度快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75056" y="3018112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点击率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25751" y="3183766"/>
            <a:ext cx="295338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老品期的排名影响相对小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44751" y="3488566"/>
            <a:ext cx="371729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但加上转化率好会拉动排名效果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14777" y="3587021"/>
            <a:ext cx="1179195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A9运营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7990" y="4120091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转化率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70747" y="4130310"/>
            <a:ext cx="244411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新老品期的排名稳定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39211" y="4498448"/>
            <a:ext cx="40703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量</a:t>
            </a:r>
            <a:endParaRPr sz="20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005"/>
              </a:lnSpc>
              <a:spcBef>
                <a:spcPts val="395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化</a:t>
            </a:r>
            <a:endParaRPr sz="20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8002" y="4835164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点击率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42268" y="4817575"/>
            <a:ext cx="1098981" cy="1082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转化率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37185" marR="0">
              <a:lnSpc>
                <a:spcPts val="2500"/>
              </a:lnSpc>
              <a:spcBef>
                <a:spcPts val="322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稳定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33982" y="5333749"/>
            <a:ext cx="806891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4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Total</a:t>
            </a:r>
            <a:endParaRPr sz="2000" spc="-4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546856" y="5328987"/>
            <a:ext cx="168021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对标：点击量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0029" y="5532877"/>
            <a:ext cx="7620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排名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08661" y="5836458"/>
            <a:ext cx="778668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H10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41438" y="5868254"/>
            <a:ext cx="4154118" cy="308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Organic</a:t>
            </a:r>
            <a:r>
              <a:rPr sz="2000" spc="3608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对标：点击量+点击率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6912" y="6202175"/>
            <a:ext cx="4978400" cy="541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spc="10" dirty="0">
                <a:solidFill>
                  <a:srgbClr val="FFFF00"/>
                </a:solidFill>
                <a:latin typeface="黑体" panose="02010609060101010101" charset="-122"/>
                <a:cs typeface="黑体" panose="02010609060101010101" charset="-122"/>
              </a:rPr>
              <a:t>大词打不到首页，转化提升不了，</a:t>
            </a:r>
            <a:endParaRPr sz="1800" spc="10" dirty="0">
              <a:solidFill>
                <a:srgbClr val="FFFF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800"/>
              </a:lnSpc>
              <a:spcBef>
                <a:spcPts val="360"/>
              </a:spcBef>
              <a:spcAft>
                <a:spcPts val="0"/>
              </a:spcAft>
            </a:pPr>
            <a:r>
              <a:rPr sz="1800" spc="10" dirty="0">
                <a:solidFill>
                  <a:srgbClr val="FFFF00"/>
                </a:solidFill>
                <a:latin typeface="黑体" panose="02010609060101010101" charset="-122"/>
                <a:cs typeface="黑体" panose="02010609060101010101" charset="-122"/>
              </a:rPr>
              <a:t>就广告打到第二页，让自然转化率升排名到首页</a:t>
            </a:r>
            <a:endParaRPr sz="1800" spc="10" dirty="0">
              <a:solidFill>
                <a:srgbClr val="FFFF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98613" y="6391761"/>
            <a:ext cx="640408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O/T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541002" y="6386998"/>
            <a:ext cx="168021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对标：转化率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222647"/>
            <a:ext cx="9319256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亚马逊运营的方向：打广告的目的是不打广告</a:t>
            </a:r>
            <a:r>
              <a:rPr sz="20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（广告仅是运营的一个阶段性手段）</a:t>
            </a:r>
            <a:endParaRPr sz="20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39" y="852444"/>
            <a:ext cx="2306955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404040"/>
                </a:solidFill>
                <a:latin typeface="BAPNIG+MicrosoftYaHei-Bold" panose="02000500000000000000"/>
                <a:cs typeface="BAPNIG+MicrosoftYaHei-Bold" panose="02000500000000000000"/>
              </a:rPr>
              <a:t>词汇量</a:t>
            </a:r>
            <a:r>
              <a:rPr sz="2400" spc="114" dirty="0">
                <a:solidFill>
                  <a:srgbClr val="40404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/</a:t>
            </a:r>
            <a:r>
              <a:rPr sz="2400" spc="115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订单量</a:t>
            </a:r>
            <a:endParaRPr sz="24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87678" y="880604"/>
            <a:ext cx="33528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大量精准买家行为关键词上位，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57150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自然单比重越来越大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88676" y="948003"/>
            <a:ext cx="24384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广告和已排位关键词干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8128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涉A9买家行为强关系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1044" y="1549069"/>
            <a:ext cx="2047502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广告干涉A9对关键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26797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词SEO的收录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67167" y="1565917"/>
            <a:ext cx="2996565" cy="736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广告预算减少取决于关键词自然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0160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排名上位的数量及自然订单量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82423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listing稳定期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19904" y="1633330"/>
            <a:ext cx="1777365" cy="73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关键词收录加强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自然排名轨迹巩固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0160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关键词稳定阶段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8585" y="2318279"/>
            <a:ext cx="1777364" cy="736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关键词收录及自然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40640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排名上位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0160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关键词最快阶段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26040" y="2731066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自然线</a:t>
            </a:r>
            <a:endParaRPr sz="24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2283" y="5403544"/>
            <a:ext cx="4038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广告目的就是关键词收录到排名上位的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26783" y="5677864"/>
            <a:ext cx="609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推手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49484" y="5743887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70C0"/>
                </a:solidFill>
                <a:latin typeface="BAPNIG+MicrosoftYaHei-Bold" panose="02000500000000000000"/>
                <a:cs typeface="BAPNIG+MicrosoftYaHei-Bold" panose="02000500000000000000"/>
              </a:rPr>
              <a:t>广告线</a:t>
            </a:r>
            <a:endParaRPr sz="2400" dirty="0">
              <a:solidFill>
                <a:srgbClr val="0070C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460494" y="6341765"/>
            <a:ext cx="1371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404040"/>
                </a:solidFill>
                <a:latin typeface="BAPNIG+MicrosoftYaHei-Bold" panose="02000500000000000000"/>
                <a:cs typeface="BAPNIG+MicrosoftYaHei-Bold" panose="02000500000000000000"/>
              </a:rPr>
              <a:t>上线时间</a:t>
            </a:r>
            <a:endParaRPr sz="2400" dirty="0">
              <a:solidFill>
                <a:srgbClr val="40404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46717" y="6443332"/>
            <a:ext cx="891554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第14天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32561" y="6455054"/>
            <a:ext cx="891554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第90天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1755" y="71755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31862" y="1380705"/>
            <a:ext cx="1635554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POINTS: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1862" y="2020785"/>
            <a:ext cx="8463915" cy="168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1.亚马逊是两极端化的平台：越来越好/越来越不好；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217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2.平台获客成本逐年上升（2020-$2一次点击）；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212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3.转化率一定要与同行对比；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862" y="3941025"/>
            <a:ext cx="9006840" cy="1024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4.有效广告点击率占广告点击率</a:t>
            </a:r>
            <a:r>
              <a:rPr lang="en-US"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4</a:t>
            </a: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0%左右；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217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5.广告流量占比较大情况下，推关键词，获取自然流量。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45040" y="2302526"/>
            <a:ext cx="6248400" cy="673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第二部分：关键词体系</a:t>
            </a:r>
            <a:endParaRPr sz="4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65603" y="3930801"/>
            <a:ext cx="7611110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流量池的载体：关键词表格/工具----实操+运营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237641"/>
            <a:ext cx="76193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与同行竞争的运营策略：突破其“马奇诺防线”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727010" y="961440"/>
            <a:ext cx="1375409" cy="1805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猛烧广告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排名上不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459105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来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04800" marR="0">
              <a:lnSpc>
                <a:spcPts val="2400"/>
              </a:lnSpc>
              <a:spcBef>
                <a:spcPts val="43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----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刷这些词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96893" y="963841"/>
            <a:ext cx="1375409" cy="1440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刷这些词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刷不上来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53035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或不稳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04800" marR="0">
              <a:lnSpc>
                <a:spcPts val="2400"/>
              </a:lnSpc>
              <a:spcBef>
                <a:spcPts val="43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----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2891" y="1122807"/>
            <a:ext cx="763270" cy="1440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大多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数同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行卖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53035" marR="0">
              <a:lnSpc>
                <a:spcPts val="2400"/>
              </a:lnSpc>
              <a:spcBef>
                <a:spcPts val="43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家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5435" y="1336764"/>
            <a:ext cx="1530350" cy="1074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抓取搜索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量大词10-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82905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30个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2788" y="1339163"/>
            <a:ext cx="1375410" cy="1074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强打广告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0480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----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烧这些词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49928" y="2426881"/>
            <a:ext cx="1069339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黑科技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20409" y="3227956"/>
            <a:ext cx="700722" cy="58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4300" spc="2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VS</a:t>
            </a:r>
            <a:endParaRPr sz="4300" spc="2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70603" y="4209683"/>
            <a:ext cx="149098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查询收录与</a:t>
            </a:r>
            <a:endParaRPr sz="21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71976" y="4218622"/>
            <a:ext cx="1607070" cy="72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985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进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进</a:t>
            </a:r>
            <a:r>
              <a:rPr sz="2400" spc="5454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93821" y="4411065"/>
            <a:ext cx="457200" cy="1074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进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前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70603" y="4529723"/>
            <a:ext cx="1490980" cy="190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940" marR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否</a:t>
            </a:r>
            <a:endParaRPr sz="21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400685" marR="0">
              <a:lnSpc>
                <a:spcPts val="2100"/>
              </a:lnSpc>
              <a:spcBef>
                <a:spcPts val="420"/>
              </a:spcBef>
              <a:spcAft>
                <a:spcPts val="0"/>
              </a:spcAft>
            </a:pPr>
            <a:r>
              <a:rPr sz="21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----</a:t>
            </a:r>
            <a:endParaRPr sz="21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100"/>
              </a:lnSpc>
              <a:spcBef>
                <a:spcPts val="420"/>
              </a:spcBef>
              <a:spcAft>
                <a:spcPts val="0"/>
              </a:spcAft>
            </a:pPr>
            <a:r>
              <a:rPr sz="21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有收录打排</a:t>
            </a:r>
            <a:endParaRPr sz="21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535940" marR="0">
              <a:lnSpc>
                <a:spcPts val="2100"/>
              </a:lnSpc>
              <a:spcBef>
                <a:spcPts val="470"/>
              </a:spcBef>
              <a:spcAft>
                <a:spcPts val="0"/>
              </a:spcAft>
            </a:pPr>
            <a:r>
              <a:rPr sz="21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名</a:t>
            </a:r>
            <a:endParaRPr sz="21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100"/>
              </a:lnSpc>
              <a:spcBef>
                <a:spcPts val="420"/>
              </a:spcBef>
              <a:spcAft>
                <a:spcPts val="0"/>
              </a:spcAft>
            </a:pPr>
            <a:r>
              <a:rPr sz="21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无收录打收</a:t>
            </a:r>
            <a:endParaRPr sz="21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535940" marR="0">
              <a:lnSpc>
                <a:spcPts val="2100"/>
              </a:lnSpc>
              <a:spcBef>
                <a:spcPts val="420"/>
              </a:spcBef>
              <a:spcAft>
                <a:spcPts val="0"/>
              </a:spcAft>
            </a:pPr>
            <a:r>
              <a:rPr sz="21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录</a:t>
            </a:r>
            <a:endParaRPr sz="21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19883" y="4687342"/>
            <a:ext cx="122301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抓取同行</a:t>
            </a:r>
            <a:endParaRPr sz="21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65404" y="4757699"/>
            <a:ext cx="1621408" cy="7110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无</a:t>
            </a:r>
            <a:r>
              <a:rPr sz="2400" spc="5566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有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6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收</a:t>
            </a:r>
            <a:r>
              <a:rPr sz="2400" spc="5566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收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0900" y="4933403"/>
            <a:ext cx="457200" cy="70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我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们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21846" y="4950142"/>
            <a:ext cx="457200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首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页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271976" y="4962093"/>
            <a:ext cx="457200" cy="70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入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首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19883" y="5007383"/>
            <a:ext cx="1223010" cy="9448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大量关键</a:t>
            </a:r>
            <a:endParaRPr sz="21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401955" marR="0">
              <a:lnSpc>
                <a:spcPts val="2100"/>
              </a:lnSpc>
              <a:spcBef>
                <a:spcPts val="420"/>
              </a:spcBef>
              <a:spcAft>
                <a:spcPts val="0"/>
              </a:spcAft>
            </a:pPr>
            <a:r>
              <a:rPr sz="21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词</a:t>
            </a:r>
            <a:endParaRPr sz="21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267970" marR="0">
              <a:lnSpc>
                <a:spcPts val="2100"/>
              </a:lnSpc>
              <a:spcBef>
                <a:spcPts val="420"/>
              </a:spcBef>
              <a:spcAft>
                <a:spcPts val="0"/>
              </a:spcAft>
            </a:pPr>
            <a:r>
              <a:rPr sz="21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数据</a:t>
            </a:r>
            <a:endParaRPr sz="21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65404" y="5489219"/>
            <a:ext cx="2785617" cy="7277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录</a:t>
            </a:r>
            <a:r>
              <a:rPr sz="2400" spc="5566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录</a:t>
            </a:r>
            <a:r>
              <a:rPr sz="2400" spc="5566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三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2328545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页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271976" y="5681662"/>
            <a:ext cx="1607070" cy="70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页</a:t>
            </a:r>
            <a:r>
              <a:rPr sz="2400" spc="5454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顶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149985" marR="0">
              <a:lnSpc>
                <a:spcPts val="2400"/>
              </a:lnSpc>
              <a:spcBef>
                <a:spcPts val="385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部</a:t>
            </a:r>
            <a:endParaRPr sz="2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84790" y="1166642"/>
            <a:ext cx="5850888" cy="16425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第一节：关键词的相关性与收录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3340"/>
              </a:lnSpc>
              <a:spcBef>
                <a:spcPts val="5955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第二节：抓取同行关键词数据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9110" y="2317753"/>
            <a:ext cx="1675765" cy="117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关键词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5400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体系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3110" y="3536953"/>
            <a:ext cx="1167764" cy="566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内容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9956" y="3797091"/>
            <a:ext cx="5443854" cy="1803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第四节：关键词的高效出单词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3340"/>
              </a:lnSpc>
              <a:spcBef>
                <a:spcPts val="7275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第五节：关键词的矩阵组合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0935" y="2322786"/>
            <a:ext cx="10820400" cy="832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250"/>
              </a:lnSpc>
              <a:spcBef>
                <a:spcPts val="0"/>
              </a:spcBef>
              <a:spcAft>
                <a:spcPts val="0"/>
              </a:spcAft>
            </a:pPr>
            <a:r>
              <a:rPr sz="6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第一节：关键词的相关性及收录</a:t>
            </a:r>
            <a:endParaRPr sz="6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05134" y="3917665"/>
            <a:ext cx="3815714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首次收录与二次收录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48576" y="560488"/>
            <a:ext cx="1379855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A9优先校验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56845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匹配展示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84155" y="671867"/>
            <a:ext cx="15240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highlight>
                  <a:srgbClr val="FFFF00"/>
                </a:highlight>
                <a:latin typeface="BAPNIG+MicrosoftYaHei-Bold" panose="02000500000000000000"/>
                <a:cs typeface="BAPNIG+MicrosoftYaHei-Bold" panose="02000500000000000000"/>
              </a:rPr>
              <a:t>找准相关类目</a:t>
            </a:r>
            <a:endParaRPr sz="1800" dirty="0">
              <a:solidFill>
                <a:srgbClr val="000000"/>
              </a:solidFill>
              <a:highlight>
                <a:srgbClr val="FFFF00"/>
              </a:highlight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57358" y="869008"/>
            <a:ext cx="4591347" cy="752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625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静态/首次收录</a:t>
            </a:r>
            <a:endParaRPr sz="5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6361" y="2515166"/>
            <a:ext cx="2187575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买家搜索词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28552" y="2515166"/>
            <a:ext cx="178053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选择类目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62083" y="2515166"/>
            <a:ext cx="178053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文案属性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026" y="4620737"/>
            <a:ext cx="2159942" cy="1729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搜索特征：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（1）模糊搜索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（2）精准搜索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（3）已知搜索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88900" marR="0">
              <a:lnSpc>
                <a:spcPts val="1875"/>
              </a:lnSpc>
              <a:spcBef>
                <a:spcPts val="30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（已知产品品牌）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5136" y="4627659"/>
            <a:ext cx="2183765" cy="493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投放的类目（从后到前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级类目词的强度减弱）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56762" y="4749579"/>
            <a:ext cx="1092832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（1）Title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56762" y="4993419"/>
            <a:ext cx="1916215" cy="12245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（2）Search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spc="-46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Term</a:t>
            </a:r>
            <a:endParaRPr sz="1600" spc="-46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（3）Bullet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spc="-1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Point</a:t>
            </a:r>
            <a:endParaRPr sz="1600" spc="-17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（4）Keywords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（5）Description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（6）More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Details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9936" y="5359179"/>
            <a:ext cx="1574165" cy="980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9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A9优先匹配：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第一：类目相关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第二：产品相关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第三：词匹配度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5421" y="560488"/>
            <a:ext cx="10668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广告推力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人为操控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7358" y="869008"/>
            <a:ext cx="4591347" cy="752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625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动态/二次收录</a:t>
            </a:r>
            <a:endParaRPr sz="5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73245" y="2384293"/>
            <a:ext cx="7620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排名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提升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646" y="2541650"/>
            <a:ext cx="33521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买家搜索及行为动作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29234" y="2535130"/>
            <a:ext cx="178053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加强收录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2262" y="4523930"/>
            <a:ext cx="5477619" cy="1922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（1）搜索+点击（一层加权——收录）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（2）搜索+点击+加购（二层加权）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（3）搜索+点击+加心愿单（二层加权）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（4）搜索+点击+加购+加心愿单（二层加双权）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（5）搜索+点击+加购/加心愿单+转化（三层加权）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（6）搜索+点击+加购+加心愿单+转化+好评（四层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加权）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81158" y="4627659"/>
            <a:ext cx="1693544" cy="1712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收录关键词与排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名关系：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（1）有收录才有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排名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（2）有排名再加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6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权重才有排名提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升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98653" y="4660455"/>
            <a:ext cx="1981200" cy="1647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买家搜索关键词与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listing关系：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（1）相关匹配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（2）权重值加分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（3）加强二次收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录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34567" y="2698287"/>
            <a:ext cx="10058400" cy="832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250"/>
              </a:lnSpc>
              <a:spcBef>
                <a:spcPts val="0"/>
              </a:spcBef>
              <a:spcAft>
                <a:spcPts val="0"/>
              </a:spcAft>
            </a:pPr>
            <a:r>
              <a:rPr sz="6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第二节：抓取同行关键词数据</a:t>
            </a:r>
            <a:endParaRPr sz="6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7727" y="725482"/>
            <a:ext cx="2895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采集关键词流程化图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76360" y="1847850"/>
            <a:ext cx="1674495" cy="422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355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下载excel表</a:t>
            </a:r>
            <a:endParaRPr sz="14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00"/>
              </a:lnSpc>
              <a:spcBef>
                <a:spcPts val="300"/>
              </a:spcBef>
              <a:spcAft>
                <a:spcPts val="0"/>
              </a:spcAft>
            </a:pPr>
            <a:r>
              <a:rPr sz="14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关键词合并去</a:t>
            </a:r>
            <a:r>
              <a:rPr sz="140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重</a:t>
            </a:r>
            <a:endParaRPr sz="140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75426" y="1846864"/>
            <a:ext cx="1209039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下载excel表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49530" marR="0">
              <a:lnSpc>
                <a:spcPts val="1500"/>
              </a:lnSpc>
              <a:spcBef>
                <a:spcPts val="30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关键词数据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57439" y="1848096"/>
            <a:ext cx="344169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无</a:t>
            </a:r>
            <a:endParaRPr sz="150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00"/>
              </a:lnSpc>
              <a:spcBef>
                <a:spcPts val="30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DS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3227" y="1959856"/>
            <a:ext cx="10198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Helium</a:t>
            </a: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10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13198" y="1961989"/>
            <a:ext cx="918209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关键词库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829" y="2102382"/>
            <a:ext cx="1690052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从H10抓取TOP1-5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5621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搜索量的大词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221" y="2823510"/>
            <a:ext cx="2115185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搜索量最大且相关的大词</a:t>
            </a:r>
            <a:endParaRPr sz="14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96234" y="3046603"/>
            <a:ext cx="483235" cy="598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3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关键</a:t>
            </a:r>
            <a:endParaRPr sz="13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295"/>
              </a:lnSpc>
              <a:spcBef>
                <a:spcPts val="265"/>
              </a:spcBef>
              <a:spcAft>
                <a:spcPts val="0"/>
              </a:spcAft>
            </a:pPr>
            <a:r>
              <a:rPr sz="13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词工</a:t>
            </a:r>
            <a:endParaRPr sz="13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83185" marR="0">
              <a:lnSpc>
                <a:spcPts val="1295"/>
              </a:lnSpc>
              <a:spcBef>
                <a:spcPts val="215"/>
              </a:spcBef>
              <a:spcAft>
                <a:spcPts val="0"/>
              </a:spcAft>
            </a:pPr>
            <a:r>
              <a:rPr sz="130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具</a:t>
            </a:r>
            <a:endParaRPr sz="130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04622" y="3249667"/>
            <a:ext cx="53594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有DS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896713" y="3965084"/>
            <a:ext cx="1109978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生成关键词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83540" marR="0">
              <a:lnSpc>
                <a:spcPts val="1500"/>
              </a:lnSpc>
              <a:spcBef>
                <a:spcPts val="300"/>
              </a:spcBef>
              <a:spcAft>
                <a:spcPts val="0"/>
              </a:spcAft>
            </a:pPr>
            <a:r>
              <a:rPr sz="150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库</a:t>
            </a:r>
            <a:endParaRPr sz="150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4174" y="4094911"/>
            <a:ext cx="1588452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7645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从小类节点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抓取#1-100ASIN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28518" y="4077314"/>
            <a:ext cx="925511" cy="1335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肯定词库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00"/>
              </a:lnSpc>
              <a:spcBef>
                <a:spcPts val="7215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否定词库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92719" y="4192541"/>
            <a:ext cx="534669" cy="685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关键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00"/>
              </a:lnSpc>
              <a:spcBef>
                <a:spcPts val="30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词分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95885" marR="0">
              <a:lnSpc>
                <a:spcPts val="1500"/>
              </a:lnSpc>
              <a:spcBef>
                <a:spcPts val="300"/>
              </a:spcBef>
              <a:spcAft>
                <a:spcPts val="0"/>
              </a:spcAft>
            </a:pPr>
            <a:r>
              <a:rPr sz="150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类</a:t>
            </a:r>
            <a:endParaRPr sz="150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35335" y="4314385"/>
            <a:ext cx="1053148" cy="443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33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DS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85"/>
              </a:spcBef>
              <a:spcAft>
                <a:spcPts val="0"/>
              </a:spcAft>
            </a:pPr>
            <a:r>
              <a:rPr sz="1400" spc="10" dirty="0">
                <a:solidFill>
                  <a:srgbClr val="00B050"/>
                </a:solidFill>
                <a:latin typeface="黑体" panose="02010609060101010101" charset="-122"/>
                <a:cs typeface="黑体" panose="02010609060101010101" charset="-122"/>
              </a:rPr>
              <a:t>DataSeller</a:t>
            </a:r>
            <a:endParaRPr sz="1400" spc="10" dirty="0">
              <a:solidFill>
                <a:srgbClr val="00B05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29896" y="4304263"/>
            <a:ext cx="130302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导入关键词DS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84175" marR="0">
              <a:lnSpc>
                <a:spcPts val="1500"/>
              </a:lnSpc>
              <a:spcBef>
                <a:spcPts val="30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词库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80623" y="4799804"/>
            <a:ext cx="1109978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生成否定词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83540" marR="0">
              <a:lnSpc>
                <a:spcPts val="1500"/>
              </a:lnSpc>
              <a:spcBef>
                <a:spcPts val="300"/>
              </a:spcBef>
              <a:spcAft>
                <a:spcPts val="0"/>
              </a:spcAft>
            </a:pPr>
            <a:r>
              <a:rPr sz="150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根</a:t>
            </a:r>
            <a:endParaRPr sz="150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969205" y="5599091"/>
            <a:ext cx="918209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否定词组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866820" y="880321"/>
            <a:ext cx="13716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前台搜索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数据判断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8573" y="909620"/>
            <a:ext cx="10668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关键词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总词库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5169" y="912553"/>
            <a:ext cx="19812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选出来肯定词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048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属性判断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95427" y="1080777"/>
            <a:ext cx="16764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判断不了？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46703" y="2464087"/>
            <a:ext cx="1403985" cy="493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首页产品属性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相关50%以上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761" y="2827675"/>
            <a:ext cx="2342462" cy="736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Huge</a:t>
            </a:r>
            <a:r>
              <a:rPr sz="1600" spc="73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Amazon</a:t>
            </a:r>
            <a:r>
              <a:rPr sz="1600" spc="73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Search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0795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Suggestion</a:t>
            </a:r>
            <a:r>
              <a:rPr sz="1600" spc="72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Expander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688975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（免费）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50959" y="3032564"/>
            <a:ext cx="2183765" cy="493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首页自然排名前三产品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60960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属性相关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09809" y="3254518"/>
            <a:ext cx="1425575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地毯式搜索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找到延伸词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00152" y="3409470"/>
            <a:ext cx="91630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肯定词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55759" y="3612675"/>
            <a:ext cx="1574165" cy="493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前三页产品属性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8509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相关50%以上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2821" y="3677928"/>
            <a:ext cx="2432049" cy="736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7815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AMZ</a:t>
            </a:r>
            <a:r>
              <a:rPr sz="1600" spc="73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suggestion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Expander（9.9美金一个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93726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月）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40558" y="4170942"/>
            <a:ext cx="2386965" cy="493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首页自然排名前五产品属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50800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性有二个相关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23321" y="5675053"/>
            <a:ext cx="19812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关键词总词库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减去肯定词库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97072" y="5658645"/>
            <a:ext cx="16764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剩下来就是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524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否定词库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1747" y="5720324"/>
            <a:ext cx="916305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肯定词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总词库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230144"/>
            <a:ext cx="62484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以搜索首页数据来判断筛选肯定词和否定词：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39" y="1252109"/>
            <a:ext cx="12162155" cy="1827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（1）在亚马逊前台搜索这个词，首页展示的产品与你产品相关50%以上；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所谓的相关性以买家搜索分类：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A、含糊搜索：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含糊搜索词以产品主体相关，比如充电宝的相关词是power</a:t>
            </a:r>
            <a:r>
              <a:rPr sz="2000" spc="107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000" spc="11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bank，那battery</a:t>
            </a:r>
            <a:r>
              <a:rPr sz="2000" spc="104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pack也是相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关的；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34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B、精准搜索：</a:t>
            </a:r>
            <a:r>
              <a:rPr sz="2000" spc="37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精准搜索词是产品主体相关外还以产品功能、使用、特征等属性相关，即主体相关+属性相</a:t>
            </a:r>
            <a:endParaRPr sz="2000" spc="37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关，比如USB</a:t>
            </a:r>
            <a:r>
              <a:rPr sz="2000" spc="91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power</a:t>
            </a:r>
            <a:r>
              <a:rPr sz="2000" spc="99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bank的属性相关是有线充电，与无线充电无关；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39" y="3843442"/>
            <a:ext cx="11258733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（2）在亚马逊前台搜索这个词，首页自然排名前三中只要有其一产品与你产品相关判断为肯定词；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56154" y="5193948"/>
            <a:ext cx="7850878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以上（1）和（2）符合其中一个即识别为肯定词，相反识别为否定词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29984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所以首先判断这个词是含糊搜索还是精准搜索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398" y="1260084"/>
            <a:ext cx="218948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收集多少个关键词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8576" y="1268416"/>
            <a:ext cx="336042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BSR</a:t>
            </a:r>
            <a:r>
              <a:rPr sz="2000" spc="93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H10总收录词的5-10倍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53970" y="3034757"/>
            <a:ext cx="7253954" cy="913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693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2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ORGANIC/TOTAL数据比率----关键词权重算法</a:t>
            </a:r>
            <a:endParaRPr sz="2000" spc="-12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8100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1）大于80%以上：listing权重好，关键词排名稳定性强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2）小于50%以下：listing权重不好，关键词收录，排名不稳定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9900" y="4467914"/>
            <a:ext cx="6385236" cy="913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ORGANIC/TOTAL数据量化标准----爆款运营指标参考</a:t>
            </a:r>
            <a:endParaRPr sz="2000" spc="-11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206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-11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1）新品期到14天后，TOTAL数据超过BSR的30%以上</a:t>
            </a:r>
            <a:endParaRPr sz="2000" spc="-11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206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-11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2）新品期到45天后，TOTAL数据超过BSR的70%以上</a:t>
            </a:r>
            <a:endParaRPr sz="2000" spc="-11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67610" y="5382314"/>
            <a:ext cx="7472160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3）新品期到14天后，ORGANIC/TOTAL数据比率达到</a:t>
            </a: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70%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以上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4）新品期到45天后，ORGANIC/TOTAL数据比率达到</a:t>
            </a: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80%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以上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9001" y="6325263"/>
            <a:ext cx="4058919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spc="10" dirty="0">
                <a:solidFill>
                  <a:srgbClr val="FFFF00"/>
                </a:solidFill>
                <a:latin typeface="黑体" panose="02010609060101010101" charset="-122"/>
                <a:cs typeface="黑体" panose="02010609060101010101" charset="-122"/>
              </a:rPr>
              <a:t>数据达到销量达不到，产品本身的问题</a:t>
            </a:r>
            <a:endParaRPr sz="1800" spc="10" dirty="0">
              <a:solidFill>
                <a:srgbClr val="FFFF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60255" y="1247553"/>
            <a:ext cx="7010400" cy="832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250"/>
              </a:lnSpc>
              <a:spcBef>
                <a:spcPts val="0"/>
              </a:spcBef>
              <a:spcAft>
                <a:spcPts val="0"/>
              </a:spcAft>
            </a:pPr>
            <a:r>
              <a:rPr sz="6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第三节：高效出单词</a:t>
            </a:r>
            <a:endParaRPr sz="6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84669" y="3280528"/>
            <a:ext cx="91630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搜索高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6792" y="3714948"/>
            <a:ext cx="178053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词的定向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58546" y="4130094"/>
            <a:ext cx="218948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点击率、转化率高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6787" y="5206652"/>
            <a:ext cx="2590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4472C4"/>
                </a:solidFill>
                <a:latin typeface="KUMBUU+MicrosoftYaHei" panose="02000500000000000000"/>
                <a:cs typeface="KUMBUU+MicrosoftYaHei" panose="02000500000000000000"/>
              </a:rPr>
              <a:t>在品牌分析里查询</a:t>
            </a:r>
            <a:endParaRPr sz="2400" dirty="0">
              <a:solidFill>
                <a:srgbClr val="4472C4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33810" y="981218"/>
            <a:ext cx="1170940" cy="11529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搜索量高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35890" marR="0">
              <a:lnSpc>
                <a:spcPts val="2090"/>
              </a:lnSpc>
              <a:spcBef>
                <a:spcPts val="460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竞争少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6946" y="1522166"/>
            <a:ext cx="2187575" cy="9499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关键词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340"/>
              </a:lnSpc>
              <a:spcBef>
                <a:spcPts val="55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的质量系数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39060" y="1741177"/>
            <a:ext cx="178053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词的定向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3810" y="2690460"/>
            <a:ext cx="117094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转化率高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229" y="4168045"/>
            <a:ext cx="8784997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质量系数=（搜索热度*点击率*转化率）/竞品数</a:t>
            </a:r>
            <a:endParaRPr sz="32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09987" y="5206652"/>
            <a:ext cx="47244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4472C4"/>
                </a:solidFill>
                <a:latin typeface="KUMBUU+MicrosoftYaHei" panose="02000500000000000000"/>
                <a:cs typeface="KUMBUU+MicrosoftYaHei" panose="02000500000000000000"/>
              </a:rPr>
              <a:t>关键词系数越高，关键词质量越高</a:t>
            </a:r>
            <a:endParaRPr sz="2400" dirty="0">
              <a:solidFill>
                <a:srgbClr val="4472C4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87322" y="2012931"/>
            <a:ext cx="9296400" cy="832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250"/>
              </a:lnSpc>
              <a:spcBef>
                <a:spcPts val="0"/>
              </a:spcBef>
              <a:spcAft>
                <a:spcPts val="0"/>
              </a:spcAft>
            </a:pPr>
            <a:r>
              <a:rPr sz="6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第四节：关键词的矩阵组合</a:t>
            </a:r>
            <a:endParaRPr sz="6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2079" y="3433503"/>
            <a:ext cx="3742432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建立关键词库（10-20万）</a:t>
            </a:r>
            <a:endParaRPr sz="24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33709" y="4266268"/>
            <a:ext cx="2895600" cy="1818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7030A0"/>
                </a:solidFill>
                <a:latin typeface="BAPNIG+MicrosoftYaHei-Bold" panose="02000500000000000000"/>
                <a:cs typeface="BAPNIG+MicrosoftYaHei-Bold" panose="02000500000000000000"/>
              </a:rPr>
              <a:t>矩阵的作用：</a:t>
            </a:r>
            <a:endParaRPr sz="2400" dirty="0">
              <a:solidFill>
                <a:srgbClr val="7030A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9144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7030A0"/>
                </a:solidFill>
                <a:latin typeface="BAPNIG+MicrosoftYaHei-Bold" panose="02000500000000000000"/>
                <a:cs typeface="BAPNIG+MicrosoftYaHei-Bold" panose="02000500000000000000"/>
              </a:rPr>
              <a:t>写文案</a:t>
            </a:r>
            <a:endParaRPr sz="2400" dirty="0">
              <a:solidFill>
                <a:srgbClr val="7030A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40335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7030A0"/>
                </a:solidFill>
                <a:latin typeface="BAPNIG+MicrosoftYaHei-Bold" panose="02000500000000000000"/>
                <a:cs typeface="BAPNIG+MicrosoftYaHei-Bold" panose="02000500000000000000"/>
              </a:rPr>
              <a:t>从无收录—有收录</a:t>
            </a:r>
            <a:endParaRPr sz="2400" dirty="0">
              <a:solidFill>
                <a:srgbClr val="7030A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7030A0"/>
                </a:solidFill>
                <a:latin typeface="BAPNIG+MicrosoftYaHei-Bold" panose="02000500000000000000"/>
                <a:cs typeface="BAPNIG+MicrosoftYaHei-Bold" panose="02000500000000000000"/>
              </a:rPr>
              <a:t>查询关键词是否出单</a:t>
            </a:r>
            <a:endParaRPr sz="2400" dirty="0">
              <a:solidFill>
                <a:srgbClr val="7030A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8575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7030A0"/>
                </a:solidFill>
                <a:latin typeface="BAPNIG+MicrosoftYaHei-Bold" panose="02000500000000000000"/>
                <a:cs typeface="BAPNIG+MicrosoftYaHei-Bold" panose="02000500000000000000"/>
              </a:rPr>
              <a:t>ACOS高的关键词根</a:t>
            </a:r>
            <a:endParaRPr sz="2400" dirty="0">
              <a:solidFill>
                <a:srgbClr val="7030A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5158" y="506094"/>
            <a:ext cx="1981200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词根组合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27185" y="506094"/>
            <a:ext cx="1981200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词根组合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02479" y="631604"/>
            <a:ext cx="2187575" cy="949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肯定词矩阵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340"/>
              </a:lnSpc>
              <a:spcBef>
                <a:spcPts val="55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组合与运营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0345" y="1448493"/>
            <a:ext cx="25908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第一环为大词根，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3048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互相组合大词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22385" y="1448493"/>
            <a:ext cx="25908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运营关键词都围绕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3048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第一环大词根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6541" y="2005333"/>
            <a:ext cx="2642869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（肯定词）词根的矩</a:t>
            </a:r>
            <a:endParaRPr sz="2000" spc="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阵作用：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5545" y="2497539"/>
            <a:ext cx="32004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第二环往后环的词根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互相与第一环词根组合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17585" y="2497539"/>
            <a:ext cx="32004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标题以第一环词根搭配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2192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组合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86541" y="2614933"/>
            <a:ext cx="2642869" cy="1827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1.文案的词根布局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2.海量关键词的布阵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3.买家搜索习惯的规</a:t>
            </a:r>
            <a:endParaRPr sz="2000" spc="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矩集成到包罗万象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4.效果好词（根）归</a:t>
            </a:r>
            <a:endParaRPr sz="2000" spc="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纳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17585" y="3546584"/>
            <a:ext cx="32004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以第二、三、四、五、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2954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六环属性词根做ST词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1740" y="3728829"/>
            <a:ext cx="3128010" cy="24474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7805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关键词组合：AB组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16205" marR="0">
              <a:lnSpc>
                <a:spcPts val="2500"/>
              </a:lnSpc>
              <a:spcBef>
                <a:spcPts val="573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关键词组合：ABC组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578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关键词组合：ABCD组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17585" y="4592454"/>
            <a:ext cx="32004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以内到外或外到内环为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4572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关键词运营起点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52213" y="5397537"/>
            <a:ext cx="2667000" cy="824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所有环数与第一环组合，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不要第二环与第三环组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合之类的。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17585" y="5638338"/>
            <a:ext cx="32004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再逐步往后环数的组合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关键词打递增量及运营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72342" y="272346"/>
            <a:ext cx="2895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关键词矩阵实操问题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9935" y="937373"/>
            <a:ext cx="559434" cy="240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问题</a:t>
            </a:r>
            <a:endParaRPr sz="16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4950" y="937373"/>
            <a:ext cx="559435" cy="240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解决</a:t>
            </a:r>
            <a:endParaRPr sz="16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9935" y="1370860"/>
            <a:ext cx="11423650" cy="4298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关于关键词词汇量不</a:t>
            </a:r>
            <a:r>
              <a:rPr sz="1400" spc="2645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如果关键词达到了5倍，但是肯定词与否定词达不到1:9比例，说明关键词词库采集的词汇量不够，需要继续扩充关键词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够的问题？？</a:t>
            </a:r>
            <a:r>
              <a:rPr sz="1400" spc="6844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词库。可以采集另一个类目top100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ASIN继续爬词，汇总所有肯定词去地毯式搜索延伸词。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9935" y="1889655"/>
            <a:ext cx="11423650" cy="643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肯定词和否定词生成</a:t>
            </a:r>
            <a:r>
              <a:rPr sz="1400" spc="2645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肯定词和否定词生成之后的词根，一定要判断肯定词根和否定词根，非肯即否，不同时存在。肯定词根用于写文案，组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之后的词根是否同时</a:t>
            </a:r>
            <a:r>
              <a:rPr sz="1400" spc="2645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合矩阵关键词，否定词根不出现在文案，广告做否定。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存在肯定和否定？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935" y="2637037"/>
            <a:ext cx="4489450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肯定词根和否定词根</a:t>
            </a:r>
            <a:r>
              <a:rPr sz="1400" spc="2645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1.介词（比如：inch</a:t>
            </a:r>
            <a:r>
              <a:rPr sz="1400" spc="7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size）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9935" y="2850410"/>
            <a:ext cx="5644832" cy="4298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里面不出现哪些情况？</a:t>
            </a:r>
            <a:r>
              <a:rPr sz="1400" spc="1244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2.带否好带加号（比如：clear/plain</a:t>
            </a:r>
            <a:r>
              <a:rPr sz="1400" spc="21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7,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2025015" marR="0">
              <a:lnSpc>
                <a:spcPts val="1405"/>
              </a:lnSpc>
              <a:spcBef>
                <a:spcPts val="27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3.错别字、非本站点词语的词、他人品牌词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6550" y="2851045"/>
            <a:ext cx="1812924" cy="227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IBWIQP+ArialMT" panose="02000500000000000000"/>
                <a:cs typeface="IBWIQP+ArialMT" panose="02000500000000000000"/>
              </a:rPr>
              <a:t>¼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”</a:t>
            </a:r>
            <a:r>
              <a:rPr sz="1400" spc="21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6,8,10,12）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74950" y="3277117"/>
            <a:ext cx="9431015" cy="643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4.单独的数字或单位词根（比如：10</a:t>
            </a:r>
            <a:r>
              <a:rPr sz="1400" spc="7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cm</a:t>
            </a:r>
            <a:r>
              <a:rPr sz="1400" spc="21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1b）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5.肯定词根出现单复数，保留词频高的，如果是核心大词根，位置在第二环以后，可以叠加单复数的词根频率（比如：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tools和tool）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9935" y="4008650"/>
            <a:ext cx="11512550" cy="6432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肯定词根出现某个词</a:t>
            </a:r>
            <a:r>
              <a:rPr sz="1400" spc="2645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肯定词根出现某个词组里面固定组合的词根，比如take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out的out，可以删掉，写文案时验证买家搜索习惯后灵活运用。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组里面固定组合的词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根是否可以删掉？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9935" y="4740157"/>
            <a:ext cx="7156450" cy="4298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最高级的属性词如何</a:t>
            </a:r>
            <a:r>
              <a:rPr sz="1400" spc="2645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最高级的属性词，比如best，不放在标题里面，可以用于埋词。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运用？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9935" y="5258330"/>
            <a:ext cx="11423650" cy="6432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关于词根位置的问题？</a:t>
            </a:r>
            <a:r>
              <a:rPr sz="1400" spc="1244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1.如果出现某种特征属性词根，比如我的产品是银白色，做完的词根出现有gold，词频很高，这种词根不符合我们的特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2025015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征属性，首先可以判断为否定词根，不可以出现在文案，不打精准广告，但可能跑自动广告或者广泛匹配或者文案会衍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2025015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生出来，到时可以根据广告效果（点击量/点击率/转化率等）判断是否做否定。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74950" y="5898410"/>
            <a:ext cx="8895711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2.词根频率很高但相关比较泛的词根，可以保留在原来的位置，但写文案运用时要留意，不放在权重高的地方。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39169" y="1050996"/>
            <a:ext cx="2187575" cy="949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否定词矩阵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340"/>
              </a:lnSpc>
              <a:spcBef>
                <a:spcPts val="55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组合与运营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7945" y="1448493"/>
            <a:ext cx="28956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否定词矩阵不出现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肯定词（二必选一）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17585" y="1448493"/>
            <a:ext cx="32004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做广告的同时否定“否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定词矩阵的所有词根”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17585" y="2497539"/>
            <a:ext cx="32004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若太多的否定词根，可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3048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以筛选频率高词根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5545" y="2814328"/>
            <a:ext cx="3200400" cy="1087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否定词矩阵的高频率词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根尽量不要出现在标题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04394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及ST上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30267" y="2915047"/>
            <a:ext cx="2642870" cy="2437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（否定词）词根的矩</a:t>
            </a:r>
            <a:endParaRPr sz="2000" spc="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阵作用：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1.精准净化文案的词</a:t>
            </a:r>
            <a:endParaRPr sz="2000" spc="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布局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2.排除跑出不精准的</a:t>
            </a:r>
            <a:endParaRPr sz="2000" spc="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流量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18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3.提高CTR提升转化</a:t>
            </a:r>
            <a:endParaRPr sz="2000" spc="18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率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17585" y="3546584"/>
            <a:ext cx="32004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广告买家搜索词带有不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4572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相关词纳入矩阵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7945" y="4544156"/>
            <a:ext cx="28956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否定词矩阵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创建广告时同时否定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96631" y="4592454"/>
            <a:ext cx="3242309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Listing文案描述里不相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630555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关词纳入矩阵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30267" y="5353447"/>
            <a:ext cx="2419248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4.节省大量广告费用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80985" y="5641436"/>
            <a:ext cx="250952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词根----词组否定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词组----精准否定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13776" y="5638338"/>
            <a:ext cx="3208436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H10词根频率—冒出不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30861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相关的词根就否定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395483" y="431048"/>
            <a:ext cx="1050606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标题/title</a:t>
            </a:r>
            <a:endParaRPr sz="1400" spc="1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7727" y="725482"/>
            <a:ext cx="38100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关键词运营实操的流程化图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50804" y="888616"/>
            <a:ext cx="1143314" cy="1466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Search</a:t>
            </a:r>
            <a:r>
              <a:rPr sz="1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Term</a:t>
            </a:r>
            <a:endParaRPr sz="1400" spc="1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810" marR="0">
              <a:lnSpc>
                <a:spcPts val="1405"/>
              </a:lnSpc>
              <a:spcBef>
                <a:spcPts val="1920"/>
              </a:spcBef>
              <a:spcAft>
                <a:spcPts val="0"/>
              </a:spcAft>
            </a:pPr>
            <a:r>
              <a:rPr sz="1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五行卖点/BP</a:t>
            </a:r>
            <a:endParaRPr sz="1400" spc="1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40970" marR="0">
              <a:lnSpc>
                <a:spcPts val="1405"/>
              </a:lnSpc>
              <a:spcBef>
                <a:spcPts val="1785"/>
              </a:spcBef>
              <a:spcAft>
                <a:spcPts val="0"/>
              </a:spcAft>
            </a:pPr>
            <a:r>
              <a:rPr sz="1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产品描述</a:t>
            </a:r>
            <a:endParaRPr sz="1400" spc="1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12420" marR="0">
              <a:lnSpc>
                <a:spcPts val="1405"/>
              </a:lnSpc>
              <a:spcBef>
                <a:spcPts val="1920"/>
              </a:spcBef>
              <a:spcAft>
                <a:spcPts val="0"/>
              </a:spcAft>
            </a:pPr>
            <a:r>
              <a:rPr sz="1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埋词</a:t>
            </a:r>
            <a:endParaRPr sz="1400" spc="1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35213" y="1516575"/>
            <a:ext cx="534669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词根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00"/>
              </a:lnSpc>
              <a:spcBef>
                <a:spcPts val="30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布局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8356" y="1517984"/>
            <a:ext cx="918209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严格执行</a:t>
            </a:r>
            <a:endParaRPr sz="15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00"/>
              </a:lnSpc>
              <a:spcBef>
                <a:spcPts val="300"/>
              </a:spcBef>
              <a:spcAft>
                <a:spcPts val="0"/>
              </a:spcAft>
            </a:pPr>
            <a:r>
              <a:rPr sz="15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五点规则</a:t>
            </a:r>
            <a:endParaRPr sz="15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1637" y="2199395"/>
            <a:ext cx="509904" cy="643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关键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词矩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89535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阵</a:t>
            </a:r>
            <a:endParaRPr sz="1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33809" y="2321142"/>
            <a:ext cx="649605" cy="400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3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肯定词</a:t>
            </a:r>
            <a:endParaRPr sz="13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83185" marR="0">
              <a:lnSpc>
                <a:spcPts val="1295"/>
              </a:lnSpc>
              <a:spcBef>
                <a:spcPts val="265"/>
              </a:spcBef>
              <a:spcAft>
                <a:spcPts val="0"/>
              </a:spcAft>
            </a:pPr>
            <a:r>
              <a:rPr sz="13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词根</a:t>
            </a:r>
            <a:endParaRPr sz="13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6858" y="2353904"/>
            <a:ext cx="509905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同行</a:t>
            </a:r>
            <a:endParaRPr sz="14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55528" y="2402666"/>
            <a:ext cx="72644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肯定词</a:t>
            </a:r>
            <a:endParaRPr sz="15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5588" y="2567264"/>
            <a:ext cx="512127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ASIN</a:t>
            </a:r>
            <a:endParaRPr sz="14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4954" y="2555714"/>
            <a:ext cx="534669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词根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00"/>
              </a:lnSpc>
              <a:spcBef>
                <a:spcPts val="30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组合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18638" y="2596724"/>
            <a:ext cx="916939" cy="373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围绕第一环</a:t>
            </a:r>
            <a:endParaRPr sz="12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76200" marR="0">
              <a:lnSpc>
                <a:spcPts val="1200"/>
              </a:lnSpc>
              <a:spcBef>
                <a:spcPts val="24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组关键词</a:t>
            </a:r>
            <a:endParaRPr sz="12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68597" y="2675011"/>
            <a:ext cx="1136967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打广告活动B</a:t>
            </a:r>
            <a:endParaRPr sz="1400" spc="1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15680" y="3204943"/>
            <a:ext cx="688975" cy="4298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关键词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89535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词库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75990" y="3217228"/>
            <a:ext cx="316865" cy="400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判</a:t>
            </a:r>
            <a:endParaRPr sz="130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295"/>
              </a:lnSpc>
              <a:spcBef>
                <a:spcPts val="265"/>
              </a:spcBef>
              <a:spcAft>
                <a:spcPts val="0"/>
              </a:spcAft>
            </a:pPr>
            <a:r>
              <a:rPr sz="130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断</a:t>
            </a:r>
            <a:endParaRPr sz="130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370" y="3290336"/>
            <a:ext cx="914400" cy="465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关键词采</a:t>
            </a:r>
            <a:endParaRPr sz="15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560"/>
              </a:lnSpc>
              <a:spcBef>
                <a:spcPts val="235"/>
              </a:spcBef>
              <a:spcAft>
                <a:spcPts val="0"/>
              </a:spcAft>
            </a:pPr>
            <a:r>
              <a:rPr sz="15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集</a:t>
            </a:r>
            <a:endParaRPr sz="15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59122" y="3300572"/>
            <a:ext cx="723900" cy="236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二选一</a:t>
            </a:r>
            <a:endParaRPr sz="15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36267" y="3652664"/>
            <a:ext cx="534669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净化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00"/>
              </a:lnSpc>
              <a:spcBef>
                <a:spcPts val="30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文案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002547" y="3694588"/>
            <a:ext cx="916939" cy="373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文案勿出现</a:t>
            </a:r>
            <a:endParaRPr sz="12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76200" marR="0">
              <a:lnSpc>
                <a:spcPts val="1200"/>
              </a:lnSpc>
              <a:spcBef>
                <a:spcPts val="24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不相关词</a:t>
            </a:r>
            <a:endParaRPr sz="12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20649" y="3910543"/>
            <a:ext cx="509904" cy="643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词根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否定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89535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词</a:t>
            </a:r>
            <a:endParaRPr sz="14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1515" y="4005738"/>
            <a:ext cx="763905" cy="373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搜索量大</a:t>
            </a:r>
            <a:endParaRPr sz="120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76835" marR="0">
              <a:lnSpc>
                <a:spcPts val="1200"/>
              </a:lnSpc>
              <a:spcBef>
                <a:spcPts val="240"/>
              </a:spcBef>
              <a:spcAft>
                <a:spcPts val="0"/>
              </a:spcAft>
            </a:pPr>
            <a:r>
              <a:rPr sz="120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关键词</a:t>
            </a:r>
            <a:endParaRPr sz="120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20880" y="4031527"/>
            <a:ext cx="649605" cy="400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5"/>
              </a:lnSpc>
              <a:spcBef>
                <a:spcPts val="0"/>
              </a:spcBef>
              <a:spcAft>
                <a:spcPts val="0"/>
              </a:spcAft>
            </a:pPr>
            <a:r>
              <a:rPr sz="13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否定词</a:t>
            </a:r>
            <a:endParaRPr sz="13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83185" marR="0">
              <a:lnSpc>
                <a:spcPts val="1295"/>
              </a:lnSpc>
              <a:spcBef>
                <a:spcPts val="265"/>
              </a:spcBef>
              <a:spcAft>
                <a:spcPts val="0"/>
              </a:spcAft>
            </a:pPr>
            <a:r>
              <a:rPr sz="13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词根</a:t>
            </a:r>
            <a:endParaRPr sz="13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68863" y="4117256"/>
            <a:ext cx="72644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否定词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33355" y="4693866"/>
            <a:ext cx="1406713" cy="700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词根：词组否定</a:t>
            </a:r>
            <a:endParaRPr sz="1400" spc="1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270" marR="0">
              <a:lnSpc>
                <a:spcPts val="1405"/>
              </a:lnSpc>
              <a:spcBef>
                <a:spcPts val="2405"/>
              </a:spcBef>
              <a:spcAft>
                <a:spcPts val="0"/>
              </a:spcAft>
            </a:pPr>
            <a:r>
              <a:rPr sz="1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词组：精准否定</a:t>
            </a:r>
            <a:endParaRPr sz="1400" spc="1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37131" y="4800553"/>
            <a:ext cx="534669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广告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00"/>
              </a:lnSpc>
              <a:spcBef>
                <a:spcPts val="300"/>
              </a:spcBef>
              <a:spcAft>
                <a:spcPts val="0"/>
              </a:spcAft>
            </a:pPr>
            <a:r>
              <a:rPr sz="15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否定</a:t>
            </a:r>
            <a:endParaRPr sz="15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86469" y="4845081"/>
            <a:ext cx="916939" cy="373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 marR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广告排除</a:t>
            </a:r>
            <a:endParaRPr sz="12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200"/>
              </a:lnSpc>
              <a:spcBef>
                <a:spcPts val="24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不相关流量</a:t>
            </a:r>
            <a:endParaRPr sz="120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26220" y="2302526"/>
            <a:ext cx="7686675" cy="673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第三部分：Listing文案体系</a:t>
            </a:r>
            <a:endParaRPr sz="4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92553" y="3930801"/>
            <a:ext cx="8157210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流量与转化率的底盘：规则逻辑+词SEO布局+撰写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99726" y="769234"/>
            <a:ext cx="378013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第一节：URL的解析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2322" y="1933684"/>
            <a:ext cx="5850888" cy="16873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第二节：链接写法的逻辑与思路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8890" marR="0">
              <a:lnSpc>
                <a:spcPts val="3340"/>
              </a:lnSpc>
              <a:spcBef>
                <a:spcPts val="6355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第三节：锁定类目及设计标题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0643" y="2638364"/>
            <a:ext cx="1167764" cy="117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文案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体系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99726" y="4465302"/>
            <a:ext cx="5098033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第四节：ST与关键词的布局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1326" y="5403189"/>
            <a:ext cx="8382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逻辑性</a:t>
            </a:r>
            <a:endParaRPr sz="18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6516" y="5677509"/>
            <a:ext cx="15240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文案是写给亚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马逊算法看的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92322" y="5806866"/>
            <a:ext cx="5850888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第五节：其他描述加深词的收录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595114" y="1868041"/>
            <a:ext cx="2961594" cy="621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URL的解析</a:t>
            </a:r>
            <a:endParaRPr sz="4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7877" y="4643080"/>
            <a:ext cx="8921115" cy="15879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504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亚马逊用来监控买家购物行为跟踪</a:t>
            </a:r>
            <a:endParaRPr sz="3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3750"/>
              </a:lnSpc>
              <a:spcBef>
                <a:spcPts val="520"/>
              </a:spcBef>
              <a:spcAft>
                <a:spcPts val="0"/>
              </a:spcAft>
            </a:pPr>
            <a:r>
              <a:rPr sz="3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及抓取/识别LISTING文案信息（SEO底层）</a:t>
            </a:r>
            <a:endParaRPr sz="3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2034540" marR="0">
              <a:lnSpc>
                <a:spcPts val="1875"/>
              </a:lnSpc>
              <a:spcBef>
                <a:spcPts val="2205"/>
              </a:spcBef>
              <a:spcAft>
                <a:spcPts val="0"/>
              </a:spcAft>
            </a:pPr>
            <a:r>
              <a:rPr sz="1800" dirty="0">
                <a:solidFill>
                  <a:srgbClr val="ED7D31"/>
                </a:solidFill>
                <a:latin typeface="KUMBUU+MicrosoftYaHei" panose="02000500000000000000"/>
                <a:cs typeface="KUMBUU+MicrosoftYaHei" panose="02000500000000000000"/>
              </a:rPr>
              <a:t>亚马逊可抓取用户鼠标滑落的轨迹（权重不大）</a:t>
            </a:r>
            <a:endParaRPr sz="1800" dirty="0">
              <a:solidFill>
                <a:srgbClr val="ED7D31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471740" y="493128"/>
            <a:ext cx="4242434" cy="824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472C4"/>
                </a:solidFill>
                <a:latin typeface="KUMBUU+MicrosoftYaHei" panose="02000500000000000000"/>
                <a:cs typeface="KUMBUU+MicrosoftYaHei" panose="02000500000000000000"/>
              </a:rPr>
              <a:t>表示自然搜索及页面排名，</a:t>
            </a:r>
            <a:endParaRPr sz="1800" dirty="0">
              <a:solidFill>
                <a:srgbClr val="4472C4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4472C4"/>
                </a:solidFill>
                <a:latin typeface="KUMBUU+MicrosoftYaHei" panose="02000500000000000000"/>
                <a:cs typeface="KUMBUU+MicrosoftYaHei" panose="02000500000000000000"/>
              </a:rPr>
              <a:t>此处表示listing自然排名第一页且页面排</a:t>
            </a:r>
            <a:endParaRPr sz="1800" dirty="0">
              <a:solidFill>
                <a:srgbClr val="4472C4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4472C4"/>
                </a:solidFill>
                <a:latin typeface="KUMBUU+MicrosoftYaHei" panose="02000500000000000000"/>
                <a:cs typeface="KUMBUU+MicrosoftYaHei" panose="02000500000000000000"/>
              </a:rPr>
              <a:t>名7位</a:t>
            </a:r>
            <a:endParaRPr sz="1800" dirty="0">
              <a:solidFill>
                <a:srgbClr val="4472C4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9871" y="672502"/>
            <a:ext cx="31242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标题的关键词按收录顺次排序</a:t>
            </a:r>
            <a:endParaRPr sz="18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551815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提交15分钟后固定</a:t>
            </a:r>
            <a:endParaRPr sz="18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2421" y="1231798"/>
            <a:ext cx="1644443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70AD47"/>
                </a:solidFill>
                <a:latin typeface="KUMBUU+MicrosoftYaHei" panose="02000500000000000000"/>
                <a:cs typeface="KUMBUU+MicrosoftYaHei" panose="02000500000000000000"/>
              </a:rPr>
              <a:t>Listing的ASIN</a:t>
            </a:r>
            <a:endParaRPr sz="1800" dirty="0">
              <a:solidFill>
                <a:srgbClr val="70AD47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113" y="2687003"/>
            <a:ext cx="11359970" cy="1261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4175" marR="0">
              <a:lnSpc>
                <a:spcPts val="291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https://www.amazon.com/</a:t>
            </a:r>
            <a:r>
              <a:rPr sz="2800" u="sng" spc="-15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Anker-PowerCore-20100-Capacity-</a:t>
            </a:r>
            <a:endParaRPr sz="2800" u="sng" spc="-15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5"/>
              </a:lnSpc>
              <a:spcBef>
                <a:spcPts val="495"/>
              </a:spcBef>
              <a:spcAft>
                <a:spcPts val="0"/>
              </a:spcAft>
            </a:pPr>
            <a:r>
              <a:rPr sz="2800" u="sng" spc="-31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Technology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/dp/</a:t>
            </a:r>
            <a:r>
              <a:rPr sz="2800" u="sng" dirty="0">
                <a:solidFill>
                  <a:srgbClr val="70AD47"/>
                </a:solidFill>
                <a:latin typeface="KUMBUU+MicrosoftYaHei" panose="02000500000000000000"/>
                <a:cs typeface="KUMBUU+MicrosoftYaHei" panose="02000500000000000000"/>
              </a:rPr>
              <a:t>B00X5RV14Y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/</a:t>
            </a:r>
            <a:r>
              <a:rPr sz="2800" u="sng" dirty="0">
                <a:solidFill>
                  <a:srgbClr val="4472C4"/>
                </a:solidFill>
                <a:latin typeface="KUMBUU+MicrosoftYaHei" panose="02000500000000000000"/>
                <a:cs typeface="KUMBUU+MicrosoftYaHei" panose="02000500000000000000"/>
              </a:rPr>
              <a:t>ref=sr_1_7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?ie=UTF8&amp;</a:t>
            </a:r>
            <a:r>
              <a:rPr sz="2800" u="sng" dirty="0">
                <a:solidFill>
                  <a:srgbClr val="FFFF00"/>
                </a:solidFill>
                <a:latin typeface="KUMBUU+MicrosoftYaHei" panose="02000500000000000000"/>
                <a:cs typeface="KUMBUU+MicrosoftYaHei" panose="02000500000000000000"/>
              </a:rPr>
              <a:t>qid=14960701</a:t>
            </a:r>
            <a:endParaRPr sz="2800" u="sng" dirty="0">
              <a:solidFill>
                <a:srgbClr val="FFFF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2488565" marR="0">
              <a:lnSpc>
                <a:spcPts val="2915"/>
              </a:lnSpc>
              <a:spcBef>
                <a:spcPts val="445"/>
              </a:spcBef>
              <a:spcAft>
                <a:spcPts val="0"/>
              </a:spcAft>
            </a:pPr>
            <a:r>
              <a:rPr sz="2800" u="sng" dirty="0">
                <a:solidFill>
                  <a:srgbClr val="FFFF00"/>
                </a:solidFill>
                <a:latin typeface="KUMBUU+MicrosoftYaHei" panose="02000500000000000000"/>
                <a:cs typeface="KUMBUU+MicrosoftYaHei" panose="02000500000000000000"/>
              </a:rPr>
              <a:t>11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&amp;sr=8-7&amp;</a:t>
            </a:r>
            <a:r>
              <a:rPr sz="2800" u="sng" spc="-10" dirty="0">
                <a:solidFill>
                  <a:srgbClr val="7030A0"/>
                </a:solidFill>
                <a:latin typeface="KUMBUU+MicrosoftYaHei" panose="02000500000000000000"/>
                <a:cs typeface="KUMBUU+MicrosoftYaHei" panose="02000500000000000000"/>
              </a:rPr>
              <a:t>keywords=power+bank</a:t>
            </a:r>
            <a:endParaRPr sz="2800" u="sng" spc="-10" dirty="0">
              <a:solidFill>
                <a:srgbClr val="7030A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7394" y="5058066"/>
            <a:ext cx="38100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7030A0"/>
                </a:solidFill>
                <a:latin typeface="KUMBUU+MicrosoftYaHei" panose="02000500000000000000"/>
                <a:cs typeface="KUMBUU+MicrosoftYaHei" panose="02000500000000000000"/>
              </a:rPr>
              <a:t>亚马逊收录到的买家关键词搜索记录</a:t>
            </a:r>
            <a:endParaRPr sz="1800" dirty="0">
              <a:solidFill>
                <a:srgbClr val="7030A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8206" y="5141505"/>
            <a:ext cx="4038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00"/>
                </a:solidFill>
                <a:latin typeface="KUMBUU+MicrosoftYaHei" panose="02000500000000000000"/>
                <a:cs typeface="KUMBUU+MicrosoftYaHei" panose="02000500000000000000"/>
              </a:rPr>
              <a:t>重向编码：打开地区的国家、地区代码</a:t>
            </a:r>
            <a:endParaRPr sz="1800" dirty="0">
              <a:solidFill>
                <a:srgbClr val="FFFF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36645" y="5553747"/>
            <a:ext cx="5188297" cy="730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权威链接----ASIN前的那部分----做站外的时候用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894080" marR="0">
              <a:lnSpc>
                <a:spcPts val="1875"/>
              </a:lnSpc>
              <a:spcBef>
                <a:spcPts val="1700"/>
              </a:spcBef>
              <a:spcAft>
                <a:spcPts val="0"/>
              </a:spcAft>
            </a:pPr>
            <a:r>
              <a:rPr sz="1800" dirty="0">
                <a:solidFill>
                  <a:srgbClr val="ED7D31"/>
                </a:solidFill>
                <a:latin typeface="KUMBUU+MicrosoftYaHei" panose="02000500000000000000"/>
                <a:cs typeface="KUMBUU+MicrosoftYaHei" panose="02000500000000000000"/>
              </a:rPr>
              <a:t>文案抄袭判定：连续5个词以上</a:t>
            </a:r>
            <a:endParaRPr sz="1800" dirty="0">
              <a:solidFill>
                <a:srgbClr val="ED7D31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28278" y="497216"/>
            <a:ext cx="7662544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快速找出listing</a:t>
            </a:r>
            <a:r>
              <a:rPr sz="3600" spc="167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URL抓取五个关键词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6326" y="1495534"/>
            <a:ext cx="7841146" cy="949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第一步：打开listing页面右键进入源代码页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3340"/>
              </a:lnSpc>
              <a:spcBef>
                <a:spcPts val="55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第二步：然后ctrl+F</a:t>
            </a:r>
            <a:r>
              <a:rPr sz="3200" spc="472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搜索：canonical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35933" y="6254203"/>
            <a:ext cx="4495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如果五个关键词有不精准的词，一定做否定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77553" y="497216"/>
            <a:ext cx="6563359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标题的URL五个词根的组成格式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3544" y="1596345"/>
            <a:ext cx="1045527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核心词1</a:t>
            </a:r>
            <a:endParaRPr sz="2000" spc="1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15439" y="1593996"/>
            <a:ext cx="1045527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属性词1</a:t>
            </a:r>
            <a:endParaRPr sz="20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81742" y="1591659"/>
            <a:ext cx="1047877" cy="2203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属性词2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005"/>
              </a:lnSpc>
              <a:spcBef>
                <a:spcPts val="1309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常规词2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29039" y="1612754"/>
            <a:ext cx="917575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品牌名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39738" y="1617440"/>
            <a:ext cx="1045527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核心词2</a:t>
            </a:r>
            <a:endParaRPr sz="2000" spc="1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2126" y="1798009"/>
            <a:ext cx="117284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组合格式</a:t>
            </a:r>
            <a:endParaRPr sz="20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27635" marR="0">
              <a:lnSpc>
                <a:spcPts val="2005"/>
              </a:lnSpc>
              <a:spcBef>
                <a:spcPts val="395"/>
              </a:spcBef>
              <a:spcAft>
                <a:spcPts val="0"/>
              </a:spcAft>
            </a:pPr>
            <a:r>
              <a:rPr sz="20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（一）</a:t>
            </a:r>
            <a:endParaRPr sz="20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0505" y="2471051"/>
            <a:ext cx="5986775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比如：AAAAA</a:t>
            </a: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Power</a:t>
            </a:r>
            <a:r>
              <a:rPr sz="2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Bank</a:t>
            </a:r>
            <a:r>
              <a:rPr sz="2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10000mAh</a:t>
            </a: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Type-c</a:t>
            </a:r>
            <a:endParaRPr sz="24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62555" y="3523621"/>
            <a:ext cx="1045527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核心词1</a:t>
            </a:r>
            <a:endParaRPr sz="2000" spc="1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31208" y="3507200"/>
            <a:ext cx="1045527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核心词2</a:t>
            </a:r>
            <a:endParaRPr sz="2000" spc="1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37389" y="3528307"/>
            <a:ext cx="1045527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属性词1</a:t>
            </a:r>
            <a:endParaRPr sz="20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13103" y="3504863"/>
            <a:ext cx="1045527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常规词1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5705" y="3652603"/>
            <a:ext cx="117284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组合格式</a:t>
            </a:r>
            <a:endParaRPr sz="20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27635" marR="0">
              <a:lnSpc>
                <a:spcPts val="2005"/>
              </a:lnSpc>
              <a:spcBef>
                <a:spcPts val="395"/>
              </a:spcBef>
              <a:spcAft>
                <a:spcPts val="0"/>
              </a:spcAft>
            </a:pPr>
            <a:r>
              <a:rPr sz="20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（二）</a:t>
            </a:r>
            <a:endParaRPr sz="20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84498" y="4381918"/>
            <a:ext cx="6294113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比如：</a:t>
            </a:r>
            <a:r>
              <a:rPr sz="2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Power</a:t>
            </a:r>
            <a:r>
              <a:rPr sz="2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Bank</a:t>
            </a:r>
            <a:r>
              <a:rPr sz="2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10000mAh</a:t>
            </a: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Battery</a:t>
            </a: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Charge</a:t>
            </a:r>
            <a:endParaRPr sz="24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3176" y="5561253"/>
            <a:ext cx="11170916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五个词根组合格式总结：1、矩阵第一环的词根；2、互相组合成又多又精准的词组</a:t>
            </a:r>
            <a:endParaRPr sz="24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7727" y="725482"/>
            <a:ext cx="2895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标题写法标准化方法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0171" y="1768271"/>
            <a:ext cx="1172844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关键词矩阵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5080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第1环词根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7982" y="1771205"/>
            <a:ext cx="1581785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235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根据词根频率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与肯定词产出比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2706" y="1774138"/>
            <a:ext cx="1275715" cy="484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选出5个词根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5个词根组合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85595" y="1777072"/>
            <a:ext cx="1275714" cy="484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835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锁定URL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5个词根位置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16375" y="2266931"/>
            <a:ext cx="662304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标题</a:t>
            </a:r>
            <a:endParaRPr sz="20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100" y="2632849"/>
            <a:ext cx="1276985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7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关键词矩阵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第2-3环词根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52127" y="2635782"/>
            <a:ext cx="1581785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235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根据词根频率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与肯定词产出比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97436" y="2635782"/>
            <a:ext cx="1786255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选冒号或破折后词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511175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根组合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31493" y="2638716"/>
            <a:ext cx="1788794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锁定URL5个词根后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41021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词根位置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5114" y="4103699"/>
            <a:ext cx="1786254" cy="484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测试“两准两多”</a:t>
            </a:r>
            <a:endParaRPr sz="16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61341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达标</a:t>
            </a:r>
            <a:endParaRPr sz="16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3491" y="4107001"/>
            <a:ext cx="1786255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冒号或破折后继续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61341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加词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88293" y="4107001"/>
            <a:ext cx="1786254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测试“两准”“一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40894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多”达标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41412" y="4109935"/>
            <a:ext cx="1787842" cy="484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标题字符减少到80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0734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个字符以内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46297" y="4228553"/>
            <a:ext cx="1990725" cy="240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“两准两多”不达标</a:t>
            </a:r>
            <a:endParaRPr sz="16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293753" y="780981"/>
            <a:ext cx="4876502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一准：URL抓取的5个词根是否精准</a:t>
            </a:r>
            <a:endParaRPr sz="24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93753" y="1780192"/>
            <a:ext cx="5342185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二准：HELIUM10抓取的词根是否精准</a:t>
            </a:r>
            <a:endParaRPr sz="24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精准度参考值：95%以上</a:t>
            </a:r>
            <a:endParaRPr sz="24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2274" y="2940392"/>
            <a:ext cx="3728085" cy="83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LISTING上架后质量判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46685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断（上架后15分钟）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5130" y="3186450"/>
            <a:ext cx="6256585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一多：HELIUM10总收录词汇量里的相关性的</a:t>
            </a:r>
            <a:endParaRPr sz="24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关键词多，参考值：80%以上</a:t>
            </a:r>
            <a:endParaRPr sz="24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770" y="4186804"/>
            <a:ext cx="1371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两准两多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7197" y="4320154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二多：</a:t>
            </a:r>
            <a:endParaRPr sz="24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7197" y="4678416"/>
            <a:ext cx="6440690" cy="1827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HELIUM10总收录词汇量多，以核心大词月度搜索大小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来参考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美国站40-50W：500个；20-50W：300个；20W以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下：200个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其他站点50W：200个；20-50W：150个；20W以下：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100个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3283" y="259494"/>
            <a:ext cx="38100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文案上架后质量判断的流程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33282" y="680960"/>
            <a:ext cx="2604131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检查标题是否采用冒号写法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20447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（冒号格式是否错误）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2641" y="708682"/>
            <a:ext cx="1407795" cy="4298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URL抓取5个词根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269875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是否准确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63790" y="814003"/>
            <a:ext cx="330834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否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2734" y="1444114"/>
            <a:ext cx="330834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是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78390" y="1491015"/>
            <a:ext cx="330834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是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41397" y="1941194"/>
            <a:ext cx="2808601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054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检查标题和ST是否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带有不精准的词根（被抓取）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44376" y="1968916"/>
            <a:ext cx="1584325" cy="4298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抓取的高频率词根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5814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是否精准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54633" y="2074237"/>
            <a:ext cx="330834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否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3676" y="2395451"/>
            <a:ext cx="610869" cy="815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两准</a:t>
            </a:r>
            <a:endParaRPr sz="18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800"/>
              </a:lnSpc>
              <a:spcBef>
                <a:spcPts val="360"/>
              </a:spcBef>
              <a:spcAft>
                <a:spcPts val="0"/>
              </a:spcAft>
            </a:pPr>
            <a:r>
              <a:rPr sz="18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两多</a:t>
            </a:r>
            <a:endParaRPr sz="18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800"/>
              </a:lnSpc>
              <a:spcBef>
                <a:spcPts val="310"/>
              </a:spcBef>
              <a:spcAft>
                <a:spcPts val="0"/>
              </a:spcAft>
            </a:pPr>
            <a:r>
              <a:rPr sz="18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原则</a:t>
            </a:r>
            <a:endParaRPr sz="18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997" y="2559557"/>
            <a:ext cx="1279525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Listing刊登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5494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15分钟后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81324" y="2716069"/>
            <a:ext cx="330834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是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84456" y="2748315"/>
            <a:ext cx="330834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是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40357" y="3192627"/>
            <a:ext cx="3422010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检查文案所有填入信息是否精准（不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相关性的关键词是否可以忽略不写）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51590" y="3226216"/>
            <a:ext cx="1405255" cy="42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总收录的词汇量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89535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相关性关键词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45845" y="3331537"/>
            <a:ext cx="330834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否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90311" y="3967515"/>
            <a:ext cx="330834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是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93046" y="3985092"/>
            <a:ext cx="330834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是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48713" y="4452860"/>
            <a:ext cx="3423282" cy="48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重新优化ST的词根布局（检查矩阵是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02870" marR="0">
              <a:lnSpc>
                <a:spcPts val="1595"/>
              </a:lnSpc>
              <a:spcBef>
                <a:spcPts val="325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否足够多的词根—采集关键词量）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55743" y="4477648"/>
            <a:ext cx="1405255" cy="42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总收录的词汇量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268605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是否达标</a:t>
            </a:r>
            <a:endParaRPr sz="1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3630" y="4583569"/>
            <a:ext cx="968375" cy="240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111217"/>
                </a:solidFill>
                <a:latin typeface="黑体" panose="02010609060101010101" charset="-122"/>
                <a:cs typeface="黑体" panose="02010609060101010101" charset="-122"/>
              </a:rPr>
              <a:t>返回重写</a:t>
            </a:r>
            <a:endParaRPr sz="1600" spc="10" dirty="0">
              <a:solidFill>
                <a:srgbClr val="111217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93089" y="4588837"/>
            <a:ext cx="330834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否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23256" y="5996587"/>
            <a:ext cx="1070610" cy="541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符合要求</a:t>
            </a:r>
            <a:endParaRPr sz="18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56515" marR="0">
              <a:lnSpc>
                <a:spcPts val="1800"/>
              </a:lnSpc>
              <a:spcBef>
                <a:spcPts val="360"/>
              </a:spcBef>
              <a:spcAft>
                <a:spcPts val="0"/>
              </a:spcAft>
            </a:pPr>
            <a:r>
              <a:rPr sz="18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制FBA单</a:t>
            </a:r>
            <a:endParaRPr sz="18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48545" y="504286"/>
            <a:ext cx="5060470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LISTING文案的逻辑与思路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9562" y="1718635"/>
            <a:ext cx="7628632" cy="2299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（1）符合亚马逊搜索引擎逻辑（A9权重5点规划）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515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（2）便于关键词的布局（SEO中关键词收录加权布局）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510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（3）符合当地国的语法逻辑（给买家看，CTR）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2425" y="2562299"/>
            <a:ext cx="1271269" cy="3010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逻辑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590"/>
              </a:lnSpc>
              <a:spcBef>
                <a:spcPts val="14225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思路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9562" y="4714501"/>
            <a:ext cx="7232005" cy="1087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以重点到面：围绕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核心词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，锁定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标题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主题突出准确产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品信息，补充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五行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卖点，再延伸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描述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，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ST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搭配标题，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埋满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产品信息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，环环相扣（短、有力度）。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71764" y="530770"/>
            <a:ext cx="9391650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亚马逊搜索引擎逻辑（A9对文案关键词布局权重5点规则）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9662" y="1506892"/>
            <a:ext cx="8566861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1）关键词在文案中权重排序：Title标题&gt;Search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Term（简称ST）&gt;五行卖点bullet</a:t>
            </a:r>
            <a:endParaRPr sz="1800" spc="-1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point&gt;产品描述Product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Description&gt;埋词（属性词根埋在More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Details）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2595" y="2631693"/>
            <a:ext cx="8429104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2）关键词在标题上权重排序：Title标题的头部&gt;Title标题的中部&gt;Title标题的尾部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722" y="3016896"/>
            <a:ext cx="891554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5点</a:t>
            </a:r>
            <a:endParaRPr sz="36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3629" y="3509898"/>
            <a:ext cx="9422765" cy="824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3）关键词在Search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Term中权重组合：属性词根且必须只与标题词根组合、ST填属性词根、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空格号隔开、标题出现的词勿在ST里出现、填肯定词矩阵里频率越高的属性词根且按频率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高从左到右填----海量关键词的布局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4092" y="3565537"/>
            <a:ext cx="1066800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规则</a:t>
            </a:r>
            <a:endParaRPr sz="36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73629" y="4708816"/>
            <a:ext cx="9105304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4）关键词在五行卖点/产品描述中权重布局：标题上的词根与ST属性词组合的关键词埋到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五行卖点Bullet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point中，但勿能累赘，表达产品卖点（卖点属性的关键词）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76576" y="5573369"/>
            <a:ext cx="919099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5）其他属性词根在More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Details埋词权重：除了已在Title标题和Search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spc="-2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Term出现过以外</a:t>
            </a:r>
            <a:endParaRPr sz="1800" spc="-23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的其他属性词根在More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Details埋满，加深这些属性词根的收录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713722"/>
            <a:ext cx="32004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海量关键词逻辑流程图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1816" y="1261448"/>
            <a:ext cx="1777365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词根组合权重排序</a:t>
            </a:r>
            <a:endParaRPr sz="16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425" y="1940635"/>
            <a:ext cx="609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标题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3179" y="1951121"/>
            <a:ext cx="1005883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0383" y="1945254"/>
            <a:ext cx="817607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station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13454" y="1945254"/>
            <a:ext cx="548737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USB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2975" y="1930598"/>
            <a:ext cx="889863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charger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58243" y="1939399"/>
            <a:ext cx="776507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6-port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10248" y="1930598"/>
            <a:ext cx="597286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40W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8168" y="1933545"/>
            <a:ext cx="504727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fast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84146" y="1933532"/>
            <a:ext cx="824861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iPhone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95980" y="1924744"/>
            <a:ext cx="571772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spc="-2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iPad</a:t>
            </a:r>
            <a:endParaRPr sz="1600" spc="-2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46143" y="1907154"/>
            <a:ext cx="271189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42147" y="2615255"/>
            <a:ext cx="889863" cy="493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recharg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03505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eable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551289" y="2727752"/>
            <a:ext cx="660193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black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43222" y="2710162"/>
            <a:ext cx="277044" cy="1008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426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3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4636" y="2743644"/>
            <a:ext cx="433181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ST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1521" y="2754130"/>
            <a:ext cx="775966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phone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92172" y="2748262"/>
            <a:ext cx="723261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Apple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54844" y="2748262"/>
            <a:ext cx="515029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P40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33126" y="2733607"/>
            <a:ext cx="843845" cy="1008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huawei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09855" marR="0">
              <a:lnSpc>
                <a:spcPts val="1660"/>
              </a:lnSpc>
              <a:spcBef>
                <a:spcPts val="426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home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30533" y="2742408"/>
            <a:ext cx="1023015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samsung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92316" y="2733607"/>
            <a:ext cx="730926" cy="10082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tablet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4265"/>
              </a:spcBef>
              <a:spcAft>
                <a:spcPts val="0"/>
              </a:spcAft>
            </a:pPr>
            <a:r>
              <a:rPr sz="1600" spc="-1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bar</a:t>
            </a:r>
            <a:endParaRPr sz="1600" spc="-12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63142" y="2736553"/>
            <a:ext cx="707927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smart</a:t>
            </a:r>
            <a:endParaRPr sz="1600" spc="1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74255" y="3374309"/>
            <a:ext cx="813505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classro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549879" y="3365520"/>
            <a:ext cx="651439" cy="492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andri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20015" marR="0">
              <a:lnSpc>
                <a:spcPts val="1660"/>
              </a:lnSpc>
              <a:spcBef>
                <a:spcPts val="20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od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0517" y="3502697"/>
            <a:ext cx="609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五行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00098" y="3513171"/>
            <a:ext cx="869735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devices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89682" y="3507316"/>
            <a:ext cx="657127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party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10712" y="3507316"/>
            <a:ext cx="932806" cy="1831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665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office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83820" marR="0">
              <a:lnSpc>
                <a:spcPts val="1660"/>
              </a:lnSpc>
              <a:spcBef>
                <a:spcPts val="463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battery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440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home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63896" y="3501449"/>
            <a:ext cx="1140299" cy="105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restaurant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235585" marR="0">
              <a:lnSpc>
                <a:spcPts val="1660"/>
              </a:lnSpc>
              <a:spcBef>
                <a:spcPts val="463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storage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86432" y="3495594"/>
            <a:ext cx="1070668" cy="105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organizer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77470" marR="0">
              <a:lnSpc>
                <a:spcPts val="1660"/>
              </a:lnSpc>
              <a:spcBef>
                <a:spcPts val="463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quick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44435" y="3618149"/>
            <a:ext cx="471110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om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00418" y="4177305"/>
            <a:ext cx="605599" cy="493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spc="-1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back</a:t>
            </a:r>
            <a:endParaRPr sz="1600" spc="-1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spc="-1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pack</a:t>
            </a:r>
            <a:endParaRPr sz="1600" spc="-1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44063" y="4292722"/>
            <a:ext cx="994310" cy="10258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multiple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222885" marR="0">
              <a:lnSpc>
                <a:spcPts val="1660"/>
              </a:lnSpc>
              <a:spcBef>
                <a:spcPts val="440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galaxy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540276" y="4275145"/>
            <a:ext cx="274135" cy="1025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3175" marR="0">
              <a:lnSpc>
                <a:spcPts val="1660"/>
              </a:lnSpc>
              <a:spcBef>
                <a:spcPts val="440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5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7570" y="4308626"/>
            <a:ext cx="612546" cy="1052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描述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175" marR="0">
              <a:lnSpc>
                <a:spcPts val="1875"/>
              </a:lnSpc>
              <a:spcBef>
                <a:spcPts val="424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埋词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86370" y="4319100"/>
            <a:ext cx="763146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power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48407" y="4313245"/>
            <a:ext cx="628843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bank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273334" y="4298589"/>
            <a:ext cx="928437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external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46505" y="4301523"/>
            <a:ext cx="791747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supply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393113" y="5089876"/>
            <a:ext cx="1496337" cy="255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mini</a:t>
            </a:r>
            <a:r>
              <a:rPr sz="1600" spc="217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cheap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58386" y="5075220"/>
            <a:ext cx="681363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white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978146" y="5084008"/>
            <a:ext cx="675231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moto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926899" y="5075220"/>
            <a:ext cx="594390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ipod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791934" y="5078153"/>
            <a:ext cx="998761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speakers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022666" y="5078153"/>
            <a:ext cx="1259200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headphone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2203" y="436519"/>
            <a:ext cx="32004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文案关键词布局的流程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6540" y="823912"/>
            <a:ext cx="4968961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锁定5个词根：品牌+核心大词根+核心卖点词根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28426" y="1206842"/>
            <a:ext cx="1175722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标题/title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06540" y="1466138"/>
            <a:ext cx="49530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“冒号”或“破折号”后的词根以第一环和第二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环高频率词根组合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06540" y="2410370"/>
            <a:ext cx="49530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肯定词矩阵的高频率的词根从高到低按顺次布局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填到ST，标题出现过的词根除外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2958" y="2548305"/>
            <a:ext cx="1559874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Search</a:t>
            </a:r>
            <a:r>
              <a:rPr sz="1800" spc="84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spc="-43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Term</a:t>
            </a:r>
            <a:endParaRPr sz="1800" spc="-43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3344" y="3144155"/>
            <a:ext cx="916305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肯定词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2700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矩阵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0546" y="3165064"/>
            <a:ext cx="964564" cy="493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严格执行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8735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5点规则</a:t>
            </a:r>
            <a:endParaRPr sz="1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15506" y="3479139"/>
            <a:ext cx="4987379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标题的词根与ST的词根互相组合的关键词（组）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布局到五行卖点的描述里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1459" y="3642880"/>
            <a:ext cx="1481360" cy="2314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五行卖点/BP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98120" marR="0">
              <a:lnSpc>
                <a:spcPts val="1875"/>
              </a:lnSpc>
              <a:spcBef>
                <a:spcPts val="622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产品描述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435610" marR="0">
              <a:lnSpc>
                <a:spcPts val="1875"/>
              </a:lnSpc>
              <a:spcBef>
                <a:spcPts val="602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埋词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24472" y="4306023"/>
            <a:ext cx="4987379" cy="824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标题的词根与ST的词根互相组合的关键词（组）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除了已布局到五行卖点外布局到产品描述里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（A+页面的图文结合）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24472" y="5466625"/>
            <a:ext cx="4987379" cy="824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肯定词矩阵的属性词根（在标题、ST已布局过的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词根除外）布局到more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details等填入栏（不展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示在前台的）都尽量填满词根（空格号隔开）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15753" y="1065897"/>
            <a:ext cx="4724400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选择投放类目的相关性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55036" y="2270340"/>
            <a:ext cx="10668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3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spc="-18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TOP前5</a:t>
            </a:r>
            <a:endParaRPr sz="1800" spc="-18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投放类目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8654" y="2956352"/>
            <a:ext cx="10668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找同行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查数据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31640" y="3112854"/>
            <a:ext cx="1371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锁定目标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10577" y="3139232"/>
            <a:ext cx="1371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精准投放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24795" y="3139232"/>
            <a:ext cx="1371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同行节点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9085" y="5048198"/>
            <a:ext cx="9752965" cy="83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BAPNIG+MicrosoftYaHei-Bold" panose="02000500000000000000"/>
                <a:cs typeface="BAPNIG+MicrosoftYaHei-Bold" panose="02000500000000000000"/>
              </a:rPr>
              <a:t>注意：若多个同类产品多个类目投放必须锁定核心词不同而且</a:t>
            </a:r>
            <a:endParaRPr sz="2800" dirty="0">
              <a:solidFill>
                <a:srgbClr val="C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71120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BAPNIG+MicrosoftYaHei-Bold" panose="02000500000000000000"/>
                <a:cs typeface="BAPNIG+MicrosoftYaHei-Bold" panose="02000500000000000000"/>
              </a:rPr>
              <a:t>锁定核心词必须与投放类目（最后一级）属性词相关</a:t>
            </a:r>
            <a:endParaRPr sz="2800" dirty="0">
              <a:solidFill>
                <a:srgbClr val="C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32000" y="213253"/>
            <a:ext cx="8293098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围绕</a:t>
            </a: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核心词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，锁定</a:t>
            </a: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标题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主题突出准确产品信息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456" y="1616176"/>
            <a:ext cx="3005113" cy="83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721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围绕关键词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r>
              <a:rPr sz="2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800" spc="-15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Station</a:t>
            </a:r>
            <a:endParaRPr sz="2800" spc="-15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69158" y="1749361"/>
            <a:ext cx="8629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标题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89318" y="1771433"/>
            <a:ext cx="8629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锁定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60032" y="3367578"/>
            <a:ext cx="32004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方法一：正规逻辑写法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667" y="4683006"/>
            <a:ext cx="11276742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XXXXX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r>
              <a:rPr sz="24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-14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Station</a:t>
            </a:r>
            <a:r>
              <a:rPr sz="2400" spc="15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with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6-port</a:t>
            </a:r>
            <a:r>
              <a:rPr sz="2400" spc="-1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40W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USB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Charger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Desktop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Organizer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&amp;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spc="-3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Fast</a:t>
            </a:r>
            <a:r>
              <a:rPr sz="2400" spc="3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for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iPhone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7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6s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Plus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-2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iPad</a:t>
            </a:r>
            <a:endParaRPr sz="2400" spc="-28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53154" y="729406"/>
            <a:ext cx="5045564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标题抓取与识别URL的写法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2453" y="1607256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方法一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6589" y="1600135"/>
            <a:ext cx="473265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能抓取冒号：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前面5个词方法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7926" y="2455082"/>
            <a:ext cx="11288876" cy="1437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spc="24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XXXXX</a:t>
            </a:r>
            <a:r>
              <a:rPr sz="3200" spc="23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231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r>
              <a:rPr sz="3200" spc="244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22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Station</a:t>
            </a:r>
            <a:r>
              <a:rPr sz="3200" spc="255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25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6-port</a:t>
            </a:r>
            <a:r>
              <a:rPr sz="3200" spc="21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239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40W</a:t>
            </a:r>
            <a:r>
              <a:rPr sz="32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:</a:t>
            </a:r>
            <a:r>
              <a:rPr sz="3200" spc="636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3200" spc="24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USB</a:t>
            </a:r>
            <a:r>
              <a:rPr sz="3200" spc="24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23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Charger</a:t>
            </a:r>
            <a:endParaRPr sz="3200" spc="235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3340"/>
              </a:lnSpc>
              <a:spcBef>
                <a:spcPts val="550"/>
              </a:spcBef>
              <a:spcAft>
                <a:spcPts val="0"/>
              </a:spcAft>
            </a:pPr>
            <a:r>
              <a:rPr sz="3200" spc="-1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Desktop</a:t>
            </a:r>
            <a:r>
              <a:rPr sz="3200" spc="1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Organizer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&amp;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-3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Fast</a:t>
            </a:r>
            <a:r>
              <a:rPr sz="3200" spc="2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for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iPhone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7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|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6s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Plus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3340"/>
              </a:lnSpc>
              <a:spcBef>
                <a:spcPts val="50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|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-2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iPad</a:t>
            </a:r>
            <a:endParaRPr sz="3200" spc="-28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6849" y="4374417"/>
            <a:ext cx="6493406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注意：1.冒号前无空格，冒号后有空格，标题里不出现逗</a:t>
            </a:r>
            <a:endParaRPr sz="20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76530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号、句号、问号、感叹号</a:t>
            </a:r>
            <a:endParaRPr sz="20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00434" y="4984017"/>
            <a:ext cx="2454062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469ECA"/>
                </a:solidFill>
                <a:latin typeface="BAPNIG+MicrosoftYaHei-Bold" panose="02000500000000000000"/>
                <a:cs typeface="BAPNIG+MicrosoftYaHei-Bold" panose="02000500000000000000"/>
              </a:rPr>
              <a:t>2.最好160-180字符</a:t>
            </a:r>
            <a:endParaRPr sz="2000" dirty="0">
              <a:solidFill>
                <a:srgbClr val="469ECA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0434" y="5288817"/>
            <a:ext cx="5001903" cy="1217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B050"/>
                </a:solidFill>
                <a:latin typeface="BAPNIG+MicrosoftYaHei-Bold" panose="02000500000000000000"/>
                <a:cs typeface="BAPNIG+MicrosoftYaHei-Bold" panose="02000500000000000000"/>
              </a:rPr>
              <a:t>3.不用and，用&amp;，只用一次，其他可以用|</a:t>
            </a:r>
            <a:endParaRPr sz="2000" dirty="0">
              <a:solidFill>
                <a:srgbClr val="00B05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78041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C000"/>
                </a:solidFill>
                <a:latin typeface="BAPNIG+MicrosoftYaHei-Bold" panose="02000500000000000000"/>
                <a:cs typeface="BAPNIG+MicrosoftYaHei-Bold" panose="02000500000000000000"/>
              </a:rPr>
              <a:t>4.同一词根不要出现两次以上</a:t>
            </a:r>
            <a:endParaRPr sz="2000" dirty="0">
              <a:solidFill>
                <a:srgbClr val="FFC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47434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B050"/>
                </a:solidFill>
                <a:latin typeface="BAPNIG+MicrosoftYaHei-Bold" panose="02000500000000000000"/>
                <a:cs typeface="BAPNIG+MicrosoftYaHei-Bold" panose="02000500000000000000"/>
              </a:rPr>
              <a:t>5.不要用</a:t>
            </a:r>
            <a:r>
              <a:rPr sz="2000" spc="94" dirty="0">
                <a:solidFill>
                  <a:srgbClr val="00B05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000" dirty="0">
                <a:solidFill>
                  <a:srgbClr val="00B050"/>
                </a:solidFill>
                <a:latin typeface="BAPNIG+MicrosoftYaHei-Bold" panose="02000500000000000000"/>
                <a:cs typeface="BAPNIG+MicrosoftYaHei-Bold" panose="02000500000000000000"/>
              </a:rPr>
              <a:t>/，可以用</a:t>
            </a:r>
            <a:r>
              <a:rPr sz="2000" spc="94" dirty="0">
                <a:solidFill>
                  <a:srgbClr val="00B05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000" dirty="0">
                <a:solidFill>
                  <a:srgbClr val="00B050"/>
                </a:solidFill>
                <a:latin typeface="BAPNIG+MicrosoftYaHei-Bold" panose="02000500000000000000"/>
                <a:cs typeface="BAPNIG+MicrosoftYaHei-Bold" panose="02000500000000000000"/>
              </a:rPr>
              <a:t>|，前后需空格</a:t>
            </a:r>
            <a:endParaRPr sz="2000" dirty="0">
              <a:solidFill>
                <a:srgbClr val="00B05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61353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6.并列写法用-</a:t>
            </a:r>
            <a:endParaRPr sz="20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53154" y="729406"/>
            <a:ext cx="5045564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标题抓取与识别URL的写法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2453" y="1607256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方法二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6589" y="1600135"/>
            <a:ext cx="29965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冒号与破折号结合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7926" y="2634787"/>
            <a:ext cx="11288876" cy="1437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spc="24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XXXXX</a:t>
            </a:r>
            <a:r>
              <a:rPr sz="3200" spc="23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231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r>
              <a:rPr sz="3200" spc="244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22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Station</a:t>
            </a:r>
            <a:r>
              <a:rPr sz="3200" spc="255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25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6-port</a:t>
            </a:r>
            <a:r>
              <a:rPr sz="3200" spc="21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239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40W</a:t>
            </a:r>
            <a:r>
              <a:rPr sz="32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:</a:t>
            </a:r>
            <a:r>
              <a:rPr sz="3200" spc="636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3200" spc="24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USB</a:t>
            </a:r>
            <a:r>
              <a:rPr sz="3200" spc="24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23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Charger</a:t>
            </a:r>
            <a:endParaRPr sz="3200" spc="235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3340"/>
              </a:lnSpc>
              <a:spcBef>
                <a:spcPts val="550"/>
              </a:spcBef>
              <a:spcAft>
                <a:spcPts val="0"/>
              </a:spcAft>
            </a:pPr>
            <a:r>
              <a:rPr sz="3200" spc="7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Desktop</a:t>
            </a:r>
            <a:r>
              <a:rPr sz="3200" spc="9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7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Organizer</a:t>
            </a:r>
            <a:r>
              <a:rPr sz="3200" spc="8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3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Fast</a:t>
            </a:r>
            <a:r>
              <a:rPr sz="3200" spc="13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8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r>
              <a:rPr sz="3200" spc="9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9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for</a:t>
            </a:r>
            <a:r>
              <a:rPr sz="3200" spc="86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89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iPhone</a:t>
            </a:r>
            <a:r>
              <a:rPr sz="3200" spc="8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7</a:t>
            </a:r>
            <a:r>
              <a:rPr sz="3200" spc="176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–</a:t>
            </a:r>
            <a:r>
              <a:rPr sz="3200" spc="179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spc="4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Power</a:t>
            </a:r>
            <a:endParaRPr sz="3200" spc="41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3340"/>
              </a:lnSpc>
              <a:spcBef>
                <a:spcPts val="50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Bank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for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iPhone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11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78048" y="5156940"/>
            <a:ext cx="6493406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注意：1.冒号只用一次；破折号可以用三次，表示前后不</a:t>
            </a:r>
            <a:endParaRPr sz="20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65430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同的说法</a:t>
            </a:r>
            <a:endParaRPr sz="20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73398" y="5766540"/>
            <a:ext cx="4696913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42975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469ECA"/>
                </a:solidFill>
                <a:latin typeface="BAPNIG+MicrosoftYaHei-Bold" panose="02000500000000000000"/>
                <a:cs typeface="BAPNIG+MicrosoftYaHei-Bold" panose="02000500000000000000"/>
              </a:rPr>
              <a:t>2.确保google翻译通顺</a:t>
            </a:r>
            <a:endParaRPr sz="2000" dirty="0">
              <a:solidFill>
                <a:srgbClr val="469ECA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92D050"/>
                </a:solidFill>
                <a:latin typeface="BAPNIG+MicrosoftYaHei-Bold" panose="02000500000000000000"/>
                <a:cs typeface="BAPNIG+MicrosoftYaHei-Bold" panose="02000500000000000000"/>
              </a:rPr>
              <a:t>3.数字与单位连在一起，比如14k，5cm</a:t>
            </a:r>
            <a:endParaRPr sz="2000" dirty="0">
              <a:solidFill>
                <a:srgbClr val="92D05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4445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22650" y="729406"/>
            <a:ext cx="5499100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Search</a:t>
            </a:r>
            <a:r>
              <a:rPr sz="3200" spc="157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3200" spc="-28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Term与关键词的布局</a:t>
            </a:r>
            <a:endParaRPr sz="3200" spc="-28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3823" y="1852510"/>
            <a:ext cx="2285364" cy="83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词根互相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系统匹配组合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9072" y="1852510"/>
            <a:ext cx="2223001" cy="83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Search</a:t>
            </a:r>
            <a:r>
              <a:rPr sz="2800" spc="1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800" spc="-8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Term</a:t>
            </a:r>
            <a:endParaRPr sz="2800" spc="-81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502285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的词根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808" y="2065870"/>
            <a:ext cx="19297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标题的词根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7667" y="3688075"/>
            <a:ext cx="11289661" cy="218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5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（1）ST里填属性词根，空格号隔开，词根之间无需互相结合，必须与标题上的词</a:t>
            </a:r>
            <a:endParaRPr sz="2400" spc="54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组合；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（2）标题出现的词勿在ST里出现；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spc="9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（3）ST第一栏从投放类目从1级类目往后按顺次填类目相关属性词根，例：Cell</a:t>
            </a:r>
            <a:endParaRPr sz="2400" spc="91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Phones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&amp;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Accessories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&gt;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Accessories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&gt;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Automobile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Accessories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&gt;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Cradles；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（4）填肯定词矩阵里频率越高的属性词根，按频率次数顺次填。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93147" y="688042"/>
            <a:ext cx="422274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其他描述加深词的收录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40812" y="1852510"/>
            <a:ext cx="2320135" cy="83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更多产品信息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spc="-1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More</a:t>
            </a:r>
            <a:r>
              <a:rPr sz="2800" spc="1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Details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808" y="2065870"/>
            <a:ext cx="1929764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埋</a:t>
            </a:r>
            <a:r>
              <a:rPr sz="2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满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0984" y="2079167"/>
            <a:ext cx="12185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属性词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7667" y="3688075"/>
            <a:ext cx="11289676" cy="218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（1）LISTING文案里能埋词的地方都填上属性词根或词；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（2）ST已填的词勿再埋，类目属性词除外；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spc="11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（3）优先埋类目属性词，例：Cell</a:t>
            </a:r>
            <a:r>
              <a:rPr sz="2400" spc="11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1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Phones</a:t>
            </a:r>
            <a:r>
              <a:rPr sz="2400" spc="10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&amp;</a:t>
            </a:r>
            <a:r>
              <a:rPr sz="2400" spc="22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1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Accessories</a:t>
            </a:r>
            <a:r>
              <a:rPr sz="2400" spc="11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&gt;</a:t>
            </a:r>
            <a:r>
              <a:rPr sz="2400" spc="229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1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Accessories</a:t>
            </a:r>
            <a:r>
              <a:rPr sz="2400" spc="11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&gt;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Automobile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Accessories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&gt;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Cradles；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spc="5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（4）填肯定词矩阵里ST已用过的词根以外频率越高的属性词根，按频率次数顺次</a:t>
            </a:r>
            <a:endParaRPr sz="2400" spc="54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填。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28800" y="324962"/>
            <a:ext cx="8700133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锁定</a:t>
            </a: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标题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主体突出准确产品信息，补充</a:t>
            </a: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五行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卖点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42267" y="1641500"/>
            <a:ext cx="8629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属性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8608" y="1687816"/>
            <a:ext cx="15741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锁定标题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13558" y="1687816"/>
            <a:ext cx="15741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五行</a:t>
            </a:r>
            <a:r>
              <a:rPr sz="2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卖点</a:t>
            </a:r>
            <a:endParaRPr sz="28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7667" y="2776151"/>
            <a:ext cx="11300804" cy="3281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1）Charge</a:t>
            </a:r>
            <a:r>
              <a:rPr sz="2400" spc="2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up</a:t>
            </a:r>
            <a:r>
              <a:rPr sz="2400" spc="2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to</a:t>
            </a:r>
            <a:r>
              <a:rPr sz="2400" spc="3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6</a:t>
            </a:r>
            <a:r>
              <a:rPr sz="2400" spc="3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devices:</a:t>
            </a:r>
            <a:r>
              <a:rPr sz="2400" spc="2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makes</a:t>
            </a:r>
            <a:r>
              <a:rPr sz="2400" spc="3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you</a:t>
            </a:r>
            <a:r>
              <a:rPr sz="2400" spc="2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r>
              <a:rPr sz="2400" spc="2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your</a:t>
            </a:r>
            <a:r>
              <a:rPr sz="2400" spc="2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multiple</a:t>
            </a:r>
            <a:r>
              <a:rPr sz="2400" spc="1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devices;</a:t>
            </a:r>
            <a:r>
              <a:rPr sz="2400" spc="3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2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such</a:t>
            </a:r>
            <a:endParaRPr sz="2400" spc="25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as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you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and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your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friends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charge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your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devices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together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for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par</a:t>
            </a:r>
            <a:r>
              <a:rPr sz="2400" spc="-64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-4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ty,</a:t>
            </a:r>
            <a:r>
              <a:rPr sz="2400" spc="4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office,</a:t>
            </a:r>
            <a:r>
              <a:rPr sz="2400" spc="1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home,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restaurant,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-6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bar,</a:t>
            </a:r>
            <a:r>
              <a:rPr sz="2400" spc="6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classroom,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meeting,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room</a:t>
            </a:r>
            <a:r>
              <a:rPr sz="2400" spc="1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etc</a:t>
            </a:r>
            <a:endParaRPr sz="2400" spc="-18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spc="9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2)</a:t>
            </a:r>
            <a:r>
              <a:rPr sz="2400" spc="1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9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40W</a:t>
            </a:r>
            <a:r>
              <a:rPr sz="2400" spc="1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66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Fast</a:t>
            </a:r>
            <a:r>
              <a:rPr sz="2400" spc="13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9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Charging:</a:t>
            </a:r>
            <a:r>
              <a:rPr sz="2400" spc="10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9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r>
              <a:rPr sz="2400" spc="10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0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station</a:t>
            </a:r>
            <a:r>
              <a:rPr sz="2400" spc="10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0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with</a:t>
            </a:r>
            <a:r>
              <a:rPr sz="2400" spc="10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0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40W</a:t>
            </a:r>
            <a:r>
              <a:rPr sz="2400" spc="10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0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USB</a:t>
            </a:r>
            <a:r>
              <a:rPr sz="2400" spc="10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99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charger</a:t>
            </a:r>
            <a:r>
              <a:rPr sz="2400" spc="109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0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and</a:t>
            </a:r>
            <a:r>
              <a:rPr sz="2400" spc="10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0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fast</a:t>
            </a:r>
            <a:endParaRPr sz="2400" spc="102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for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iPhone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android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android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devices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spc="1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3)</a:t>
            </a:r>
            <a:r>
              <a:rPr sz="2400" spc="2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5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r>
              <a:rPr sz="2400" spc="25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2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station</a:t>
            </a:r>
            <a:r>
              <a:rPr sz="2400" spc="2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with</a:t>
            </a:r>
            <a:r>
              <a:rPr sz="2400" spc="2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3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smart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2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IC</a:t>
            </a:r>
            <a:r>
              <a:rPr sz="2400" spc="2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technology:</a:t>
            </a:r>
            <a:r>
              <a:rPr sz="2400" spc="2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USB</a:t>
            </a:r>
            <a:r>
              <a:rPr sz="2400" spc="3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charger</a:t>
            </a:r>
            <a:r>
              <a:rPr sz="2400" spc="2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built-in</a:t>
            </a:r>
            <a:r>
              <a:rPr sz="2400" spc="46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4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smart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2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IC</a:t>
            </a:r>
            <a:endParaRPr sz="2400" spc="25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tech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that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can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identify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your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devices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and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delivers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full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speed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spc="7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4)</a:t>
            </a:r>
            <a:r>
              <a:rPr sz="2400" spc="86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8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Charging</a:t>
            </a:r>
            <a:r>
              <a:rPr sz="2400" spc="89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station</a:t>
            </a:r>
            <a:r>
              <a:rPr sz="2400" spc="86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56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built-in</a:t>
            </a:r>
            <a:r>
              <a:rPr sz="2400" spc="11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8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environmentally</a:t>
            </a:r>
            <a:r>
              <a:rPr sz="2400" spc="8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8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friendly</a:t>
            </a:r>
            <a:r>
              <a:rPr sz="2400" spc="8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8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material:</a:t>
            </a:r>
            <a:r>
              <a:rPr sz="2400" spc="89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8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the</a:t>
            </a:r>
            <a:r>
              <a:rPr sz="2400" spc="8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8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stand</a:t>
            </a:r>
            <a:endParaRPr sz="2400" spc="85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organizer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is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made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-5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of</a:t>
            </a:r>
            <a:r>
              <a:rPr sz="2400" spc="49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100%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natural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bamboo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667" y="6067991"/>
            <a:ext cx="9720062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5)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XXXXX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offer</a:t>
            </a:r>
            <a:r>
              <a:rPr sz="2400" spc="1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18-month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warranty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and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friendly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customer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400" spc="1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services</a:t>
            </a:r>
            <a:endParaRPr sz="2400" spc="14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42839" y="347534"/>
            <a:ext cx="15741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五行卖点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1780" y="1053621"/>
            <a:ext cx="9477378" cy="760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4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五行特征不要加说明书内容，第一行最重要，要描述核心卖点，通俗化语言表达，</a:t>
            </a:r>
            <a:endParaRPr sz="2000" spc="4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实际说出产品属性等核心卖点（服务很难体现卖点）。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51640" y="2084539"/>
            <a:ext cx="15741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产品描述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2128" y="2856970"/>
            <a:ext cx="5867761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锁定五行卖点延伸对产品详细描述（含A+页面）；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2128" y="3314170"/>
            <a:ext cx="7952832" cy="760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限制5000个字符以内，埋更多属性词，但必须表达通畅，勿滥用；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详细描述埋词以标题词+ST和标题词+五行卖点属性词组合的关键词。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52163" y="4311916"/>
            <a:ext cx="29965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关键词的两个阶段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3850" y="5074187"/>
            <a:ext cx="8300717" cy="760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第一阶段：同行竞品的关键词数据与质量系数作为文案的参考值与判断；</a:t>
            </a:r>
            <a:endParaRPr sz="20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第二阶段：Listing上线后收录的词作为以后广告运营的参考。</a:t>
            </a:r>
            <a:endParaRPr sz="20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11093" y="6156612"/>
            <a:ext cx="5490457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7030A0"/>
                </a:solidFill>
                <a:latin typeface="BAPNIG+MicrosoftYaHei-Bold" panose="02000500000000000000"/>
                <a:cs typeface="BAPNIG+MicrosoftYaHei-Bold" panose="02000500000000000000"/>
              </a:rPr>
              <a:t>不能轻易改变：类目、主图、标题、A+</a:t>
            </a:r>
            <a:endParaRPr sz="2400" dirty="0">
              <a:solidFill>
                <a:srgbClr val="7030A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429542" y="272346"/>
            <a:ext cx="19812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文案实操问题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9935" y="937373"/>
            <a:ext cx="559434" cy="240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问题</a:t>
            </a:r>
            <a:endParaRPr sz="16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4950" y="937373"/>
            <a:ext cx="559435" cy="240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6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解决</a:t>
            </a:r>
            <a:endParaRPr sz="16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9935" y="1370860"/>
            <a:ext cx="9201150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关于文案逻辑思维数</a:t>
            </a:r>
            <a:r>
              <a:rPr sz="1400" spc="2645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1.文案两准两多的标准不是对标BSR，是自己对自身listing的要求，文案是Listing的跟基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9935" y="1584220"/>
            <a:ext cx="1401445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据方向的问题？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4950" y="1584220"/>
            <a:ext cx="3185795" cy="21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2.做文案是有1才有2，精准做好再突破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4950" y="1797580"/>
            <a:ext cx="9609452" cy="1923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3.两准两多优先级：第一是URL的5个词根准确，第二词根精准100%，第三词组精准80%，第四Total数量（这个数量会变，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上线以15分钟的查询为基础）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4.有没有方法固定两个词根搭配之后让亚马逊再去延伸抓取长尾词，收录是由亚马逊抓取的，亚马逊的识别很难做到固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2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定两个词根搭配再去延伸词，目前没有固定词根搭配100%抓取的技巧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5.ST要站在标题100%精准抓取并且标题组合的词精准的基础上再去突破ST组合的抓取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6.单复数的词根意义一样，保留词频最高的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7.Total词汇量做不到，total数量提升上来，词组精准度就下降，要先提升精准度85%以上再增加词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8.勿单向操作追求total词汇量，后面再追求精准度且不断测试属性词的搭配提升total词汇量，后面达到两准两多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2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9.提高精准词：测出关键词之后统计词根的肯定占比和否定占比，减少或剔除否定占比的词根出现，词频越高产出越大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9935" y="3809260"/>
            <a:ext cx="11512550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关于文案细节方面的</a:t>
            </a:r>
            <a:r>
              <a:rPr sz="1400" spc="2645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1.亚马逊搜索下拉框延伸词插件：AMZ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suggestion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Expander/Huge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Amazon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Search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suggestion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Expander,运用插件增加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9935" y="4022607"/>
            <a:ext cx="687705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问题？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74950" y="4022607"/>
            <a:ext cx="3721100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精准词，分析精准词的搭配提升文案总收录词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4950" y="4235967"/>
            <a:ext cx="4345622" cy="21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2.标题不可自行再词根里面加斜杠，例如：6/7/10/12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74950" y="4449328"/>
            <a:ext cx="9487535" cy="1496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3.提高准确词：标题词根精准度达不到时，标题字符可减少80个，再判断增加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4.五行卖点不建议用括号，可以统一用冒号，前面无空格，后面有空格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5.More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detail的模板是对标自己的产品去做埋词以及找出埋词规律，目前大家都不重视，需要提高重视细节，让亚马逊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2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了解你的产品，给到更多延伸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6.文案的空格、符号等细节在刊登点击提交之前，一定要检查仔细，项目总监要确保细节到位再允许提交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7.核心大词的词根频率相差不大的大部分产品为分散型，相差比较大的大部分为集中型（关键词比较集中在核心词）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1405"/>
              </a:lnSpc>
              <a:spcBef>
                <a:spcPts val="27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8.亚马逊后台测试过的文案做备份</a:t>
            </a:r>
            <a:endParaRPr sz="1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30640" y="2302526"/>
            <a:ext cx="8077200" cy="673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第四部分：打法体系之转化率</a:t>
            </a:r>
            <a:endParaRPr sz="4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93973" y="3930801"/>
            <a:ext cx="575373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销量的护航：61细节+方法+避风险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74479" y="472497"/>
            <a:ext cx="662304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产品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005"/>
              </a:lnSpc>
              <a:spcBef>
                <a:spcPts val="395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共性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6705" y="624897"/>
            <a:ext cx="662304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评论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0633" y="871087"/>
            <a:ext cx="66230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同行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005"/>
              </a:lnSpc>
              <a:spcBef>
                <a:spcPts val="395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价格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73793" y="1023487"/>
            <a:ext cx="662304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价格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7777" y="1961343"/>
            <a:ext cx="66230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同行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005"/>
              </a:lnSpc>
              <a:spcBef>
                <a:spcPts val="395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秒杀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4216" y="2025808"/>
            <a:ext cx="662304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图片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005"/>
              </a:lnSpc>
              <a:spcBef>
                <a:spcPts val="395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视频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77624" y="2666924"/>
            <a:ext cx="1069340" cy="70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3035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影响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转化率</a:t>
            </a:r>
            <a:endParaRPr sz="24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78873" y="2875591"/>
            <a:ext cx="662304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外因</a:t>
            </a:r>
            <a:endParaRPr sz="20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69200" y="2878525"/>
            <a:ext cx="662304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内因</a:t>
            </a:r>
            <a:endParaRPr sz="20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3134" y="3441376"/>
            <a:ext cx="66230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同行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005"/>
              </a:lnSpc>
              <a:spcBef>
                <a:spcPts val="395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上评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41216" y="3549809"/>
            <a:ext cx="407987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A+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08746" y="4478864"/>
            <a:ext cx="662305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头部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005"/>
              </a:lnSpc>
              <a:spcBef>
                <a:spcPts val="395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关联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38271" y="4640040"/>
            <a:ext cx="662304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促销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5678" y="5290674"/>
            <a:ext cx="662304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865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BSR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005"/>
              </a:lnSpc>
              <a:spcBef>
                <a:spcPts val="395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强势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14983" y="5287728"/>
            <a:ext cx="662304" cy="597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五行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005"/>
              </a:lnSpc>
              <a:spcBef>
                <a:spcPts val="395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描述</a:t>
            </a:r>
            <a:endParaRPr sz="20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27373" y="1683303"/>
            <a:ext cx="5921245" cy="16337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第一节：提高转化率的61个细节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42545" marR="0">
              <a:lnSpc>
                <a:spcPts val="3340"/>
              </a:lnSpc>
              <a:spcBef>
                <a:spcPts val="5935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第三节：安全获取评论渠道方法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38" y="2638364"/>
            <a:ext cx="2183764" cy="117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打法体系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之转化率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68496" y="4155511"/>
            <a:ext cx="503681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第四节：搭建真人送测体系</a:t>
            </a:r>
            <a:endParaRPr sz="32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29251" y="2173434"/>
            <a:ext cx="2187575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提升转化率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2351" y="3325701"/>
            <a:ext cx="8904605" cy="566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第一节：提高转化率与CTR的61个细节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79875" y="168447"/>
            <a:ext cx="4185046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提高CTR与转化率的61个细节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549" y="770822"/>
            <a:ext cx="330835" cy="437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序</a:t>
            </a:r>
            <a:endParaRPr sz="14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465"/>
              </a:lnSpc>
              <a:spcBef>
                <a:spcPts val="165"/>
              </a:spcBef>
              <a:spcAft>
                <a:spcPts val="0"/>
              </a:spcAft>
            </a:pPr>
            <a:r>
              <a:rPr sz="14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号</a:t>
            </a:r>
            <a:endParaRPr sz="14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0214" y="770822"/>
            <a:ext cx="2477134" cy="437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转化</a:t>
            </a:r>
            <a:r>
              <a:rPr sz="1400" spc="2554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提高转化率指标</a:t>
            </a:r>
            <a:endParaRPr sz="18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维度</a:t>
            </a:r>
            <a:endParaRPr sz="14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49914" y="778319"/>
            <a:ext cx="12954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目标与标准</a:t>
            </a:r>
            <a:endParaRPr sz="18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30094" y="778319"/>
            <a:ext cx="1752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影响与为什么做</a:t>
            </a:r>
            <a:endParaRPr sz="18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734" y="1270567"/>
            <a:ext cx="246409" cy="581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1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30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2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9494" y="1270567"/>
            <a:ext cx="1043355" cy="581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Review数量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30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Review分数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43718" y="1270567"/>
            <a:ext cx="2054719" cy="581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新品14天内达到20-30个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30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4.5-4.7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81989" y="1270156"/>
            <a:ext cx="3758282" cy="554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让客户认为是个老产品，市场已经筛选，值得信赖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250"/>
              </a:lnSpc>
              <a:spcBef>
                <a:spcPts val="1515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让客户认为品质可靠，不会有售后等麻烦，5星&gt;4.5&gt;4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734" y="2085271"/>
            <a:ext cx="246409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3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89494" y="2085271"/>
            <a:ext cx="1587081" cy="437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Top</a:t>
            </a: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Reviewer/Vine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6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Voice</a:t>
            </a: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Review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81989" y="2084861"/>
            <a:ext cx="1676400" cy="196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有网红背书，值得信赖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8734" y="2603431"/>
            <a:ext cx="246409" cy="965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4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40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5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40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6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89494" y="2603431"/>
            <a:ext cx="1043355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Review图片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43718" y="2603431"/>
            <a:ext cx="2395906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90天内一个listing有五个图评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81989" y="2603021"/>
            <a:ext cx="3962400" cy="567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真实的买家秀，采光、视角、布景都要好，只能卖家提供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250"/>
              </a:lnSpc>
              <a:spcBef>
                <a:spcPts val="162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更直观的买家秀，全方位解读产品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89494" y="2974271"/>
            <a:ext cx="1177976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Review</a:t>
            </a: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Video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43718" y="2974271"/>
            <a:ext cx="2752776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90天内一个listing有两个视频评论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89494" y="3345111"/>
            <a:ext cx="1936750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首页评论带图、带视频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81989" y="3344701"/>
            <a:ext cx="2590800" cy="196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让客户一目了然，打动人心的买家秀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1014" y="3603209"/>
            <a:ext cx="407035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评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论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8734" y="3802311"/>
            <a:ext cx="246409" cy="7421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7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256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8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89494" y="3802311"/>
            <a:ext cx="1579880" cy="437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所有差评都有及时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6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COMMENT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81989" y="3801901"/>
            <a:ext cx="2438400" cy="1233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让客户感受到客户关怀，售后无忧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250"/>
              </a:lnSpc>
              <a:spcBef>
                <a:spcPts val="278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专业回复，感受到客户关怀的力量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250"/>
              </a:lnSpc>
              <a:spcBef>
                <a:spcPts val="283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让客户感受到产品质量有保障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89494" y="4320471"/>
            <a:ext cx="1758315" cy="437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首页评论都有很好的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6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COMMENT回复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8734" y="4838631"/>
            <a:ext cx="246409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9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89494" y="4838631"/>
            <a:ext cx="1044575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首页无差评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43718" y="4838631"/>
            <a:ext cx="866139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必须做到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1744" y="5295831"/>
            <a:ext cx="340418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10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43718" y="5295831"/>
            <a:ext cx="1683473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新品30天内达到4个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81989" y="5295421"/>
            <a:ext cx="3585492" cy="379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（1）卖家视频是否足够多，不同视频标题不同卖点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250"/>
              </a:lnSpc>
              <a:spcBef>
                <a:spcPts val="14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（2）Review视频是否足够多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89494" y="5372031"/>
            <a:ext cx="1218616" cy="605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Related</a:t>
            </a: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Video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53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QA数量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1744" y="5753031"/>
            <a:ext cx="340418" cy="5948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11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40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12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43718" y="5753031"/>
            <a:ext cx="1683473" cy="5948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新品14天内达到5个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40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埋词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81989" y="5752621"/>
            <a:ext cx="2226171" cy="196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买家足够关心（前期15-20个）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81989" y="6123461"/>
            <a:ext cx="3665785" cy="379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（1）是否展示卖点（2）展示用户体验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250"/>
              </a:lnSpc>
              <a:spcBef>
                <a:spcPts val="14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（3）是否体现营销特性（4）回复的及时性与专业性</a:t>
            </a:r>
            <a:endParaRPr sz="12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89494" y="6200071"/>
            <a:ext cx="757928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QA质量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5635" y="255456"/>
            <a:ext cx="1021080" cy="493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序</a:t>
            </a:r>
            <a:r>
              <a:rPr sz="1600" spc="1644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6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转化</a:t>
            </a:r>
            <a:endParaRPr sz="16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号</a:t>
            </a:r>
            <a:r>
              <a:rPr sz="1600" spc="1644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6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维度</a:t>
            </a:r>
            <a:endParaRPr sz="16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9895" y="255456"/>
            <a:ext cx="1739900" cy="807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735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提高转化率指标</a:t>
            </a:r>
            <a:endParaRPr sz="16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660"/>
              </a:lnSpc>
              <a:spcBef>
                <a:spcPts val="273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划线价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4870" y="255456"/>
            <a:ext cx="1167765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目标与标准</a:t>
            </a:r>
            <a:endParaRPr sz="16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23185" y="255456"/>
            <a:ext cx="1574165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影响与为什么做</a:t>
            </a:r>
            <a:endParaRPr sz="16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305" y="813621"/>
            <a:ext cx="366437" cy="620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13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14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62610" y="811614"/>
            <a:ext cx="2650490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客户一定的心理满足感，占便宜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9895" y="1184460"/>
            <a:ext cx="964564" cy="620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实际价格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coupon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2610" y="1182454"/>
            <a:ext cx="2587933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对比同行价格更低（BSR除外）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4750" y="1231002"/>
            <a:ext cx="407035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价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格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2305" y="1555300"/>
            <a:ext cx="366437" cy="17325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15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16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17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18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19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86645" y="1553294"/>
            <a:ext cx="2749291" cy="5948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新品期可40%以内，老品不一直做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40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老带新，相似品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62610" y="1553294"/>
            <a:ext cx="2828925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进一步占便宜的满足感，催促购买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49895" y="1926140"/>
            <a:ext cx="1167764" cy="136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Bundle购买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主图场景化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主图字体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主图差异化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62610" y="1924134"/>
            <a:ext cx="2293620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增加相关联产品的购买转化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86645" y="2297391"/>
            <a:ext cx="1066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场景联想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62610" y="2294974"/>
            <a:ext cx="4791709" cy="9657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让消费者有获得感、满足感，了解使用效果，传递客户体验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40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图文并茂，恰如其分，字体协调，风格和产品卖点一致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40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做到万绿丛中一点红，置身其中，就是与众不同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86645" y="2668231"/>
            <a:ext cx="1981200" cy="647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与亚马逊字体相近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突出卖点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62610" y="3407494"/>
            <a:ext cx="5619148" cy="65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（1）能够体现使用效果&amp;场景、卖点重要性顺序、参数、售后等整体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6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逻辑（2）可以让客户看完主图不看BP和描述，就可以收获全部必要信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21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息。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05" y="3607620"/>
            <a:ext cx="366437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20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49895" y="3607620"/>
            <a:ext cx="964564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主图逻辑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4750" y="3895461"/>
            <a:ext cx="407035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图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片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305" y="4141020"/>
            <a:ext cx="366437" cy="7114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21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93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22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49895" y="4141020"/>
            <a:ext cx="1167764" cy="7114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主图对比图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93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主图视频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62610" y="4139014"/>
            <a:ext cx="1758315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模糊化和竞品做对比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62610" y="4509854"/>
            <a:ext cx="5554587" cy="437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（1）能够体现使用效果&amp;场景、卖点重要性顺序、参数、售后等整体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6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逻辑</a:t>
            </a:r>
            <a:r>
              <a:rPr sz="1400" spc="386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（2）可以单个或多个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2305" y="5030020"/>
            <a:ext cx="366437" cy="990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23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24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25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49895" y="5030020"/>
            <a:ext cx="964564" cy="620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产品包装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660"/>
              </a:lnSpc>
              <a:spcBef>
                <a:spcPts val="1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A+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62610" y="5028014"/>
            <a:ext cx="1936750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给人高端感觉，品牌化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62610" y="5398854"/>
            <a:ext cx="2828925" cy="5948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遵循图片逻辑，更多品牌化特色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465"/>
              </a:lnSpc>
              <a:spcBef>
                <a:spcPts val="1405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参数对比详细，有购物车点击图标</a:t>
            </a:r>
            <a:endParaRPr sz="14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49895" y="5771701"/>
            <a:ext cx="822959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A+关联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8828" y="6119926"/>
            <a:ext cx="11793715" cy="568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主图：1600*1600</a:t>
            </a:r>
            <a:r>
              <a:rPr sz="1800" spc="85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产品占图空间90%以上，主图用3D建模</a:t>
            </a:r>
            <a:r>
              <a:rPr sz="1800" spc="1384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3-5图：体现用户群体，使用场景图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145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2图：产品核心属性卖点展示</a:t>
            </a:r>
            <a:r>
              <a:rPr sz="1800" spc="25994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7图：视频或者与其他产品三星评论中痛点短板对比图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5635" y="524738"/>
            <a:ext cx="1755775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序号</a:t>
            </a:r>
            <a:r>
              <a:rPr sz="1800" spc="1375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转化维度</a:t>
            </a:r>
            <a:endParaRPr sz="18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5450" y="524738"/>
            <a:ext cx="1752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提高转化率指标</a:t>
            </a:r>
            <a:endParaRPr sz="18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73795" y="524738"/>
            <a:ext cx="8639175" cy="1360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78195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目标与标准</a:t>
            </a:r>
            <a:endParaRPr sz="18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867025" marR="0">
              <a:lnSpc>
                <a:spcPts val="1875"/>
              </a:lnSpc>
              <a:spcBef>
                <a:spcPts val="82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标题是否传递必要信息并足够简练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2867025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（1）要点概况（2）卖点按重要性排序（3）有售后质保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Special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offers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promotions</a:t>
            </a:r>
            <a:r>
              <a:rPr sz="1800" spc="238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关联有关联的产品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7080" y="867003"/>
            <a:ext cx="393489" cy="2501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26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27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28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29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9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30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31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32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3795" y="867003"/>
            <a:ext cx="1320800" cy="647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标题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BP要点概括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3795" y="1979523"/>
            <a:ext cx="1699210" cy="647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Amazon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Choice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Best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Seller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40820" y="1979523"/>
            <a:ext cx="3985211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拿下大流量的关键词的Amazon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Choice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40820" y="2350363"/>
            <a:ext cx="3352800" cy="647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毋庸置疑的，自动解锁流量入口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增加类目流量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3795" y="2721203"/>
            <a:ext cx="2175934" cy="647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New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Release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#1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WISH/Gift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List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TOP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3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40820" y="3092043"/>
            <a:ext cx="35814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增加类目流量，提高礼物购买转化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7010" y="3216790"/>
            <a:ext cx="7620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其他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40820" y="3462883"/>
            <a:ext cx="72390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描述突出卖点重要性顺序、参数及售后，整体逻辑性、条理性、美观度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合理。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080" y="3600043"/>
            <a:ext cx="393489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33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73795" y="3600043"/>
            <a:ext cx="1264352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Description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7080" y="4102963"/>
            <a:ext cx="393489" cy="1759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34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1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35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2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36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37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9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38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73795" y="4102963"/>
            <a:ext cx="1783873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Technical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Details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40820" y="4102963"/>
            <a:ext cx="3810000" cy="647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能够解决客户对技术参数的量化需求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上传PDF版本电子说明书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73795" y="4476343"/>
            <a:ext cx="2364805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Technical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Specification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73795" y="4844643"/>
            <a:ext cx="6905625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Compare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with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similar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items</a:t>
            </a:r>
            <a:r>
              <a:rPr sz="1800" spc="1125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参数足够详细，例如尺寸、兼容机型等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73795" y="5215483"/>
            <a:ext cx="1752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品牌旗舰店设置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40820" y="5215483"/>
            <a:ext cx="2895600" cy="647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专业化、品牌化，显得高端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充足的库存以及及时入仓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73795" y="5586323"/>
            <a:ext cx="2209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库存数量与上架速度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8385" y="6290923"/>
            <a:ext cx="4751744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00"/>
                </a:solidFill>
                <a:latin typeface="KUMBUU+MicrosoftYaHei" panose="02000500000000000000"/>
                <a:cs typeface="KUMBUU+MicrosoftYaHei" panose="02000500000000000000"/>
              </a:rPr>
              <a:t>购物车丢失后，直接降价20%，快速找回</a:t>
            </a:r>
            <a:endParaRPr sz="2000" dirty="0">
              <a:solidFill>
                <a:srgbClr val="FFFF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3131" y="354012"/>
            <a:ext cx="2430779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序号</a:t>
            </a:r>
            <a:r>
              <a:rPr sz="1800" spc="129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提高转化率指标</a:t>
            </a:r>
            <a:endParaRPr sz="18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9426" y="354012"/>
            <a:ext cx="2414904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序号</a:t>
            </a:r>
            <a:r>
              <a:rPr sz="1800" spc="1165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ED7D31"/>
                </a:solidFill>
                <a:latin typeface="BAPNIG+MicrosoftYaHei-Bold" panose="02000500000000000000"/>
                <a:cs typeface="BAPNIG+MicrosoftYaHei-Bold" panose="02000500000000000000"/>
              </a:rPr>
              <a:t>提高转化率指标</a:t>
            </a:r>
            <a:endParaRPr sz="1800" dirty="0">
              <a:solidFill>
                <a:srgbClr val="ED7D31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131" y="701357"/>
            <a:ext cx="5545454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39</a:t>
            </a:r>
            <a:r>
              <a:rPr sz="1800" spc="1946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不要定价$12.49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$24.99，直接$12.5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$25，为买家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8171" y="701357"/>
            <a:ext cx="2921404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51</a:t>
            </a:r>
            <a:r>
              <a:rPr sz="1800" spc="1887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Description里加入FAQ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1311" y="975676"/>
            <a:ext cx="5127625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省邮费</a:t>
            </a:r>
            <a:r>
              <a:rPr sz="16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（非会员25包邮，亚马逊3亿用户只1亿有会员）</a:t>
            </a:r>
            <a:endParaRPr sz="16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0131" y="1341437"/>
            <a:ext cx="3318509" cy="14078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40</a:t>
            </a:r>
            <a:r>
              <a:rPr sz="1800" spc="1946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可以设置Prime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Discount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1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41</a:t>
            </a:r>
            <a:r>
              <a:rPr sz="1800" spc="1946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设置Business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Price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9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42</a:t>
            </a:r>
            <a:r>
              <a:rPr sz="1800" spc="1946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Coupon标题写的有吸引力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43</a:t>
            </a:r>
            <a:r>
              <a:rPr sz="1800" spc="1946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偶尔降价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48171" y="1341437"/>
            <a:ext cx="3965575" cy="666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52</a:t>
            </a:r>
            <a:r>
              <a:rPr sz="1800" spc="1887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A+做好手机端的浏览体验和转化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1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53</a:t>
            </a:r>
            <a:r>
              <a:rPr sz="1800" spc="1887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变体不要超过3个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8171" y="2102167"/>
            <a:ext cx="4020185" cy="647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54</a:t>
            </a:r>
            <a:r>
              <a:rPr sz="1800" spc="1887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Promotion的主题命名要有吸引力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55</a:t>
            </a:r>
            <a:r>
              <a:rPr sz="1800" spc="1887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A+动图展示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48171" y="2843847"/>
            <a:ext cx="3144612" cy="670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56</a:t>
            </a:r>
            <a:r>
              <a:rPr sz="1800" spc="1887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关键词联系上“专家推荐”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2477135" marR="0">
              <a:lnSpc>
                <a:spcPts val="1875"/>
              </a:lnSpc>
              <a:spcBef>
                <a:spcPts val="123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店铺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58771" y="2867342"/>
            <a:ext cx="1994535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LISTING页面优化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0131" y="3214687"/>
            <a:ext cx="3903979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44</a:t>
            </a:r>
            <a:r>
              <a:rPr sz="1800" spc="1946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标题里重要的参数可以前置一些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0131" y="3585527"/>
            <a:ext cx="855599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45</a:t>
            </a:r>
            <a:r>
              <a:rPr sz="1800" spc="1946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主图的比例可以根据产品比例调整，让产品缩略图</a:t>
            </a:r>
            <a:r>
              <a:rPr sz="1800" spc="2087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57</a:t>
            </a:r>
            <a:r>
              <a:rPr sz="1800" spc="1887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店铺FEEDBACK做好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55118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更饱满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0131" y="4228146"/>
            <a:ext cx="4157979" cy="644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46</a:t>
            </a:r>
            <a:r>
              <a:rPr sz="1800" spc="1946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BP、图片针对对手的差评进行营销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2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47</a:t>
            </a:r>
            <a:r>
              <a:rPr sz="1800" spc="1946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把好的QA置顶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48171" y="4225607"/>
            <a:ext cx="5267960" cy="647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58</a:t>
            </a:r>
            <a:r>
              <a:rPr sz="1800" spc="1887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店铺信息介绍要专业、详细、联系信息充分等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59</a:t>
            </a:r>
            <a:r>
              <a:rPr sz="1800" spc="1887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店铺专业化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1311" y="4967287"/>
            <a:ext cx="4996815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如果Top差评内容太影响转化，人为做一条3星评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论置顶到差评Top位置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0131" y="5104446"/>
            <a:ext cx="393489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48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17941" y="5127942"/>
            <a:ext cx="1624782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More</a:t>
            </a:r>
            <a:r>
              <a:rPr sz="1800" spc="9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Details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0131" y="5607367"/>
            <a:ext cx="5275579" cy="647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49</a:t>
            </a:r>
            <a:r>
              <a:rPr sz="1800" spc="1946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安装使用过程复杂的产品，做个安装使用视频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50</a:t>
            </a:r>
            <a:r>
              <a:rPr sz="1800" spc="1946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BP加入售后信息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48171" y="5607367"/>
            <a:ext cx="3310890" cy="647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60</a:t>
            </a:r>
            <a:r>
              <a:rPr sz="1800" spc="1887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Gift包装和Message勾选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10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61</a:t>
            </a:r>
            <a:r>
              <a:rPr sz="1800" spc="1887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More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000000"/>
                </a:solidFill>
                <a:latin typeface="等线" panose="02010600030101010101" charset="-122"/>
                <a:cs typeface="等线" panose="02010600030101010101" charset="-122"/>
              </a:rPr>
              <a:t>Details完善质保信息</a:t>
            </a:r>
            <a:endParaRPr sz="1800" dirty="0">
              <a:solidFill>
                <a:srgbClr val="00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09186" y="2173434"/>
            <a:ext cx="324053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spc="-1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安全Review玩法</a:t>
            </a:r>
            <a:endParaRPr sz="3200" spc="-1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3896" y="3325701"/>
            <a:ext cx="7045924" cy="566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第二节：安全获取Review方法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35440" y="2302526"/>
            <a:ext cx="7467600" cy="673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第五部分：打法体系之流量</a:t>
            </a:r>
            <a:endParaRPr sz="4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90848" y="3930801"/>
            <a:ext cx="495998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销量的突破：打法+数据+节奏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237641"/>
            <a:ext cx="33521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亚马逊站内流量端口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87903" y="1589751"/>
            <a:ext cx="91630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关键词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10559" y="1651515"/>
            <a:ext cx="96646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促销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05144" y="1633964"/>
            <a:ext cx="96646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搜索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69579" y="2770156"/>
            <a:ext cx="966469" cy="1930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品牌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340"/>
              </a:lnSpc>
              <a:spcBef>
                <a:spcPts val="827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属性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09497" y="2844960"/>
            <a:ext cx="992479" cy="1930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关联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6670" marR="0">
              <a:lnSpc>
                <a:spcPts val="3340"/>
              </a:lnSpc>
              <a:spcBef>
                <a:spcPts val="827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42967" y="3035951"/>
            <a:ext cx="1167765" cy="1785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站内</a:t>
            </a:r>
            <a:endParaRPr sz="4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流量</a:t>
            </a:r>
            <a:endParaRPr sz="4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端口</a:t>
            </a:r>
            <a:endParaRPr sz="4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1547" y="5408086"/>
            <a:ext cx="96646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爱好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75490" y="5425396"/>
            <a:ext cx="96646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类目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516958" y="1174592"/>
            <a:ext cx="6031865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第一节：递增量打法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62306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——LISTING关键词排名上首页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8433" y="2683323"/>
            <a:ext cx="2183764" cy="117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打法体系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5400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之流量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1931" y="2836591"/>
            <a:ext cx="607822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第二节：3+1加权打法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252476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——某关键词排名上首页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43590" y="4960530"/>
            <a:ext cx="44189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第三节：突破关联流量打法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376118"/>
            <a:ext cx="8700133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突破流量之自然搜索流量打法（方法一：体系）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49556" y="2848609"/>
            <a:ext cx="1524000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第一节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9527" y="3397249"/>
            <a:ext cx="7084059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递增量打法——关键词排名上首页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4096" y="4689417"/>
            <a:ext cx="9446897" cy="819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目的：激活标题的词根与ST属性词根组合海量关键词权重，</a:t>
            </a:r>
            <a:endParaRPr sz="2800" spc="15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2503170" marR="0">
              <a:lnSpc>
                <a:spcPts val="2795"/>
              </a:lnSpc>
              <a:spcBef>
                <a:spcPts val="565"/>
              </a:spcBef>
              <a:spcAft>
                <a:spcPts val="0"/>
              </a:spcAft>
            </a:pPr>
            <a:r>
              <a:rPr sz="28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拉动海量关键词排名上首页</a:t>
            </a:r>
            <a:endParaRPr sz="2800" spc="15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79026" y="609447"/>
            <a:ext cx="1271401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CTR是核心</a:t>
            </a:r>
            <a:endParaRPr sz="18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1258" y="1157943"/>
            <a:ext cx="10701656" cy="1087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44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递增量</a:t>
            </a:r>
            <a:r>
              <a:rPr sz="2400" spc="49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就是确保销量在某一段时间（每天或2-3天段）逐步递增，获取A9给以</a:t>
            </a:r>
            <a:endParaRPr sz="2400" spc="49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spc="6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LISTING权重赋值（提高），以提高与LISTING相关匹配的</a:t>
            </a:r>
            <a:r>
              <a:rPr sz="2400" spc="64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整体</a:t>
            </a:r>
            <a:r>
              <a:rPr sz="2400" spc="6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关键词排名的</a:t>
            </a:r>
            <a:endParaRPr sz="2400" spc="64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最终目的打法。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258" y="2620983"/>
            <a:ext cx="10701657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4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递增量包含</a:t>
            </a:r>
            <a:r>
              <a:rPr sz="2400" spc="44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流量热度</a:t>
            </a:r>
            <a:r>
              <a:rPr sz="2400" spc="4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递增和</a:t>
            </a:r>
            <a:r>
              <a:rPr sz="2400" spc="44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转化率</a:t>
            </a:r>
            <a:r>
              <a:rPr sz="2400" spc="4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递增，短期内在转化率变动不大情况下拉动</a:t>
            </a:r>
            <a:endParaRPr sz="2400" spc="44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流量递增是递增量最常用的打法；流量转化率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双标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同时递增是最快的打法。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61968" y="3718262"/>
            <a:ext cx="44196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递增量打法牢牢控制两个方向：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9779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（1）递增的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倍数</a:t>
            </a:r>
            <a:endParaRPr sz="24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39868" y="4449783"/>
            <a:ext cx="2464742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（2）递增的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把控</a:t>
            </a:r>
            <a:endParaRPr sz="24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1199" y="5248947"/>
            <a:ext cx="7094740" cy="106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2055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70C0"/>
                </a:solidFill>
                <a:latin typeface="等线" panose="02010600030101010101" charset="-122"/>
                <a:cs typeface="等线" panose="02010600030101010101" charset="-122"/>
              </a:rPr>
              <a:t>达到每天的销量，马上关闭广告</a:t>
            </a:r>
            <a:endParaRPr sz="1800" dirty="0">
              <a:solidFill>
                <a:srgbClr val="0070C0"/>
              </a:solidFill>
              <a:latin typeface="等线" panose="02010600030101010101" charset="-122"/>
              <a:cs typeface="等线" panose="02010600030101010101" charset="-122"/>
            </a:endParaRPr>
          </a:p>
          <a:p>
            <a:pPr marL="0" marR="0">
              <a:lnSpc>
                <a:spcPts val="1875"/>
              </a:lnSpc>
              <a:spcBef>
                <a:spcPts val="4315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等线" panose="02010600030101010101" charset="-122"/>
                <a:cs typeface="等线" panose="02010600030101010101" charset="-122"/>
              </a:rPr>
              <a:t>最理想比例：广告/自然=3/7</a:t>
            </a:r>
            <a:endParaRPr sz="1800" dirty="0">
              <a:solidFill>
                <a:srgbClr val="FF0000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64000" y="376118"/>
            <a:ext cx="422274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递增量打法的节奏把控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8222" y="1809198"/>
            <a:ext cx="178053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佛系打法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9826" y="1809198"/>
            <a:ext cx="178053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激活打法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99643" y="3359526"/>
            <a:ext cx="5029200" cy="1087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（1）确保每天20%-30%的递增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（递增周期内勿出现连续两天下滑）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（2）一轮回持续时长5-10天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5794" y="3496686"/>
            <a:ext cx="4777085" cy="1087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（1）不超过3天内允许短期涨落幅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度，20%幅度范围内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（2）一轮回持续时长10-14天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4889" y="5545653"/>
            <a:ext cx="9981902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3天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-权重过渡期；</a:t>
            </a:r>
            <a:r>
              <a:rPr sz="24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7天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-权重稳定期；</a:t>
            </a:r>
            <a:r>
              <a:rPr sz="24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30天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-权重判断期；</a:t>
            </a:r>
            <a:r>
              <a:rPr sz="24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90天</a:t>
            </a: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-产品账号期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54400" y="376118"/>
            <a:ext cx="5443854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递增量打法把控的“左右手”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35744" y="1927067"/>
            <a:ext cx="96646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左手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7348" y="1927067"/>
            <a:ext cx="96646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右手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7914" y="2414747"/>
            <a:ext cx="180279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H10数据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0948" y="2414747"/>
            <a:ext cx="178053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销量递增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0766" y="3861828"/>
            <a:ext cx="3916045" cy="1261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（1）大于3单的出单词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</a:t>
            </a: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预留已出单词广告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4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（3）自然订单预测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3548" y="3998988"/>
            <a:ext cx="4418913" cy="1261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spc="-5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（1）TOTAL销量</a:t>
            </a:r>
            <a:endParaRPr sz="2800" spc="-51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（2）ORGANIC增量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4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（3）</a:t>
            </a:r>
            <a:r>
              <a:rPr sz="2800" spc="-11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OR/TO占比，速度比</a:t>
            </a:r>
            <a:endParaRPr sz="2800" spc="-11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76800" y="729406"/>
            <a:ext cx="2594610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自然流量算法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7926" y="2878627"/>
            <a:ext cx="10364245" cy="949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自然流量=</a:t>
            </a:r>
            <a:endParaRPr sz="32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340"/>
              </a:lnSpc>
              <a:spcBef>
                <a:spcPts val="550"/>
              </a:spcBef>
              <a:spcAft>
                <a:spcPts val="0"/>
              </a:spcAft>
            </a:pPr>
            <a:r>
              <a:rPr sz="32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总流量（会话量）-广告有效点击量（广告点击量*40%）</a:t>
            </a:r>
            <a:endParaRPr sz="32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54745" y="6191001"/>
            <a:ext cx="6944362" cy="393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spc="1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7天秒杀打递增：第1天不开广告，逐渐递增</a:t>
            </a:r>
            <a:endParaRPr sz="2800" spc="15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54270" y="729406"/>
            <a:ext cx="2438593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7天秒杀打法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2453" y="1607256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方法一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6589" y="1600135"/>
            <a:ext cx="157162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7+3打法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4608" y="2694545"/>
            <a:ext cx="8300719" cy="1296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秒杀前：检查文案准确度与O/T比（低了修改文案）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925830" marR="0">
              <a:lnSpc>
                <a:spcPts val="2910"/>
              </a:lnSpc>
              <a:spcBef>
                <a:spcPts val="585"/>
              </a:spcBef>
              <a:spcAft>
                <a:spcPts val="0"/>
              </a:spcAft>
            </a:pPr>
            <a:r>
              <a:rPr sz="2800" spc="-15" dirty="0">
                <a:solidFill>
                  <a:srgbClr val="469ECA"/>
                </a:solidFill>
                <a:latin typeface="BAPNIG+MicrosoftYaHei-Bold" panose="02000500000000000000"/>
                <a:cs typeface="BAPNIG+MicrosoftYaHei-Bold" panose="02000500000000000000"/>
              </a:rPr>
              <a:t>DAY1：不打广告，以当天单量为起步量</a:t>
            </a:r>
            <a:endParaRPr sz="2800" spc="-15" dirty="0">
              <a:solidFill>
                <a:srgbClr val="469ECA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191385" marR="0">
              <a:lnSpc>
                <a:spcPts val="2910"/>
              </a:lnSpc>
              <a:spcBef>
                <a:spcPts val="585"/>
              </a:spcBef>
              <a:spcAft>
                <a:spcPts val="0"/>
              </a:spcAft>
            </a:pPr>
            <a:r>
              <a:rPr sz="2800" spc="-20" dirty="0">
                <a:solidFill>
                  <a:srgbClr val="92D050"/>
                </a:solidFill>
                <a:latin typeface="BAPNIG+MicrosoftYaHei-Bold" panose="02000500000000000000"/>
                <a:cs typeface="BAPNIG+MicrosoftYaHei-Bold" panose="02000500000000000000"/>
              </a:rPr>
              <a:t>DAY2-3：15-20%增量</a:t>
            </a:r>
            <a:endParaRPr sz="2800" spc="-20" dirty="0">
              <a:solidFill>
                <a:srgbClr val="92D05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9728" y="4028045"/>
            <a:ext cx="10211881" cy="174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3281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spc="-23" dirty="0">
                <a:solidFill>
                  <a:srgbClr val="0000FF"/>
                </a:solidFill>
                <a:latin typeface="BAPNIG+MicrosoftYaHei-Bold" panose="02000500000000000000"/>
                <a:cs typeface="BAPNIG+MicrosoftYaHei-Bold" panose="02000500000000000000"/>
              </a:rPr>
              <a:t>DAY4-7：15%增量</a:t>
            </a:r>
            <a:endParaRPr sz="2800" spc="-23" dirty="0">
              <a:solidFill>
                <a:srgbClr val="0000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707640" marR="0">
              <a:lnSpc>
                <a:spcPts val="2910"/>
              </a:lnSpc>
              <a:spcBef>
                <a:spcPts val="585"/>
              </a:spcBef>
              <a:spcAft>
                <a:spcPts val="0"/>
              </a:spcAft>
            </a:pPr>
            <a:r>
              <a:rPr sz="28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周末单量下滑，稳住小类排名</a:t>
            </a:r>
            <a:endParaRPr sz="28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585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DAY8-10：20-30%coupon，维持3天，单量稳在7天时的单量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767205" marR="0">
              <a:lnSpc>
                <a:spcPts val="2910"/>
              </a:lnSpc>
              <a:spcBef>
                <a:spcPts val="585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（中国0-3点，可以给30-50%coupon）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54270" y="729406"/>
            <a:ext cx="2438593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7天秒杀打法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2453" y="1607256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方法二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6589" y="1600135"/>
            <a:ext cx="157162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5+2打法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7368" y="2694545"/>
            <a:ext cx="4774565" cy="1296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秒杀前：周六周日开始打递增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428625" marR="0">
              <a:lnSpc>
                <a:spcPts val="2910"/>
              </a:lnSpc>
              <a:spcBef>
                <a:spcPts val="585"/>
              </a:spcBef>
              <a:spcAft>
                <a:spcPts val="0"/>
              </a:spcAft>
            </a:pPr>
            <a:r>
              <a:rPr sz="2800" spc="-20" dirty="0">
                <a:solidFill>
                  <a:srgbClr val="469ECA"/>
                </a:solidFill>
                <a:latin typeface="BAPNIG+MicrosoftYaHei-Bold" panose="02000500000000000000"/>
                <a:cs typeface="BAPNIG+MicrosoftYaHei-Bold" panose="02000500000000000000"/>
              </a:rPr>
              <a:t>DAY1-4：20-30%递增</a:t>
            </a:r>
            <a:endParaRPr sz="2800" spc="-20" dirty="0">
              <a:solidFill>
                <a:srgbClr val="469ECA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109980" marR="0">
              <a:lnSpc>
                <a:spcPts val="2910"/>
              </a:lnSpc>
              <a:spcBef>
                <a:spcPts val="585"/>
              </a:spcBef>
              <a:spcAft>
                <a:spcPts val="0"/>
              </a:spcAft>
            </a:pPr>
            <a:r>
              <a:rPr sz="2800" spc="-31" dirty="0">
                <a:solidFill>
                  <a:srgbClr val="92D050"/>
                </a:solidFill>
                <a:latin typeface="BAPNIG+MicrosoftYaHei-Bold" panose="02000500000000000000"/>
                <a:cs typeface="BAPNIG+MicrosoftYaHei-Bold" panose="02000500000000000000"/>
              </a:rPr>
              <a:t>DAY5-7：稳住</a:t>
            </a:r>
            <a:endParaRPr sz="2800" spc="-31" dirty="0">
              <a:solidFill>
                <a:srgbClr val="92D05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2073" y="4440160"/>
            <a:ext cx="2640964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广告增加方法：</a:t>
            </a:r>
            <a:endParaRPr sz="28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9898" y="4950946"/>
            <a:ext cx="3908763" cy="935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355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秒杀前+A组广告（排名低的词）</a:t>
            </a:r>
            <a:endParaRPr sz="20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490"/>
              </a:spcBef>
              <a:spcAft>
                <a:spcPts val="0"/>
              </a:spcAft>
            </a:pPr>
            <a:r>
              <a:rPr sz="20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秒杀中间A组广告可以视情况暂停</a:t>
            </a:r>
            <a:endParaRPr sz="20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秒杀后期继续打开A组</a:t>
            </a:r>
            <a:endParaRPr sz="20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2110" y="1745453"/>
            <a:ext cx="507682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3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QA</a:t>
            </a:r>
            <a:r>
              <a:rPr sz="2000" spc="2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1：没法确保把控销量的递增，怎么办？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2110" y="2075653"/>
            <a:ext cx="8266401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广告维度：增加广告预算，增加广告活动-关键词、增加出价-增加广告位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2110" y="2507453"/>
            <a:ext cx="406082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3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QA</a:t>
            </a:r>
            <a:r>
              <a:rPr sz="2000" spc="2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2：打递增量断货了，怎么办？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2110" y="2964653"/>
            <a:ext cx="7580827" cy="760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自然断货，不涨价、不降低广告，14天内能跟上货，基本权重不变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spc="-3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QA</a:t>
            </a:r>
            <a:r>
              <a:rPr sz="2000" spc="2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3：打递增量多久为一个阶段？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2110" y="3879053"/>
            <a:ext cx="380682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3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QA</a:t>
            </a:r>
            <a:r>
              <a:rPr sz="2000" spc="2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4：什么时候适合打递增量？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2110" y="4336253"/>
            <a:ext cx="5139788" cy="760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新品期；老产品盘活的时候；7天秒杀的时候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spc="-3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QA</a:t>
            </a:r>
            <a:r>
              <a:rPr sz="2000" spc="25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5：怎么判断打递增量的效果？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7200" y="376118"/>
            <a:ext cx="3815714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打递增量的效果判断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2976" y="1963647"/>
            <a:ext cx="4616450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H10</a:t>
            </a:r>
            <a:r>
              <a:rPr sz="2800" spc="133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800" spc="-37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TOTAL收录词是否增多</a:t>
            </a:r>
            <a:endParaRPr sz="2800" spc="-37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2976" y="2603728"/>
            <a:ext cx="5211444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H10</a:t>
            </a:r>
            <a:r>
              <a:rPr sz="2800" spc="133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ORGANIC收录词是否增多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976" y="3243808"/>
            <a:ext cx="7230110" cy="104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H10</a:t>
            </a:r>
            <a:r>
              <a:rPr sz="2800" spc="133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800" spc="-23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ORGANIC/TOTAL收录词比例是否提高</a:t>
            </a:r>
            <a:endParaRPr sz="2800" spc="-23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2175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核心流量词的自然排名是否提升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2976" y="4523968"/>
            <a:ext cx="5298440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自然订单/总订单量比例是否增多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376118"/>
            <a:ext cx="8700133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突破流量之自然搜索流量打法（方法二：部局）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70436" y="2822231"/>
            <a:ext cx="1524000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第二节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3076" y="3370871"/>
            <a:ext cx="7538719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3+1加权打法——关键词排名上首页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63351" y="4703707"/>
            <a:ext cx="35052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B050"/>
                </a:solidFill>
                <a:latin typeface="KUMBUU+MicrosoftYaHei" panose="02000500000000000000"/>
                <a:cs typeface="KUMBUU+MicrosoftYaHei" panose="02000500000000000000"/>
              </a:rPr>
              <a:t>针对有关键词排名的产品</a:t>
            </a:r>
            <a:endParaRPr sz="2400" dirty="0">
              <a:solidFill>
                <a:srgbClr val="00B05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2413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06581" y="688042"/>
            <a:ext cx="2592423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3+1加权打法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1902" y="1844776"/>
            <a:ext cx="861896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CTR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93566" y="1853653"/>
            <a:ext cx="184467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加购+加心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1641" y="1853653"/>
            <a:ext cx="8629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转化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55922" y="1853653"/>
            <a:ext cx="8629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好评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42753" y="3273386"/>
            <a:ext cx="1645920" cy="1373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加购/加心数量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的20%被A9赋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6096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能认为出单可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6096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能，提前给以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8956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出单加权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6792" y="3350631"/>
            <a:ext cx="1310442" cy="1217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1%比率是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6985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关键词收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6985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录最快的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9685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标准点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82294" y="3410546"/>
            <a:ext cx="1295400" cy="109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转化率在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7305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25%-35%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之间为权重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2860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提速点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16718" y="3410546"/>
            <a:ext cx="1295400" cy="109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好评率在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7305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25%-35%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之间为权重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2860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提速点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3672" y="3509013"/>
            <a:ext cx="916305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第一波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2700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提速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17019" y="3494268"/>
            <a:ext cx="916305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第二波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2700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提速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81668" y="3509013"/>
            <a:ext cx="916305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第三波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2700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提速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03221" y="5225901"/>
            <a:ext cx="1467475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流量10%为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7495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加购量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54306" y="5225901"/>
            <a:ext cx="1467475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加购量20%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4795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为转化量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96401" y="5225901"/>
            <a:ext cx="1467475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转化量20%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4795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为好评量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14328" y="6147337"/>
            <a:ext cx="322281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整个LISTING控质量与比重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376118"/>
            <a:ext cx="5443854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突破流量之自然搜索流量打法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6556" y="2461741"/>
            <a:ext cx="3810000" cy="1063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第四节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750"/>
              </a:lnSpc>
              <a:spcBef>
                <a:spcPts val="52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突破关联流量打法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39762" y="902664"/>
            <a:ext cx="11028045" cy="2114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关联流量包含两种流量渠道：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（1）同行listing页面下的关联流量；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4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（2）亚马逊</a:t>
            </a:r>
            <a:r>
              <a:rPr sz="2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推送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的关联流量，有加购时推送关联产品，降价促销或表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现好时亚马逊给买家发邮件推荐产品（达到BEST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SELLER或转化率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好）。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9762" y="3462984"/>
            <a:ext cx="33521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关联逻辑（推流）：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762" y="3889704"/>
            <a:ext cx="10922838" cy="211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</a:t>
            </a:r>
            <a:r>
              <a:rPr sz="2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固静态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关联：投放类目&gt;节点&gt;产品属性相关&gt;词根属性；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</a:t>
            </a:r>
            <a:r>
              <a:rPr sz="2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弱动态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关联：大量不同买家点击，加购/加心频率高的同行产品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4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之间就存在弱关联；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（3）</a:t>
            </a:r>
            <a:r>
              <a:rPr sz="2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强动态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关联（捆绑销售关联）：同一个买家同时或不同时买了A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又买了B产品，多这样的买家次数后就会自然产生关联。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35440" y="2302526"/>
            <a:ext cx="7467600" cy="673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第六部分：广告体系之节奏</a:t>
            </a:r>
            <a:endParaRPr sz="4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81503" y="3930801"/>
            <a:ext cx="717867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分两部分：广告阶段节奏打法+广告优化复盘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222647"/>
            <a:ext cx="9319256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亚马逊运营的方向：打广告的目的是不打广告</a:t>
            </a:r>
            <a:r>
              <a:rPr sz="20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（广告仅是运营的一个阶段性手段）</a:t>
            </a:r>
            <a:endParaRPr sz="20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39" y="852444"/>
            <a:ext cx="2306955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404040"/>
                </a:solidFill>
                <a:latin typeface="BAPNIG+MicrosoftYaHei-Bold" panose="02000500000000000000"/>
                <a:cs typeface="BAPNIG+MicrosoftYaHei-Bold" panose="02000500000000000000"/>
              </a:rPr>
              <a:t>词汇量</a:t>
            </a:r>
            <a:r>
              <a:rPr sz="2400" spc="114" dirty="0">
                <a:solidFill>
                  <a:srgbClr val="40404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/</a:t>
            </a:r>
            <a:r>
              <a:rPr sz="2400" spc="115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订单量</a:t>
            </a:r>
            <a:endParaRPr sz="24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87678" y="880604"/>
            <a:ext cx="33528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大量精准买家行为关键词上位，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57150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自然单比重越来越大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88676" y="948003"/>
            <a:ext cx="24384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广告和已排位关键词干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8128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涉A9买家行为强关系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1044" y="1549069"/>
            <a:ext cx="2047502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广告干涉A9对关键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26797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词SEO的收录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67167" y="1565917"/>
            <a:ext cx="2996565" cy="736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广告预算减少取决于关键词自然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0160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排名上位的数量及自然订单量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82423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listing稳定期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19904" y="1633330"/>
            <a:ext cx="1777365" cy="73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关键词收录加强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自然排名轨迹巩固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0160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关键词稳定阶段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8585" y="2318279"/>
            <a:ext cx="1777364" cy="736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关键词收录及自然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40640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排名上位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0160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关键词最快阶段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26040" y="2731066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自然线</a:t>
            </a:r>
            <a:endParaRPr sz="24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12283" y="5403544"/>
            <a:ext cx="4038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广告目的就是关键词收录到排名上位的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26783" y="5677864"/>
            <a:ext cx="609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推手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49484" y="5743887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70C0"/>
                </a:solidFill>
                <a:latin typeface="BAPNIG+MicrosoftYaHei-Bold" panose="02000500000000000000"/>
                <a:cs typeface="BAPNIG+MicrosoftYaHei-Bold" panose="02000500000000000000"/>
              </a:rPr>
              <a:t>广告线</a:t>
            </a:r>
            <a:endParaRPr sz="2400" dirty="0">
              <a:solidFill>
                <a:srgbClr val="0070C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460494" y="6341765"/>
            <a:ext cx="1371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404040"/>
                </a:solidFill>
                <a:latin typeface="BAPNIG+MicrosoftYaHei-Bold" panose="02000500000000000000"/>
                <a:cs typeface="BAPNIG+MicrosoftYaHei-Bold" panose="02000500000000000000"/>
              </a:rPr>
              <a:t>上线时间</a:t>
            </a:r>
            <a:endParaRPr sz="2400" dirty="0">
              <a:solidFill>
                <a:srgbClr val="40404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46717" y="6443332"/>
            <a:ext cx="891554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第14天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32561" y="6455054"/>
            <a:ext cx="891554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第90天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39" y="376118"/>
            <a:ext cx="5443854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突破流量之自然搜索流量打法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1418" y="2615869"/>
            <a:ext cx="5910567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第一节</a:t>
            </a:r>
            <a:r>
              <a:rPr sz="3600" spc="124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广告体系之节奏打法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9205" y="3930801"/>
            <a:ext cx="79749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广告建立于文案基础上、按不同阶段投放不同类型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87387" y="730002"/>
            <a:ext cx="917575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关键词</a:t>
            </a:r>
            <a:endParaRPr sz="20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1043" y="724148"/>
            <a:ext cx="662305" cy="292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FFFF"/>
                </a:solidFill>
                <a:latin typeface="黑体" panose="02010609060101010101" charset="-122"/>
                <a:cs typeface="黑体" panose="02010609060101010101" charset="-122"/>
              </a:rPr>
              <a:t>文案</a:t>
            </a:r>
            <a:endParaRPr sz="2000" spc="10" dirty="0">
              <a:solidFill>
                <a:srgbClr val="FFFF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74505" y="1152977"/>
            <a:ext cx="1161855" cy="23892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点击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97485" marR="0">
              <a:lnSpc>
                <a:spcPts val="3340"/>
              </a:lnSpc>
              <a:spcBef>
                <a:spcPts val="11885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CTR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9044" y="1812137"/>
            <a:ext cx="137541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两大基石</a:t>
            </a:r>
            <a:endParaRPr sz="24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9620" y="2860428"/>
            <a:ext cx="966469" cy="901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340"/>
              </a:lnSpc>
              <a:spcBef>
                <a:spcPts val="165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体系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8238" y="2860428"/>
            <a:ext cx="966469" cy="901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340"/>
              </a:lnSpc>
              <a:spcBef>
                <a:spcPts val="165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效果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32290" y="4720868"/>
            <a:ext cx="8629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0047" y="4984673"/>
            <a:ext cx="5966460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任何新创建广告先给足出价或广告位，先把</a:t>
            </a:r>
            <a:endParaRPr sz="24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459105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广告效果打出来后再及时调整或降低</a:t>
            </a:r>
            <a:endParaRPr sz="2400" spc="1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54490" y="5308879"/>
            <a:ext cx="12185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转化率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53809" y="518997"/>
            <a:ext cx="1066800" cy="1063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影响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750"/>
              </a:lnSpc>
              <a:spcBef>
                <a:spcPts val="52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9340" y="502259"/>
            <a:ext cx="5512429" cy="653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排名=出价*权重*广告效果</a:t>
            </a:r>
            <a:endParaRPr sz="2400" spc="1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005"/>
              </a:lnSpc>
              <a:spcBef>
                <a:spcPts val="445"/>
              </a:spcBef>
              <a:spcAft>
                <a:spcPts val="0"/>
              </a:spcAft>
            </a:pPr>
            <a:r>
              <a:rPr sz="2000" spc="10" dirty="0">
                <a:solidFill>
                  <a:srgbClr val="FFFF00"/>
                </a:solidFill>
                <a:latin typeface="黑体" panose="02010609060101010101" charset="-122"/>
                <a:cs typeface="黑体" panose="02010609060101010101" charset="-122"/>
              </a:rPr>
              <a:t>广告刚开始，给足够出价，确保拿到排名和曝光</a:t>
            </a:r>
            <a:endParaRPr sz="2000" spc="10" dirty="0">
              <a:solidFill>
                <a:srgbClr val="FFFF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43555" y="758049"/>
            <a:ext cx="8629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出价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08474" y="758049"/>
            <a:ext cx="8629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排名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209" y="1629675"/>
            <a:ext cx="1271269" cy="1171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90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效果</a:t>
            </a:r>
            <a:endParaRPr sz="4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01600" marR="0">
              <a:lnSpc>
                <a:spcPts val="3750"/>
              </a:lnSpc>
              <a:spcBef>
                <a:spcPts val="535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因素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99572" y="2862960"/>
            <a:ext cx="8629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1752" y="3126036"/>
            <a:ext cx="6755824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预算</a:t>
            </a:r>
            <a:r>
              <a:rPr sz="3200" spc="7887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曝光</a:t>
            </a:r>
            <a:r>
              <a:rPr sz="3200" spc="8055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点击</a:t>
            </a:r>
            <a:r>
              <a:rPr sz="3200" spc="806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CTR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21772" y="3450970"/>
            <a:ext cx="12185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转化率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4598" y="5774156"/>
            <a:ext cx="862964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主图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32696" y="5774156"/>
            <a:ext cx="8629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价格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58398" y="5774156"/>
            <a:ext cx="1328221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review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24154" y="5774156"/>
            <a:ext cx="15741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标题可读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43744" y="5774587"/>
            <a:ext cx="15741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位置优势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10643" y="6403310"/>
            <a:ext cx="6450964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位置要有优势，确保前后位的竞品与自身产品相差不大（评论、星级）</a:t>
            </a:r>
            <a:endParaRPr sz="16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70400" y="376118"/>
            <a:ext cx="340867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广告体系第一部分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4085" y="1299641"/>
            <a:ext cx="625792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“快马加鞭“新品前14天的运营与打法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4085" y="2368930"/>
            <a:ext cx="6121882" cy="1457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“险中求稳”15天-45天的运营与打法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540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“小步快跑”46-90天的运营与打法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0643" y="2638364"/>
            <a:ext cx="1167764" cy="117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节奏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体系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4085" y="4491100"/>
            <a:ext cx="5694044" cy="1418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“平稳续爆”3个月后的运营与打法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50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“BSR”头部卖家产品运营与打法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97317" y="2736061"/>
            <a:ext cx="9674859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第一节</a:t>
            </a:r>
            <a:r>
              <a:rPr sz="3600" spc="124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“快马加鞭”新品前14天的运营与打法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426316" y="209121"/>
            <a:ext cx="818703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第1天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08901" y="369718"/>
            <a:ext cx="4825365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自动广告不可控，优先用手动广告推关键词自然排名</a:t>
            </a:r>
            <a:endParaRPr sz="16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39" y="687031"/>
            <a:ext cx="12077104" cy="1704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广告活动A：手动广告</a:t>
            </a:r>
            <a:endParaRPr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100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广告A目的：</a:t>
            </a:r>
            <a:r>
              <a:rPr sz="1600" spc="321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1）有收录的词推排名</a:t>
            </a:r>
            <a:r>
              <a:rPr sz="1600" spc="214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2）有排名的词推上首页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广告A操作模型：肯定词库爬查收录排名的关键词：精准匹配+固定竞价+推荐价+搜索结果顶部广告位50%；每20个词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76657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一个广告活动，按搜索量排序分组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广告A优化事项：优化方向：重点在点击量、点击率、转化率三个维度，广告前期重在点击率递增及点击率控制好且在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76657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1%左右、排名明显上升后重在点击率与转化率（上升及稳定）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39" y="2558744"/>
            <a:ext cx="2366069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广告活动B：手动广告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39" y="2898558"/>
            <a:ext cx="1438910" cy="240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广告B目的：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53564" y="2898558"/>
            <a:ext cx="3960494" cy="240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1）跑词</a:t>
            </a:r>
            <a:r>
              <a:rPr sz="1600" spc="214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2）无收录的关键词打收录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39" y="3138588"/>
            <a:ext cx="11970394" cy="1034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广告B操作模型：肯定词矩阵组合的关键词（组合</a:t>
            </a:r>
            <a:r>
              <a:rPr lang="zh-CN"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方式分集中型和分散型，集中型从外环开始组合，分散型从内环开始组合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）：广泛匹配+升降动态竞价+出价为推荐价，预算5美</a:t>
            </a:r>
            <a:r>
              <a:rPr lang="zh-CN"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金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起，每20-50个词一个广告活动；打递增量（点击量和出单的递增量）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广告B优化事项：优化方向：重点在点击量递增这个维度，针对曝光少的词加大广告位（连续三天无曝光或少曝光的词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76657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重新拧出来创建新广告B来打），同时盯住出单好的广告活动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39" y="4414443"/>
            <a:ext cx="2504702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广告活动C1：手动广告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39" y="4754244"/>
            <a:ext cx="1582420" cy="240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广告C1目的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：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97075" y="4754244"/>
            <a:ext cx="6703694" cy="240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1）验证布局标题的词根组合的大词收录权重</a:t>
            </a:r>
            <a:r>
              <a:rPr sz="1600" spc="214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2）验证文案功底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39" y="5028564"/>
            <a:ext cx="11935122" cy="240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广告C1操作模型：低价打大词，肯定词矩阵第一环词根组合的关键词：精准匹配+固定竞价+推荐价的50%（一半）+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39" y="5302884"/>
            <a:ext cx="12007850" cy="788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246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广告位0%，预算$10，仅开一个广告活动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广告C1优化事项：此广告无必过于重心优化，投放1-2周无广告效果可以暂停，小部分词有效果暂停其他无效果的词继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90246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续保留投放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457355" y="1718361"/>
            <a:ext cx="1841499" cy="1858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EE0000"/>
                </a:solidFill>
                <a:latin typeface="黑体" panose="02010609060101010101" charset="-122"/>
                <a:cs typeface="黑体" panose="02010609060101010101" charset="-122"/>
              </a:rPr>
              <a:t>Data</a:t>
            </a:r>
            <a:r>
              <a:rPr sz="2400" spc="10" dirty="0">
                <a:solidFill>
                  <a:srgbClr val="EE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spc="10" dirty="0">
                <a:solidFill>
                  <a:srgbClr val="EE0000"/>
                </a:solidFill>
                <a:latin typeface="黑体" panose="02010609060101010101" charset="-122"/>
                <a:cs typeface="黑体" panose="02010609060101010101" charset="-122"/>
              </a:rPr>
              <a:t>Sellar</a:t>
            </a:r>
            <a:endParaRPr sz="2400" spc="10" dirty="0">
              <a:solidFill>
                <a:srgbClr val="EE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47955" marR="0">
              <a:lnSpc>
                <a:spcPts val="2400"/>
              </a:lnSpc>
              <a:spcBef>
                <a:spcPts val="9530"/>
              </a:spcBef>
              <a:spcAft>
                <a:spcPts val="0"/>
              </a:spcAft>
            </a:pPr>
            <a:r>
              <a:rPr sz="2400" spc="10" dirty="0">
                <a:solidFill>
                  <a:srgbClr val="EE0000"/>
                </a:solidFill>
                <a:latin typeface="黑体" panose="02010609060101010101" charset="-122"/>
                <a:cs typeface="黑体" panose="02010609060101010101" charset="-122"/>
              </a:rPr>
              <a:t>Word</a:t>
            </a:r>
            <a:r>
              <a:rPr sz="2400" spc="10" dirty="0">
                <a:solidFill>
                  <a:srgbClr val="EE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spc="10" dirty="0">
                <a:solidFill>
                  <a:srgbClr val="EE0000"/>
                </a:solidFill>
                <a:latin typeface="黑体" panose="02010609060101010101" charset="-122"/>
                <a:cs typeface="黑体" panose="02010609060101010101" charset="-122"/>
              </a:rPr>
              <a:t>Tree</a:t>
            </a:r>
            <a:endParaRPr sz="2400" spc="10" dirty="0">
              <a:solidFill>
                <a:srgbClr val="EE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0469" y="2874231"/>
            <a:ext cx="2294889" cy="819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95"/>
              </a:lnSpc>
              <a:spcBef>
                <a:spcPts val="0"/>
              </a:spcBef>
              <a:spcAft>
                <a:spcPts val="0"/>
              </a:spcAft>
            </a:pPr>
            <a:r>
              <a:rPr sz="2800" spc="15" dirty="0">
                <a:solidFill>
                  <a:srgbClr val="EE0000"/>
                </a:solidFill>
                <a:latin typeface="黑体" panose="02010609060101010101" charset="-122"/>
                <a:cs typeface="黑体" panose="02010609060101010101" charset="-122"/>
              </a:rPr>
              <a:t>查关键词收录</a:t>
            </a:r>
            <a:endParaRPr sz="2800" spc="15" dirty="0">
              <a:solidFill>
                <a:srgbClr val="EE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535940" marR="0">
              <a:lnSpc>
                <a:spcPts val="2795"/>
              </a:lnSpc>
              <a:spcBef>
                <a:spcPts val="565"/>
              </a:spcBef>
              <a:spcAft>
                <a:spcPts val="0"/>
              </a:spcAft>
            </a:pPr>
            <a:r>
              <a:rPr sz="2800" spc="15" dirty="0">
                <a:solidFill>
                  <a:srgbClr val="EE0000"/>
                </a:solidFill>
                <a:latin typeface="黑体" panose="02010609060101010101" charset="-122"/>
                <a:cs typeface="黑体" panose="02010609060101010101" charset="-122"/>
              </a:rPr>
              <a:t>的插件</a:t>
            </a:r>
            <a:endParaRPr sz="2800" spc="15" dirty="0">
              <a:solidFill>
                <a:srgbClr val="EE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84926" y="4390669"/>
            <a:ext cx="1380489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EE0000"/>
                </a:solidFill>
                <a:latin typeface="黑体" panose="02010609060101010101" charset="-122"/>
                <a:cs typeface="黑体" panose="02010609060101010101" charset="-122"/>
              </a:rPr>
              <a:t>AMZ</a:t>
            </a:r>
            <a:r>
              <a:rPr sz="2400" spc="10" dirty="0">
                <a:solidFill>
                  <a:srgbClr val="EE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2400" spc="10" dirty="0">
                <a:solidFill>
                  <a:srgbClr val="EE0000"/>
                </a:solidFill>
                <a:latin typeface="黑体" panose="02010609060101010101" charset="-122"/>
                <a:cs typeface="黑体" panose="02010609060101010101" charset="-122"/>
              </a:rPr>
              <a:t>DATA</a:t>
            </a:r>
            <a:endParaRPr sz="2400" spc="10" dirty="0">
              <a:solidFill>
                <a:srgbClr val="EE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153670" marR="0">
              <a:lnSpc>
                <a:spcPts val="2400"/>
              </a:lnSpc>
              <a:spcBef>
                <a:spcPts val="480"/>
              </a:spcBef>
              <a:spcAft>
                <a:spcPts val="0"/>
              </a:spcAft>
            </a:pPr>
            <a:r>
              <a:rPr sz="2400" spc="10" dirty="0">
                <a:solidFill>
                  <a:srgbClr val="EE0000"/>
                </a:solidFill>
                <a:latin typeface="黑体" panose="02010609060101010101" charset="-122"/>
                <a:cs typeface="黑体" panose="02010609060101010101" charset="-122"/>
              </a:rPr>
              <a:t>STUDIO</a:t>
            </a:r>
            <a:endParaRPr sz="2400" spc="10" dirty="0">
              <a:solidFill>
                <a:srgbClr val="EE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91333" y="982678"/>
            <a:ext cx="1461756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DataSeller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4541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质量系数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0134" y="1214517"/>
            <a:ext cx="1425575" cy="913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有排名有收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2700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录的词打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175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广告活动A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5526" y="1362070"/>
            <a:ext cx="1719708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DataSeller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159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查收录排名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4267" y="1847244"/>
            <a:ext cx="1461756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DataSeller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4541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质量系数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5453" y="1887829"/>
            <a:ext cx="507365" cy="1261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肯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定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45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词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1898" y="2473895"/>
            <a:ext cx="507365" cy="2114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关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键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4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词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词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库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10648" y="3291331"/>
            <a:ext cx="15240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生成矩阵打广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64795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告活动B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7272" y="3315969"/>
            <a:ext cx="1537057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Helium</a:t>
            </a:r>
            <a:r>
              <a:rPr sz="1800" spc="81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10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CPR</a:t>
            </a:r>
            <a:r>
              <a:rPr sz="1800" spc="83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spc="-34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8-DAYS</a:t>
            </a:r>
            <a:endParaRPr sz="1800" spc="-34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52335" y="3430180"/>
            <a:ext cx="1310055" cy="2216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肯定词矩阵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4605" marR="0">
              <a:lnSpc>
                <a:spcPts val="1875"/>
              </a:lnSpc>
              <a:spcBef>
                <a:spcPts val="1340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否定词矩阵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8387" y="4808334"/>
            <a:ext cx="507365" cy="1261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否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定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45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词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13569" y="5109628"/>
            <a:ext cx="1524000" cy="824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广告否定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词组精确否定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词根词组否定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23807" y="5396585"/>
            <a:ext cx="1066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不相关词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25900" y="324060"/>
            <a:ext cx="4299466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手动广告A-推已收录词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5468" y="2657851"/>
            <a:ext cx="1676400" cy="218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可以分组，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选择精准匹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6195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配+固定竞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价，出价为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推荐价，预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73025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算$20-40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5900" y="324060"/>
            <a:ext cx="4299466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手动广告A-</a:t>
            </a:r>
            <a:r>
              <a:rPr lang="zh-CN"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选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词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pic>
        <p:nvPicPr>
          <p:cNvPr id="5" name="ECB019B1-382A-4266-B25C-5B523AA43C14-1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" y="1196340"/>
            <a:ext cx="11617960" cy="38150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188595"/>
            <a:ext cx="12216765" cy="57594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511675" y="215900"/>
            <a:ext cx="2623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</a:rPr>
              <a:t>手动广告</a:t>
            </a:r>
            <a:r>
              <a:rPr lang="en-US" altLang="zh-CN" sz="2800" b="1">
                <a:solidFill>
                  <a:schemeClr val="bg1"/>
                </a:solidFill>
              </a:rPr>
              <a:t>A </a:t>
            </a:r>
            <a:r>
              <a:rPr lang="zh-CN" altLang="en-US" sz="2800" b="1">
                <a:solidFill>
                  <a:schemeClr val="bg1"/>
                </a:solidFill>
              </a:rPr>
              <a:t>选词</a:t>
            </a:r>
            <a:endParaRPr lang="zh-CN" altLang="en-US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70336" y="368447"/>
            <a:ext cx="340867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手动广告匹配分组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33046" y="1978197"/>
            <a:ext cx="5638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拼写变体，顺序颠倒，拼写错误和同义词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8869" y="2113787"/>
            <a:ext cx="1574165" cy="3066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广泛匹配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745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词组匹配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760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精准匹配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6646" y="2343958"/>
            <a:ext cx="1371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视为匹配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80646" y="3272925"/>
            <a:ext cx="59436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顺序一致的关键词词（即一个或多个单词）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45923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单数/复数被认为匹配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33046" y="4637794"/>
            <a:ext cx="56388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关键字完全一样词视为匹配，中间插入借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6764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介词和符合例外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25900" y="324060"/>
            <a:ext cx="4299466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手动广告A-</a:t>
            </a:r>
            <a:r>
              <a:rPr lang="zh-CN"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选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词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188595"/>
            <a:ext cx="12216765" cy="57594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511675" y="215900"/>
            <a:ext cx="26079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</a:rPr>
              <a:t>手动广告</a:t>
            </a:r>
            <a:r>
              <a:rPr lang="en-US" altLang="zh-CN" sz="2800" b="1">
                <a:solidFill>
                  <a:schemeClr val="bg1"/>
                </a:solidFill>
              </a:rPr>
              <a:t>B </a:t>
            </a:r>
            <a:r>
              <a:rPr lang="zh-CN" altLang="en-US" sz="2800" b="1">
                <a:solidFill>
                  <a:schemeClr val="bg1"/>
                </a:solidFill>
              </a:rPr>
              <a:t>选词</a:t>
            </a:r>
            <a:endParaRPr lang="zh-CN" altLang="en-US" sz="2800" b="1">
              <a:solidFill>
                <a:schemeClr val="bg1"/>
              </a:solidFill>
            </a:endParaRPr>
          </a:p>
        </p:txBody>
      </p:sp>
      <p:pic>
        <p:nvPicPr>
          <p:cNvPr id="2" name="ECB019B1-382A-4266-B25C-5B523AA43C14-2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00" y="1196975"/>
            <a:ext cx="11455400" cy="4689475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89286" y="368447"/>
            <a:ext cx="4973220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广告活动B——递增量打法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8863" y="2110802"/>
            <a:ext cx="743656" cy="1481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第1组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2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第2组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7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第3组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53526" y="2538560"/>
            <a:ext cx="3200400" cy="1818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第二-四环开始打，20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3937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个词一组，广泛匹配+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3937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升降动态竞价+出价为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推荐价，起步预算每组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36576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$3-5，1.5倍递增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2792" y="3133368"/>
            <a:ext cx="1929764" cy="83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340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递增量打法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14001" y="3346995"/>
            <a:ext cx="2285364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手动广告活动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32828" y="3918991"/>
            <a:ext cx="795655" cy="879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035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第4组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2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第N组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1657" y="4864391"/>
            <a:ext cx="2807977" cy="109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三个维度控制递增：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1、预算的递增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2、出价（广告位）的递增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3、关键词增加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99335" y="324060"/>
            <a:ext cx="7757275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手动广告竞价策略（广告活动B，递增量）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43885" y="332740"/>
            <a:ext cx="683387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手动广告C</a:t>
            </a:r>
            <a:r>
              <a:rPr lang="en-US"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-低价打第一环大词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60786" y="2200206"/>
            <a:ext cx="1726565" cy="326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5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精准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匹配+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54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固定竞价，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54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以推荐价格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50%出价，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4826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预算$10，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54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效果明显增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54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加预算，超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8382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过2周无效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7780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果暂停。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283200" y="597034"/>
            <a:ext cx="178053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广告活动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5544" y="1199133"/>
            <a:ext cx="42672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只打广告活动，不具体分广告活动内的组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51766" y="1966154"/>
            <a:ext cx="5814298" cy="913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有收录排名的关键词，精准匹配+固定竞价+广告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位；推荐价出价，广告位51%；每20个词一个广告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50749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活动，每组预算$20-40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762" y="2197569"/>
            <a:ext cx="1841717" cy="30660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手动广告A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2065" marR="0">
              <a:lnSpc>
                <a:spcPts val="2910"/>
              </a:lnSpc>
              <a:spcBef>
                <a:spcPts val="767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手动广告B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3970" marR="0">
              <a:lnSpc>
                <a:spcPts val="2910"/>
              </a:lnSpc>
              <a:spcBef>
                <a:spcPts val="743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广告活动C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16464" y="2223041"/>
            <a:ext cx="1676400" cy="3013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推已收录词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796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广告递增量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791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低价打大词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7651" y="3412645"/>
            <a:ext cx="5622824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按组合关键词来分组，广泛匹配+升降动态竞价+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05283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出价为推荐价，预算每组$3-5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15266" y="4707360"/>
            <a:ext cx="5688596" cy="575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第一环的词根组合关键词，</a:t>
            </a:r>
            <a:r>
              <a:rPr lang="zh-CN"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精准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匹配+固定竞价，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13220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出价为推荐价50%，预算$10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48978" y="5502426"/>
            <a:ext cx="3944056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效果明显增加预算，超过2周无效暂停</a:t>
            </a:r>
            <a:endParaRPr sz="18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426316" y="578374"/>
            <a:ext cx="818703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第2天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" y="1522095"/>
            <a:ext cx="8836660" cy="854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广告活动C2：手动广告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91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广告C2目的：</a:t>
            </a:r>
            <a:r>
              <a:rPr sz="1800" spc="3211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1）强化大词的收录</a:t>
            </a:r>
            <a:r>
              <a:rPr sz="1800" spc="214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2）提升大词的</a:t>
            </a:r>
            <a:r>
              <a:rPr lang="zh-CN"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自然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排名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39" y="2678683"/>
            <a:ext cx="12149454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广告C2操作模型：广告选词：用大词在“肯定词库”搜索含有大词相关的关键词，精准匹配+固定竞价+推荐价+搜索结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834515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果顶部广告位50%，20个词一个活动（按搜索量排序），建议预算20-40$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39" y="3501643"/>
            <a:ext cx="12098019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广告C2优化事项：不投放大词，优化方向：重点在点击量、点击率、转化率三个维度，大词有收录后重在点击量、排名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834515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明显上升后重在点击率与转化率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426316" y="578374"/>
            <a:ext cx="818703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第3天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39" y="1522272"/>
            <a:ext cx="8807450" cy="884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广告活动D1：自动广告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91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广告D1目的：</a:t>
            </a:r>
            <a:r>
              <a:rPr sz="1800" spc="321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1）跑词</a:t>
            </a:r>
            <a:r>
              <a:rPr sz="1800" spc="214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2）加强相关词收录</a:t>
            </a:r>
            <a:r>
              <a:rPr sz="1800" spc="1606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3）快速拉出不相关词做流量排除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39" y="2678683"/>
            <a:ext cx="12159034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广告D1操作模型：按竞价范围（最高价-最低价）分三段不同竞价做三个独立广告活动，升降动态竞价+出价为推荐价，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90246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建议预算20-40$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39" y="3501643"/>
            <a:ext cx="11970171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广告D1优化事项：不压挤手动广告活动ABC等搜索页排名，D1投放时否定“否定词矩阵词”外再否定手动广告活动投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90246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放词：投放广告词做精准否定、矩阵词根做词组否定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96246" y="368447"/>
            <a:ext cx="5358989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自动广告D</a:t>
            </a:r>
            <a:r>
              <a:rPr lang="en-US"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（测试淘汰打法）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4027" y="1401596"/>
            <a:ext cx="1841717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自动广告A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62401" y="1825912"/>
            <a:ext cx="1676400" cy="2550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865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同时跑3天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后，留下效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果最好的广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告活动其中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一个，和留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一个最低出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524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价捡漏词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89751" y="2008792"/>
            <a:ext cx="1676400" cy="218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建议竞价从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最低到最高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62865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分3段点来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作为出价，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等同预算和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3048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否定词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1044" y="2468815"/>
            <a:ext cx="1981200" cy="1063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广告分组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457200" marR="0">
              <a:lnSpc>
                <a:spcPts val="3750"/>
              </a:lnSpc>
              <a:spcBef>
                <a:spcPts val="52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测试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84535" y="2797695"/>
            <a:ext cx="1817451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自动广告B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26856" y="2977963"/>
            <a:ext cx="1073338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跑3天后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6440" y="4382223"/>
            <a:ext cx="1813812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自动广告C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5309" y="5193089"/>
            <a:ext cx="6212839" cy="12245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1.预算可以花完、转化率好——广告效果好；</a:t>
            </a:r>
            <a:endParaRPr sz="16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2.慎选动态竞价—提高和降低；</a:t>
            </a:r>
            <a:endParaRPr sz="16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3.只选择紧密匹配；</a:t>
            </a:r>
            <a:endParaRPr sz="16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4.自动广告为分流体制，低中高出价进行；跑三天留下效果最好的；</a:t>
            </a:r>
            <a:endParaRPr sz="16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5.否定掉手动广告活动的投放词，避免影响手动广告。</a:t>
            </a:r>
            <a:endParaRPr sz="16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55116" y="6299504"/>
            <a:ext cx="65532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自动广告只打紧密匹配；动态竞价与搜索结果顶部只能二选一。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55116" y="6299504"/>
            <a:ext cx="65532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自动广告只打紧密匹配；动态竞价与搜索结果顶部只能二选一。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266" y="980820"/>
            <a:ext cx="6797992" cy="430530"/>
          </a:xfrm>
        </p:spPr>
        <p:txBody>
          <a:bodyPr wrap="square"/>
          <a:p>
            <a:r>
              <a:rPr lang="zh-CN" altLang="en-US" sz="2800"/>
              <a:t>广告活动</a:t>
            </a:r>
            <a:r>
              <a:rPr lang="en-US" altLang="zh-CN" sz="2800"/>
              <a:t>D4 </a:t>
            </a:r>
            <a:r>
              <a:rPr lang="zh-CN" altLang="en-US" sz="2800"/>
              <a:t>自动广告</a:t>
            </a:r>
            <a:endParaRPr lang="zh-CN" altLang="en-US" sz="2800"/>
          </a:p>
        </p:txBody>
      </p:sp>
      <p:sp>
        <p:nvSpPr>
          <p:cNvPr id="4" name="矩形 3"/>
          <p:cNvSpPr/>
          <p:nvPr/>
        </p:nvSpPr>
        <p:spPr>
          <a:xfrm>
            <a:off x="479425" y="188595"/>
            <a:ext cx="11179810" cy="4318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899535" y="188595"/>
            <a:ext cx="36010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第</a:t>
            </a:r>
            <a:r>
              <a:rPr lang="en-US" altLang="zh-CN" sz="2400" b="1">
                <a:solidFill>
                  <a:schemeClr val="bg1"/>
                </a:solidFill>
              </a:rPr>
              <a:t>8</a:t>
            </a:r>
            <a:r>
              <a:rPr lang="zh-CN" altLang="en-US" sz="2400" b="1">
                <a:solidFill>
                  <a:schemeClr val="bg1"/>
                </a:solidFill>
              </a:rPr>
              <a:t>天</a:t>
            </a:r>
            <a:r>
              <a:rPr lang="en-US" altLang="zh-CN" sz="2400" b="1">
                <a:solidFill>
                  <a:schemeClr val="bg1"/>
                </a:solidFill>
              </a:rPr>
              <a:t>-</a:t>
            </a:r>
            <a:r>
              <a:rPr lang="zh-CN" altLang="en-US" sz="2400" b="1">
                <a:solidFill>
                  <a:schemeClr val="bg1"/>
                </a:solidFill>
              </a:rPr>
              <a:t>第六个广告活动</a:t>
            </a:r>
            <a:r>
              <a:rPr lang="en-US" altLang="zh-CN" sz="2400" b="1">
                <a:solidFill>
                  <a:schemeClr val="bg1"/>
                </a:solidFill>
              </a:rPr>
              <a:t> D4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9425" y="1557020"/>
            <a:ext cx="11694795" cy="47999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广告</a:t>
            </a:r>
            <a:r>
              <a:rPr lang="en-US" altLang="zh-CN"/>
              <a:t>D1</a:t>
            </a:r>
            <a:r>
              <a:rPr lang="zh-CN" altLang="en-US"/>
              <a:t>目的：</a:t>
            </a:r>
            <a:r>
              <a:rPr lang="en-US" altLang="zh-CN"/>
              <a:t>1</a:t>
            </a:r>
            <a:r>
              <a:rPr lang="zh-CN" altLang="en-US"/>
              <a:t>）跑出长尾词</a:t>
            </a:r>
            <a:r>
              <a:rPr lang="en-US" altLang="zh-CN"/>
              <a:t>  2</a:t>
            </a:r>
            <a:r>
              <a:rPr lang="zh-CN" altLang="en-US"/>
              <a:t>）加强长尾词收录</a:t>
            </a:r>
            <a:r>
              <a:rPr lang="en-US" altLang="zh-CN"/>
              <a:t>  3</a:t>
            </a:r>
            <a:r>
              <a:rPr lang="zh-CN" altLang="en-US"/>
              <a:t>）加快</a:t>
            </a:r>
            <a:r>
              <a:rPr lang="en-US" altLang="zh-CN"/>
              <a:t>H10</a:t>
            </a:r>
            <a:r>
              <a:rPr lang="zh-CN" altLang="en-US"/>
              <a:t>的</a:t>
            </a:r>
            <a:r>
              <a:rPr lang="en-US" altLang="zh-CN"/>
              <a:t>T</a:t>
            </a:r>
            <a:r>
              <a:rPr lang="zh-CN" altLang="en-US"/>
              <a:t>与</a:t>
            </a:r>
            <a:r>
              <a:rPr lang="en-US" altLang="zh-CN"/>
              <a:t>O</a:t>
            </a:r>
            <a:r>
              <a:rPr lang="zh-CN" altLang="en-US"/>
              <a:t>的词汇量增加</a:t>
            </a:r>
            <a:endParaRPr lang="zh-CN" altLang="en-US"/>
          </a:p>
          <a:p>
            <a:pPr algn="l"/>
            <a:endParaRPr lang="zh-CN" altLang="en-US"/>
          </a:p>
          <a:p>
            <a:pPr algn="l"/>
            <a:r>
              <a:rPr lang="zh-CN" altLang="en-US"/>
              <a:t>广告</a:t>
            </a:r>
            <a:r>
              <a:rPr lang="en-US" altLang="zh-CN"/>
              <a:t>D4</a:t>
            </a:r>
            <a:r>
              <a:rPr lang="zh-CN" altLang="en-US"/>
              <a:t>操作模型：升降动态竞价+出价为最低竞价+搜索结果顶部广告位300%+紧密匹配&amp;宽泛匹配，建议预算</a:t>
            </a:r>
            <a:r>
              <a:rPr lang="en-US" altLang="zh-CN"/>
              <a:t>30-50$</a:t>
            </a:r>
            <a:endParaRPr lang="en-US" altLang="zh-CN"/>
          </a:p>
          <a:p>
            <a:pPr algn="l"/>
            <a:endParaRPr lang="zh-CN" altLang="en-US"/>
          </a:p>
          <a:p>
            <a:pPr algn="l"/>
            <a:r>
              <a:rPr lang="zh-CN" altLang="en-US"/>
              <a:t>广告D4否定事项</a:t>
            </a:r>
            <a:r>
              <a:rPr lang="en-US" altLang="zh-CN"/>
              <a:t>: </a:t>
            </a:r>
            <a:endParaRPr lang="en-US" altLang="zh-CN"/>
          </a:p>
          <a:p>
            <a:pPr algn="l"/>
            <a:r>
              <a:rPr lang="en-US" altLang="zh-CN"/>
              <a:t>1、否定掉广告活动A、B、C1、C2投放词---精准否定</a:t>
            </a:r>
            <a:endParaRPr lang="en-US" altLang="zh-CN"/>
          </a:p>
          <a:p>
            <a:pPr algn="l"/>
            <a:r>
              <a:rPr lang="en-US" altLang="zh-CN"/>
              <a:t>2、否定掉D1跑出来的点击费用高的词、acos高的词---精准否定</a:t>
            </a:r>
            <a:endParaRPr lang="en-US" altLang="zh-CN"/>
          </a:p>
          <a:p>
            <a:pPr algn="l"/>
            <a:r>
              <a:rPr lang="en-US" altLang="zh-CN"/>
              <a:t>3、否定掉搜索量大的肯定词--</a:t>
            </a:r>
            <a:r>
              <a:rPr lang="zh-CN" altLang="en-US"/>
              <a:t>精准</a:t>
            </a:r>
            <a:r>
              <a:rPr lang="en-US" altLang="zh-CN"/>
              <a:t>否定</a:t>
            </a:r>
            <a:endParaRPr lang="en-US" altLang="zh-CN"/>
          </a:p>
          <a:p>
            <a:pPr algn="l"/>
            <a:r>
              <a:rPr lang="en-US" altLang="zh-CN"/>
              <a:t>4</a:t>
            </a:r>
            <a:r>
              <a:rPr lang="zh-CN" altLang="en-US"/>
              <a:t>、否定掉肯定矩阵第</a:t>
            </a:r>
            <a:r>
              <a:rPr lang="en-US" altLang="zh-CN"/>
              <a:t>1-4</a:t>
            </a:r>
            <a:r>
              <a:rPr lang="zh-CN" altLang="en-US"/>
              <a:t>环组合的词</a:t>
            </a:r>
            <a:r>
              <a:rPr lang="en-US" altLang="zh-CN">
                <a:sym typeface="+mn-ea"/>
              </a:rPr>
              <a:t>---精准否定</a:t>
            </a:r>
            <a:endParaRPr lang="zh-CN" altLang="en-US"/>
          </a:p>
          <a:p>
            <a:pPr algn="l"/>
            <a:r>
              <a:rPr lang="en-US" altLang="zh-CN"/>
              <a:t>5</a:t>
            </a:r>
            <a:r>
              <a:rPr lang="zh-CN" altLang="en-US"/>
              <a:t>、否定掉单独不精准的肯定词根</a:t>
            </a:r>
            <a:r>
              <a:rPr lang="en-US" altLang="zh-CN">
                <a:sym typeface="+mn-ea"/>
              </a:rPr>
              <a:t>---</a:t>
            </a:r>
            <a:r>
              <a:rPr lang="zh-CN" altLang="en-US">
                <a:sym typeface="+mn-ea"/>
              </a:rPr>
              <a:t>词组</a:t>
            </a:r>
            <a:r>
              <a:rPr lang="en-US" altLang="zh-CN">
                <a:sym typeface="+mn-ea"/>
              </a:rPr>
              <a:t>否定</a:t>
            </a:r>
            <a:endParaRPr lang="zh-CN" altLang="en-US"/>
          </a:p>
          <a:p>
            <a:pPr algn="l"/>
            <a:r>
              <a:rPr lang="en-US" altLang="zh-CN"/>
              <a:t>6</a:t>
            </a:r>
            <a:r>
              <a:rPr lang="zh-CN" altLang="en-US"/>
              <a:t>、否定掉否定词矩阵的所有词根（词组否定）或词组（精准否定）</a:t>
            </a:r>
            <a:endParaRPr lang="zh-CN" altLang="en-US"/>
          </a:p>
          <a:p>
            <a:pPr algn="l"/>
            <a:r>
              <a:rPr lang="en-US" altLang="zh-CN"/>
              <a:t>7</a:t>
            </a:r>
            <a:r>
              <a:rPr lang="zh-CN" altLang="en-US"/>
              <a:t>、否定掉抓取竞品</a:t>
            </a:r>
            <a:r>
              <a:rPr lang="en-US" altLang="zh-CN"/>
              <a:t>ASIN</a:t>
            </a:r>
            <a:r>
              <a:rPr lang="zh-CN" altLang="en-US"/>
              <a:t>关键词数据的所有的</a:t>
            </a:r>
            <a:r>
              <a:rPr lang="en-US" altLang="zh-CN"/>
              <a:t>asin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zh-CN" altLang="en-US"/>
              <a:t>广告</a:t>
            </a:r>
            <a:r>
              <a:rPr lang="en-US" altLang="zh-CN"/>
              <a:t>D4</a:t>
            </a:r>
            <a:r>
              <a:rPr lang="zh-CN" altLang="en-US"/>
              <a:t>优化事项：</a:t>
            </a:r>
            <a:endParaRPr lang="zh-CN" altLang="en-US"/>
          </a:p>
          <a:p>
            <a:pPr algn="l"/>
            <a:r>
              <a:rPr lang="en-US" altLang="zh-CN"/>
              <a:t>1</a:t>
            </a:r>
            <a:r>
              <a:rPr lang="zh-CN" altLang="en-US"/>
              <a:t>、广告位从</a:t>
            </a:r>
            <a:r>
              <a:rPr lang="en-US" altLang="zh-CN"/>
              <a:t>300%</a:t>
            </a:r>
            <a:r>
              <a:rPr lang="zh-CN" altLang="en-US"/>
              <a:t>逐步调低下来</a:t>
            </a:r>
            <a:endParaRPr lang="zh-CN" altLang="en-US"/>
          </a:p>
          <a:p>
            <a:pPr algn="l"/>
            <a:r>
              <a:rPr lang="en-US" altLang="zh-CN"/>
              <a:t>2</a:t>
            </a:r>
            <a:r>
              <a:rPr lang="zh-CN" altLang="en-US"/>
              <a:t>、及时否定掉</a:t>
            </a:r>
            <a:r>
              <a:rPr lang="en-US" altLang="zh-CN"/>
              <a:t>bid</a:t>
            </a:r>
            <a:r>
              <a:rPr lang="zh-CN" altLang="en-US"/>
              <a:t>高的词（有转化的词及时判断是否有收录排名了再定夺）</a:t>
            </a:r>
            <a:endParaRPr lang="zh-CN" altLang="en-US"/>
          </a:p>
          <a:p>
            <a:pPr algn="l"/>
            <a:r>
              <a:rPr lang="en-US" altLang="zh-CN"/>
              <a:t>3</a:t>
            </a:r>
            <a:r>
              <a:rPr lang="zh-CN" altLang="en-US"/>
              <a:t>、及时否定掉转化率低的词</a:t>
            </a:r>
            <a:endParaRPr lang="zh-CN" alt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4445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99323" y="213499"/>
            <a:ext cx="4191000" cy="641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新品扶持期—关键词点击2次就会被收录</a:t>
            </a:r>
            <a:endParaRPr sz="18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1005"/>
              </a:spcBef>
              <a:spcAft>
                <a:spcPts val="0"/>
              </a:spcAft>
            </a:pPr>
            <a:r>
              <a:rPr sz="1800" dirty="0">
                <a:solidFill>
                  <a:srgbClr val="0070C0"/>
                </a:solidFill>
                <a:latin typeface="KUMBUU+MicrosoftYaHei" panose="02000500000000000000"/>
                <a:cs typeface="KUMBUU+MicrosoftYaHei" panose="02000500000000000000"/>
              </a:rPr>
              <a:t>分析与调整—3天一次</a:t>
            </a:r>
            <a:endParaRPr sz="1800" dirty="0">
              <a:solidFill>
                <a:srgbClr val="0070C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67121" y="381448"/>
            <a:ext cx="1243923" cy="2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</a:t>
            </a:r>
            <a:r>
              <a:rPr lang="en-US"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9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-</a:t>
            </a:r>
            <a:r>
              <a:rPr lang="en-US"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14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天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235" y="1153523"/>
            <a:ext cx="10530840" cy="1087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68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爬查肯定词库收录词排名及分析，从自动</a:t>
            </a:r>
            <a:r>
              <a:rPr sz="2400" spc="69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广告活动D1</a:t>
            </a:r>
            <a:r>
              <a:rPr sz="2400" spc="69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和递增量</a:t>
            </a:r>
            <a:r>
              <a:rPr sz="2400" spc="69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手动广告B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跑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出来的词查有收录排名后投入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广告活动A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；有6-10次以上点击排名没有提升的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投放词暂停；</a:t>
            </a: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广告活动C2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与广告活动A的词有重复（保留效果好）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8235" y="2720322"/>
            <a:ext cx="10511155" cy="1087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447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关于广告活动A和广告活动C2的优化</a:t>
            </a:r>
            <a:endParaRPr sz="24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1）每3天，某些广告活动没有曝光的广告词拧出来重新创建新广告活动A打，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出价给以高些或加大搜索结果顶部广告位；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8235" y="3817602"/>
            <a:ext cx="3692276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2）CTR低的词，降低出价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8235" y="4551179"/>
            <a:ext cx="10511155" cy="1059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9222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关于广告活动B的优化</a:t>
            </a:r>
            <a:endParaRPr sz="24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1）每3天，某些广告活动没有曝光的广告词</a:t>
            </a:r>
            <a:r>
              <a:rPr lang="zh-CN"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拎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出来重新创建新广告活动A打，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出价给以高些或加大搜索结果顶部广告位；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8235" y="5648459"/>
            <a:ext cx="7691883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2）广告活动B的词已收录移到广告A，且在广告B做暂停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7715" y="44450"/>
            <a:ext cx="38798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/>
                </a:solidFill>
              </a:rPr>
              <a:t>这个阶段调整方向：稳固已有排名的关键词且跑出更多长尾词的收录与排名，提升</a:t>
            </a:r>
            <a:r>
              <a:rPr lang="en-US" altLang="zh-CN">
                <a:solidFill>
                  <a:schemeClr val="accent5"/>
                </a:solidFill>
              </a:rPr>
              <a:t>H10</a:t>
            </a:r>
            <a:r>
              <a:rPr lang="zh-CN" altLang="en-US">
                <a:solidFill>
                  <a:schemeClr val="accent5"/>
                </a:solidFill>
              </a:rPr>
              <a:t>的</a:t>
            </a:r>
            <a:r>
              <a:rPr lang="en-US" altLang="zh-CN">
                <a:solidFill>
                  <a:schemeClr val="accent5"/>
                </a:solidFill>
              </a:rPr>
              <a:t>OT</a:t>
            </a:r>
            <a:r>
              <a:rPr lang="zh-CN" altLang="en-US">
                <a:solidFill>
                  <a:schemeClr val="accent5"/>
                </a:solidFill>
              </a:rPr>
              <a:t>比例（转化率）</a:t>
            </a:r>
            <a:endParaRPr lang="zh-CN" altLang="en-US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53970" y="502580"/>
            <a:ext cx="7253954" cy="913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693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2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ORGANIC/TOTAL数据比率----关键词权重算法</a:t>
            </a:r>
            <a:endParaRPr sz="2000" spc="-12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8100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1）大于70%以上：listing权重好，关键词排名稳定性强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2）小于50%以下：listing权重不好，关键词收录，排名不稳定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1380" y="1652540"/>
            <a:ext cx="143950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H10总收录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8379" y="1652540"/>
            <a:ext cx="220340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H10有排名收录词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9379" y="1652540"/>
            <a:ext cx="245804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H10有收录无排名词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90380" y="1652540"/>
            <a:ext cx="271267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H10总收录的不相关词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700" y="2123710"/>
            <a:ext cx="2413277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9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TOTA</a:t>
            </a:r>
            <a:r>
              <a:rPr sz="2000" spc="-59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L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KEYWORDS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28339" y="2123710"/>
            <a:ext cx="5771671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ORGANIC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KEYWORDS</a:t>
            </a:r>
            <a:r>
              <a:rPr sz="2000" spc="316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spc="-2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TOTAL减去ORGANIC</a:t>
            </a:r>
            <a:endParaRPr sz="2000" spc="-28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79000" y="2123710"/>
            <a:ext cx="193484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不精准的关键词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6864" y="2759328"/>
            <a:ext cx="3845049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H10把ASIN数据导出来制成excel表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595" y="3365994"/>
            <a:ext cx="8707566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一、符合以上（1）条件的，若D1跑词效果不好的就打D2，再次扩容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二、复核以上（2）条件的，按上图制表，“H10有收录无排名”精准关键词用来打A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7610" y="4661398"/>
            <a:ext cx="7472160" cy="913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29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ORGANIC/TOTAL数据量化标准----爆款运营指标参考</a:t>
            </a:r>
            <a:endParaRPr sz="2000" spc="-11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4226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-1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1）新品期到14天后，TOTAL数据超过BSR的15-30%以上</a:t>
            </a:r>
            <a:endParaRPr sz="2000" spc="-1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-1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2）新品期到14天后，ORGANIC/TOTAL数据比率达到70%以上</a:t>
            </a:r>
            <a:endParaRPr sz="2000" spc="-1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47420" y="404495"/>
            <a:ext cx="367220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11020" y="389890"/>
            <a:ext cx="17157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新品第</a:t>
            </a:r>
            <a:r>
              <a:rPr lang="en-US" altLang="zh-CN" sz="2400" b="1">
                <a:solidFill>
                  <a:schemeClr val="bg1"/>
                </a:solidFill>
              </a:rPr>
              <a:t>14</a:t>
            </a:r>
            <a:r>
              <a:rPr lang="zh-CN" altLang="en-US" sz="2400" b="1">
                <a:solidFill>
                  <a:schemeClr val="bg1"/>
                </a:solidFill>
              </a:rPr>
              <a:t>天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4979670" y="332740"/>
            <a:ext cx="2232025" cy="57594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647690" y="44894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判断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499985" y="404495"/>
            <a:ext cx="396049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164195" y="404495"/>
            <a:ext cx="26314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哪些维度做不到位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368165" y="1340485"/>
            <a:ext cx="3312160" cy="360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41290" y="134048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solidFill>
                  <a:schemeClr val="bg1"/>
                </a:solidFill>
              </a:rPr>
              <a:t>做广告调整</a:t>
            </a:r>
            <a:endParaRPr lang="zh-CN" altLang="en-US" sz="2000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47625" y="1698625"/>
          <a:ext cx="12155805" cy="405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645"/>
                <a:gridCol w="1350645"/>
                <a:gridCol w="1350645"/>
                <a:gridCol w="1350645"/>
                <a:gridCol w="1350645"/>
                <a:gridCol w="1350645"/>
                <a:gridCol w="1350645"/>
                <a:gridCol w="1350645"/>
                <a:gridCol w="1350645"/>
              </a:tblGrid>
              <a:tr h="923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运营维度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Total</a:t>
                      </a:r>
                      <a:r>
                        <a:rPr lang="zh-CN" altLang="en-US"/>
                        <a:t>词汇量达到</a:t>
                      </a:r>
                      <a:r>
                        <a:rPr lang="en-US" altLang="zh-CN"/>
                        <a:t>BSR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Total</a:t>
                      </a:r>
                      <a:r>
                        <a:rPr lang="zh-CN" altLang="en-US"/>
                        <a:t>精准度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O/T</a:t>
                      </a:r>
                      <a:r>
                        <a:rPr lang="zh-CN" altLang="en-US"/>
                        <a:t>占比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自然单占比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关键词自然首页词汇量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关键词自然前三页词汇量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日均销量递增量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小类排名</a:t>
                      </a:r>
                      <a:endParaRPr lang="zh-CN" altLang="en-US"/>
                    </a:p>
                  </a:txBody>
                  <a:tcPr/>
                </a:tc>
              </a:tr>
              <a:tr h="106807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维度目标值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15%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70%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80%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60%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肯定词库</a:t>
                      </a:r>
                      <a:r>
                        <a:rPr lang="en-US" altLang="zh-CN"/>
                        <a:t>10%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肯定词库</a:t>
                      </a:r>
                      <a:r>
                        <a:rPr lang="en-US" altLang="zh-CN"/>
                        <a:t>30%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20-30%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设定目标值</a:t>
                      </a:r>
                      <a:endParaRPr lang="zh-CN" altLang="en-US"/>
                    </a:p>
                  </a:txBody>
                  <a:tcPr/>
                </a:tc>
              </a:tr>
              <a:tr h="90551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备注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H10</a:t>
                      </a:r>
                      <a:r>
                        <a:rPr lang="zh-CN" altLang="en-US"/>
                        <a:t>数据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sym typeface="+mn-ea"/>
                        </a:rPr>
                        <a:t>H10</a:t>
                      </a:r>
                      <a:r>
                        <a:rPr lang="zh-CN" altLang="en-US">
                          <a:sym typeface="+mn-ea"/>
                        </a:rPr>
                        <a:t>数据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sym typeface="+mn-ea"/>
                        </a:rPr>
                        <a:t>H10</a:t>
                      </a:r>
                      <a:r>
                        <a:rPr lang="zh-CN" altLang="en-US">
                          <a:sym typeface="+mn-ea"/>
                        </a:rPr>
                        <a:t>数据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运营的目的自然订单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肯定词库查排名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ym typeface="+mn-ea"/>
                        </a:rPr>
                        <a:t>肯定词库查排名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小类排名递增也可参考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根据新品递增量节奏到销量目标值</a:t>
                      </a:r>
                      <a:endParaRPr lang="zh-CN" altLang="en-US"/>
                    </a:p>
                  </a:txBody>
                  <a:tcPr/>
                </a:tc>
              </a:tr>
              <a:tr h="114490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调整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1.D1</a:t>
                      </a:r>
                      <a:r>
                        <a:rPr lang="zh-CN" altLang="en-US"/>
                        <a:t>、</a:t>
                      </a:r>
                      <a:r>
                        <a:rPr lang="en-US" altLang="zh-CN"/>
                        <a:t>D4</a:t>
                      </a:r>
                      <a:r>
                        <a:rPr lang="zh-CN" altLang="en-US"/>
                        <a:t>继续跑词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2.</a:t>
                      </a:r>
                      <a:r>
                        <a:rPr lang="zh-CN" altLang="en-US"/>
                        <a:t>若</a:t>
                      </a:r>
                      <a:r>
                        <a:rPr lang="en-US" altLang="zh-CN"/>
                        <a:t>total</a:t>
                      </a:r>
                      <a:r>
                        <a:rPr lang="zh-CN" altLang="en-US"/>
                        <a:t>精准度超过</a:t>
                      </a:r>
                      <a:r>
                        <a:rPr lang="en-US" altLang="zh-CN"/>
                        <a:t>70%</a:t>
                      </a:r>
                      <a:r>
                        <a:rPr lang="zh-CN" altLang="en-US"/>
                        <a:t>打</a:t>
                      </a: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1.H10</a:t>
                      </a:r>
                      <a:r>
                        <a:rPr lang="zh-CN" altLang="en-US"/>
                        <a:t>不精准词加入否定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2.</a:t>
                      </a:r>
                      <a:r>
                        <a:rPr lang="zh-CN" altLang="en-US"/>
                        <a:t>分析广告跑出来的词根关联性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</a:t>
                      </a:r>
                      <a:r>
                        <a:rPr lang="zh-CN" altLang="en-US"/>
                        <a:t>精准运营优化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2.</a:t>
                      </a:r>
                      <a:r>
                        <a:rPr lang="zh-CN" altLang="en-US"/>
                        <a:t>提高转化率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</a:t>
                      </a:r>
                      <a:r>
                        <a:rPr lang="zh-CN" altLang="en-US"/>
                        <a:t>销量节奏把控好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2.</a:t>
                      </a:r>
                      <a:r>
                        <a:rPr lang="zh-CN" altLang="en-US"/>
                        <a:t>稳住转化率及提升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3.</a:t>
                      </a:r>
                      <a:r>
                        <a:rPr lang="zh-CN" altLang="en-US"/>
                        <a:t>加大</a:t>
                      </a: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</a:t>
                      </a:r>
                      <a:r>
                        <a:rPr lang="zh-CN" altLang="en-US"/>
                        <a:t>自然排名上首页前八，广告暂停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2.</a:t>
                      </a:r>
                      <a:r>
                        <a:rPr lang="zh-CN" altLang="en-US"/>
                        <a:t>提升转化率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</a:t>
                      </a:r>
                      <a:r>
                        <a:rPr lang="zh-CN" altLang="en-US"/>
                        <a:t>广告首页置顶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2.</a:t>
                      </a:r>
                      <a:r>
                        <a:rPr lang="zh-CN" altLang="en-US"/>
                        <a:t>提升转化率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4282" y="2736061"/>
            <a:ext cx="9980929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第二节</a:t>
            </a:r>
            <a:r>
              <a:rPr sz="3600" spc="124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“险中求稳”新品15-45天的运营与打法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267121" y="381448"/>
            <a:ext cx="1400957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第15-45天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76932" y="423074"/>
            <a:ext cx="1066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拿到秒杀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235" y="1003028"/>
            <a:ext cx="10530836" cy="218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广告活动A：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效果好的继续保留和新增、不断增加收录词不断暂停优化；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广告活动D1：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根据效果降低预算或增加；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广告活动B：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不断增加打其他环的关键词，同时暂停部分效果差的广告；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广告活动C1：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看效果增加出价及预算或暂停；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spc="55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广告活动C2：</a:t>
            </a:r>
            <a:r>
              <a:rPr sz="2400" spc="55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根据大词自然排名目的达到及广告效果判断是否暂停（自然排</a:t>
            </a:r>
            <a:endParaRPr sz="2400" spc="55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名达到目的但ACOS高暂停，未达到目的效果不好的广告活动组暂停）。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5795" y="3911925"/>
            <a:ext cx="893572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656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自动广告D2：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（listing上线30天左右）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重新创建自动广告流量池扩容（打D2就暂停D1），不做任何否定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8235" y="5181637"/>
            <a:ext cx="4600582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D1做的不好之后再打D2；30天左右才打D2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8235" y="5730277"/>
            <a:ext cx="9765665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C000"/>
                </a:solidFill>
                <a:latin typeface="BAPNIG+MicrosoftYaHei-Bold" panose="02000500000000000000"/>
                <a:cs typeface="BAPNIG+MicrosoftYaHei-Bold" panose="02000500000000000000"/>
              </a:rPr>
              <a:t>1天（无否定词）——3天（买家搜索词做否定）——7天（</a:t>
            </a:r>
            <a:r>
              <a:rPr sz="1800" u="sng" dirty="0">
                <a:solidFill>
                  <a:srgbClr val="FFC000"/>
                </a:solidFill>
                <a:latin typeface="BAPNIG+MicrosoftYaHei-Bold" panose="02000500000000000000"/>
                <a:cs typeface="BAPNIG+MicrosoftYaHei-Bold" panose="02000500000000000000"/>
              </a:rPr>
              <a:t>D1买家搜索词</a:t>
            </a:r>
            <a:r>
              <a:rPr sz="1800" dirty="0">
                <a:solidFill>
                  <a:srgbClr val="FFC000"/>
                </a:solidFill>
                <a:latin typeface="BAPNIG+MicrosoftYaHei-Bold" panose="02000500000000000000"/>
                <a:cs typeface="BAPNIG+MicrosoftYaHei-Bold" panose="02000500000000000000"/>
              </a:rPr>
              <a:t>做否定/否定词矩阵）</a:t>
            </a:r>
            <a:endParaRPr sz="1800" dirty="0">
              <a:solidFill>
                <a:srgbClr val="FFC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08178" y="6386067"/>
            <a:ext cx="2881312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92D050"/>
                </a:solidFill>
                <a:latin typeface="KUMBUU+MicrosoftYaHei" panose="02000500000000000000"/>
                <a:cs typeface="KUMBUU+MicrosoftYaHei" panose="02000500000000000000"/>
              </a:rPr>
              <a:t>10次点击无转化；ACOS高</a:t>
            </a:r>
            <a:endParaRPr sz="1800" dirty="0">
              <a:solidFill>
                <a:srgbClr val="92D05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80751" y="368447"/>
            <a:ext cx="4388902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第二轮自动广告活动D2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020" y="1798133"/>
            <a:ext cx="1425575" cy="1522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升降动态竞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价策略，出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价为（最高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出价+推荐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价）/2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7319" y="4975914"/>
            <a:ext cx="1425575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不做任何否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定词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24765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66374" y="245359"/>
            <a:ext cx="3981867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广告活动D2打法用途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940" y="1248773"/>
            <a:ext cx="346224" cy="1396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569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24229" y="1267019"/>
            <a:ext cx="4243072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66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1）</a:t>
            </a:r>
            <a:r>
              <a:rPr sz="2000" spc="68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以历史单天最高点击量为第一天</a:t>
            </a:r>
            <a:endParaRPr sz="2000" spc="68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目标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6174" y="1276506"/>
            <a:ext cx="91630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断货后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60390" y="1279427"/>
            <a:ext cx="1320264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连续打3天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1085" y="1656092"/>
            <a:ext cx="5073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优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24229" y="1876619"/>
            <a:ext cx="4359223" cy="3961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2）</a:t>
            </a:r>
            <a:r>
              <a:rPr sz="2000" spc="11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以点击量1.5倍为递增来逐步给足</a:t>
            </a:r>
            <a:endParaRPr sz="2000" spc="11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预算，销量最好以1.3倍左右递增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3）</a:t>
            </a: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预算分阶段设置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4）</a:t>
            </a: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建议中国时间晚上再投放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66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5）</a:t>
            </a:r>
            <a:r>
              <a:rPr sz="2000" spc="68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第一天建议其他原来广告都先暂</a:t>
            </a:r>
            <a:endParaRPr sz="2000" spc="68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14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停（销量效果不行再考虑增加出单广</a:t>
            </a:r>
            <a:endParaRPr sz="2000" spc="14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告）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7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6）</a:t>
            </a:r>
            <a:r>
              <a:rPr sz="2000" spc="7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老品若H10总收录词精准度达不</a:t>
            </a:r>
            <a:endParaRPr sz="2000" spc="7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到90%，建议先优化好文案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7）预算投入能达到1）条件就打D2，</a:t>
            </a:r>
            <a:endParaRPr sz="20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138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若评估达不到条件的90%，就不打</a:t>
            </a:r>
            <a:endParaRPr sz="2000" spc="138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1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D2，建议仅以递增量为广告调整打</a:t>
            </a:r>
            <a:endParaRPr sz="2000" spc="1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法</a:t>
            </a:r>
            <a:endParaRPr sz="20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9609" y="2264422"/>
            <a:ext cx="2767876" cy="372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baseline="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店铺或listing被下</a:t>
            </a:r>
            <a:r>
              <a:rPr lang="zh-CN" baseline="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架</a:t>
            </a:r>
            <a:endParaRPr lang="zh-CN" baseline="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30850" y="2264172"/>
            <a:ext cx="1579748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连续打3-7天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01085" y="2509532"/>
            <a:ext cx="507365" cy="211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文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案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4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前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提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参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7086" y="3391136"/>
            <a:ext cx="340369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3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07406" y="3392516"/>
            <a:ext cx="1579748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连续打3-5天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88719" y="3418856"/>
            <a:ext cx="1652110" cy="1241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盘活老listing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309880" marR="0">
              <a:lnSpc>
                <a:spcPts val="2090"/>
              </a:lnSpc>
              <a:spcBef>
                <a:spcPts val="530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连续7天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4662" y="4481342"/>
            <a:ext cx="340369" cy="13931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4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567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5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98605" y="4517926"/>
            <a:ext cx="1579748" cy="1323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连续打2-3天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29540" marR="0">
              <a:lnSpc>
                <a:spcPts val="2090"/>
              </a:lnSpc>
              <a:spcBef>
                <a:spcPts val="594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连续打2天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91704" y="4643132"/>
            <a:ext cx="2516746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销量继续下滑</a:t>
            </a:r>
            <a:r>
              <a:rPr sz="2000" spc="3229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考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01085" y="5069852"/>
            <a:ext cx="5073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⑥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7704" y="5546512"/>
            <a:ext cx="218948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广告效果一直不好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66374" y="245359"/>
            <a:ext cx="3981867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广告活动D2逐步打法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79007" y="1280269"/>
            <a:ext cx="5437504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第一天仅开一组，若这一组点击量达到广告暂停，根据点击</a:t>
            </a:r>
            <a:endParaRPr sz="16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377" y="1419106"/>
            <a:ext cx="340369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375" y="1446826"/>
            <a:ext cx="3654998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出价：（最高出价+推荐价）/2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79007" y="1524109"/>
            <a:ext cx="5437505" cy="14683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spc="21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量目标调整预算，加大coupon折扣加持订单转化；若广告</a:t>
            </a:r>
            <a:endParaRPr sz="1600" spc="21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烧太快了就降低出价、若广告位的“商品页面”点击量超过</a:t>
            </a:r>
            <a:endParaRPr sz="16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spc="204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“搜索结果顶部”50%时，增加“搜索结果顶部广告</a:t>
            </a:r>
            <a:endParaRPr sz="1600" spc="204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spc="61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位”50%；此广告效果好第二天继续增加预算完成点击量</a:t>
            </a:r>
            <a:endParaRPr sz="1600" spc="61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spc="37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1.5倍递增，若完成不了点击量，一下增加新的一组（原来</a:t>
            </a:r>
            <a:endParaRPr sz="1600" spc="37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6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广告点击量效果太差暂停）</a:t>
            </a:r>
            <a:endParaRPr sz="16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0041" y="3852095"/>
            <a:ext cx="5437504" cy="736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第二天增加此广告，此广告效果好第三天继续增加预算完成</a:t>
            </a:r>
            <a:endParaRPr sz="16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spc="37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点击量1.5倍递增，若完成不了点击量，以下增加新的一组</a:t>
            </a:r>
            <a:endParaRPr sz="1600" spc="37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（原来广告点击量效果太差暂停）</a:t>
            </a:r>
            <a:endParaRPr sz="16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2587" y="3979883"/>
            <a:ext cx="346224" cy="1809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8945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3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7378" y="4007603"/>
            <a:ext cx="3307487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出价：推荐价+广告位100%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5804" y="5309454"/>
            <a:ext cx="3396882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出价：（最高出价+推荐价）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75184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/2+广告位50%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52108" y="5295412"/>
            <a:ext cx="5437504" cy="736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第三天增加此广告，此广告效果好第三天继续增加预算完成</a:t>
            </a:r>
            <a:endParaRPr sz="16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spc="37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点击量1.5倍递增，若完成不了点击量，以下增加新的一组</a:t>
            </a:r>
            <a:endParaRPr sz="1600" spc="37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（原来广告点击量效果太差暂停）</a:t>
            </a:r>
            <a:endParaRPr sz="16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62359" y="245359"/>
            <a:ext cx="2187575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案例及总结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875" y="1130633"/>
            <a:ext cx="11470846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有2万个库存老品，listing进入死水后每日15单左右徘徊，经过用D2打法后14天日销量达到850单，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且自然销量占90%比重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947" y="2217351"/>
            <a:ext cx="340369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2821" y="2249961"/>
            <a:ext cx="2330752" cy="1601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D2-1：推荐价+0.7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12065" marR="0">
              <a:lnSpc>
                <a:spcPts val="2090"/>
              </a:lnSpc>
              <a:spcBef>
                <a:spcPts val="292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D2-2：第一组+0.7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6350" marR="0">
              <a:lnSpc>
                <a:spcPts val="2090"/>
              </a:lnSpc>
              <a:spcBef>
                <a:spcPts val="312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D2-3：第二组+0.7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84706" y="2456801"/>
            <a:ext cx="3899536" cy="2196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spc="5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1）</a:t>
            </a:r>
            <a:r>
              <a:rPr sz="1800" spc="51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打D2组合广告之前，花一周时间</a:t>
            </a:r>
            <a:endParaRPr sz="1800" spc="51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做好关键词和优化好文案</a:t>
            </a:r>
            <a:endParaRPr sz="18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spc="69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2）</a:t>
            </a:r>
            <a:r>
              <a:rPr sz="1800" spc="7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总共一起打10组，每组在上一组</a:t>
            </a:r>
            <a:endParaRPr sz="1800" spc="7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出价基础上加0.7美金出价</a:t>
            </a:r>
            <a:endParaRPr sz="18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3）</a:t>
            </a:r>
            <a:r>
              <a:rPr sz="18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每一天增加两组，连续打7天</a:t>
            </a:r>
            <a:endParaRPr sz="18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spc="94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4）</a:t>
            </a:r>
            <a:r>
              <a:rPr sz="1800" spc="98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7天后保留好的D2广告活动，再</a:t>
            </a:r>
            <a:endParaRPr sz="1800" spc="98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spc="46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爬哪些有收录有排名的词来打广告活</a:t>
            </a:r>
            <a:endParaRPr sz="1800" spc="46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动A</a:t>
            </a:r>
            <a:endParaRPr sz="18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91213" y="2519150"/>
            <a:ext cx="1335848" cy="15607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第1天增加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78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第2天增加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4225" y="2853342"/>
            <a:ext cx="357959" cy="1712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2715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3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7780" marR="0">
              <a:lnSpc>
                <a:spcPts val="2500"/>
              </a:lnSpc>
              <a:spcBef>
                <a:spcPts val="297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4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811" y="4242844"/>
            <a:ext cx="2322517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D2-4：第三组+0.7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84706" y="4651361"/>
            <a:ext cx="3899535" cy="824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spc="85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5）</a:t>
            </a:r>
            <a:r>
              <a:rPr sz="1800" spc="87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listing流量热度上来后关键词排</a:t>
            </a:r>
            <a:endParaRPr sz="1800" spc="87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spc="25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名上来了14天后订单稳定了广告再慢</a:t>
            </a:r>
            <a:endParaRPr sz="1800" spc="25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8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慢调低</a:t>
            </a:r>
            <a:endParaRPr sz="18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1815" y="4939977"/>
            <a:ext cx="343303" cy="9740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5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175" marR="0">
              <a:lnSpc>
                <a:spcPts val="2500"/>
              </a:lnSpc>
              <a:spcBef>
                <a:spcPts val="237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6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811" y="4972574"/>
            <a:ext cx="2322517" cy="921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D2-5：第四组+0.7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3175" marR="0">
              <a:lnSpc>
                <a:spcPts val="2090"/>
              </a:lnSpc>
              <a:spcBef>
                <a:spcPts val="278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D2-6：第五组+0.7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67768" y="5238893"/>
            <a:ext cx="1320264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第3天增加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947420" y="404495"/>
            <a:ext cx="367220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11020" y="389890"/>
            <a:ext cx="17157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新品第</a:t>
            </a:r>
            <a:r>
              <a:rPr lang="en-US" altLang="zh-CN" sz="2400" b="1">
                <a:solidFill>
                  <a:schemeClr val="bg1"/>
                </a:solidFill>
              </a:rPr>
              <a:t>45</a:t>
            </a:r>
            <a:r>
              <a:rPr lang="zh-CN" altLang="en-US" sz="2400" b="1">
                <a:solidFill>
                  <a:schemeClr val="bg1"/>
                </a:solidFill>
              </a:rPr>
              <a:t>天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4979670" y="332740"/>
            <a:ext cx="2232025" cy="57594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647690" y="44894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判断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499985" y="404495"/>
            <a:ext cx="3960495" cy="431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164195" y="404495"/>
            <a:ext cx="26314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哪些维度做不到位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368165" y="1340485"/>
            <a:ext cx="3312160" cy="360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41290" y="134048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solidFill>
                  <a:schemeClr val="bg1"/>
                </a:solidFill>
              </a:rPr>
              <a:t>做广告调整</a:t>
            </a:r>
            <a:endParaRPr lang="zh-CN" altLang="en-US" sz="2000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47625" y="1698625"/>
          <a:ext cx="12155805" cy="405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645"/>
                <a:gridCol w="1350645"/>
                <a:gridCol w="1350645"/>
                <a:gridCol w="1350645"/>
                <a:gridCol w="1350645"/>
                <a:gridCol w="1350645"/>
                <a:gridCol w="1350645"/>
                <a:gridCol w="1350645"/>
                <a:gridCol w="1350645"/>
              </a:tblGrid>
              <a:tr h="923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运营维度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Total</a:t>
                      </a:r>
                      <a:r>
                        <a:rPr lang="zh-CN" altLang="en-US"/>
                        <a:t>词汇量达到</a:t>
                      </a:r>
                      <a:r>
                        <a:rPr lang="en-US" altLang="zh-CN"/>
                        <a:t>BSR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Total</a:t>
                      </a:r>
                      <a:r>
                        <a:rPr lang="zh-CN" altLang="en-US"/>
                        <a:t>精准度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O/T</a:t>
                      </a:r>
                      <a:r>
                        <a:rPr lang="zh-CN" altLang="en-US"/>
                        <a:t>占比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自然单占比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关键词自然首页词汇量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关键词自然前三页词汇量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日均销量递增量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小类排名</a:t>
                      </a:r>
                      <a:endParaRPr lang="zh-CN" altLang="en-US"/>
                    </a:p>
                  </a:txBody>
                  <a:tcPr/>
                </a:tc>
              </a:tr>
              <a:tr h="106807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维度目标值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30%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70%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85%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80%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肯定词库</a:t>
                      </a:r>
                      <a:r>
                        <a:rPr lang="en-US" altLang="zh-CN"/>
                        <a:t>3</a:t>
                      </a:r>
                      <a:r>
                        <a:rPr lang="en-US" altLang="zh-CN"/>
                        <a:t>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肯定词库</a:t>
                      </a:r>
                      <a:r>
                        <a:rPr lang="en-US" altLang="zh-CN"/>
                        <a:t>5</a:t>
                      </a:r>
                      <a:r>
                        <a:rPr lang="en-US" altLang="zh-CN"/>
                        <a:t>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5-10%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设定目标值</a:t>
                      </a:r>
                      <a:endParaRPr lang="zh-CN" altLang="en-US"/>
                    </a:p>
                  </a:txBody>
                  <a:tcPr/>
                </a:tc>
              </a:tr>
              <a:tr h="90551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备注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H10</a:t>
                      </a:r>
                      <a:r>
                        <a:rPr lang="zh-CN" altLang="en-US"/>
                        <a:t>数据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sym typeface="+mn-ea"/>
                        </a:rPr>
                        <a:t>H10</a:t>
                      </a:r>
                      <a:r>
                        <a:rPr lang="zh-CN" altLang="en-US">
                          <a:sym typeface="+mn-ea"/>
                        </a:rPr>
                        <a:t>数据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>
                          <a:sym typeface="+mn-ea"/>
                        </a:rPr>
                        <a:t>H10</a:t>
                      </a:r>
                      <a:r>
                        <a:rPr lang="zh-CN" altLang="en-US">
                          <a:sym typeface="+mn-ea"/>
                        </a:rPr>
                        <a:t>数据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运营的目的自然订单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肯定词库查排名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ym typeface="+mn-ea"/>
                        </a:rPr>
                        <a:t>肯定词库查排名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小类排名递增也可参考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根据新品递增量节奏到销量目标值</a:t>
                      </a:r>
                      <a:endParaRPr lang="zh-CN" altLang="en-US"/>
                    </a:p>
                  </a:txBody>
                  <a:tcPr/>
                </a:tc>
              </a:tr>
              <a:tr h="114490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调整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1.D1</a:t>
                      </a:r>
                      <a:r>
                        <a:rPr lang="zh-CN" altLang="en-US"/>
                        <a:t>、</a:t>
                      </a:r>
                      <a:r>
                        <a:rPr lang="en-US" altLang="zh-CN"/>
                        <a:t>D4</a:t>
                      </a:r>
                      <a:r>
                        <a:rPr lang="zh-CN" altLang="en-US"/>
                        <a:t>继续跑词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2.</a:t>
                      </a:r>
                      <a:r>
                        <a:rPr lang="zh-CN" altLang="en-US"/>
                        <a:t>若</a:t>
                      </a:r>
                      <a:r>
                        <a:rPr lang="en-US" altLang="zh-CN"/>
                        <a:t>total</a:t>
                      </a:r>
                      <a:r>
                        <a:rPr lang="zh-CN" altLang="en-US"/>
                        <a:t>精准度超过</a:t>
                      </a:r>
                      <a:r>
                        <a:rPr lang="en-US" altLang="zh-CN"/>
                        <a:t>70%</a:t>
                      </a:r>
                      <a:r>
                        <a:rPr lang="zh-CN" altLang="en-US"/>
                        <a:t>打</a:t>
                      </a: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1.H10</a:t>
                      </a:r>
                      <a:r>
                        <a:rPr lang="zh-CN" altLang="en-US"/>
                        <a:t>不精准词加入否定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2.</a:t>
                      </a:r>
                      <a:r>
                        <a:rPr lang="zh-CN" altLang="en-US"/>
                        <a:t>分析广告跑出来的词根关联性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</a:t>
                      </a:r>
                      <a:r>
                        <a:rPr lang="zh-CN" altLang="en-US"/>
                        <a:t>精准运营优化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2.</a:t>
                      </a:r>
                      <a:r>
                        <a:rPr lang="zh-CN" altLang="en-US"/>
                        <a:t>提高转化率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</a:t>
                      </a:r>
                      <a:r>
                        <a:rPr lang="zh-CN" altLang="en-US"/>
                        <a:t>销量节奏把控好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2.</a:t>
                      </a:r>
                      <a:r>
                        <a:rPr lang="zh-CN" altLang="en-US"/>
                        <a:t>稳住转化率及提升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3.</a:t>
                      </a:r>
                      <a:r>
                        <a:rPr lang="zh-CN" altLang="en-US"/>
                        <a:t>加大</a:t>
                      </a: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</a:t>
                      </a:r>
                      <a:r>
                        <a:rPr lang="zh-CN" altLang="en-US"/>
                        <a:t>自然排名上首页前八，广告暂停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2.</a:t>
                      </a:r>
                      <a:r>
                        <a:rPr lang="zh-CN" altLang="en-US"/>
                        <a:t>稳住</a:t>
                      </a:r>
                      <a:r>
                        <a:rPr lang="zh-CN" altLang="en-US"/>
                        <a:t>转化率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</a:t>
                      </a:r>
                      <a:r>
                        <a:rPr lang="zh-CN" altLang="en-US"/>
                        <a:t>广告首页置顶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2.</a:t>
                      </a:r>
                      <a:r>
                        <a:rPr lang="zh-CN" altLang="en-US"/>
                        <a:t>稳住</a:t>
                      </a:r>
                      <a:r>
                        <a:rPr lang="zh-CN" altLang="en-US"/>
                        <a:t>转化率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01482" y="2736061"/>
            <a:ext cx="9066529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第三节</a:t>
            </a:r>
            <a:r>
              <a:rPr sz="3600" spc="124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36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“小步快跑”46-90天的运营与打法</a:t>
            </a:r>
            <a:endParaRPr sz="36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58027" y="4179175"/>
            <a:ext cx="3721722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达到BEST</a:t>
            </a:r>
            <a:r>
              <a:rPr sz="1800" spc="83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SELLER（TOP10以内）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11851" y="1155974"/>
            <a:ext cx="1310501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spc="-33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ACOS</a:t>
            </a:r>
            <a:endParaRPr sz="3200" spc="-33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02494" y="2130255"/>
            <a:ext cx="6255097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ACOS=Spens/Sales=(Bid*Clicks)/(Price*N)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6507" y="3134947"/>
            <a:ext cx="6772908" cy="1827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1.ACOS控制多少为合适？取决于客单价和利润率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2.新品上线14天内以广告关键词频率次数及排名是否提高为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参考，ACOS投入值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3.15-45天，以毛利率+15%做参考值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4.46-90天点作为临界点，以毛利率为临界值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5.过90天后按阶梯降下来低于毛利率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4642" y="3732825"/>
            <a:ext cx="1680210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没有直接影响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权重：投入值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32345" y="736421"/>
            <a:ext cx="1133753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spc="-2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ACOS</a:t>
            </a:r>
            <a:endParaRPr sz="2800" spc="-27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2345" y="1163141"/>
            <a:ext cx="7762240" cy="12614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=Spens/Sales=（Bid*点击量）/(单价*订单量）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=（Bid*</a:t>
            </a:r>
            <a:r>
              <a:rPr sz="2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点击量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）/（单价*</a:t>
            </a:r>
            <a:r>
              <a:rPr sz="2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点击量</a:t>
            </a: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*转化率）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4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=Bid/（单价*转化率）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69468" y="3185400"/>
            <a:ext cx="4002071" cy="83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ACOS与Bid正比关系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ACOS与转化率反比关系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1130" y="4794401"/>
            <a:ext cx="4039162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Bid=单价*转化率*ACOS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67524" y="1307921"/>
            <a:ext cx="7083425" cy="1261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X=产品毛利率（30%）</a:t>
            </a:r>
            <a:r>
              <a:rPr sz="2800" spc="135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Y=转化率（10%）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降低第一阶段：ACOS临界点=产品毛利率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4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Bid=单价*30%=单价*3%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7524" y="3014801"/>
            <a:ext cx="6534784" cy="834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产品单价=$30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49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Bid=30*3%=0.9（广告边际流量成本）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92281" y="660488"/>
            <a:ext cx="1872281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spc="-18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降低ACOS</a:t>
            </a:r>
            <a:endParaRPr sz="2800" spc="-18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49190" y="2339978"/>
            <a:ext cx="2125199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1.降低ACOS哪个</a:t>
            </a:r>
            <a:endParaRPr sz="20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指标最快？</a:t>
            </a:r>
            <a:endParaRPr sz="20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8804" y="2466733"/>
            <a:ext cx="1448107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降低Bid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2365" y="2492256"/>
            <a:ext cx="16764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提高转化率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9190" y="2949578"/>
            <a:ext cx="2257117" cy="913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（价格/coupon）</a:t>
            </a:r>
            <a:endParaRPr sz="20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2.哪个指标降低</a:t>
            </a:r>
            <a:endParaRPr sz="20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00"/>
                </a:solidFill>
                <a:latin typeface="BAPNIG+MicrosoftYaHei-Bold" panose="02000500000000000000"/>
                <a:cs typeface="BAPNIG+MicrosoftYaHei-Bold" panose="02000500000000000000"/>
              </a:rPr>
              <a:t>的幅度最大？</a:t>
            </a:r>
            <a:endParaRPr sz="2000" dirty="0">
              <a:solidFill>
                <a:srgbClr val="FFFF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794" y="3581915"/>
            <a:ext cx="1872704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降低Bid价：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9794" y="3947676"/>
            <a:ext cx="3170634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1.广告匹配与竞价策略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2.权重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54925" y="3948310"/>
            <a:ext cx="4084141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1.提高CTR（精准流量入口）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2.Listing转化率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9794" y="4679195"/>
            <a:ext cx="1646634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3.广告效果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9160" y="5649188"/>
            <a:ext cx="2752166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广告效果好----bid降低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广告效果不好----bid提升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54925" y="5649188"/>
            <a:ext cx="3243634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转化率=订单量/点击量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点击量=精准流量+不精准流量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53970" y="502580"/>
            <a:ext cx="7253954" cy="913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693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2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ORGANIC/TOTAL数据比率----关键词权重算法</a:t>
            </a:r>
            <a:endParaRPr sz="2000" spc="-12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8100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1）大于80%以上：listing权重好，关键词排名稳定性强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2）小于50%以下：listing权重不好，关键词收录，排名不稳定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1380" y="1652540"/>
            <a:ext cx="143950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H10总收录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8379" y="1652540"/>
            <a:ext cx="220340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H10有排名收录词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9379" y="1652540"/>
            <a:ext cx="245804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H10有收录无排名词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90380" y="1652540"/>
            <a:ext cx="271267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H10总收录的不相关词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700" y="2123710"/>
            <a:ext cx="2413277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9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TOTA</a:t>
            </a:r>
            <a:r>
              <a:rPr sz="2000" spc="-594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L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KEYWORDS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28339" y="2123710"/>
            <a:ext cx="5771671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ORGANIC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KEYWORDS</a:t>
            </a:r>
            <a:r>
              <a:rPr sz="2000" spc="3163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2000" spc="-28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TOTAL减去ORGANIC</a:t>
            </a:r>
            <a:endParaRPr sz="2000" spc="-28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79000" y="2123710"/>
            <a:ext cx="193484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不精准的关键词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6864" y="2759328"/>
            <a:ext cx="3845049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H10把ASIN数据导出来制成excel表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595" y="3365994"/>
            <a:ext cx="8707566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一、符合以上（1）条件的，若D1跑词效果不好的就打D2，再次扩容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二、复核以上（2）条件的，按上图制表，“H10有收录无排名”精准关键词用来打A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7610" y="4661398"/>
            <a:ext cx="7472160" cy="913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229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1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ORGANIC/TOTAL数据量化标准----爆款运营指标参考</a:t>
            </a:r>
            <a:endParaRPr sz="2000" spc="-11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554355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-11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1）新品期到45天后，TOTAL数据超过BSR的50%以上</a:t>
            </a:r>
            <a:endParaRPr sz="2000" spc="-11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spc="-1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2）新品期到45天后，ORGANIC/TOTAL数据比率达到80%以上</a:t>
            </a:r>
            <a:endParaRPr sz="2000" spc="-1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267121" y="381448"/>
            <a:ext cx="1400957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第46-90天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8235" y="1250678"/>
            <a:ext cx="10530836" cy="1818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广告活动A：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效果好的继续保留和新增、不断增加收录词不断暂停优化；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广告活动D2：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根据效果好的广告保留且不断跟运营状况降低预算或增加；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广告活动B：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部分继续暂停（留下效果好的广告活动）；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spc="55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广告活动C2：</a:t>
            </a:r>
            <a:r>
              <a:rPr sz="2400" spc="55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根据大词自然排名目的达到及广告效果判断是否暂停（自然排</a:t>
            </a:r>
            <a:endParaRPr sz="2400" spc="55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名达到目的但ACOS高暂停，未达到目的效果不好的广告活动组暂停）。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235" y="3754445"/>
            <a:ext cx="8944421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自动广告D3：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（listing上线46天左右）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重新创建多个低出价自动广告活动进行降低ACOS，不做任何否定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135" y="4962901"/>
            <a:ext cx="8265845" cy="1202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05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手动混合广告活动E：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筛选出单词，广告词竞价匹配择优模式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417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手动广告活动F：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锁定ASIN定位投放（锁定目标投放）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426316" y="578374"/>
            <a:ext cx="975736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第46天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39" y="1522272"/>
            <a:ext cx="2531745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广告活动D3：自动广告</a:t>
            </a:r>
            <a:endParaRPr sz="1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39" y="2404363"/>
            <a:ext cx="1603585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广告D3目的：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8029" y="2404363"/>
            <a:ext cx="4813156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1）跑低频率推流的词</a:t>
            </a:r>
            <a:r>
              <a:rPr sz="1800" spc="214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2）低成本降低ACOS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39" y="2953003"/>
            <a:ext cx="9702254" cy="824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广告D3操作模型：多组活动，起步10组，预算5-10美金，推荐价50%开，升级动态、紧密匹配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44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广告D3优化事项：效果不好马上暂停，再不断新开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84639" y="649803"/>
            <a:ext cx="6361074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自动广告D3（低成本降低ACOS）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5608" y="1801714"/>
            <a:ext cx="1773708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广告活动D3-1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547" y="1911726"/>
            <a:ext cx="1122045" cy="493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多</a:t>
            </a:r>
            <a:r>
              <a:rPr sz="1600" spc="-6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组</a:t>
            </a:r>
            <a:r>
              <a:rPr sz="1600" spc="-5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等</a:t>
            </a:r>
            <a:r>
              <a:rPr sz="1600" spc="-5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同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设置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8572" y="2071318"/>
            <a:ext cx="2834005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spc="2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1）</a:t>
            </a:r>
            <a:r>
              <a:rPr sz="1800" spc="23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效果不好关闭，然后不</a:t>
            </a:r>
            <a:endParaRPr sz="1800" spc="23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断的新开</a:t>
            </a:r>
            <a:endParaRPr sz="18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1387" y="2437705"/>
            <a:ext cx="1776334" cy="9657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广告活动D3-2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25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广告活动D3-3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1547" y="2643246"/>
            <a:ext cx="1122683" cy="493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预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算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$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5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-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10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572" y="2894278"/>
            <a:ext cx="2834005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spc="89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2）</a:t>
            </a:r>
            <a:r>
              <a:rPr sz="1800" spc="92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效果好的保留。Bid涨</a:t>
            </a:r>
            <a:endParaRPr sz="1800" spc="92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了再降低出价</a:t>
            </a:r>
            <a:endParaRPr sz="18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8507" y="3363082"/>
            <a:ext cx="1371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广告分组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81547" y="3374766"/>
            <a:ext cx="964564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升降动态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01254" y="3415190"/>
            <a:ext cx="976180" cy="22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每跑1天后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48572" y="3717238"/>
            <a:ext cx="2834003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spc="204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3）</a:t>
            </a:r>
            <a:r>
              <a:rPr sz="1800" spc="205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广告竞价超过设置的</a:t>
            </a:r>
            <a:endParaRPr sz="1800" spc="205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CPC，即可降出价</a:t>
            </a:r>
            <a:endParaRPr sz="18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1547" y="3862446"/>
            <a:ext cx="1122045" cy="493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推</a:t>
            </a:r>
            <a:r>
              <a:rPr sz="1600" spc="-62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荐</a:t>
            </a:r>
            <a:r>
              <a:rPr sz="1600" spc="-5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竞</a:t>
            </a:r>
            <a:r>
              <a:rPr sz="1600" spc="-57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 </a:t>
            </a: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价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/2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48572" y="4540198"/>
            <a:ext cx="2834005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spc="6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4）</a:t>
            </a:r>
            <a:r>
              <a:rPr sz="1800" spc="60" dirty="0">
                <a:solidFill>
                  <a:schemeClr val="bg1"/>
                </a:solidFill>
                <a:latin typeface="KUMBUU+MicrosoftYaHei" panose="02000500000000000000"/>
                <a:cs typeface="KUMBUU+MicrosoftYaHei" panose="02000500000000000000"/>
              </a:rPr>
              <a:t>广</a:t>
            </a:r>
            <a:r>
              <a:rPr sz="1800" spc="56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告表现好但ACOS高</a:t>
            </a:r>
            <a:endParaRPr sz="1800" spc="56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的广告组降低出价</a:t>
            </a:r>
            <a:endParaRPr sz="18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1547" y="4593966"/>
            <a:ext cx="964564" cy="736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紧密匹配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660"/>
              </a:lnSpc>
              <a:spcBef>
                <a:spcPts val="213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不做否定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77602" y="5142716"/>
            <a:ext cx="1923033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KUMBUU+MicrosoftYaHei" panose="02000500000000000000"/>
                <a:cs typeface="KUMBUU+MicrosoftYaHei" panose="02000500000000000000"/>
              </a:rPr>
              <a:t>广告活动D3-10</a:t>
            </a:r>
            <a:endParaRPr sz="2000" dirty="0">
              <a:solidFill>
                <a:srgbClr val="FFFFFF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45879" y="368447"/>
            <a:ext cx="6962881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手动广告混合打法——混合广告活动E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4624" y="925677"/>
            <a:ext cx="3756198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目的：降低ACOS，转化率为突破点</a:t>
            </a:r>
            <a:endParaRPr sz="1800" dirty="0">
              <a:solidFill>
                <a:srgbClr val="FF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73895" y="1269876"/>
            <a:ext cx="8300718" cy="913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选词匹配条件：（1）暂不选择高于临界成本的词；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（2）同竞价优先选精准，或再到词组；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（3）广泛竞价低于词组0.05或低于精准0.1选广泛，否定延伸不精准词。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7555" y="2577739"/>
            <a:ext cx="19812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广泛、词组、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精准三种匹配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23898" y="2897178"/>
            <a:ext cx="3357344" cy="1522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（1）在广泛/词组/精准选出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性价比高的词留在现匹配中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一起混合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（2）所有变体在广告运营中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淘汰表现差的变体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8481" y="3138004"/>
            <a:ext cx="19297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重新建混合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26281" y="3564724"/>
            <a:ext cx="15741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广告活动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7555" y="3920358"/>
            <a:ext cx="19812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所有变体同时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60960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加入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75678" y="5820417"/>
            <a:ext cx="4042023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只降低策略+广告位竞价方案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287907" y="1850283"/>
            <a:ext cx="2895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三组匹配选择依据：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87907" y="2216043"/>
            <a:ext cx="4293542" cy="3281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（1）推荐价格等同下或差距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不超过0.06的组合优先排序：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完全&gt;短语&gt;广泛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（2）推荐价格差距超过0.2的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可以选择最低价的组合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短语or宽泛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（3）以上两个判断不清楚时，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再依据为推荐价格越靠近建议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价格的最低区价（权重越大）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31112" y="502000"/>
            <a:ext cx="9364547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锁定ASIN广告活动F：手动ASIN关联（锁定目标）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4602" y="976282"/>
            <a:ext cx="4302918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EE0000"/>
                </a:solidFill>
                <a:latin typeface="BAPNIG+MicrosoftYaHei-Bold" panose="02000500000000000000"/>
                <a:cs typeface="BAPNIG+MicrosoftYaHei-Bold" panose="02000500000000000000"/>
              </a:rPr>
              <a:t>目的：抢流量—ASIN选择新品</a:t>
            </a:r>
            <a:endParaRPr sz="2400" dirty="0">
              <a:solidFill>
                <a:srgbClr val="EE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9209" y="2724361"/>
            <a:ext cx="1371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锁定同行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2071" y="2983046"/>
            <a:ext cx="524947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只降低竞价策略+商品页面+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2094" y="3090121"/>
            <a:ext cx="925899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ASIN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6809" y="3455881"/>
            <a:ext cx="16764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（占优势）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72721" y="3470727"/>
            <a:ext cx="5006609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推荐价格出价+广告位5</a:t>
            </a:r>
            <a:r>
              <a:rPr lang="en-US"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0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%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9280" y="5344582"/>
            <a:ext cx="1279731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975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等同属性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颜色/尺寸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11526" y="5344582"/>
            <a:ext cx="1519322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545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价格优势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Review优势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00301" y="2926354"/>
            <a:ext cx="9180830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第四节</a:t>
            </a:r>
            <a:r>
              <a:rPr sz="3200" spc="111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“平稳续爆”3个月后老产品的运营与打法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48734" y="376118"/>
            <a:ext cx="4653435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盘活老LISTING运营打法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3499" y="2559298"/>
            <a:ext cx="96646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死水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21903" y="2559298"/>
            <a:ext cx="1373504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半桶水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460" y="3125990"/>
            <a:ext cx="3017043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BSR5%销量；市场需求好；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974725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退货率低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49602" y="3155289"/>
            <a:ext cx="1577354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小类目20以外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67651" y="4706276"/>
            <a:ext cx="37077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除主图、标题、类目外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2106" y="5121274"/>
            <a:ext cx="2786211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全部优化后打</a:t>
            </a: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D2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37346" y="5132996"/>
            <a:ext cx="8629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优化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59546" y="5559716"/>
            <a:ext cx="12185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打</a:t>
            </a:r>
            <a:r>
              <a:rPr sz="2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递增</a:t>
            </a:r>
            <a:endParaRPr sz="2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48734" y="376118"/>
            <a:ext cx="4653435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盘活老LISTING运营打法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9901" y="960144"/>
            <a:ext cx="2895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改标题、主图（主图命名）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0574" y="2315459"/>
            <a:ext cx="2337629" cy="949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8145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D2广告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340"/>
              </a:lnSpc>
              <a:spcBef>
                <a:spcPts val="55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激活A9打法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3899" y="2559298"/>
            <a:ext cx="2187575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递增量打法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0269" y="3108400"/>
            <a:ext cx="15240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类目递增打法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75246" y="4573806"/>
            <a:ext cx="2164613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1.确保库存量足够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5391" y="4714485"/>
            <a:ext cx="3385070" cy="1217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1.筛选出单大于3单的词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2.广告活动A模式打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3.优势价格或coupon折扣力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度逐步加大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75246" y="4878606"/>
            <a:ext cx="3960983" cy="913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2.确保广告成本投入预算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3.查询H10的精准度或重新优化文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案基础上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5246" y="5793006"/>
            <a:ext cx="3765406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4.优势价格或coupons逐步加大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56829" y="2624978"/>
            <a:ext cx="9589770" cy="566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第五节</a:t>
            </a:r>
            <a:r>
              <a:rPr sz="4000" spc="138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“BSR”头部卖家产品运营与打法</a:t>
            </a:r>
            <a:endParaRPr sz="4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80685" y="1087987"/>
            <a:ext cx="1758312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BEST</a:t>
            </a:r>
            <a:r>
              <a:rPr sz="2000" spc="93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SELLER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417" y="2222152"/>
            <a:ext cx="11058525" cy="1452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2694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广告活动G</a:t>
            </a:r>
            <a:endParaRPr sz="24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225165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（1）增加高效出单词做广告活动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（2）自动广告选择投放页面（页面广告位51%），四个匹配都开（增加流量池）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85039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（3）类目广告</a:t>
            </a:r>
            <a:r>
              <a:rPr sz="2400" spc="1544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（4）品牌视频广告</a:t>
            </a:r>
            <a:r>
              <a:rPr sz="2400" spc="1544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（5）展示广告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35293" y="4765691"/>
            <a:ext cx="5063697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577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按搜索量大小分组，10-20个词一组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精准匹配+固定策略+推荐价格+51%广告位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0099" y="4914010"/>
            <a:ext cx="1846396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广告活动G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5341" y="4939469"/>
            <a:ext cx="16764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高效出单词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369026" y="1087987"/>
            <a:ext cx="117094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视频广告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5032" y="2277397"/>
            <a:ext cx="10674350" cy="1282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视频广告先出高价，根据效果再降低</a:t>
            </a:r>
            <a:endParaRPr lang="zh-CN"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视频广告和展示型广告跟关键词没有直接关系。但是导致销量增加反过来提升排名会提升权重</a:t>
            </a:r>
            <a:endParaRPr lang="zh-CN"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选词：高于</a:t>
            </a:r>
            <a:r>
              <a:rPr lang="en-US" altLang="zh-CN"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10</a:t>
            </a:r>
            <a:r>
              <a:rPr lang="zh-CN" altLang="en-US"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单的关键词，然后再往</a:t>
            </a:r>
            <a:r>
              <a:rPr lang="en-US" altLang="zh-CN"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5</a:t>
            </a:r>
            <a:r>
              <a:rPr lang="zh-CN" altLang="en-US"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单出单词、</a:t>
            </a:r>
            <a:r>
              <a:rPr lang="en-US" altLang="zh-CN"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单出单词打</a:t>
            </a:r>
            <a:endParaRPr lang="zh-CN" altLang="en-US"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76084" y="544232"/>
            <a:ext cx="406336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广告阶段性模型投放导图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06888" y="1432758"/>
            <a:ext cx="581669" cy="1170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045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A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57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D2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27635" marR="0">
              <a:lnSpc>
                <a:spcPts val="2500"/>
              </a:lnSpc>
              <a:spcBef>
                <a:spcPts val="84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E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1607" y="1457294"/>
            <a:ext cx="381595" cy="9652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A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3335" marR="0">
              <a:lnSpc>
                <a:spcPts val="2500"/>
              </a:lnSpc>
              <a:spcBef>
                <a:spcPts val="230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65016" y="1469016"/>
            <a:ext cx="381595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A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72119" y="1459657"/>
            <a:ext cx="381595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A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81953" y="1506088"/>
            <a:ext cx="381595" cy="959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A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2700" marR="0">
              <a:lnSpc>
                <a:spcPts val="2500"/>
              </a:lnSpc>
              <a:spcBef>
                <a:spcPts val="225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3969" y="1772445"/>
            <a:ext cx="528339" cy="218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新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556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品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15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21285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-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45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556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天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20906" y="1823473"/>
            <a:ext cx="528339" cy="2184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新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556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品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46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21285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-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90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556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天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6119" y="1943603"/>
            <a:ext cx="457200" cy="721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新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品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65757" y="1966107"/>
            <a:ext cx="581669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D3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87763" y="1970501"/>
            <a:ext cx="457200" cy="1818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26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6096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S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46355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R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头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部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11073" y="2180267"/>
            <a:ext cx="528339" cy="1452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老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556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品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90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5560" marR="0">
              <a:lnSpc>
                <a:spcPts val="2500"/>
              </a:lnSpc>
              <a:spcBef>
                <a:spcPts val="3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天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78110" y="2280851"/>
            <a:ext cx="360759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B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93392" y="2507432"/>
            <a:ext cx="326677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E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0559" y="2673574"/>
            <a:ext cx="1330474" cy="982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前</a:t>
            </a:r>
            <a:r>
              <a:rPr sz="2400" spc="2877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C1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14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784860" marR="0">
              <a:lnSpc>
                <a:spcPts val="20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C2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45381" y="2668785"/>
            <a:ext cx="32251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F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75591" y="2740388"/>
            <a:ext cx="581669" cy="962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D3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36525" marR="0">
              <a:lnSpc>
                <a:spcPts val="2500"/>
              </a:lnSpc>
              <a:spcBef>
                <a:spcPts val="22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E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04251" y="2982564"/>
            <a:ext cx="32251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F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80180" y="3039905"/>
            <a:ext cx="545603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C2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76471" y="3115034"/>
            <a:ext cx="670000" cy="724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视频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8890" marR="0">
              <a:lnSpc>
                <a:spcPts val="2090"/>
              </a:lnSpc>
              <a:spcBef>
                <a:spcPts val="123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展示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6119" y="3406643"/>
            <a:ext cx="4572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天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35341" y="3518462"/>
            <a:ext cx="670000" cy="7785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视频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8890" marR="0">
              <a:lnSpc>
                <a:spcPts val="2090"/>
              </a:lnSpc>
              <a:spcBef>
                <a:spcPts val="160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展示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90078" y="3910338"/>
            <a:ext cx="58167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D1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73487" y="3922060"/>
            <a:ext cx="581669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D2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14084" y="3928752"/>
            <a:ext cx="32251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F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342283" y="3984628"/>
            <a:ext cx="34723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G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8875" y="4622177"/>
            <a:ext cx="12954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快速打收录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2860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推排名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62109" y="4616322"/>
            <a:ext cx="8382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推排名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1430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扩容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34508" y="4619243"/>
            <a:ext cx="10668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稳住排名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35519" y="4622177"/>
            <a:ext cx="10668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稳住排名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保住销量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771697" y="4616322"/>
            <a:ext cx="10668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大类前进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销量利润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63108" y="4893563"/>
            <a:ext cx="609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扩容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95460" y="5420786"/>
            <a:ext cx="1579880" cy="65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总收录词增率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465"/>
              </a:lnSpc>
              <a:spcBef>
                <a:spcPts val="165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有排名收录词增率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88900" marR="0">
              <a:lnSpc>
                <a:spcPts val="1465"/>
              </a:lnSpc>
              <a:spcBef>
                <a:spcPts val="215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总与有排名比率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19348" y="5420786"/>
            <a:ext cx="1579880" cy="650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总收录词增率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465"/>
              </a:lnSpc>
              <a:spcBef>
                <a:spcPts val="165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有排名收录词增率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88900" marR="0">
              <a:lnSpc>
                <a:spcPts val="1465"/>
              </a:lnSpc>
              <a:spcBef>
                <a:spcPts val="215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总与有排名比率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5746" y="5533334"/>
            <a:ext cx="1589638" cy="437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H10总收录词增率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5080" marR="0">
              <a:lnSpc>
                <a:spcPts val="1465"/>
              </a:lnSpc>
              <a:spcBef>
                <a:spcPts val="165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有排名收录词增率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082171" y="5530400"/>
            <a:ext cx="1579880" cy="437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有排名收录词增率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88900" marR="0">
              <a:lnSpc>
                <a:spcPts val="1465"/>
              </a:lnSpc>
              <a:spcBef>
                <a:spcPts val="165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总与有排名比率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83183" y="5533334"/>
            <a:ext cx="1579880" cy="437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有排名收录词增率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88900" marR="0">
              <a:lnSpc>
                <a:spcPts val="1465"/>
              </a:lnSpc>
              <a:spcBef>
                <a:spcPts val="165"/>
              </a:spcBef>
              <a:spcAft>
                <a:spcPts val="0"/>
              </a:spcAft>
            </a:pPr>
            <a:r>
              <a:rPr sz="1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总与有排名比率</a:t>
            </a:r>
            <a:endParaRPr sz="1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59231" y="6334844"/>
            <a:ext cx="10911205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注明：红色为阶段新增广告活动、白色为尽量保留广告活动；浅蓝色为广告活动目的、深蓝色为H10收录数据的重点关注</a:t>
            </a:r>
            <a:endParaRPr sz="16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25840" y="2302526"/>
            <a:ext cx="8686800" cy="673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第六部分：广告体系之优化复盘</a:t>
            </a:r>
            <a:endParaRPr sz="4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70503" y="3930801"/>
            <a:ext cx="5400675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广告的调整：广告优化+广告复盘</a:t>
            </a:r>
            <a:endParaRPr sz="2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70400" y="376118"/>
            <a:ext cx="340867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广告体系第二部分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42985" y="1666519"/>
            <a:ext cx="17526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92D050"/>
                </a:solidFill>
                <a:latin typeface="KUMBUU+MicrosoftYaHei" panose="02000500000000000000"/>
                <a:cs typeface="KUMBUU+MicrosoftYaHei" panose="02000500000000000000"/>
              </a:rPr>
              <a:t>广告数据报表</a:t>
            </a:r>
            <a:endParaRPr sz="1800" dirty="0">
              <a:solidFill>
                <a:srgbClr val="92D05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92D050"/>
                </a:solidFill>
                <a:latin typeface="KUMBUU+MicrosoftYaHei" panose="02000500000000000000"/>
                <a:cs typeface="KUMBUU+MicrosoftYaHei" panose="02000500000000000000"/>
              </a:rPr>
              <a:t>买家搜索词报表</a:t>
            </a:r>
            <a:endParaRPr sz="1800" dirty="0">
              <a:solidFill>
                <a:srgbClr val="92D05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8926" y="1792858"/>
            <a:ext cx="3707765" cy="1447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第一节：广告报表分析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527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第二节：广告词的解析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05721" y="2268465"/>
            <a:ext cx="659765" cy="239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优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化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复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盘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8926" y="3878871"/>
            <a:ext cx="3707765" cy="13825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第三节：广告优化目的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476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第四节：广告的复盘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34917" y="2642556"/>
            <a:ext cx="5026025" cy="566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第一节</a:t>
            </a:r>
            <a:r>
              <a:rPr sz="4000" spc="138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广告报表分析</a:t>
            </a:r>
            <a:endParaRPr sz="4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60736" y="368447"/>
            <a:ext cx="4629784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广告报表分析维度及操作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7535" y="960144"/>
            <a:ext cx="403860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广告报表累加（从上架开始全面分析）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3940" y="1274029"/>
            <a:ext cx="9469949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1.客户搜索词、展现量、点击量、点击率、每次点击成本、ACOS、订单数、转化率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3940" y="1731229"/>
            <a:ext cx="10488489" cy="760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2.</a:t>
            </a:r>
            <a:r>
              <a:rPr sz="20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客户搜索词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：用来重新做单独关键词矩阵，表现好的词再次埋词，ACOS高不精准的词加入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广告否定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3940" y="2645629"/>
            <a:ext cx="10507264" cy="3503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3.</a:t>
            </a:r>
            <a:r>
              <a:rPr sz="20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展现量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：每三天做一次展现量对比，分析广告效果与广告词位置波动趋势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4.</a:t>
            </a:r>
            <a:r>
              <a:rPr sz="20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点击量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：根据广告阶段节奏分析广告是否达到目的（关键词的收录），总量判断主图、价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格、评论（数量与系数）、广告位优劣势四大因素的不足之处：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5.</a:t>
            </a:r>
            <a:r>
              <a:rPr sz="20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点击率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：判断流量精准度、</a:t>
            </a:r>
            <a:r>
              <a:rPr sz="20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关键词排名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拉动力、广告效果体现；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6.</a:t>
            </a:r>
            <a:r>
              <a:rPr sz="20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每次点击成本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：对标广告流量边际成本，判断某些词是否再要调整；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7.</a:t>
            </a:r>
            <a:r>
              <a:rPr sz="2000" spc="-15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ACOS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：针对广告阶段节奏设定不同ACOS峰值，分析ACOS的两个指标（bid与转化率）；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8.</a:t>
            </a:r>
            <a:r>
              <a:rPr sz="20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订单数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：出单词归类，≥10单为必然出单词；≤2单为偶然出单词，偶然出单词试打能否转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变为必然出单词；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3940" y="6303229"/>
            <a:ext cx="8992509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9.</a:t>
            </a:r>
            <a:r>
              <a:rPr sz="2000" dirty="0">
                <a:solidFill>
                  <a:srgbClr val="FF0000"/>
                </a:solidFill>
                <a:latin typeface="KUMBUU+MicrosoftYaHei" panose="02000500000000000000"/>
                <a:cs typeface="KUMBUU+MicrosoftYaHei" panose="02000500000000000000"/>
              </a:rPr>
              <a:t>转化率</a:t>
            </a: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：解析广告词入口流量是否精准，listing不同阶段的转化率是否有影响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34917" y="2642556"/>
            <a:ext cx="5026025" cy="566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第二节</a:t>
            </a:r>
            <a:r>
              <a:rPr sz="4000" spc="138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广告词的解析</a:t>
            </a:r>
            <a:endParaRPr sz="4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76736" y="630054"/>
            <a:ext cx="2594610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广告词的解析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3940" y="1641284"/>
            <a:ext cx="10439400" cy="687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广告词的解析：分析某一个</a:t>
            </a: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广告词</a:t>
            </a: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（在所有广告活动）的所积累数据的分析且加以对这个词的优化调整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131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方案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3940" y="2464244"/>
            <a:ext cx="537083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1.分析某个词在某个广告活动或某个阶段的表现效果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3940" y="2875724"/>
            <a:ext cx="8571230" cy="2745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2.平均bid值：对标广告流量边际成本，根据阶段性判断是否继续投放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131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3.曝光量总和的词：分析获取的流量的得与失，获得流量突破口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136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4.花费总和：判断某个词消耗预算的比重，避免广告预算边缘化，导致广告效果变差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131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5.订单量总和：打递增量或拉销量时，采取针对性选必然或更多可能出单量的词来打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131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6.平均ACOS：不同极端ACOS的分析，控制ACOS高的词来平衡投入产出效果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136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7.平均点击量：某次的获取流量的分析，以及收录是否做到位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1875"/>
              </a:lnSpc>
              <a:spcBef>
                <a:spcPts val="131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8.平均点击率：某词的流量精准度判断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3940" y="5756071"/>
            <a:ext cx="491363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9.平均转化率：某词的广告拉动排名是否稳定性</a:t>
            </a:r>
            <a:endParaRPr sz="1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35200" y="376118"/>
            <a:ext cx="7886063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广告效果常见问题及反映出自身什么状况？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5204" y="1419842"/>
            <a:ext cx="1739607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1</a:t>
            </a:r>
            <a:r>
              <a:rPr sz="1800" spc="3738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有预算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8775" y="1415486"/>
            <a:ext cx="2133752" cy="1802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烧不出去</a:t>
            </a:r>
            <a:r>
              <a:rPr sz="2400" spc="2974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？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55575" marR="0">
              <a:lnSpc>
                <a:spcPts val="2500"/>
              </a:lnSpc>
              <a:spcBef>
                <a:spcPts val="304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无点击</a:t>
            </a:r>
            <a:r>
              <a:rPr sz="2400" spc="4175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？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36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有点击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0945" y="2126127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有曝光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8138" y="2170023"/>
            <a:ext cx="293377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2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6939" y="2864658"/>
            <a:ext cx="1763052" cy="1750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3</a:t>
            </a:r>
            <a:r>
              <a:rPr sz="1800" spc="3737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有曝光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3175" marR="0">
              <a:lnSpc>
                <a:spcPts val="2500"/>
              </a:lnSpc>
              <a:spcBef>
                <a:spcPts val="299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4</a:t>
            </a:r>
            <a:r>
              <a:rPr sz="1800" spc="3737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有曝光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23495" marR="0">
              <a:lnSpc>
                <a:spcPts val="2500"/>
              </a:lnSpc>
              <a:spcBef>
                <a:spcPts val="299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5</a:t>
            </a:r>
            <a:r>
              <a:rPr sz="1800" spc="3737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有曝光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1496" y="2854459"/>
            <a:ext cx="2204377" cy="1054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9225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CTR低</a:t>
            </a:r>
            <a:r>
              <a:rPr sz="2400" spc="4791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？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299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CTR可以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71708" y="3559474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有点击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4714" y="3551969"/>
            <a:ext cx="2179993" cy="1054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14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转化低</a:t>
            </a:r>
            <a:r>
              <a:rPr sz="2400" spc="4785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？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2980"/>
              </a:spcBef>
              <a:spcAft>
                <a:spcPts val="0"/>
              </a:spcAft>
            </a:pPr>
            <a:r>
              <a:rPr sz="2400" spc="-18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ACOS高</a:t>
            </a:r>
            <a:r>
              <a:rPr sz="2400" spc="3828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？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92231" y="4256984"/>
            <a:ext cx="10668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有点击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02019" y="4251129"/>
            <a:ext cx="1370707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CTR可以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44751" y="4954565"/>
            <a:ext cx="1400708" cy="608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1.出价低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2.主图问题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44751" y="5564165"/>
            <a:ext cx="5820887" cy="913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3.主图、Listing问题、流量不精准、地理位置问题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4.流量不精准、卖家搜索词出问题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090"/>
              </a:lnSpc>
              <a:spcBef>
                <a:spcPts val="3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5.广告优化</a:t>
            </a:r>
            <a:endParaRPr sz="2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80917" y="2642556"/>
            <a:ext cx="5534025" cy="566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第三节</a:t>
            </a:r>
            <a:r>
              <a:rPr sz="4000" spc="138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广告优化的目的</a:t>
            </a:r>
            <a:endParaRPr sz="4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58287" y="1025939"/>
            <a:ext cx="1371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追求销量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53487" y="1529494"/>
            <a:ext cx="19812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递增量打节奏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9143" y="2860428"/>
            <a:ext cx="966469" cy="901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3340"/>
              </a:lnSpc>
              <a:spcBef>
                <a:spcPts val="165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优化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8797" y="2875250"/>
            <a:ext cx="13716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追求利润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07761" y="3080138"/>
            <a:ext cx="966469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目的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54338" y="3378805"/>
            <a:ext cx="1629221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spc="-15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降低ACOS</a:t>
            </a:r>
            <a:endParaRPr sz="2400" spc="-15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32188" y="4683526"/>
            <a:ext cx="1676400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追求推排名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5334" y="5187081"/>
            <a:ext cx="2150715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提升CTR/CVR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60800" y="326486"/>
            <a:ext cx="4629784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递增量打节奏，追求销量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0654" y="999493"/>
            <a:ext cx="117094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手动广告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4138" y="1341809"/>
            <a:ext cx="6622962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1.出单≥10且转化率≥15%的词--提高出价，建议置顶首页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4138" y="1799009"/>
            <a:ext cx="10077194" cy="1217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2.出单≥10且转化率&lt;15%的词--降低出价，否定不相关词（Exact除外）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3.出单&lt;10且15%≤转化率&lt;50%的词，CPC&gt;2--提高出价，否定不相关词（Exact除外）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4.转化率≥50%的词--提高出价，增加曝光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4138" y="3170609"/>
            <a:ext cx="8089972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5.出单&lt;10且15%≤转化率的词，CPC≤2--否定不相关词（Exact除外）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7465" y="3749043"/>
            <a:ext cx="1170940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自动广告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328" y="4082469"/>
            <a:ext cx="10697119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1.出单≥10且转化率&lt;15%的词--放入手动广告（精准或词组匹配），降低出价，否定不相关词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7328" y="4539669"/>
            <a:ext cx="10697119" cy="1675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2.出单≥10且转化率≥15%的词--放入手动广告（精准或词组匹配），提高出价，建议置顶首页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3.出单&lt;10且15%≤转化率&lt;50%的词--放入手动广告，提高出价，否定不相关词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4.转化率≥50%的词--放入手动广告（精准匹配）提高出价，增加曝光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5.出单&lt;10单，转化率≥15%--否定不相关词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01465" y="1002126"/>
            <a:ext cx="4159746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spc="-1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降低ACOS，追求利润</a:t>
            </a:r>
            <a:endParaRPr sz="3200" spc="-1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83939" y="1644751"/>
            <a:ext cx="3126432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ACOS在40%以内是可控范围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553" y="2224459"/>
            <a:ext cx="10266928" cy="213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1.出单≥3单，转化率≥15%，ACOS≤30%--继续保留投放，否定不相关词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2.出单≥3单，转化率&lt;15%，ACOS≤30%--降低出价，否定不相关词（Exact除外）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3.出单≥1单&lt;3单，转化率≥15%，ACOS≤30%--提高出价，观察ACOS变动状况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4.出单≥1单&lt;3单，转化率&lt;15%，ACOS≤30%--暂停点击量多无转化的词和否定不相关词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（Exact除外）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9553" y="4510459"/>
            <a:ext cx="10805663" cy="760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5.出单≥3单，ACOS≥30%--降低出价，否定不相关词（Exact除外），观察ACOS后续动态，持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090"/>
              </a:lnSpc>
              <a:spcBef>
                <a:spcPts val="151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续上升就暂停，提取出单词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553" y="5424859"/>
            <a:ext cx="9492951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6.出单≥1单&lt;3单，ACOS≥30%--降低出价，否定不相关词，ACOS持续过高就暂停</a:t>
            </a:r>
            <a:endParaRPr sz="20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85950" y="1002126"/>
            <a:ext cx="8584661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广告优化目的——提升CTR/CVR，追求推排名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0873" y="1655393"/>
            <a:ext cx="6714045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BAPNIG+MicrosoftYaHei-Bold" panose="02000500000000000000"/>
                <a:cs typeface="BAPNIG+MicrosoftYaHei-Bold" panose="02000500000000000000"/>
              </a:rPr>
              <a:t>CTR最优为1%-5%；转化率参考值为15%，ACOS参考值为40%</a:t>
            </a:r>
            <a:endParaRPr sz="1800" dirty="0">
              <a:solidFill>
                <a:srgbClr val="FF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6421" y="2680880"/>
            <a:ext cx="10458407" cy="104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（1）CTR≥1%且转化率≥15%——继续保留投放，关注CTR/CVR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217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动向；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6421" y="3961040"/>
            <a:ext cx="10699115" cy="104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（2）CTR&lt;1%且转化率&lt;15%——否定不相关词，暂停点击量大无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217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转化的词（Exact除外）。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34917" y="2642556"/>
            <a:ext cx="5026025" cy="566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第四节</a:t>
            </a:r>
            <a:r>
              <a:rPr sz="4000" spc="138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广告词的复盘</a:t>
            </a:r>
            <a:endParaRPr sz="4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76800" y="1002126"/>
            <a:ext cx="2594610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广告词的复盘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0851" y="2083468"/>
            <a:ext cx="10836324" cy="2001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1.相关但无曝光的词，重新组合广告：广泛匹配+升降动态+广告位+推荐价格；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18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2.某一个关键词在多个广告活动出现的，保留广告效果最好的，暂停无效果的；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18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3.点击很少但转化率&gt;50%的偶然出单词，重新组合广告：精准匹配+固定策略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187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+推荐价格+51%广告位；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0851" y="4278028"/>
            <a:ext cx="9469784" cy="904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4.升降动态策略广告效果不好的广告活动，调整为固定策略+广告位；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18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5.固定策略广告效果不好的广告活动，调整为升降动态策略。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40240" y="2891577"/>
            <a:ext cx="6858000" cy="673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第七部分：爆款案例讲解</a:t>
            </a:r>
            <a:endParaRPr sz="4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76800" y="376118"/>
            <a:ext cx="2594610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爆款打法体系</a:t>
            </a:r>
            <a:endParaRPr sz="32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2221" y="2874254"/>
            <a:ext cx="659765" cy="239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爆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款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打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法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8926" y="3313874"/>
            <a:ext cx="4774565" cy="1447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第一节：打造爆款前数据判断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910"/>
              </a:lnSpc>
              <a:spcBef>
                <a:spcPts val="527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第二节：爆款案例讲解</a:t>
            </a:r>
            <a:endParaRPr sz="28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72803" y="2851585"/>
            <a:ext cx="6550025" cy="566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第一节</a:t>
            </a:r>
            <a:r>
              <a:rPr sz="4000" spc="138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打造爆款前数据判断</a:t>
            </a:r>
            <a:endParaRPr sz="4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28769" y="3832618"/>
            <a:ext cx="3653790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日出100单以上为爆款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51716" y="454820"/>
            <a:ext cx="4502199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BSR1-5的LISTING销量体量评估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9871" y="1118200"/>
            <a:ext cx="659765" cy="422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打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造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爆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款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前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判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4160"/>
              </a:lnSpc>
              <a:spcBef>
                <a:spcPts val="635"/>
              </a:spcBef>
              <a:spcAft>
                <a:spcPts val="0"/>
              </a:spcAft>
            </a:pPr>
            <a:r>
              <a:rPr sz="40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断</a:t>
            </a:r>
            <a:endParaRPr sz="40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1716" y="1278504"/>
            <a:ext cx="5943600" cy="2826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产品上线前做好站内和站外的测试（测款）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98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产品上线后早期评论或VINE评论判断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98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文案的“两准两多”高要求严格判断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98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广告投入规划（广告目的性强）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7577" y="1376611"/>
            <a:ext cx="2303780" cy="43180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129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产品真实需求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1310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LISTING流量池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61290" marR="0">
              <a:lnSpc>
                <a:spcPts val="2500"/>
              </a:lnSpc>
              <a:spcBef>
                <a:spcPts val="1310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质量库存把控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1716" y="4573252"/>
            <a:ext cx="3810000" cy="1887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早期产品务必全检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53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供应链跟得上及库存量充足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  <a:p>
            <a:pPr marL="0" marR="0">
              <a:lnSpc>
                <a:spcPts val="2500"/>
              </a:lnSpc>
              <a:spcBef>
                <a:spcPts val="35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KUMBUU+MicrosoftYaHei" panose="02000500000000000000"/>
                <a:cs typeface="KUMBUU+MicrosoftYaHei" panose="02000500000000000000"/>
              </a:rPr>
              <a:t>物流布局好</a:t>
            </a:r>
            <a:endParaRPr sz="2400" dirty="0">
              <a:solidFill>
                <a:srgbClr val="000000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8894" y="6175370"/>
            <a:ext cx="4251325" cy="24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4472C4"/>
                </a:solidFill>
                <a:latin typeface="KUMBUU+MicrosoftYaHei" panose="02000500000000000000"/>
                <a:cs typeface="KUMBUU+MicrosoftYaHei" panose="02000500000000000000"/>
              </a:rPr>
              <a:t>抓住亚马逊平台每14天做一次库存计划的机会</a:t>
            </a:r>
            <a:endParaRPr sz="1600" dirty="0">
              <a:solidFill>
                <a:srgbClr val="4472C4"/>
              </a:solidFill>
              <a:latin typeface="KUMBUU+MicrosoftYaHei" panose="02000500000000000000"/>
              <a:cs typeface="KUMBUU+MicrosoftYaHei" panose="02000500000000000000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31862" y="1380705"/>
            <a:ext cx="1635554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POINTS: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1862" y="2020785"/>
            <a:ext cx="10594340" cy="168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1.订单节奏：每日单量够了暂停广告；不够增加广告或打折。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217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2.多家货代叠加，不依赖同一家（例：2000件分两家发货）；多家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212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物流轮流走，新货代发三批小量货后才可以确定合作。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862" y="3941025"/>
            <a:ext cx="3618556" cy="104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3.流量递增+价格降低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910"/>
              </a:lnSpc>
              <a:spcBef>
                <a:spcPts val="217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4.10%&lt;动销率&lt;25%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6432" y="3941025"/>
            <a:ext cx="1574164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转化率。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1862" y="5221185"/>
            <a:ext cx="5548630" cy="40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5.新品、新店铺不建议做DEALS。</a:t>
            </a:r>
            <a:endParaRPr sz="28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34803" y="2851585"/>
            <a:ext cx="5026025" cy="566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第二节</a:t>
            </a:r>
            <a:r>
              <a:rPr sz="4000" spc="138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 </a:t>
            </a:r>
            <a:r>
              <a:rPr sz="4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爆款案例讲解</a:t>
            </a:r>
            <a:endParaRPr sz="4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31862" y="1163175"/>
            <a:ext cx="1458664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案例总结: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1862" y="1711815"/>
            <a:ext cx="7437834" cy="2001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1.前提关键词收集、分类肯定词与否定词、生成矩阵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18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2.文案（关键词布局）很重要，要重视，判断好再发货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18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3.自然排名/自然流量/自然出单量太重要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187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4.新品库存到位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862" y="3906375"/>
            <a:ext cx="6556375" cy="904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5.尽量保持递增（listing新品期表现好很重要）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182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6.评论要跟得上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1862" y="5003655"/>
            <a:ext cx="3475434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7.新品期价格优势要明显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1862" y="5552295"/>
            <a:ext cx="4694634" cy="355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BAPNIG+MicrosoftYaHei-Bold" panose="02000500000000000000"/>
                <a:cs typeface="BAPNIG+MicrosoftYaHei-Bold" panose="02000500000000000000"/>
              </a:rPr>
              <a:t>8.运营数据跟踪与及时做运营调整</a:t>
            </a:r>
            <a:endParaRPr sz="2400" dirty="0">
              <a:solidFill>
                <a:srgbClr val="000000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00384" y="728924"/>
            <a:ext cx="3001645" cy="46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0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精品打爆款总结</a:t>
            </a:r>
            <a:endParaRPr sz="32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47301" y="2244610"/>
            <a:ext cx="10668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前奏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广告投入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1256" y="2229954"/>
            <a:ext cx="8382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海量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关键词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8845" y="2238755"/>
            <a:ext cx="8382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递增量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11430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打法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30068" y="2238755"/>
            <a:ext cx="6096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获评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节奏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65079" y="2238755"/>
            <a:ext cx="609600" cy="550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优势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1875"/>
              </a:lnSpc>
              <a:spcBef>
                <a:spcPts val="235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价格</a:t>
            </a:r>
            <a:endParaRPr sz="18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5700" y="2398602"/>
            <a:ext cx="91630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好产品</a:t>
            </a:r>
            <a:endParaRPr sz="20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9024" y="4369760"/>
            <a:ext cx="1066800" cy="1087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有市场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有品质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有库存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17996" y="4372681"/>
            <a:ext cx="2286000" cy="1087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操盘有前后布局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打法有阶段节奏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  <a:p>
            <a:pPr marL="0" marR="0">
              <a:lnSpc>
                <a:spcPts val="2500"/>
              </a:lnSpc>
              <a:spcBef>
                <a:spcPts val="380"/>
              </a:spcBef>
              <a:spcAft>
                <a:spcPts val="0"/>
              </a:spcAft>
            </a:pPr>
            <a:r>
              <a:rPr sz="2400" dirty="0">
                <a:solidFill>
                  <a:srgbClr val="FFFFFF"/>
                </a:solidFill>
                <a:latin typeface="BAPNIG+MicrosoftYaHei-Bold" panose="02000500000000000000"/>
                <a:cs typeface="BAPNIG+MicrosoftYaHei-Bold" panose="02000500000000000000"/>
              </a:rPr>
              <a:t>运营有数据跟踪</a:t>
            </a:r>
            <a:endParaRPr sz="2400" dirty="0">
              <a:solidFill>
                <a:srgbClr val="FFFFFF"/>
              </a:solidFill>
              <a:latin typeface="BAPNIG+MicrosoftYaHei-Bold" panose="02000500000000000000"/>
              <a:cs typeface="BAPNIG+MicrosoftYaHei-Bold" panose="02000500000000000000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圆角矩形 6"/>
          <p:cNvSpPr/>
          <p:nvPr/>
        </p:nvSpPr>
        <p:spPr>
          <a:xfrm>
            <a:off x="6024245" y="2204720"/>
            <a:ext cx="6048375" cy="266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37160" y="1844675"/>
            <a:ext cx="6174740" cy="45364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-5080" y="548640"/>
            <a:ext cx="12197080" cy="720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7556" y="2420365"/>
            <a:ext cx="6797992" cy="3446780"/>
          </a:xfrm>
        </p:spPr>
        <p:txBody>
          <a:bodyPr/>
          <a:p>
            <a:r>
              <a:rPr lang="en-US" altLang="zh-CN" sz="2800" b="1" u="sng"/>
              <a:t>A. </a:t>
            </a:r>
            <a:r>
              <a:rPr lang="zh-CN" altLang="en-US" sz="2800" b="1" u="sng"/>
              <a:t>搜索量、竞价、竞争</a:t>
            </a:r>
            <a:br>
              <a:rPr lang="zh-CN" altLang="en-US" sz="2800"/>
            </a:br>
            <a:br>
              <a:rPr lang="zh-CN" altLang="en-US" sz="2800"/>
            </a:br>
            <a:r>
              <a:rPr lang="en-US" altLang="zh-CN" sz="2800"/>
              <a:t>1. </a:t>
            </a:r>
            <a:r>
              <a:rPr lang="zh-CN" altLang="en-US" sz="2800"/>
              <a:t>核心大词（竞争大、高效出单词）</a:t>
            </a:r>
            <a:br>
              <a:rPr lang="zh-CN" altLang="en-US" sz="2800"/>
            </a:br>
            <a:r>
              <a:rPr lang="en-US" altLang="zh-CN" sz="2800"/>
              <a:t>2. </a:t>
            </a:r>
            <a:r>
              <a:rPr lang="zh-CN" altLang="en-US" sz="2800"/>
              <a:t>竞价高的词（导入按竞价分）</a:t>
            </a:r>
            <a:br>
              <a:rPr lang="zh-CN" altLang="en-US" sz="2800"/>
            </a:br>
            <a:r>
              <a:rPr lang="en-US" altLang="zh-CN" sz="2800"/>
              <a:t>3. </a:t>
            </a:r>
            <a:r>
              <a:rPr lang="zh-CN" altLang="en-US" sz="2800"/>
              <a:t>竞价低的词</a:t>
            </a:r>
            <a:br>
              <a:rPr lang="zh-CN" altLang="en-US" sz="2800"/>
            </a:br>
            <a:r>
              <a:rPr lang="en-US" altLang="zh-CN" sz="2800"/>
              <a:t>4. </a:t>
            </a:r>
            <a:r>
              <a:rPr lang="zh-CN" altLang="en-US" sz="2800"/>
              <a:t>头部卖家不打广告的词</a:t>
            </a:r>
            <a:br>
              <a:rPr lang="zh-CN" altLang="en-US" sz="2800"/>
            </a:br>
            <a:r>
              <a:rPr lang="en-US" altLang="zh-CN" sz="2800"/>
              <a:t>5. </a:t>
            </a:r>
            <a:r>
              <a:rPr lang="zh-CN" altLang="en-US" sz="2800"/>
              <a:t>没打广告的词</a:t>
            </a:r>
            <a:br>
              <a:rPr lang="zh-CN" altLang="en-US" sz="2800"/>
            </a:br>
            <a:endParaRPr lang="zh-CN" altLang="en-US" sz="280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27641" y="2420747"/>
            <a:ext cx="6797992" cy="2153920"/>
          </a:xfrm>
        </p:spPr>
        <p:txBody>
          <a:bodyPr/>
          <a:p>
            <a:r>
              <a:rPr lang="en-US" altLang="zh-CN" sz="2800" b="1" u="sng"/>
              <a:t>B. </a:t>
            </a:r>
            <a:r>
              <a:rPr lang="zh-CN" altLang="en-US" sz="2800" b="1" u="sng"/>
              <a:t>词的属性</a:t>
            </a:r>
            <a:endParaRPr lang="en-US" altLang="zh-CN" sz="2800" b="1" u="sng"/>
          </a:p>
          <a:p>
            <a:endParaRPr lang="zh-CN" altLang="en-US" sz="2800" b="1"/>
          </a:p>
          <a:p>
            <a:r>
              <a:rPr lang="zh-CN" altLang="en-US" sz="2800"/>
              <a:t>行业词（通用词）</a:t>
            </a:r>
            <a:endParaRPr lang="zh-CN" altLang="en-US" sz="2800"/>
          </a:p>
          <a:p>
            <a:r>
              <a:rPr lang="zh-CN" altLang="en-US" sz="2800"/>
              <a:t>类目词</a:t>
            </a:r>
            <a:endParaRPr lang="en-US" altLang="zh-CN" sz="2800"/>
          </a:p>
          <a:p>
            <a:r>
              <a:rPr lang="zh-CN" altLang="en-US" sz="2800"/>
              <a:t>属性词（使用、功能、特征）</a:t>
            </a:r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4368165" y="647700"/>
            <a:ext cx="2730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</a:rPr>
              <a:t>肯定词分类维度</a:t>
            </a:r>
            <a:endParaRPr lang="zh-CN" altLang="en-US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63211" y="4560442"/>
            <a:ext cx="2895600" cy="514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感谢您的聆听</a:t>
            </a:r>
            <a:endParaRPr sz="3600" b="1" dirty="0">
              <a:solidFill>
                <a:srgbClr val="FFFFFF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3211" y="5132793"/>
            <a:ext cx="2391230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Thank</a:t>
            </a:r>
            <a:r>
              <a:rPr sz="1800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you</a:t>
            </a:r>
            <a:r>
              <a:rPr sz="1800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for</a:t>
            </a:r>
            <a:r>
              <a:rPr sz="1800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 </a:t>
            </a:r>
            <a:r>
              <a:rPr sz="1800" dirty="0">
                <a:solidFill>
                  <a:srgbClr val="FFFFFF"/>
                </a:solidFill>
                <a:latin typeface="等线" panose="02010600030101010101" charset="-122"/>
                <a:cs typeface="等线" panose="02010600030101010101" charset="-122"/>
              </a:rPr>
              <a:t>listening</a:t>
            </a:r>
            <a:endParaRPr sz="1800" dirty="0">
              <a:solidFill>
                <a:srgbClr val="FFFFFF"/>
              </a:solidFill>
              <a:latin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d1e20b38-aaa4-46e2-aec1-c548bc311f4a}"/>
  <p:tag name="TABLE_ENDDRAG_ORIGIN_RECT" val="957*360"/>
  <p:tag name="TABLE_ENDDRAG_RECT" val="3*133*957*360"/>
</p:tagLst>
</file>

<file path=ppt/tags/tag2.xml><?xml version="1.0" encoding="utf-8"?>
<p:tagLst xmlns:p="http://schemas.openxmlformats.org/presentationml/2006/main">
  <p:tag name="KSO_WM_UNIT_TABLE_BEAUTIFY" val="smartTable{d1e20b38-aaa4-46e2-aec1-c548bc311f4a}"/>
  <p:tag name="TABLE_ENDDRAG_ORIGIN_RECT" val="957*360"/>
  <p:tag name="TABLE_ENDDRAG_RECT" val="3*133*957*360"/>
</p:tagLst>
</file>

<file path=ppt/tags/tag4.xml><?xml version="1.0" encoding="utf-8"?>
<p:tagLst xmlns:p="http://schemas.openxmlformats.org/presentationml/2006/main">
  <p:tag name="COMMONDATA" val="eyJoZGlkIjoiOTAwMzVlNmJiNTQ1NDA1MjVkODVhNDcyYWYwN2JkY2EifQ==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gICAiRmlsZUlkIiA6ICIxNDcyOTIyMDg0MDQiLAogICAiR3JvdXBJZCIgOiAiMTQ2NDE5MTE2OSIsCiAgICJJbWFnZSIgOiAiaVZCT1J3MEtHZ29BQUFBTlNVaEVVZ0FBQXA0QUFBRGNDQVlBQUFEWmVhSGRBQUFBQ1hCSVdYTUFBQXNUQUFBTEV3RUFtcHdZQUFBZ0FFbEVRVlI0bk8zZGFWZ1VWNzRHOExjYUVHMFFqU1lUTXVvMUtnWVRyOUZ1eFlSSWtMaEVNUXBpMHQ2NHhDWHl5SFdMTWZCSUVrSEQ0QWFLdUV4RUhURXVvekdNRzRKZ0locDNFN2UrTHFpNFlVYkZVZU1Td0thaDZhcjdnYUdHdGhzRWxlNEczdDhYbTZycXFuL3JlZVR0YzA2ZEFv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XNRckIxQVVSRVZLMGMxV3IxSjVJa0JRUG9LQWlDaTYwTHFtTjBraVJsQWxpbDFXb1RBUmhzWFpBTnNBM2FsbDIxUVFaUElxTGF5MUd0VmljQkNMSjFJUVJJa3JSYnE5WDZvMjZGVDdaQk8ySVBiWkRCazRpb2xsS3IxYU1CckdyVnFoV21UWnNHRHc4UE5HelkwTlpsMVNuNStmbkl6czVHYkd3c3pwMDdCMG1TdnRKcXRYTnRYWmUxc0EzYW5yMjFRWVd0TGt4RVJOWHIzME9ibURadEdsUXFGWC9oMjRDcnF5czZkT2lBaUlnSUFJQWdDRU5zWEpKVnNRM2FucjIxUVFaUElxTGFxeU1BZUhoNDJMcU9PcTk1OCthbEw5dmFzZzRiWUJ1MEUvYlNCaGs4aVlocXFkS2JPTmpMWkhzdUx2TDlOQTFzV1llMXNRM2FEM3RwZ3d5ZVJFUkVSR1FWREo1RVJFUkVaQlVNbmtSRVJFUmtGUXllUkVSRVJHUVZESjVFUkVSRVpCVU1ua1JFUkVSa0ZReWVSRVJFUkdRVkRKNUVSRVJFWkJVTW5rUkVSRVJrRlF5ZVJFUkVSR1FWREo1RVJFUkVaQlVNbmtSRVJFUmtGUXllUkVSRVJHUVZESjVFUkVSRVpCVU1ua1JFUkVSa0ZReWVSRVJFUkdRVkRKNUVSRVJFWkJVTW5rUkVSRVJrRlF5ZVJFUkVSR1FWREo1RVJFUkVaQlVNbmtSRVJFUmtGUXllUkVSRVJHUVZESjVFUkVSRVpCVU1ua1JFWkZXaUtOYUljeExSODhmZ1NVUkVWWmFZbUFpZFRsZnA0MzE4Zk9UWFgzNzVKYkt5c3A1clBkMjZkVFBiNXVYbFpmSm5lZlI2UFhidjNnMmowZmhjYXlMcmlZMk5SVXBLU29YSFpHZG5ZOEdDQmZLL2MwRkJnVW03TEVzVVJTeGR1aFIzNzk0MTIyYzBHcEdibTR2cjE2L2p6Smt6K1Bubm4zSDE2dFVLcnkyS0lxS2pvL2tGQ1lDanJRc2dJcUtLcVZTcW5nQ0t0VnJ0SVFERnRxN24wcVZMU0U1T3hxZWZmbHJsOStyMWVodzdkZ3pSMGRFVzkrdDBPZ3daTXFUQ2M5eThlUlBIangrdjhyVXRFVVVSRVJFUktDNHVSbzhlUFo3TE9Xc2plMnVEai9QeDhVRmNYQno2OWVzSEJ3Y0hpOGVrcEtUZzVzMmI4bjVKa2xCUVVGRHVPUVZCd0pBaFF6QnIxaXhrWjJkaitmTGxNQmdNRUFRQk9wME9iZHEwZ1p1Ykd4bzNiZ3gvZjM4MGJ0d1lRVUZCWnVmWnQyOGZSRkhFdG0zYk1HM2F0SEt2ZCtEQUFYeisrZWNJRFEzRjBLRkRxL2czVUhNd2VCSVIyVDkvUVJCQ1ZTclZmUUEvQU5pU2w1ZDM0UExseTRYV3VQaVpNMmN3Y2VKRStXZWRUb2Y2OWV2RHo4K3YzUGZzMjdjUEkwYU13TnExYTAyMi8venp6L0R3OElDenM3UEY5eW1WU2lRbkoxZFlUOWxlS2xFVUlVa1NnSktlcVBKQ2h5V2lLQ0lxS2dvblRweUFpNHNMQmd3WVlMTC8wYU5IeU12TGUyNGh0NGF6YVJzc3kyZzBvbXZYcmhiM1BiNjlmLy8raUlxS2drNm53N1p0MjZEWDY5RzllM2VUWThyKzdPN3VqaDkrK0FFS2hRTGp4bzFEMjdadG9kZnI4ZUdISHlJd01CQU5HalJBVVZFUnZMMjlrWlNVWkhiOWZmdjJXYXhMRkVVSWdnQ0ZvdnlCNXBTVUZEUnYzaHdwS1NrTW5rUkVaSHVDSURRQk1BN0FPRGMzdDF5VlNyVkprcVROZCs3YzJadVRrMVA1Y2U4cTZ0Q2hnL3dMOWVUSms1ZzNieDdXckZtRGV2WHFWZmkrUzVjdW1XMUxTa3JDeFlzWDVWLzJqeDQ5Z2xLcGhDQUlXTEZpQlR3OVBSRWFHb3JyMTYrWGU5N0N3djlrblEwYk5tRGp4bzBvS2lwQ1lHQWc0dUxpTUdiTUdMTmhjMjl2YndDQXI2OHZZbUppb05QcEVCRVJBWjFPaDYxYnQ2Sng0OFlteHg4L2ZoeVJrWkVJQ3d1cjhEUFdOYlpxZzVZa0p5ZmpUMy82VTRYSGxBYTlOV3ZXNEwzMzNrTmtaS1M4VDZmVDRkMTMzN1VZRmt0N1JudjE2aVZ2YzNKeXFuS05GeTVjd09qUm93R1U5TENXdHNPaW9pS2twYVhoNVpkZkJnRGs1dVppLy83OWlJK1B4MmVmZllhc3JDeDRlbnBXK1hvMUFZTW5FVkhONUNZSXdxZUNJSHpxN3U3K3lOM2RmWnNvaXBzS0NncDJaMlZsNVZYSEJYTnljaEFlSGk2SFBFdDI3TmhSYnEvT3FWT25jUHIwYVVSR1JtTGd3SUVBU3VabVptUmttSVRZdUxpNEN1c28yK001ZlBod0RCOCtITjdlM2toTlRRVUFIRHg0RUlEcDNNNGpSNDdJcjY5ZHU0WXBVNmJBeThzTEV5ZE94S2hSb3pCcTFDZ0VCQVFnUHo4ZkNRa0oyTDkvUDJiUG5nMlZTbFZoTFhXYzFkdGdXVTVPVGsvODhsTktGRVdUWHZzbk9YYnNHQll1WElpSkV5ZENwVkpoK1BEaFpzZVVoc2hTWmR0WXFYYnQydUhJa1NQSXk4dER2Mzc5Y09EQUFRQkFqeDQ5VElKc2VubzZXclZxQlc5dmIzaDVlU0VsSllYQjB4NnAxZXJkQURncHg0NUlrblJVcTlXK1plczZLc0ZSclZaL0lrbFNNSUNPZ2lDNDJMcWdPa1luU1ZJbWdGVmFyVFlSZ01IV0JWVkdwMDZkL0FSQjJDa0lndVZ4WXR0eEFUQk1vVkFNYzNGeDBhdFVxbFJKa3N6SEFaL0I5ZXZYTVduU0pOeS9meDhuVHB5d2VFem56cDNsWVc5TFZxOWVEVTlQVDdrMzgrSERoMUFxbFhKNHlNakl3TktsUzU5WWkxNnZ4NkJCZ3dBQVc3WnNrYmRmdVhJRlRabzB3UXN2dkZEaCs5M2QzUkVXRmliZmtCUWZINDlKa3laaDM3NTlPSHYyTE41Ly8zMTgvLzMzY0hWMWZXSXRUME90VnBmL2wxUnpWWHNiZkZyYnQyOUhVbEtTeGFGeEFHWkQ3MERKa0htclZxMFFFeE9EbmoxN21vVEswcUgyeDRObTZYbUtpb29nU1pJOG5lU0hIMzZBSUFpb1g3KytmR3h4Y1RFY0hmOFR3VkpTVXZEQkJ4OEFBRDc0NEFQRXg4Zmo4ODgvTnptbXRxanBuNGloMDg0SWdtQjU0bzE5Y1ZTcjFVa0FnZ1JCc0hVdGRaVlNFQVF2QUY0cWxlb2pyVmJyajVvUlBqdmFZZWcwSVVtUzR0L0RvZTdQNjV4YXJSYWhvYUdZTkdrU1pzNmNpZjc5K3ovVmVVSkNRaUJKRXViTm13Y0FPSC8rUE5xM2J5L3Y3OVdyRjFRcUZYYnQyZ1dOUmlQUDEremN1VE9Ta3BMUXBrMGJBTUN0VzdlUWxaVWx6ekc5Y09FQ2lvcUtFQm9haWlWTGxxQmZ2MzVtMXk3dG5mcjY2Njh4WU1BQU9YUm1aV1VoT1RrWmVyMGVMNzMwRWhJVEU5RzhlZk9uK254VW9qcmFZRm1sVXkwcU81ODNJQ0FBQVFFQlZiNU94NDRkc1dIRGhrb2ZYenBrUDNic1dHZzBHdlR1M1Z2ZWQvYnNXVFJwMGtUKzJXQXd5TUgweXBVcnlNckt3c0tGQ3dHVTlJYk9tVE1IQnc4ZXJIQWVkVTFWMDRNbkFKVDc3WnVzcTNQbnpyWXVvVkxVYXZVbkFJSmF0V3FGYWRPbXdjUERBdzBiTnJSMVdYVktmbjQrc3JPekVSc2JpM1BuenZWVXFWU2hXcTEycnEzcnFvS0ZKMCtlbkdLdGk2bFVxdm1DSUlSV2NFZ0JnSDBBdGhVWEZ5ZWRPWFBtQVFDbzFlckZ6K1A2Q29VQ3c0Y1BSMUJRRUdiT25Da1BhVCt1dlA4RDd0Ky9ENkJrMkJFQUhqeDRnSnljSE96ZHV4ZSt2cjRteHpvN08rUDgrZk1ZTVdJRTVzNmRpeFl0V2dBQUlpTWprWkNRZ0pTVUZIejMzWGNZUEhndy9QejhzSExsU3Z6MDAwOXdjbkxDNXMyYjRlRGdJUGRFbFRmVWZ1blNKZXpjdVJONzkrN0Z0V3ZYNUVDd2UvZHU3TjY5MjZTZS9QeDhpME9veitMa3laTTE3aHV2cmR0Z1dibTV1UUJRNVI3cHlxeGFrSkdSWVRKVkpDRWhBWU1IRDBiVHBrMU5naVFBazU5Mzdkb0ZvT1JMMnUzYnQ5R2pSdy9FeHNZaU5EUVVEZzRPeU1yS1F1dldyUUdVelBVc0xpNldoOXEzYjk4T1NaTHc0WWNmeXVjckxDeEVTa29LZ3lkUmJTQkpVckFnQ0pnMmJScm5iOW1JcTZzck9uVG9nSWlJQ0F3ZE9oU0NJQXdCVUpPQ3A4MUprdlJJRUlROW9paHVOaGdNbXpNek0vT3I2MW9kTzNaRXg0NGRxL1FldlY0UG85R0lzTEF3bkQ1OTJtVGZzR0hERUJjWGg2eXNMRXllUE5sa242dXJLNktpb3BDUmtZSE16RXhjdUhBQlFNa3dadCsrZmFGU3FiQisvWHE0dTVkMHBnMGNPQkJqeG96Qk8rKzhVK2tlc05JbGNXYlBubzJoUTRmS29lRnhPcDBPUFh2MnJOTG5ya3VzMlFiTHVuanhJcG8yYldveWRGMFpmL3p4QjQ0ZVBWcHVPM2w4cXNqdDI3ZXhhdFVxREI0OEdBREtuV1pTK2dWSEZFWEV4OGZqMDA4L2hZT0RBd29MQzNIbzBDSDQrdnBpLy83OWNvZ3NLQ2lBazVNVEZBb0ZqRVlqMHRQVEVSb2FhakxrZi9yMGFjeVlNUU1QSGp4NDR0U1Jtb2JCaytxaWpnRGc0ZUZoNnpycXZESkRtbTF0V1VjTmtnc2dRNUtrZjl5OWV6ZjV4bzBiNVM5Q1dJM0t1N0dvck45Kyt3MXVibTdvMUtrVFpzNmNhWEozY0VCQUFKWXRXd1pmWDE4b2xVcDV1OUZveFBIang3Rm56eDRjT0hBQW5wNmUwR2cwQUVxRzZkM2MzSkNRa0lDTkd6ZENvOUdnV2JObWVQSEZGMDJ1R3gwZGpiUzBOTE42U29mYW16WnRpdFRVVkx6eHhodGNNUDdwMkx3TkhqNTgyQ3FkQmtlT0hFSDc5dTNSdEduVFNoMGZIUjJOR3pkdW9FbVRKdGl4WXdjY0hSMlJucDZPRmkxYVFLdlZ5bXZYNm5RNnVkMGZQbndZZi96eEIvcjM3Mjh5OHZieXl5OWovdno1U0U5UHIzVkxLekY0VXAxVGVpTVJoOWR0ejhWRnZxZXJnUzNycUFHT2lLSVlaREFZMGpJek00dHNYVXg1NjJ5V0hXcjM5UFJFV2xxYTJWM0hOMi9leFBUcDArSG41NGVyVjY4aU9EZ1lvMGVQaHJlM045TFQwN0Y5KzNiNCsvc2pKQ1FFalJvMXdyMTc5K1NoenlGRGhzREh4d2NyVjY2RVJxT0JsNWNYRmk1Y2lMSnp0U01qSStVbGM4b2JhcWVuWWhkdDhNR0RCOWl4WXdkbXpweFo3ZGY2NmFlZjhONTc3MVg2K05kZWV3M0Z4Y1hRYXJWbzBxUUpPblhxaE51M2J5TTZPaHBEaHc2RnM3TXpEQVlEenA4L0wwL3ZTRWxKd1Z0dnZXWDIrNmgwS2FmYXVLWW5neWNSa1ozVGFyV2JiVjFEZWU3Y3VRT0R3WUNjbkJ6VXExZlBaSDdjNDZGejNicDFXTHQyTFNaT25JakF3RUNJb29qazVHVE1talVMUU1sOHV0SWJsMzc1NVJkTW1EQUJDb1VDZmZ2MmxjL1Jva1VMUkVWRklUdzhIQThmUGtSeGNUSDBlbjJGQzNNL2liKy92OFh0RmQyaFg5ZllTeHRjc0dBQldyZHViVFkzdUxMS3RxV0szTHQzRDhlT0hVTjRlTGpKOXNmbmVRS1FINE5wNllsYlM1WXNnU2lLR0RObURBNGRPb1RRMEZBNE9qcks2OFBHeHNhV1c4T1hYMzVacVZwckdnWlBJaUo2YWdjUEhzVDY5ZXRScjE0OVRKZ3dBZVd0RkJFV0ZvYlhYMzhkL3Y3Kzh2QzRRcUZBVUZBUUFnSUNjT0hDQmJSczJWSSsvdTIzMzVhZkdHVHBuRXFsRWtxbEVvc1hMOGE2ZGVzczNzaytidHc0a3o4Zkp3Z0MvdnUvL3h0cjFxeXh1TCt3c0xCS2F6OVM5UnMvZnJ6OEZLQ3FLcnN5Z2lWWHJseVI1MzgyYnR3WVM1Y3VOV21UdzRjUHg1UXA1dmNVTGw1Yy92MVR3NFlOdzhpUkkrSGs1QVEvUHovOCt1dXZVQ2dVei9SRnFhYXJjWGZXbFZXNkZocnZhcmNQcGNOczluN0hKdHVOZmFrcDdRWUFPblhxTkZtaFVDeUVsZTlxZjFwczYvYWxKclgxNTRWdDBMN1lReHVzdTVHYmlJaUlpS3lLd1pPSWlJaUlySUxCazRpSWlJaXNnc0dUaUlpSWlLeUN3Wk9JaUlpSXJJTEJrNGlJaUlpc2dzR1RpSWlJaUt5Q3daT0lpSWlJcklMQms0aUlpSWlzZ3NHVGlJaUlpS3lDd1pPSWlJaUlySUxCazRpSWlJaXNnc0dUaUlpSWlLeUN3Wk9JaUlpSXJJTEJrNGlJaUlpc2dzR1RpSWlJaUt5Q3daT0lpSWlJcklMQms0aUlpSWlzZ3NHVGlJaUlpS3lDd1pPSWlJaUlySUxCazZnR0UwWFIxaVVRRVJGVkdvTm5KUlVXRnVLbm4zNHkyeTZLSWpadjNneTlYbSt5L2NHREI0aU1qQ3ozZkZPbVRESGJkdW5TSmVUbTVqNVRuVGR1M0VCcWF1b3puWU9zejkvZnY5TEgrdmo0eUsrLy9QSkxaR1ZsVlVkSlJFUkV6NTJqclF1b0tSNDllb1JseTViaHlwVXJHRGR1bkx4OXc0WU5TRXBLUXUvZXZWRy9mbjE1ZTFwYUdobzBhQUFBbUR4NU12THk4akJvMENCczJiSUZScU1SRnk5ZXhNaVJJL0huUC84WmMrYk1BUURzMkxFREJ3NGN3SklsU3pCejVreGtabVphckNVL1B4OG5UcHl3dU0vSnlRbC8vZXRmNGVucGliWnQyejZ2ajIrWFZDcFZUd0RGV3EzMkVJQmlXOWRUR1ZPbVRNSFZxMWZOdHYvKysrOElEQXcwMjU2Y25GenV1ZlI2UFk0ZE80Ym82R2lMKzNVNkhZWU1HVkpoUFRkdjNzVHg0OGVmVURVUkVkSHp3ZUJaU1UyYU5FRkNRZ0srK3VvcmZQenh4M2poaFJkdytmSmxyRjY5R3N1WEw0ZWJtNXQ4YkZGUkVkYXZYdzhBbURCaEF1Yk1tWU0xYTliQXpjME5xMWF0QWdBRUJnWml6Wm8xR0RSb2tQeSt6ei8vSEVxbEVxdFhyOGJTcFV2THJjWEx5MHQrM2Jselp6UnExTWpzbUpDUUVMTnRPM2Z1UkwxNjlhcis0ZTJYdnlBSW9TcVY2ajZBSHdCc3ljdkxPM0Q1OHVWQ1d4ZFdudmo0ZVBtMTBXakVpaFVyY09uU0plVGw1ZUdWVjE1Qm56NTlFQlFVWlBhK0VTTkdZTzNhdFNiYmZ2NzVaM2g0ZU1EWjJkbml0WlJLWllYQkZURHRQYVZhU1FkQW1aK2ZEMWRYVjF2WFVxZnBkTHJTbC9xS2pxdUYyQWJ0aEwyMFFRYlBTbGk1Y2lWV3IxNHQvenhnd0FBVUZCVElQWm9qUjQ2VTl4MDhlQkIvKzl2ZjhPcXJyOHJoOGZmZmY4ZUpFeWZRdlh0MytkZzdkKzVnNU1pUnVIWHJGa2FPSElrMWE5WUFBTWFPSFFzQVdMRmloUnhlbjJUWHJsMXdjSEJBWVdFaFJvMGFoWmt6WjZKTm16YlAvTGxyQ2tFUW1nQVlCMkNjbTV0YnJrcWwyaVJKMHVZN2QrN3N6Y25KMFQzcC9iWncrUEJoTEY2OEdHcTFHckd4c1Jnd1lBQVdMVnFFbUpnWXBLZW5ZOXk0Y1ZDcFZQTHhseTVkTWp0SFVsSVNMbDY4aU83ZHV3TW82WlZYS3BVUUJBRXJWcXlBcDZjblFrTkRjZjM2OVhMcktDeTAyNHhPejRFa1NabUNJSGhsWjJlalE0Y090aTZuVHJ0MTZ4WUFRSklrOHlHUFdveHQwSDdZU3h0azhLeUU0T0JnQkFjSHl6OUxrb1F1WGJwZ3g0NGRGbnNiQ3dvS2NQLytmUXdlUEJpZE9uVkNRVUVCQmc4ZWpEZmZmRk1PbUdWN1BFdTNsVFYyN0ZnNWhENnViSTlucWQ2OWU2TzR1Qmg1ZVhuNDMvLzlYN1A5enM3T2RXWHVwNXNnQ0o4S2d2Q3B1N3Y3STNkMzkyMmlLRzRxS0NqWW5aV1ZsV2ZMd29xTGk3RnAweVpzMjdZTkJRVUZtRHAxS3JwMTZ3WUE2TmV2SDV5ZG5URjkrblFjT25RSXMyYk5na0tod0l3Wk05QytmWHV6YzUwNmRRcW5UNTlHWkdRa0JnNGNDQURvMXEwYk1qSXlUSHExNCtMaUtxeUpQWjYxM2lvQVhyR3hzWWlJaUVEejVzM2g0dUppNjVycUZKMU9oMXUzYm1IKy9QbWxtemJac2g0YllCdTBNWHRyZ3d5ZVQwR1NKQUNBSUFnVzk0ZUZoUUVvQ1pkZmYvMDF1blRwZ3N1WEw2TisvZnI0KzkvL0RxUFJLUGQ0bHRxNmRTdVdMbDJLL1B4OEhEbHlwTW8xYmRxMENSOTk5QkUyYmRxRVYxOTlGZGV2WDBlTEZpMmU0dE05TzdWYUxkbmt3dVpjQUF4VEtCVERYRnhjOUNxVktsV1NwQ1JiRmVQbzZJZzdkKzVnOU9qUmlJbUprZWYybHZyeHh4L2wxNklvWXZ6NDhmRHc4TEI0cnRXclY4UFQwMVB1elh6NDhDR1VTcVVjT2pNeU1pcWNybEZLcjlmTDB6MjJiTm55VkovcmViR2pkbE1abHY5aDdJeFdxMDNzMkxHajV0eTVjejFLNS91VzkvOFdWUjlKa2lBSUFrUlJQR293R0diWnVoNXJZaHUwRC9iVUJoazhuMEFVUmZqNitscmMxNjlmUDR2YjMzMzNYV1JsWmVGZi8vb1hCZzBhaE1PSEQwT3IxZUx1M2J0bWN6eExCUVVGSVNnb0NON2UzdkkyUHo4L2VUZ2ZLQmtXM2JObmo5bjFCRUhBZ2dVTDBLOWZQN3o2NnFzQWdJRURCK0xvMGFOd2NIQ284bWV1alNSSlV2eDdTTjdkbG5WODl0bG5BSURvNkdpTC81YWx2TDI5MGI5Ly8zTDNoNFNFUUpJa3pKczNEd0J3L3Z4NWs1N1JYcjE2UWFWU1lkZXVYZEJvTkhJNzZOeTVNNUtTa3VTcEdMZHUzVUpXVmhiOC9QeWU5YVBWTlU2MkxxQ1NKSVZDa1Fmd2w3MHRsZm03ZjVTWm1WbVR2bUE5RDJ5RGRzQ2UyaUNENXhNb0ZBb2NQSGpRWkZ0eWNqSm16cHlKanovK0dCTW5UaXozdllHQmdWaTdkaTJXTDErTzExNTdEWTZPam1aelBBRllIR292dlhaNmVycjhjNDhlUFV6MkZ4UVVRS0ZRUUtGUUlEVTFGYTZ1cmtoSlNaSDM5KzdkVzM3OTlkZGZvMWV2WHBYODFNL201TW1UVnZuZlJhVlN6UmNFSWJTQ1F3b0E3QU93cmJpNE9Pbk1tVE1QQUVDdFZpKzJSbjBWMGV2MUZ1OWlmNUw3OSs4REFOcTFhd2VnWk5tdW5Kd2M3TjI3MSt3TGtyT3pNODZmUDQ4UkkwWmc3dHk1Y2c5NFpHUWtFaElTa0pLU2d1KysrdzZEQncrMmkrQnByWGJ6TERwMTZqUlpvVkFzQkhEZTFyVlVobHF0L2dSQVlLdFdyVEJ0MmpSNGVIaWdZY09HdGk2clRzblB6MGQyZGpaaVkyTng3dHk1OTFRcVZhaFdxNTFyNjdxc2hXM1E5dXl0RFRKNFZsRmhZU0ZXcjE2TmFkT21ZZkhpeGZEeThzSmJiNzFWN3ZFTkdqVEFybDI3OFBEaFEyZzBHck01bnMvaTRjT0g4aHpUeDVkWDZ0eTVzM3pUVVYwaVNkSWpRUkQyaUtLNDJXQXdiTTdNek15M2RVMlcxSzlmdjhJN3pzdjJmT3YxZWhpTlJvU0ZoZUgwNmRNbXh3MGJOZ3h4Y1hISXlzckM1TW1UVGZhNXVyb2lLaW9LR1JrWnlNek14SVVMRndBQTNidDNSOSsrZmFGU3FiQisvWHE0dTl1MEU1aXFrU1JKd1lJZ1lOcTBhU1kzcTVIMXVMcTZva09IRG9pSWlNRFFvVU1oQ01JUUFIVW1lTElOMnA2OXRVRUd6eW93R0F5SWlJaEFtelp0TUhEZ1FEUnMyQkJoWVdHSWpJekUrKysvYi9FOVY2NWN3YUJCZy9EdHQ5L2k5ZGRmbCtmMVBhbkg4Lzc5K3hCRnNjS0Z4YTlldllvV0xWcEFvOUhnNGNPSFp2djc5dTFyOHZPdVhic3EvVmxybUZ3QUdaSWsvZVB1M2J2Sk4yN2NLTEIxUVUraTErc3JIRW92NjdmZmZvT2JteHM2ZGVxRW1UTm5tdlJjQndRRVlObXlaZkQxOVlWU3FaUzNHNDFHSEQ5K0hIdjI3TUdCQXdmZzZla0pqVVlEb0dTWTNzM05EUWtKQ2RpNGNTTTBHZzJhTld2MmZEOGcyWXVPQU1xZEswelcwN3g1ODlLWHRYdUJaWE5zZzNiQ1h0b2dnMmNsWGJseUJYLzV5MS9RcUZFamVWNWR6NTQ5VVZ4Y2pHKysrUWJwNmVrSURnNlc1OWxsWm1iaTd0MjcyTHQzTHhvMmJBZzNOemVjT1hNR0VSRVI4UER3d01DQkF5MEdUa21TRUIwZGpWZGVlY1ZzcVAxeCsvZnZSNGNPSGZERkYxK1k3ZXZjdVROMjd0eFoyM3M4ajRpaUdHUXdHTkl5TXpPTGJGMU1WV2cwR29TSGg1ZTdQelkyVm43dDZlbUp0TFEwc3pWWWI5NjhpZW5UcDhQUHp3OVhyMTVGY0hBd1JvOGVEVzl2YjZTbnAyUDc5dTN3OS9kSFNFZ0lHalZxaEh2MzdrR2hLSGxZMlpBaFErRGo0NE9WSzFkQ285SEF5OHNMQ3hjdTVCeXNXa1lRQkJjQUhOcTBBMlh1NUc1UTBYRzFEZHVnL2JDWE5zamcrUVM1dWJtWU8zY3VqaHc1Z2pGanhtRG8wS0h5TDI4QTZOT25EOXExYTRmNTgrZGp4SWdSNk5xMUt4WXRXb1RHalJzakppWUdvaWhpK2ZMbFNFNU94b0VEQnhBZkg0L3IxNjlERUFUMDc5OGZvaWppcFpkZXdxcFZxNUNUa3dPRHdZRGJ0MjlqOHVUSkprczRHUXdHR0F3R0dJMUdLQlFLM0xsekIybHBhWlc2YzdtMjBtcTFtMjFkUTFXVm5hZGI5aTUyUzNidTNJbnc4SEQwNmRQSExIU3VXN2NPYTlldXhjU0pFeEVZR0FoUkZKR2NuSXhaczBwdVZreElTSkI3VkgvNTVSZE1tREFCQ29YQ3BCZThSWXNXaUlxS1FuaDRPQjQrZk1qUVNVUkUxWTdCOHduYzNOelF0V3RYaEllSFcxeXpFd0JhdG15SkpVdVdJQ3NyQzQwYU5VSzlldlhRckZrek5HdldETC8vL2p0V3JGZ0JWMWRYK1B2N1Z6aDBialFhTVhUb1VFeVpNc1VrM0FMQUgzLzhJVC9ScGxldlhwQWtDZSs4OHc0WDVLMWhLcnFUdmJMQ3dzTHcrdXV2dzkvZkh5KysrQ0tBa2h2UmdvS0NFQkFRZ0FzWExxQmx5NWJ5OFcrLy9iYjhXRXhMNFZLcFZKb00weE1SRVZVWEJzOUtLRjJnKzBrOFBUM050cFVHZzhwNDlkVlhFUnBxK1NidEYxOThFUWNPSEREWk5uZHUrWE9EeTN1V085VjhGYlZIQndjSGl3dk9zemVUaUlqc2dlTEpoNUM5WXBnZ0lpS2ltb1RCazRpSWlJaXNnc0dUaUlpSWlLeUN3Wk9JaUlpSXJJTEJrNGlJaUlpc2dzR1RpSWlJaUt5Q3daT0lpSWlJcklMQms0aUlpSWlzZ3NHVGlJaUlpS3lDd1pPSWlJaUlySUxCazRpSWlJaXNnc0dUaUlpSWlLeUN3Wk9JaUlpb0doa01Ca2lTWk9zeTdBS0RKeEVSRWRWWi92Nyt6L1Y4dWJtNTBPdjFKdHYrOFk5LzRDOS8rY3R6dlU1TjVXanJBb2lJaUlnc1diQmdBZExTMHBDYm00dTJiZHZpeXkrL1JJY09IUUFBUGo0K2xUcEh2WHIxc0dmUEhreVpNZ1ZYcjE0MTIvLzc3NzhqTUREUWJIdHljdkpUMWZ6RER6OUFxOVZpNGNLRnFGZXZIZ0FnSXlNRFE0Y09yZFQ3dTNUcGdtYk5tbG5jZC9QbVRSdy9mdnlwNnJJWERKNUVSRVJrbDk1ODgwMEVCd2RERUFRc1hMZ1FZV0ZoMkxsekp3UkJ3TUdEQjAyT3ZYZnZIdDUvLzMwY08zWU1Db1g1Z0c1OGZMejgybWcwWXNXS0ZiaDA2Ukx5OHZMd3lpdXZvRStmUGdnS0Nucm1tc2VNR1lNdnZ2Z0NNMmJNd096WnMzSDE2bFdjT25VS04yN2NRRnhjbk1teHJWdTN4cmZmZm11eXpjbkpxZHpRNiszdC9jejEyUnFESnhFUkVkbWxYcjE2eWEvOS9mMlJtcG9LU1pJZ0NJTFpzYUlvQW9ERjBGblc0Y09Ic1hqeFlxalZhc1RHeG1MQWdBRll0R2dSWW1KaWtKNmVqbkhqeGtHbFVqMTF6UXFGQXJObno4YjA2ZE9SbDVlSDFhdFhJeVFrQkdQSGpzVzJiZHNRR0JnSVFSQ3djdVZLNU9Ua21MM2ZZREJnOE9EQkZzOXRNQmlldWk1N3dlQkpSRVJFZGt1U0pOeStmUnZmZi84OU5CcE51Y0d5cUtnSWpvNldZMDF4Y1RFMmJkcUViZHUyb2FDZ0FGT25Ua1czYnQwQUFQMzY5WU96c3pPbVQ1K09RNGNPWWRhc1dWQW9GSmd4WXdiYXQyLy9WRFVybFVyTW56OGZseTlmeHNHREI1R2NuQXk5WG85WnMyWmg0TUNCS0NvcXdxWk5tN0Jnd1FLejl6bzVPU0VwS2NuaWVkbmpTVVJFUkZSTmZ2MzFWNHdmUHg0QThPNjc3K0t6eno0RFlEbUFTWktFNHVKaWkvdGlZbUp3NTg0ZGpCNDlHakV4TVpnelo0N0ovaDkvL0ZGK0xZb2l4bzhmRHc4UEQrVG01cUtnb0tCS05iLzg4c3NBZ0xTME5IVHIxZzNMbHkrSG01c2Jzck96SVlvaWJ0MjZoUVlOR21Ea3lKRjQ0NDAzek41dk1CZ3N6amt0M1ZmVE1YZ1NFUkdSWFhycnJiZHc3Tmd4WEx0MkRkOTg4dzJpb3FJd2E5WXNIRGx5eE96WURSczJJQzR1RG5QbXpJR2ZuNS9aZmw5Zlh3QkFkSFEwOXV6WlUrNDF2YjI5MGI5L2Z3REE3Tm16a1pxYVdxV2FUNXc0Z1R0MzdpQTZPaHFKaVlseXVNek16SVNUa3hQMjdkdUhqei8rR0VPR0RMSDQva1dMRnNtOXNZODdkT2hRbFdxeFJ3eWVSRVJrVmFJb1BuRWVuajJjayt5RFFxRkE2OWF0RVYzNzZTSUFBQStVU1VSQlZCSVNnaSsrK0FMUjBkRm0vOVpHb3hHYk5tM0NzR0hEa0pTVVpERjRsdExyOWVYMktENHVLaW9LVVZGUlZhNzV1KysrUTQ4ZVBVeDZOTlBUMHhFY0hJeWtwQ1FNSGp6WTVETmN1blJKN3MxOTNKMDdkL0NuUC8zSmJIdDZlbnFWNjdJSERKNUVSRlR0Zkh4ODVMdVF2L3p5UzR3Wk13YWVucDdQN2Z6ZHVuVXo2d1h6OHZMQ3NXUEg1RC9MbzlmcmNlalFJZmo1K2NIQndlRzUxVVRQbjZPam84VXZHTjkrK3kyY25KencrZWVmWSt6WXNkaTFheGQ2OSs1dDhSejE2OWV2Y0tta1o1MUhlZlBtVGFTbXBtTGp4bzN5dHFOSGp5STdPeHNMRnk3RW1UTm5zRzdkT293Y09WTGUzN1p0V3psSWJ0dTJEVTJhTklHdnJ5K01SaU82ZHUxYVkwT21KUXllUkVSMlRxVlM5UVJRck5WcUR3RW90a1VOeDQ0ZGsrZmFQY24rL2Z2Um9FRURpL3YwZWoyT0hUdUc2T2hvaS90MU9sMjVRNUNsbnVkYWhxSW9JaUlpQXNYRnhlalJvOGR6T1dkdFpJczJlUFhxVlZ5OGVCSHZ2ZmNlSGp4NGdKVXJWNXFGU1VtU3NIejVjaVFsSlNFeE1SRUtoUUtSa1pFSUNRbEI0OGFONGVYbFpYWmV2VjR2RDZWWGgvajRlSHp3d1FmeVdwdzNiOTVFWkdRa3Z2cnFLemc1T1NFc0xBeWZmUElKUER3OHpJYlU3OSsvanlWTGxwZ3ROdjk0RCszZ3dZTXhiTml3YXZzTTFZbkJrK29pSFFCbGZuNCtYRjFkYlYxTG5hYlQ2VXBmNmlzNmp1QXZDRUtvU3FXNkQrQUhBRnZ5OHZJT1hMNTh1ZEJhQlR6ZWF5aUtJcnAyN1lyOSsvZERxVlJhZk0rSUVTT3dkdTFhazIwLy8vd3pQRHc4NE96c2JQRTlTcVh5aVF0M2wxMDRYQlJGK1ZHRVJxT3hTajJXb2lnaUtpb0tKMDZjZ0l1TEN3WU1HR0N5LzlHalI4akx5NnZ4QzNZL0oxWnZndzBhTk1EYXRXc3hZOFlNS0pWSzlPclZDMTk4OFlXOFB6czdHekV4TVRoLy9qd1dMVm9rOTZDM2JOa1NNVEV4Q0EwTnhhQkJnekJxMUNpVE5xclJhQkFlSGw3dWRXTmpZNSs2NW9LQ0FqeDQ4QUJUcDA0RkFKdzZkUXJoNGVING4vLzVIM240djBXTEZ2am1tMjh3ZGVwVVRKa3lCUjk5OUJHQWtpY2VoWWFHd3N2TEMvSHg4YmgzNzU3YzFwOTJNWHQ3eE9CSmRZNGtTWm1DSUhobFoyZkxUOEFnMjdoMTZ4WUFRSklrODhlSmtCbEJFSm9BR0FkZ25KdWJXNjVLcGRva1NkTG1PM2Z1N00zSnlkRTk2ZjNQVTE1ZUhweWNuTW9OblVESnZMWEhKU1VsNGVMRmkramV2VHVBa25DblZDb2hDQUpXckZnQlQwOVBoSWFHNHZyMTYrV2V0N0R3UDFsbnc0WU4yTGh4STRxS2loQVlHSWk0dURpTUdUTUdScVBSNUQybHc2ZSt2cjZJaVltQlRxZERSRVFFZERvZHRtN2Rpc2FORzVzY2YvejRjVVJHUmlJc0xPekpmeGwxaURYYjRDdXZ2SUlOR3phWWJTOHVMa1owZERUUzB0S2dVcW13WWNNR3N5ZjlkT3pZRVd2V3JNR3NXYlBRdDI5ZkxGcTBDS0dob2ZMK3NuZXhXN0p6NTA2RWg0ZWpUNTgrVmFxNVFZTUdTRXhNQkFDa3BxWmk3dHk1Q0EwTk5WdVkzcy9QRDdObno4WTMzM3lEOXUzYlF4UkZUSjA2RlQ0K1BnZ1BEOGYxNjlleGN1VktMRnUyREk2T2p1alJvd2NVQ2dVa1NZSW9paWd1THNiV3JWdng0b3N2VnFrK2U4RGdTWFhSS2dCZXNiR3hpSWlJUVBQbXplSGk0bUxybXVvVW5VNkhXN2R1WWY3OCthV2JOdG15bmhyS1RSQ0VUd1ZCK05UZDNmMlJ1N3Y3TmxFVU54VVVGT3pPeXNyS3ErNkwvL09mL3l6M3NYN2xPWFhxRkU2ZlBvM0l5RWdNSERnUVFNbmN6SXlNRFBuUmdnRE1udTd5dUxJOW5zT0hEOGZ3NGNQaDdlMHQzMzFjT3BlMDdEQnIyZm1mMTY1ZHc1UXBVK0RsNVlXSkV5ZGkxS2hSR0RWcUZBSUNBcENmbjQrRWhBVHMzNzhmczJmUGZxYUZ4T3NBbTdSQlIwZEhmUERCQitqUm80ZjhCY2FTWnMyYVllblNwZEJxdGVqUW9VT0ZkN0pYaC9mZWV3OXZ2dmttL3V1Ly9zdmkvdTdkdTJQSGpoMVFLcFhRNlhUNDZxdXY1TGJkc21WTGsra29raVRKb1JNQUJFR29zZk9SYTBYdzdOeTVzNjFMb0JwRXE5VW1xbFNxajg2ZE85ZXpzcy9PcFdyMWExRlIwU3hiRjFGRm42dlY2czl0WFVRWkxnQ0dLUlNLWVM0dUxucVZTcFVxU1pMbEZhaWZ3cWxUcHhBY0hHeTJYUlJGaTNQb0FGaThtV2YxNnRYdzlQU1Vlek1mUG53SXBWSnA4anpycFV1WFByRWV2VjZQUVlNR0FRQzJiTmtpYjc5eTVRcWFOR21DRjE1NG9jTDN1N3U3SXl3c1RKNWZGeDhmajBtVEptSGZ2bjA0ZS9ZczNuLy9mWHovL2ZmVk5oVkhyVlpMMVhKaTI2cldOdmk0cmwyN1Z2cFlXMzE1Y0hGeGVXS25SdW1JZ1ZLcHJQRFo4NElnUUJDRVdyRnlRNDBPbnBJa0hSVUVvZkt0ajZ6aHJLMExxQVNEVnF2MVY2bFVvWUlnREFIUUZvRGxPeUdvdXVqL1BieStxYWlvYUZabVptYVJyUXVxREVFUUxnSW9BbER2U2NmYWlpUkppbjhQaDdvL3IzTjI3TmpSTEVoT21USUY3Nzc3TGxxM2JvMk9IVHRhZklUaDQwSkNRaUJKRXViTm13Y0FPSC8rdk1tVFlYcjE2Z1dWU29WZHUzWkJvOUhJUFRxZE8zZEdVbElTMnJScEE2Qmtpa1pXVnBZOForN0NoUXNvS2lwQ2FHZ29saXhaZ243OStwbGR1M1NvL2V1dnY4YUFBUVBrMEptVmxTVS9WZWFsbDE1Q1ltSWltamR2WHNXL0lTcXJPdG9nMVI0MU9uaHF0ZHEzYkYwRDFWZ0dyVlk3RjhCY1d4ZENOWWRXcTAwSFlQbXVtR3FrVXFubUM0SVFXc0VoQlFEMkFkaFdYRnljZE9iTW1RY0FvRmFyRjFkSFBkZXZYOGZSbzBjeFk4WU05T3paRTBlT0hERVpLbi9jL2Z2M0FRRHQyclVEQUR4NDhBQTVPVG5ZdTNldnZLaDNLV2RuWjV3L2Z4NGpSb3pBM0xsejBhSkZDd0JBWkdRa0VoSVNrSktTZ3UrKyt3NkRCdytHbjU4ZlZxNWNpWjkrK2dsT1RrN1l2SGt6SEJ3YzVHSDE4b2JhTDEyNmhKMDdkMkx2M3IyNGR1MGFtalJwQWdEWXZYczNkdS9lYlZKUGZuNit4Y1hLbjhYSmt5ZWZuTkx0akwyMVFWdmdXckhQUjQwT25rUkVkWlVrU1k4RVFkZ2ppdUptZzhHd09UTXpNOTlLMThYY3VYTXhhTkFnc3h0eVN1M2V2UnRkdTNhRjBXaEVXRmdZVHA4K2JiSi8yTEJoaUl1TFExWldGaVpQbm15eXo5WFZGVkZSVWNqSXlFQm1aaVl1WExnQW9HUStYTisrZmFGU3FiQisvWHE0dTVkMHBnMGNPQkJqeG96Qk8rKzhVK2s1YndhREFZSWdZUGJzMlJnNmRDaDI3ZHBsOFRpZFRvZWVQWHRXNnB4MWthM2FvRFZWOS9xemRSR0RKeEZSelpFTElFT1NwSC9jdlhzMytjYU5HMVY3aVBSenNHVEpFdVRrNU1qRDVaWkVSa1ppOGVMRmNITnpRNmRPblRCejVrejA2dFZMM2g4UUVJQmx5NWJCMTlmWDVLNTRvOUdJNDhlUFk4K2VQVGh3NEFBOFBUMmgwV2dBbEF6VHU3bTVJU0VoQVJzM2JvUkdvMEd6WnMzTTd1b3R2ZHY1Y2FWRDdVMmJOa1ZxYWlyZWVPTU5zenZmcVZKczNnYXJ3dExhclBuNSthaFhyNTVaTDMxUVVCQW1UWnBrOFR6MnR2NXNUY2JnU1VSay80NklvaGhrTUJqU2JEVWZWcS9YSXpZMkZyLysraXRXckZnaEIwWm5aMmZjdm4xYkhoTC83YmZmNE9Ua2hDNWR1aUF0TGMzc2wvdk5temN4ZmZwMCtQbjU0ZXJWcXdnT0RzYm8wYVBoN2UyTjlQUjBiTisrSGY3Ky9nZ0pDVUdqUm8xdzc5NDllWGh6eUpBaDhQSHh3Y3FWSzZIUmFPRGw1WVdGQ3hlYXpDK05qSXhFWkdRa2dQS0gydW1wMkx3TlBvM0g3MlRmc21VTDFxOWZqNy85N1cveUZJdkhXV1A5MmJxTXdaT0l5TTVwdGRyTnRyeis5ZXZYTVg3OGVQejV6My9HbWpWclRIb1pQL25rRTR3WU1RTDE2OWNIVURLTVBYcjBhQUF3QzUzcjFxM0QyclZyTVhIaVJBUUdCa0lVUlNRbkoyUFdySkpGRFJJU0V1UW55dnp5eXkrWU1HRUNGQW9GK3ZidEs1K2pSWXNXaUlxS1FuaDRPQjQrZklqaTRtTG85ZnBubW52bjcrOXZjWHZwd3ZSayt6YjRyQW9MQzdGZ3dRS2NPWE1HMTY1ZFEwcEtDakl6TXhFY0hJelhYbnZONUZocnJEOUxSRVJVNjZqVmFrbXRWa3ZQdzhHREJ5VlJGSi82L1Z1M2JwVXVYTGdnM2IxNzEyeGZjWEd4ZFBic1diUHRvaWcrOFpxTEZpMlN1blRwSWsyZlB0MXNYMkppb3NtZmp6TWFqZEtJRVNQS1BiZGVyNWVDZzRNcnZINVZsUDU3MkxwZFdOUHpiSU5QNjVkZmZwR0Nnb0traUlnSVNhZlRTV3ExV2lvc0xKUTJiOTRzOWUzYlY1bzZkYXIwMjIrL3ljZS8vZmJiOHV0dTNicEovL2QvL3llcDFXcHA2OWF0OHZaMzNubEhLaXdzckZJZDNicDFlL1lQODR6c29RM1d1RHZyaUlpb2NrcC93Wnc0Y2NMV3BSRCtzK1owVGJ5ci9XblpzZzFtWjJkajNyeDV1SExsQ3NMQ3d1VG52SGZ1M0JsSGp4NkZnNE1EOUhvOUVoTVQ4ZjMzMytQRER6L0U1TW1UMGExYk4zbHFobytQRDd5OHZIRDc5bTE0ZTN0ajBxUkplUGp3SVRRYWpYeFRXbVhYbi8zblAvOHBMeVpmZHYxWmE3S0hOc2loZGlJaUlxcDFHalZxQkxWYWpmbno1NXZjeE9ibjV5ZlBDNjVmdno0bVRKaUEvdjM3NDhTSkV4YW5iRlRYK3JOMUZZTW5FUkVSMVRwTm1qUkJjSEF3dkx5ODBMQmhRNU45WlZkWnlNdkx3NkZEaCtTbllaV3F6dlZuNnpJR1R5SWlJcXExUkZIRXpwMDd5MzNJUWRuSGJ1djFlcXVzUDF1WGNRbCtJaUlpSXBRc0IxYTYvdXoyN2R0TjlnVUVCT0RVcVZQbzJyV3IyZnF6di83NksrYk1tWU1GQ3hiZ3h4OS9sSi9SSGhJU2dzOCsrd3huejU3RnhvMGJjZlBtVGF0K0hudkU0RWxFUkVRRXdOUFRFMmxwYVJnK2ZMaThSQmhRc3Y3c3VISGo0T2ZuaDJ2WHJpRTRPQmlIRGgyQ0tJcElUMDlIWW1JaTJyVnJoNy8vL2UrWVAzOCtQRHc4VE5hZlhiOStQUjQ4ZUFDTlJvUEpreWZYNmFXNk9OUk9SRVJFdFZwZ1lHQ2xqN1hHK3JObEgzcFExekI0RWhFUlVhM2w1K2VIbUpnWU9EcGFqanhmZmZWVnVROGdDQXNMdyt1dnZ3NS9mMy81d1FrS2hRSkJRVUVJQ0FqQWhRc1gwTEpsUy9uNHQ5OStXMzRzcHFWd3FWUXFUWWJwNnlJR1R5SWlJcXExNHVMaUt0dy9aODZjY3ZjTkhEaXczSDBPRGc0bXl5cVZxc3U5bVpYQk9aNUVSRVJFWkJVTW5rUkVSRVJrRlF5ZVJFUkVSR1FWREo1RVJFUkVaQlVNbmtSRVJFUmtGUXllUkVSRVJHUVZESjVFUkVSRVpCVU1ua1JFUkVSa0ZReWVSRVJFUkdRVkRKNUVSRVJFWkJVTW5rUkVSRVJrRlF5ZVJFUkVSR1FWREo1RVJFUkVaQlVNbmtSRVJFUmtGUXllUkVSRVJHUVZESjVFUkxXWERnRHk4L050WFVlZHA5UHBTbC9xYlZtSERiQU4yZ2w3YVlNTW5rUkV0WlFrU1prQWtKMmRiZXRTNnJ4YnQyNEJBQ1JKdW1yalVxeUtiZEIrMkVzYlpQQWtJcXE5VmdGQWJHd3Nzckt5OE9qUkkxdlhVK2ZvZERwY3VYSUY4K2ZQTDkyMHlaYjEyQURib0kzWld4c1ViSGx4SWlLcVZrNHFsU3BkRUlTZXRpNkVBQUMvRmhZVyttWm1aaGJadWhBcllodTBMelp2Z3c2MnVqQVJFVlU3OFYvLyt0ZjM3dTd1T2tFUS9nVEFEWUNUcll1cVkvU1NKRjBFa0ZCVVZQUnBIUXVkQU51Z1BhanJiWkN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hcDcvQnpSazF4R3Z6Ujl2QUFBQUFFbEZUa1N1UW1DQyIsCiAgICJUaGVtZSIgOiAiIiwKICAgIlR5cGUiIDogImZsb3ciLAogICAiVmVyc2lvbiIgOiAiOSIKfQo="/>
    </extobj>
    <extobj name="ECB019B1-382A-4266-B25C-5B523AA43C14-2">
      <extobjdata type="ECB019B1-382A-4266-B25C-5B523AA43C14" data="ewogICAiRmlsZUlkIiA6ICIxNDcyOTU2MzAzODIiLAogICAiR3JvdXBJZCIgOiAiMTQ2NDE5MTE2OSIsCiAgICJJbWFnZSIgOiAiaVZCT1J3MEtHZ29BQUFBTlNVaEVVZ0FBQTFjQUFBRmVDQVlBQUFCcFV1VVJBQUFBQ1hCSVdYTUFBQXNUQUFBTEV3RUFtcHdZQUFBZ0FFbEVRVlI0bk96ZGVWd1Y1ZjRIOE04TXF5aUxtcEpvWGlWTXpRVTRwRWFpZVZVc3VKa0xSYW00WnFnRnVKVWJia2lXVzJtU2FJSkxKYWFvdUtSWWlaamJ6NnVtdUtSbG1uc21Lc1RPNFN3enZ6L296T1hBQVFGQlFEN3YxNHRYWjJhZW1Ybk9hWHhtdnZOc0FC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bFlOUTFSa2dxaVhNVlNyVlVGbVdSd053RlFTaGJsVm5xSmJKa1dYNUFvQzFTVWxKYXdCb3F6cERSUFJJV0taV0xaYXB4bmc5VnExcWRUMHl1Q0txZk9ZcWxTb1d3SUNxemdnQnNpenZUMHBLOGdFZkJvaHFLcGFwMVFqTFZGNlAxVWwxdUI0WlhCRlZNcFZLTlJMQTJwWXRXeUkwTkJRdUxpNnd0Yld0Nm16VktsbFpXYmgyN1JvV0xWcUVpeGN2UXBibDZVbEpTUXVxT2w5RVZIWXNVNnNleTlULzRmVlk5YXJiOVNoVzFZbUphb3QvbWdrZ05EUVU3dTd1TEhTclFMMTY5ZENoUXdmTW5Ea1RBQ0FJd3FBcXpoSVJsUlBMMUtySE12Vi9lRDFXdmVwMlBUSzRJcXA4cmdEZzR1SlMxZm1vOVpvMWEyYjQyS29xODBGRWo0UmxhalhCTWhVQXI4ZHFvN3Bjand5dWlDcVpvV01yMzJaVnZicDFsVDdHZGFveUgwUlVmaXhUcXcrV3Fid2VxNVBxY2oweXVDSWlJaUlpSXFvQURLNklpSWlJaUlncUFJTXJJaUlpSWlLaUNzRGdpb2lJaUlpSXFBSXd1Q0lpSWlJaUlxb0FESzZJaUlpSWlJZ3FBSU1ySWlJaUlpS2lDc0RnaW9pSWlJaUlxQUl3dUNLcVFhNWR1MVprWFU1T0RzTER3NUdibTF1aDU5Sm9OUGpoaHg4Z3l6SUFZUFBtemNqS3lpcjEvaWtwS2ZEdzhLaVF2UHp5eXk4VmNod2lJaUtpeW1SZTFSa2dvdEw3L1BQUFlXMXRqWG56NXNIUzBoSUFZR05qZzVTVUZHemN1Qkh2dlBPT3lmMWVlZVVWL090Zi96SzVUYWZUUWEvWDQ2dXZ2akphUDMvK2ZPVGw1ZUdWVjE0QkFHaTFXaHc2ZEFpK3ZyNFY4bDBpSWlKdzRNQUIzTHAxQzg4ODh3d0FLSi9qNHVMZzdlMk5mZnYyQVFCQ1FrS1FtSmhZSWVjbElpSWlxaXdNcm9ocWtDVkxsbURtekpuNDdydnZzR3JWS2dENVFZK0ZoUVV1WExpQVRaczJLV203ZCsrT1diTm1sZmtja2lSaDhlTEYrUDc3NytIczdJeEJnd1lCQUs1ZXZRcG5aMmQ4ODgwM1J1bFhyRmlCQmcwYWxQazh3Y0hCQ0E0T1JzK2VQUkVYRndjQVJwK0ppSWlJYWhvR1YwUTFoQ3pMVUt2VitQampqeUdLSXZ6OC9KQ2VubzdSbzBkajRjS0ZjSFoyaGl6TE9ISGlCTHAwNlZLdWMrVGs1R0RHakJsUXE5VVFCRUdwSFFOUVpCa0FmSHg4bE1ES3c4TUQ5ZXJWTThvdkFMejg4c3ZLT2ttUzBLQkJBK3pjdWRQb3VFUkVSRVJQQWdaWFJEWEVtVE5uRUJvYWlwa3paK0tsbDE1Q2Ftb3Fnb09EOGM0Nzc4RFoyUmxBZnZBU0V4T0Q2OWV2NDYyMzNzS2tTWk9RbHBhR0J3OGVvR25UcGlhUG01MmRqU3RYcm1EVXFGRVlNR0FBbm4zMldZd2VQUm9EQnc0MGFpcm80K05UcE9sZ1lYdjM3b1dOalEyQS9ENVhmZnIwd2NHREI1WHRseTVkd3BRcFV3QUEvdjcrME9sMHlNN09ocisvUHdBZ016TVQvdjcrZVBYVlY4di9ReEVSRVJGVkVRWlhSRFdFdTdzNzVzeVpnL256NTJQRGhnMElEQXpFblR0M3NIcjFha1JFUkVDbjA4SE16QXlpS09MOCtmTndjM1BEWjU5OVZ1N3ovZjMzM3hnK2ZIaXh5MEIrd1BYMjIyK1g2L2l4c2JFNGZ2dzRZbUppc0h6NWNnRDV6UUpqWTJNQkFFNU9UdVhNT1JFUkVWSFZZSEJGVklOMDZkSUZjWEZ4TURjM3grelpzMkZ2Ync5YlcxdlkyTmpBMnRwYVNiZDkrM1pjdVhJRnJWdTNCZ0I0ZW5xaVE0Y095dmJ6NTg4YkxkKzVjd2U3ZCs4Mk9sZjkrdlhMWEhOVkZocU5CaXRYcmtSd2NMREo3WDM2OUFFQTNMOS9IMlptWmhWMlhpSWlJcUxLd3VDS3FJWTVldlFvUEQwOTBiNTllN3p5eWl2WXQyK2YwY2g2WGw1ZU9ITGt5Q09mSnpVMVZSbk1BZ0FjSEJ5TWxnMldMVnNHUjBkSEFQa0JtRUZKZmE2QS9Kb3JQejgvbytIYVhWeGNzR0hEQmdRRUJHREpraVhZdG0wYkxDd3NNSERnd0VmK1BrUkVSTldSUnFPQktJb3dOK2RqT1JIUlE2bFVLbG1sVXNrVklTc3JTMzd4eFJmbDdPeHNPVDA5WGU3VHA0OHN5N0xjdFd0WEpVM0J6d2F2di82NjBmSi8vdk9mRXBkbFdaYlBuajM3MERRRkRSczJURmFyMWNyeWd3Y1Bpbnp2R3pkdXlGT21UQ254T0MrODhFS0oyeCtWNGY5SFZWOFhSRlErRlZtbTBxT3I3V1hxbzE2UDZlbnBjcTlldmVUZmYvKzlYUHRydFZvNVBqNWVUazlQTjdsZHI5ZkxLMWFza08vZHUxZGttMDZuazlQVDArV2JOMi9LNTg2ZGt4TVRFK1UvL3ZpanhQUHA5WHA1M3J4NXNsNnZMMWQrSzF0MXVCNFpJaFBWSUdmUG5rWEhqaDFoWTJPRFU2ZE9GVHQzRlFDc1g3OGV2cjYrYU55NE1WSlRVeEVZR0toc1MwbEpNVm91Mk94dTh1VEp1SFhybHJLY2w1ZUgyN2R2QXdDNmRldUdKazJhR0ozSDBFZXFORTBHbXpkdmpvVUxGeXJMcjczMldwRTBraVFWV2I5aXhZb1N2eXNSRVZGTnRIRGhRcVNucCtPOTk5NHJNVjN2M3IweGRlclVJdXVqb3FLd2R1MWFEQjgrSEVGQlFTYjNGUVFCZ3dZTnd2ejU4M0h0MmpWOCtlV1gwR3ExRUFRQk9UazVlUGJaWjJGblp3Y0hCd2Y0K1BqQXdjRUJBd1lNS0hLY2d3Y1BRcElrN05peEE2R2hvVVcyMzd4NUUxOTg4UVZPbmp3SnRWb05WMWRYekpvMVN4bFFTNUlrZlA3NTU5aTFheGRrV2NiQWdRTVJIQno4eEkwYXpPQ0txQVk1ZnZ3NHZMeThJTXN5Tm03Y2FISkNYMG1TSU1zeURodzRBQzh2TDh5Y09STnQyN1l0OGJpT2pvNElEQXpFNnRXcjhlbW5ueXJIU1VoSXdGZGZmWVd3c0RCRVJrYWliOSsrK1B2dnZ6RnExQ2c4L2ZUVGoveDlDdmZ6QW9CT25UcVpYRTlFUlBRa1diOStQVzdkdW9XalI0OFdtZXFrTkE0ZE9vU3RXN2NpT2pvYWt5ZFBoa3Fsd2tzdnZXU1VSaFJGakJzM0RxMWF0WUphcllhZm54LzY5ZXVIT25YcVFLUFJ3TlBUVTNsSldsREJrWDRMa2lRSmdpQkFGRVdUKzd6d3dndVlPWE1tZERvZDVzNmRpNWt6WjJMZHVuVUFnSysvL2hwSGpoekJ0OTkraTV5Y0hBUUdCcUo1OCtibzM3OS9tYjk3ZGNiZ2lxZ0dPWGp3SU1MQ3dqQng0a1E0T1RtaFg3OStSZEs0dWJtaGQrL2VhTnEwS1Q3KytPTmlqNlhUNllxczI3SmxDOXExYTRkRGh3N2hwNTkrUXBjdVhSQVpHUWw3ZTN1c1dyVUs0OGFOdzIrLy9ZYjU4K2ZEek13TVBYcjBRUGZ1M2NzMWliQ3BXaXZBZE0wVkFJd2RPN2JZZllpSWlHcVNoSVFFeE1mSEl5UWt4T1M5dktDSWlBaTR1TGdZclR0NjlDaG16WnFGQlFzV3dOWFZGZUhoNFpnMmJSb1dMRmdBVDA5UEpkMmZmLzRKTXpNejlPN2RXMWxuWVdGUjV2eis5dHR2R0RseUpJRDhQdFdHYzJnMEdzVEh4OFBSMFJGRGhnd3hDcnFHREJtQzk5OS9INUlrUVJSRmJObXlCZVBHalZOZXpnNFlNQUI3OXV4aGNFVkVWVU9yMVdMV3JGbHdkWFhGeElrVGpackpkZTNhVmZrY0dSbFo3blBrNXVaaTRjS0ZjSE56dzVvMWExQzNibDFsVytQR2pRRUFiZHEwUVVSRUJINy8vWGZFeDhlamZmdjJKb01yYTJ0citQbjVGWHN1MWs0UkVWRnQ1ZVhsaFU2ZE9pRWhJUUdkTzNkR1dGZ1l6cHc1Z3kxYnRtREdqQm5LL1hmZ3dJRkZSc3pkdEdrVFZxeFlnZkR3Y0NYSThmVDBSRmhZR0taTW1ZS2hRNGRpOU9qUkVFVVJKMCtleExKbHl4QVVGQVIzZDNjRUJBUVV5VXZCWUF3QWpoMDdWaVJObXpadGNPellNV1JtWnNMWDF4ZUhEeDhHa0QrRmlpRllLMXlibFpxYWl2cjE2ME1VUmFTa3BPRHUzYnRHSXhVLy8venoyTEpsUzFsL3VtcVB3UlZSRFdGaFlhR01yRmU0LzFIQmZreVBvazZkT3BnN2Q2N0piV3ZYcmpWYWZ1NjU1L0RjYzg4VmU2eTZkZXRpeG93WkZaSXZJaUtpSjRtMXRUV3NyYTF4NmRJbFpkb1VOemMzL1B6eno0aUppVkg2UmF2VmF0U3BVd2RBZmkzVWdnVUxjUG55WmF4YXRRcnQyclZEV2xvYWV2WHFoZjM3OTZOSGp4Nklpb3JDaHg5K2lQajRlQVFGQmFGLy8vNW8yYklsRmk1Y2lGNjllaGtGVG9abWdZV0RLY01vdnhxTkJySXN3OHJLQ2dDd2VmTm1DSUpnTlBXTFRxY3pPY3FoVHFkRFRFeU04cEwxd1lNSEFHRDBNdGJCd1FHWm1abEt6ZGFUZ3NFVkVSRVJFZEZqRkJVVmhkallXR1JsWmNIUzBsTHBsMlJncU5GSlMwdERRRUFBQkVHQWo0OFA3TzN0RVJzYkN6czdPNVBIYmRPbURXSmpZeEVkSFkyY25Cd0FnS3VyS3padTNGanF2Qm42V3dVR0J1TE5OOStFdDdlM3N1MlhYMzR4Q3BDMFdxMFNmQlgweVNlZlFCUkZqQm8xQ2dDZzErc0JHTmR1aWFMNHhBMW1BVEM0SWlJaUlpSjZyTjU5OTEyOCsrNjc2TjY5TzdadjM0NEdEUnJneUpFalNFbEpNZXFENWVYbGhmajRlRmhhV3BhNmhxZE9uVG9JRGc0MldyZHk1VXI0Ky91alljT0dSc0VTQUtObHc1eVpTVWxKU0U1T1JzK2VQYkZvMFNKTW5qd1pabVptdUhUcEVweWRuUUhrOTczUzZYUkYrbkF0WGJvVVNVbEppSTZPVmdicU1BU0Q2ZW5wU3BQSHRMUTBPRGc0UUJSRjZQVjZkTzdjV1RsRzU4NmRzWExseW9kKzErcm95YW1ESTNyQzNMNTlHei8rK0dPUjlkOTg4dzN5OHZLcUlFZjU5SG85NXN5WkEwbVNqTmJuNU9SZzd0eTV4ZVl0T2pvYU4yL2VMUGQ1SlVuQzJiTm5jZi8rL1hJZmc0aXFENVZLOVZiSGpoMVZBS3JOcStzYk4yNWc2ZEtsbFhMc3gxRUdYcjU4R1JrWkdlVStCejFlcWFtcGtDUkpxUWxxMUtnUlB2MzBVK3pmdjE5Sm85Rm9sQUNsdkUzbmtwT1RqWnIycDZhbVl0KytmZGkzYng5T25UcWxmRTVMU3dPUWY2MHRYYm9VbzBhTmdwbVpHZkx5OG5EMDZGRUErU01VR29LZzNOeGNXRmhZR09Ycml5Kyt3SkVqUjdCNjlXcWpHaTRuSnlmWTJ0cmk0c1dMeXJxTEZ5K2lmZnYyQVBLbmhEbDE2cFR5VjFNREs0QTFWMFNsNXVibTVnc2c3Y3laTThjQjZDdjdmTjk5OTUzSkVYMldMVnVHdm4zN0dsWERiOWl3b1VpZktJMUdZL1M1NERDdlI0NGN3WTRkT3hBZUhsN3EvSnc2ZFFvQWNQZnVYUncvZnJ4SUliOWh3d2JrNWVXWmJCNXc5ZXBWeE1YRkdYV2s5ZkR3S0RJUVJsWldsc21PdEFDd2ZQbHl4TVRFWU5DZ1FaZzBhVktwODAxRTFaTXN5K1BNemMxZlZxbFVOMlZaanRIcjlUdlBuVHQzRW9EMDBKMHJTWHg4UE5MVDB4K2FybWZQbmtvenArTGs1T1RnNU1tVEFCNWZHYmhueng0Y1Bud1lFUkVSK09pamozRGh3Z1dUNmJLeXNwUXluZks1dTd2M0FxQkxTa282Q3FEb2NMcVY0UGJ0MjNCeWNsS1dXN2R1alhuejVpbDlyRFFhVGJsRzlpdnMyTEZqYU5ldUhSbzJiRmlxOU9IaDRiaDkrellhTkdpQVBYdjJ3TnpjSEh2MzdzVXp6enlEcEtRazVka2hKeWNITmpZMnluNWZmdmtsRGg0OGlLaW9xQ0xYdGlpSzZOdTNMOWF1WFFzM056ZGtaR1FnTGk0TzgrYk5lK1R2Vjkwd3VDSXF2VGRFVVJ6cDd1NStUeENFYnlWSjJuSG16Sm1qQUxRVmZTSlpsdkhERHovZzd0MjdXTE5tRFlEOE50T3JWcTB5bVQ0Z0lBQUJBUUh3OFBBb2NzTk1TVW1CbjU4ZkVoSVNqRHFkOXV2WEQzMzc5Z1dRWC8xKzhPQkJwVUF2YmgwQTNMcDFTMmtTWUhEbnpoMXMyclFKR3pac2dDUkpHRDE2TkJZdFdvU25ubm9LUUg3YjhxQ2dJT1RrNUNBc0xBeEJRVUd3dExSVW1oOFlGQjZ4eUNBNk9ob0pDUW5ZdkhrelpzMmFoZWpvYUl3ZVBiclkzNCtJYXBUbWdpQk1OemMzbjY1U3FlN0tzcnhSRUlRZHAwK2ZQb1pLZnNnMU5FV3l0N2MzV3QrelowK2o1ZlQwZEtPeU5URXhzY1RqNXVUa29GdTNic3J5NHlvREoweVlBQnNiRzZ4ZnY3N0VrV003ZGVwVVl2NXJLUjlCRUNhN3U3dW5BdGdNSUM0ek0vUHdsU3RYS3EycGlGYXJSV1ptSm54OGZFeHUxK2wwMEdnMDhQSHh3ZkRody9IMjIyK1g2encvL3Znai92M3ZmNWM2L1hQUFBRZWRUb2VrcENRMGFOQUFibTV1U0U1T1JuaDRPQVlQSGd3ckt5dG90VnI4K3V1dlJrSFU2dFdyQWFCSXM4Tmp4NDdCMHRJU1FVRkJtRDkvUHZyMTZ3ZGJXMXVNR1RPbTJHdStKcXZSd1pWS3Bkb1BvT2RERTlKakk4dnlpYVNrcEM1Vm5ZL0tKQWhDWXdEalJWRWM3Kzd1L2plQXpaSWtiYy9Pemo1WVVZWHdmLy83WDdScDB3WTdkdXdBa0Q5cytZRURCNVR0cWFtcGNIQndLTld4OXUvZmo4NmRPeGNaelVjUUJLUGhYVVZSTERMY2ErRjFJMGVPeE1XTEZ5RUlBcnk4dkpDYm00dVRKMDlpM3J4NUNBZ0lVTjdBOWV2WEQwdVdMTUdDQlF0dzZ0UXBwS1Nrd05mWEYrSGg0ZmpqanovZzZPaFlxcndiaG9ZL2QrNGNvcUtpMEtSSkUwUkdSaUk0T0JnM2J0ekF0R25UaklhTEo1UE1WU3JWVUZtV1J3TndGUVNCUDlqamxTUEw4Z1VBYTVPU2t0YWdiQzlqeXRKY3JyTFNWdGc1REtPZEdraVNaS3FOMDlPQ0lFd0NNRW1sVXFVQStGYVNwRjFaV1ZtSEt2TWh0NlJncVhCZmtMSjYzR1dnWVpTNTFhdFhJeVltcHR6NXJxMEVRV2dBWUJ5QWNYWjJkaG51N3U1YlpWbmVkdS9ldlovdTNMbVRVNUhuOHZEd3dONjllNDNXcWRWcTZIUTYyTmpZSUM0dUR0OS8vejJpbzZQTGZZNlVsQlNjUEhrU1U2ZE9OVnBmT0FBQ29EVDNIelJvVUpGdEVSRVJrQ1FKNzd6ekRvNGVQWXJKa3lmRDNOd2NIM3p3Z1pMbVliV2hWbFpXbURkdjNoTlpXMVZRalE2dXdNQ3EyaEVFb1RQeSsvSUpBTVIyN2RvSmVYbDVnazZuRTNRNm5lRG82Q2hvdFZwQnI5Y0xlWGw1b3IyOXZhRFg2d1c5WGk5SWtpVG85WHFoYnQyNmdsYXJGU1ZKRW1SWkZxeXRyUVZKa2dURHNpUkpnb1dGaFdqNExNdXlZR2xwS2NpeUxPajFlbEdXWlVHV1pjSEN3a0lvbUVhV1pjSGMzRndzOEZsWkwwbVNLTXV5QUVBd016TVRESjlsV1M2NC9MU0o3MXNmd0Znek03T3hkbloybVNxVmFxc2tTZituMStzVHo1OC9mN1c4ditQcTFhdU5PcU5ldTNZTkxWcTBVSmFEZ29MUXQyOWZqQjA3OXFFajdlelpzd2REaGd3cGIxYU1yRnUzRG5QbXpFR1hMbDNnN2UyTlBuMzZZTkdpUlRoNThpVDBlajBPSERpQXpNeE1aR2RuSXlNakEyZlBuc1dtVFp0dysvWnREQjQ4R0ZldVhNR2FOV3RnYm00T25VNkg4ZVBIRjN1dTQ4ZVA0NU5QUG9HTGl3dSsrdW9yMk5yYUFnRHM3ZTBSSFIyTmhRc1h3cy9QRDBGQlFmRHg4U2tTR0phQ0FFRDA4UEFRMVdxMWtKMmRMVFpzMkZCVXE5VmlYbDZlV0s5ZVBWR3IxWXJXMXRhaVZxc1Y5WHE5YUdscEtlcjFlc05uUWFmVG1WbFlXSWovWEoraXVibTVxTmZyUmNOblNaSkVNek16VVpJa1VSUkZTUkNFYzZkT25hcndtczRTbUt0VXFsZ0FBNTdFRVpscUNCdEJFRG9CNktSU3FXcHVKNElLSU11eTBYSXByc21HQUlKRVVReXlzN05MLytkYWpxdWs3RldhcWlvREF3TURsVUNyc0Vxc3VSTHd6ek9BaDRlSFlDaGJEZmQvdFZvdDZuUTZRYS9YQy9iMjlvSkdveEVOOS80NmRlcUlobWVCZis3cnluT0FvY3d0L05sUTlocnUrUVdmQVFyZjd3M3BESDltWm1iS2ZmK2ZRTCtaaWU5akp3akNLRUVRUmozOTlOUFpUei85OUE0QUIzVTYzYUZ6NTg1ZHFvd2Y4TXFWS3hnM2JoejBlajBjSFIweGMrYk1FdE9Mb29obXpab1YyeC9Md2NFQmtaR1JSbE80QkFRRVlPTEVpVVhTTGwrK3ZOanpEQmt5Qk1PSEQ0ZUZoUVY2OU9paGRBOTRrb1pRcnlnMVBiZ0M4UEJJbVNxZkxNdDQ0WVVYQUFBcWxjcW9JWHJCUGppeUxNUGMzQnptNXVhd3NyS0NMTXRGL25FYTBoUmNMbHpMQXVUZm1BMzdHVzdhcHRLWVdsZHduNUxTRkxkY0RGc0FJMFZSSENtS1lvNjd1L3NPU1pLMmxtYkhnaElTRWlETE1obzFhb1NNakF6WTJkbmg5T25UR0Q1OHVKSm04ZUxGbURGakJtN2Z2bzA1YytZZ0lTRUJTNVlzQVpEZm5NWE16QXo3OXUzRHVYUG5jUFBtVFV5ZlBoMEEwS1ZMbHlMTlg4cnEwcVZMR0RWcUZKS1RrK0hrNUlUZXZYdWpWYXRXYU5hc0daNTY2aWswYU5BQTl2YjIyTFZyRjlhc1dZTUZDeGJBM053Y0lTRWhHRFJva0RLQm9KbVpHVUpDUW95T2JlaVBzSGp4WWh3NGNBRGR1blZEWW1JaUJnNGNhREl2UTRZTXdabzFhNUNVbElSWnMyYVY2WHVvVkNvSmdES0hoK0Y2Tkh3R29Ld3pYTE1BakQ0WG5EalJjQzJhbVprcDE1UGh2d1d1MDVrQTVwY3BvNDlBcFZJTkJUQ2daY3VXQ0EwTmhZdUxpL0tBUm85SFZsWVdybDI3aGtXTEZ1SGl4WXVRWlZrU0JFRisrSjRBZ05LbUs2M3lIcy9rZm9XRHBYS2N6MElRaEZJOW1jbXliQWFnc1NBSVQ1VW1mVm1aZW90Zm5OemNYTHo2NnF1bFRoOFdGdlpZeXNEMjdkc2pNakt5eEg1YmxVbWxVaG45L3k1Y25wcGFMdHlmcUhBTEMwTVphbGh2dU84YnJyM0N6dzhsM2U4RlFTajIzbDdLQUtFdWdDRUFocGlibTZ2ZDNkMTN5N0ljVzVvZHk2SjkrL2JLQkwybFlXZG5oNTA3ZHhhNzNjek1yRWd3YlNxd0FsRGtlaXlvY0I4cVUzTmJVVDcrTWxRaENoVlltbjhLTWduNU4xZFp6aThKNVg4ZUttUlpsZzBkbGcwUEdpV2xLN2lzcEMyd255VExzbHplNDVUaGZLMEJOQ25sVHlJS2d2Q1VLSXFsYS90UlFFUkVCRUpEUS9IZGQ5L2grKysveDlTcFUzSDU4bVdqd3JGcDA2Wll1M1l0eG80ZGk2VkxsMkxxMUtudzlmV0ZoNGVIVWZPV2Rldld3ZC9mSDlIUjBVaE9Uc2FpUllzd2YzNytzMzNoSmpvRit3ZVlXaGNZR0lpaFE0Y2lKU1VGelpzM3gvNzkrL0hjYzgvaGhSZGVVQUxyZ254OGZOQ3JWeS9ZMk5qZ3h4OS9SRVpHQm9LQ2dwVHRnaURnMldlZk5ma2JqQmd4QXVQSGo0ZWxwYVVTR0JabjJMQmhSb04zbEZhQmg5eUMxNUNFZjY2RGY3WkovMXdEVW5IYkNxNUgvblVpRmZ6OHovSHJJNy9tczFJZURFdjRqcU1GUVVCb2FDamMzZDBmNTZucEgvWHExVU9IRGgwd2MrWk1EQjQ4R0lJZy9ITDY5R25YcXM1WGRlRHU3djRUZ0pkTFNKSW15M0tDTE11eFdWbFp1d3pOQWxVcTFUY1ZuWmZDZlo4S0t0d3NVSmJsaHc0SW9WYXI4Y1liYndEQVl5c0RyYTJ0TVdEQUFLTStMRDE2OUREcU41dVhsL2ZRL21LUFFBL1Q5MUdUeXloUVJoYTRaMHVGN3J0U3dXMkc5UVhMM29jdEZ6aWVWT2plYnJRc0NFSkxBTStVNW92S3NpeiswM3l3U0lzV0lnWlhWT0ZPbno1ZGRMaTRKNENibTl0YVVSUkhscEFrRzhBQkFOdXlzN08zWGJwMEtSTUF5dG9VYU9yVXFlamN1VE02ZCs2TSt2WHJZOEtFQ2VqVHAwK1JkdlVOR3paRVZGU1VNa2xnWVNkT25NQ1pNMmNRRmhhRzZPaG9EQjQ4R0lNSEQ4YVJJMGZnNWVXbFBCZ1labWcvY2VLRTBWcy9EdzhQSEQ1ODJHZ2tvTE5uejhMVzFsWjVNMm9JMER3OFBOQzRjV09qODZlbHBlSFlzV080ZWZNbVB2bmtFd3dmUGh5Yk4yK0dMTXNZT25Sb2liOUJvMGFOQUJUdFZHNUtZbUtpMFd6eHBaV1VsRlRtZG9UbDVlYm1ObDRVeFdXUDYzd0Z1QUtBaTR0TEZaeWFDbXJXVEdseDFLb3E4MUVEcE1peS9BT0F6VWxKU1h0UkNRTUdQUTdXMXRiWXZYczNBRlJwR1NpS29sR2ZudEljcjd4T256NWRvNThwM2QzZGx3aUNNTG1FSkxrQURnTFlvZFBwWXMrZlAvODNBS2hVcXVMYjBsR3RWS1AvSVJCVkF4a0E5c3V5dk9YKy9mczdidCsrbmZ1b0IzenBwWmVNUGtkRVJHREVpQkVtMHpvNE9DZ0RXMmkxK2M4ZzBkSFJ1SExsQ3E1Y3VZSXhZOFlvRS9lWm1abGh5cFFwbUR0M0xqcDE2cVEwemJoLy96N3M3T3hLMVdmSjFkVVZ2cjYrR0Q1OE9MS3lzakJod2dRQWdLV2xaWkZPdVlhM3AzZnYzc1h6enorUDVPUmtORzNhRk04Ly96eUEvS0R1dGRkZUsvRjg2ZW5wUllJK2cwZnRaRjRiR0FhdllGUEFxbGZnNVVpZGt0TFZVbmNCZkE5ZzArblRwL2VoQ29aaUwwdXp3TExZdFdzWHpNek1XQWJXVUxJc1p3dUNrQ2hKMGphdFZydnR3b1VMV1ZXZHA4cWswK213Yjk4K2RPM2FWWGwyS096eTVjdHdkSFFzZGpzeHVDSXFNMW1XL3did295QUlzWGw1ZWJzdlhMaFE5alpwcGFCV3F6Rmp4Z3dNR0RBQXJWcVYvTEo3MDZaTldMbHlKZHEyYlFzQXVIZnZIbXh0YmVIdjcyK1V6c1BEQTYxYXRjS3hZOGZRbzBjUEFQa2pFN1pyMTY3VStSbzllalJPbno2Tml4Y3Y0dHExYStqWXNXT0o2UTIxY0VEK0tJZFhyK2FQODJGcGFhbTgyVFY0RW9ka0pTTFRCRUhZS2tuUzNETm56aHhFeGZjdks1T3lOQXNzeStBd0d6WnN3UGp4NDdGaXhRb0FqN2NNTkV4UVc5d3czMVNzREFBSi83dzAzVmtSTDAwcnkvbno1NHU4ZlBYejg4T01HVE1BNUkvKzkvbm5uMlBYcmwyUVpSa0RCdzVFY0hCd3NkZHdWRlFVMXE1ZGkrSERoeHMxWVMySWM2azlISU1yb2xLU1pUbFJrcVN0Wjg2YytSR1ZQUGRLYm00dVB2amdBNU1kbmsxUnFWVFl0R2tUbWpUSjd4Sm1iMjhQTHk4dms1MTBQL25rRTZYVzZ1clZxMWk1Y2lYQ3dzSktuYmNkTzNZZ0xTME5ZOGVPeGJoeDQvRE5OeVYzZjlpN2R5OTI3TmlCZS9mdW9WR2pSdWpRb1lQSlBscEVWTHVjUG4zNmk2ck9RM2xZV1ZuQjB0SVNQLy84YzdGbG1TekxPSC8rUEc3Y3VJRy8vdm9MWThhTWVXeGxvQ3pMQ0E4UFI1TW1UWW8wQzZRU0haTWthWUJXcTQydnJKZW1sYVZ3RTM2RHI3LytHa2VPSE1HMzMzNkxuSndjQkFZR29ubno1dWpmdjMrUnRJY09IY0xXclZzUkhSMk55Wk1uUTZWU0diV2tNZUJjYWcvSDRJcW9sTTZlUGJ2aGNaem54bzBibUQ1OU9zek16TEI4K1hLajBSYUw4OXh6enhrdHYvbm1tOFdtTlJ4djU4NmQrT3l6enhBWUdJaXVYYnVXS20vZmZ2c3RZbU5qOGVXWFg2Sng0OGJvMkxFam5KMmRvZFZxMGE5ZlA1UDdkT3pZRVIwNmRGRDZuSGg3ZTJQWHJsM1FhRFJGbXVKb05CcUVoSVFZRFFkYmxsRzVpSWpLb3l6TkFrVlJ4UHZ2djQ4SkV5WWdON2Y0U28yNmRlc2lNREFRbnA2ZWVQSEZGeDlMR1hqcjFpMW90Vm9rSnlkai9QanhSaE1OYTdWYWFMVmE2UFY2RHA5dFFsSlMwcmFxemtORjI3SmxDOGFORzRlbm44NGZkMlBBZ0FIWXMyZFBrZURxNk5Ham1EVnJGaFlzV0FCWFYxZUVoNGRqMnJScFdMQmdnY25hVk02bFZqSUdWMFRWVEhwNk90cTJiWXNQUHZqQWFKU25SMUdnTTczQzBkRVJ5NVl0SzNZVXVjREF3Q0xENUxabzBRTFIwZEZvMkxBaEFDaDlCN3AxNjRhbFM1Y2FwVFVNOWRxMGFWT2o5U1Uxdnltc2MrZk9XTEZpaGNrSEFVbVNTbFdyUjBSVUhFRVE0T0hoZ2RXclZ4ZWJScElrakIwNzFtaGRRRUFBQWdJQ29OZnJUZTVUY0txUXdpcXpETlRyOVJnOGVEQW1UcHhZWkovMDlIUU1HREFBQU5DN2QrOVM1NEZxcHBTVUZOeTllMWNaK2gvSXYyZHYyYkxGS04ybVRadXdZc1VLaEllSEs0R1VwNmNud3NMQ01HWEtGQXdkT2hTalI0ODJlUTFXMGQrL1J5MEFBQ0FBU1VSQlZGeHExUjZESzZKcXBtUEhqaVgyWXlwUEcyWlRjMkM4K09LTEplNHpac3lZSXV1SzZ3OVFPTEFxYmwxWnJWeFovRUNMb2lqaWl5OXFaS3NpSXFvbVJGRXNNYkI2V0pweVRGNWVKbVV0QTF1MGFJSEprMDBQZVBmVVUwK1ZhZjRrcWptNmRldUdldlhxb1d2WHJwZ3laUW9jSEJ6dzRNRURBTWJ6VXprNE9DQXpNeE9TSk9HdnYvN0NnZ1VMY1BueVpheGF0UXJ0MnJWRFdsb2FldlhxaGYzNzk2TkhqeDZJaW9yQ2h4OStpUGo0ZUFRRkJTRXpNN05LNTFLcktSaGNFUkVSRVJIVk1NOC8venlPSGowS0N3c0xYTGx5QldGaFlaZ3padzQrLy94enBWYTFZSTJUS0lyS1lCYWJOMitHdmIwOVltTmppeDM1cjAyYk5vaU5qVVYwZERSeWNuSXdZTUNBcXA1THJVWmdjRVZFUkVSRVZNT1ltWmtwdGFldFc3ZkcrKysvajRrVEowS1NKQ1ZnU2s5UFY2YUNTRXRMZzRPREEwUlJ4SVFKRTByVjk2NU9uVG9JRGc0dWR2dmpuRXV0cG1DUFJpSXE0dkxseThqSXlLanFiQkFSRVZFcGFUUWFXRmxaUVJSRk9EazV3ZGJXRmhjdlhsUzJYN3g0RWUzYnR3Y0FEbXBTaVZoelJVUkZjQjRMSWlLaTZpMHhNUkd0VzdmRzAwOC9qVjkvL1JYTGx5OVhSdTRWUlJGOSsvYkYyclZyNGVibWhveU1ETVRGeFdIZXZIa1ZkbjdPcFdZYWd5c2lLb0x6V0JBUkVWVnY1OCtmUjFoWUdISnljdEM0Y1dQMDdkc1g3Nzc3cnJJOUtDZ0k4K2ZQUjc5Ky9XQnJhNHN4WThaVXlFVFZuRXV0WkF5dWlNZ2t6bU5CUkVSVWZZMGZQeDdqeDQ4dmRydVZsUlhtelp0WG9iVlZuRXZ0NFJoY0VWR0pPSThGRVJIUmswOFVSVFJyMXF6RXdJaHpxVDBjZ3lzaU1ySjkrM2JPWTBGRVJGVEwyTm5abVp3WHN5RE9wZlp3REs2SXlBam5zU0FpSWlJcUh3WlhSUFJRbk1lQ2lJaUk2T0ZxYjI4eklpS2lVdEJxdFpCbHVhcXpRVVJFTlFDREt3QnIxNjR0VS9velo4N2c5T25USmFZcHp5U3MwNmRQTDFQNmtuejMzWGY0L1BQUGk5MGVIUjJObXpkdlZ0ajU2TWxWY0I0THd4ODkyUXJQYXliTE1rNmRPZ1ZKa29yZDUxSExGRW1TY1Bic1dkeS9mNy9FZE1uSnlmRDE5VVZPVG82eTd2cjE2eGcxYXBUSjlCRVJFY3JueFlzWFB6UWZHUmtaVUt2VlJ1dTJiTmxTb2FOdEVSSFJrNnRXTmdzY08zWXNWcTFhcFN5dlhMa1N1M2Z2TmtyejFsdHY0YTIzM2pLNS85V3JWN0ZpeFFwczM3NGRkbloySnRPVWRSTFd0TFEwSkNjbkY5bnU0ZUdCeG8wYkYxbnY1T1NFTld2V3dOUFRFdzRPRHNqTHk0T1hsNWZ5QUxCbHk1WmlINEt2WHIyS3VMZzRCQVFFR0oyblFZTUdSZkxHQVExcUw4NWpVWHVOSGozYTZOKytMTXVJam81RzkrN2RNV2pRb0NMcEs2Sk1XYjU4T1dKaVlqQm8wQ0JNbWpTcDJMeDk5OTEzY0hWMWhZMk5qYkx1cDU5K1FzZU9IVTJtajQrUFIzQndzRkllZnZqaGg4b2ttMnExR2hrWkdVb1oyNzU5ZTdSbzBRSkpTVWxZdG13WkxDMHRBUUFKQ1FrWVBIaHdzWGtpSWlJeXFKWEIxYWxUcDRxc2k0dUxNNW5XdzhQRHFDTi9RYjYrdmtiTHVibTV5ckhMT2ducnNXUEg4UHZ2djZOUG56NHdNek1EQU96ZHV4ZVdscFlsUHRTYW1abGg3OTY5V0xwMEtlenM3T0R0N1kyOHZEeW8xV3I4OWRkZlJyVnlYYnQyeGR5NWN4RVZGWVdnb0NEazVPUWdMQ3dNUVVGQnNMUzB4TDU5KzR5T1hSRVR6VkhOeEhrc0NERHVXNmZWYXZIYmI3OGhLaXBLV1plUWtBQlJGQis1VEltT2prWkNRZ0kyYjk2TVdiTm1JVG82MnVpYUEvSnJ0bnIzN28zczdHeFlXRmdvZVV0TVRNVGV2WHR4OCtaTmJOMjZWVWtmRXhPRGYvM3JYeWJQWnhnTmE5MjZkYmgrL1RyQ3dzS016ak5wMGlUTW1UTUhIMy84TWE1ZXZZcXpaOC9pOXUzYitQVFRUNDJPNCt6c2pCVXJWaFQ3K3hFUlVlMVRLNE9yc2pweTVNaEQwK2oxZW5UdTNObG9YVmttWWYzdXUrK3dmdjE2akIwN0ZudjI3SUdGaFVXWjhuajgrSEdFaDRmam5YZmVRV2hvS0JvM2JveVFrQkRjdTNjUGpvNk9TcnBUcDA0aEpTVUZ2cjYrQ0E4UHh4OS8vR0cwblFqZ1BCYTExWnR2dm9tVWxCUm9OQnIwN05rVDZlbnBPSEhpQkhKeWNtQnBhUWtyS3lzbHJZZUhoOUpjc0x4bFNtNXVMaFl1WEloejU4NGhLaW9LVFpvMFFXUmtKSUtEZzNIanhnMU1tellOZGV2V0JaQmZlNWFlbnE3VWZPbjFlbmg1ZWVIMDZkT3dzYkV4cWhINzk3Ly9EWFB6NG05dlE0Y094ZDkvLzQyMHREU1ltNXZqdGRkZUF3RHMzcjBib2lqaTQ0OC94dXpaczVHWm1ZbjE2OWRqekpneENBd014STRkTzlDdlh6OElnb0RvNkdqY3VYT256TDh4RVJFOTJXcFZjR1c0Z1RvNk9pcWZUUzBiakJneG90VDlvRVJSeEpRcFUweHVLODBrckczYXRJR0xpd3NrU1RKNm1OVm9OQ2J6VnJBWjQvMzc5NUdWbFlWV3JWcmgrdlhyT0hUb0VIYnMySUdzckN6NCt2b2ExZFJ0MnJRSnQyL2Z4dURCZzNIbHloV3NXYk1HNXVibTBPbDBKYzd5VGJVTDU3R29uYlpzMlFJZ3Y0WXBNVEVSWjg2Y2dabVpHYjc0NGdzQXh2MUMxNnhaQXpNenMzS1hLY2VQSDhjbm4zd0NGeGNYZlBYVlY3QzF0UVVBMk52Ykl6bzZHZ3NYTG9TZm54K0Nnb0tNbWpnYm11cnA5WG9BK1Uyd0MvZTMwdWwwSmI2Z3VudjNybEtyOXV1dnY2SnQyN1pHdFhRMk5qWllzbVFKcmx5NWdpTkhqbURuenAxUXE5V1lQMzgrK3ZmdkQ0MUdnNjFidCtLenp6NTcrSTlLUkVTMVNxMEtyZ3IzcXlvTkx5OHZMRnUyck1qNjNOeGNrODBGLy9PZi8yRGZ2bjFsbm9RMUpDUUVRSDdURzBPelFDRC9RYUp3dnIyOHZJeVd6NTQ5aTdadDJ3SUFsaTFiaG9FREI2Smh3NGJJek13c2NwNndzRENZbTVzakpDUUVnd1lOUW9jT0hRRGtOeTgwNU1HZ1lQOEpJcXA5M056Y2tKMmRqZSsvL3g1ZmYvMTFrVzFBK2NxVXhZc1g0OENCQStqV3JSc1NFeE14Y09CQWsrY2ZNbVFJMXF4Wmc2U2tKTXlZTWNOa210RFFVSHoyMldmUTYvWG8wYU1IZ1B6QXl4Q0VDWUpRN1BlVFpSbkJ3Y0ZJU0Vnb3NpMCtQaDVkdTNiRmwxOStDVHM3TzF5N2RnMlNKT0d2di81Q25UcDFNSHo0Y0R6Ly9QUEZIcHVJaUdxbldoVmNHWGg0ZUtCSmt5YkZiazlPVHNiSmt5Y0I1RGNKek1uSlFYcDZ1ckpQVGs0T3VuWHJWbXh6d2ZKTXd2cmFhNjlCcjljak56ZFhlVXRiY05DTmtuVHYzaDFmZlBFRnJsKy9qak5uenVDWFgzNUJmSHk4c3QzYjJ4dEEvcWlJenp6ekRINzg4VWRrWkdRZ0tDaElTU01JQXA1OTl0bFNuWStJbmx4Ly92a25kRG9kQmc4ZWpFdVhMc0hTMGhMbTV1WktIeWkxV2cyOVhvKzZkZXRpMGFKRmNIZDNMM09aTW1MRUNJd2ZQeDZXbHBZUGJSMHdiTmd3YURRYVpibndIR3VpS0dMZ3dJRVlOMjRjMnJadEMwZEhSK2gwT2lXNEtxbGZvRTZuTTNxWlpYRHYzajJFaDRkanpabzFTZ0IxNGNJRldGaFk0T0RCZzNqNzdiZE5EdXhCUkVSVUs0TXJBRVlqVFQzTWtTTkhzR3paTXFPQXBhd2VOZ25yN3QyN2taeWNqTEZqeDJMYnRtMWxHaWpBMHRJU2ZuNSsyTDU5TzM3NjZTZGxmV1ptSm5yMDZHSFVxZnptelp2NDVKTlBNSHo0Y0d6ZXZCbXlMR1BvMEtIbC9sNUU5R1RJeTh2RFcyKzloZFRVVkFpQ2dORFFVTFJxMVFyOSt2WERzbVhMMExwMWF3RDVOVVZ0MjdaVmFxSEtVNlkwYXRRSVFPa21vMDVNVElTMXRiWFNETkR3VXFwZ1AxZG5aMmU4K2VhYldMUm9FUll2WGd5OVhnOExDd3ZJc2x4aVdacWJtd3RyYStzaTY5ZXRXNGVlUFhzYTFVenQzYnNYbzBlUFJteHNMUHo5L1RtWUN4RVJtVlFyZ3l0UkZCRWJHMXZzZGtNL0tJTUxGeTVBcFZJVlNmZnl5eThiTFUrWU1FSHA2RjhlbHk1ZGdwbVpHWVlORzRiVnExZkR4c2FtMkQ1WGhiVnAwd1pmZmZYVlE5UGR2WHNYenovL1BKS1RrOUcwYVZQbDRhRzA1eUdpSjVPVmxSVSsrT0FEZE9uU0JkMjdkMGU3ZHUyd2FkTW0yTnJhb21YTGxnQ0FPM2Z1NFBEaHcwWkRwVDlLbVdJWU1NTlU3WkdwUVlKS01tellNTnkvZng4YWpRYWlLTUxDd2dKcGFXbHdjSEFvZHA5YnQyNFZHWHpqenovL3hPN2R1N0ZwMHlabDNZa1RKM0R0MmpVc1c3WU01OCtmeHpmZmZJUGh3NGVYT205RVJGUjcxTXJnU3BJaytQdjdseXF0VHFmRHZuMzcwTEJoUStUazVCalZlQjA4ZUxCVXh5ZzRDV3RKZnZqaEI3ejc3cnM0ZE9nUXBrNmRpczgvLzl4a242dWxTNWNhTFdkblorUG16WnV3c0xCUW1nQVdaRmpYdEdsVHJGKy9YbmxnU1UxTnhkV3JWd0dZN3R2Rm9kaUpxZ2QzZC9kWkFQNU1Ta3I2R29DdXNzNVR1RDludDI3ZDhQdnZ2Nk4vLy80WVBIZ3dFaE1UTVdqUUlEUnMyRkJKMDdsejUycFJwbGhhV3FKcDA2WklUVTFWUmpXOGMrY09ubjc2NlNKcERlWC96cDA3a1o2ZWp1VGtaR1hkMHFWTDhaLy8vQWRObXpZRmtCOXN6Wm8xQzlPblQ0ZUZoUVUrK09BRERCMDZGQzR1THVqYXRXdWxmUjhpSXFxWmFtVndWWmFhcTVpWUdMUnQyeGJPenM1NCsrMjNNV0xFaUdJbnF6UU1SbUZvTGxLV1NWZ3ZYTGlBczJmUFl1N2N1ZWphdFN1R0RSdUdRNGNPbVV3N2NlSkVvK1dSSTBjaUt5c0xIMzMwa1ZFTm02bG1nWHYzN3NXT0hUdHc3OTQ5TkdyVUNCMDZkTUFMTDd4UWJMNklxRnA0WFJDRUY5emQzYU1BM0FDd05ETXpjL1dWSzFmeUt2T2tUWnMyeGV6WnMzSG16Qm1NR1RNR09wME9QajQrUnFPYVB1NHlwWEFBV05qbHk1ZVZ5WXN2WExpQTU1NTdya2lhZDk5OUYxdTNic1gvL2QvLzRZMDMza0JBUUFEbXpwMkwzTnhjL1AzMzM4cklyMmZQbnNYVXFWUHgxbHR2S1lObFBQUE1NNWc3ZHk2bVRKbUNpUk1uNG8wMzNxallMMGhFUkRWYXJReXVDdE5xdFVoSlNVSGR1blZ4NmRJbHBRMyt6WnMzc1czYk5xeGJ0dzROR3phRXE2c3JZbU5qc1hMbFNsaGFXaXBCbUNBSVNuK0FiNy85RnM4OTkxeVpKbUdWSkFrelo4N0VqQmt6WUdGaEFRc0xDMlZTWTQxR1k3TEd5OHpNVEhrclhGS2dXRmpIamgzUm9VTUhOR3ZXREVCK3JkYXVYYnVnMFdpSzFIcHBOQnFFaElSZytmTGxwVDQrbVNiTE1uYnQyb1h0Mjdmajk5OS9oMXF0cnVvczFTclcxdFp3ZG5aR3YzNzlJTXR5aVNQSVZXZUNJSWdBV2dKWWJtdHJ1OHpOemUyNktJcXI3dDY5dStMT25UczVqM3A4d3dUa2htWjZEeDQ4d0k0ZE8vRHR0OThpSUNBQVBYcjB3TktsUzdGbHl4Wk1tVElGTDd6d3dpT1hLYSsrK21xWjhtZ1lTS2hnczhGang0NWh6cHc1cUZldkh1N2V2WXQzMzMwWEFIRGd3QUdNR1ROR3lkZStmZnR3NmRJbHJGcTFDcmR1M1VKa1pDU2FOMjhPVjFkWGZQamhoeGd4WWdUV3JGa0RJTDhmN0lJRkN6QjU4dVFpemIxNzlPaUJqei8rR0hQbnprVzdkdTJVMFZycDhXR1pXcldlbERLVnFETFU2SDhOS3BWS0JtQTBqMU5wZE9yVVNSa05FTWgvb0hqampUZVU0WHZmZlBOTkRCa3lCQnFOQmc4ZVBJQ1RrMU94eDVJa3lhaGdNYnpOdlg3OU9yWnQyMlp5RXRZSER4NG9OK3Z1M2J0ai92ejVlUERnQVo1NjZxa3lmUThndjk5WGNjMFREVFZYWmYxOXlzdkR3d01BY1ByMDZScDlYVlUwZDNmM2JFRVFTaitDQ2xVcVdaWUJRSjJVbEZSMExvVks0dWJtTmw0VXhXVUFscDArZlhyaVEzY294TjNkL2FRZ0NDVlZCOGtBYmt1U3REWTNOL2ZUUzVjdVpRSmxMeU45Zkh5UW1wcUsvdjM3WTlTb1VmRDM5MGV2WHIwd2RPaFFwZCtWNGFFMk9qb2FtemR2THRQZ1FJV05HemNPSzFhc01EazRoQ1JKQ0FrSlVlYllBb0R6NTg4clE3MEQrWDJtbm5ubUdXaTFXdHkrZlJ0NWVYbHdjSEJRbWdMKzl0dHZhTk9tamRGeGYvMzFWNXc5ZXhZREJ3NVVSaFFFOGwrbTVlWGxvVldyVmdEeW0xdW5wS1NnZWZQbXhlYS9jRlB4aDJFWldURllwbFl2VlZHbVZpY3FsU29iZ00zQmd3ZFJyMTY5cXM1T3JXWVl6UnVBK3ZUcDAxVjJQZGJvQXI2OHdSVlZEajQ0bU9idTduNVZFSVNXTFZ1MlJHaG9LRnhjWEpRSlUrbnh5TXJLd3JWcjE3Qm8wU0pjdkhnUnNpemZTMHBLY256NG5oWEQzZDA5QWtEUTQzaTcrOC9MbnI4a1NmcEdGTVVwUVBuTFNJMUdZeFNBRktUVDZXQnV6c1lQWmNFeXNtS3dUSzE2VlYybVZpZnU3dTRuQkVIb3RINzllcU9YUC9UNC9mSEhIL0QzOTRjc3l4ZVRrcExhVlZVK09KWXNVU1VUQkVFRzhvZXdkbmQzNTBOQUZhaFhyeDQ2ZE9pQW1UTm5BZ0JFVVpRZjUva2xTYXJ6bUp2TjJBbUM4TWdUMXhVWFdBRmdZRVZWaG1WcTFhdnFNcldhV1FzQWl4WXR3cVZMbDVDZG5WM1YrYWwxY25KeThNY2ZmMkRKa2lXR1ZWdXJNais4T3hKVk1sbVdIUVZCZ0l1TFMxVm5wZFl6OUF1U1pkbnVjWjVYRUlUei8veDNEWUI1WmQxZmx1WHZBSmdlU2VkLzBtVlozcXZWYWlOKytlV1gvd1ArVjd0UDlDUmhtVnA5VkZXWldwMGtKU1d0Y1hWMWZmUGl4WXM5RFpPTHN3L2E0MmZvb2lOSjBnbXRWanUvS3ZQQzRPb3hrU1FKNTgrZmg1T1RrektCWm1HWEwxK0dvNk1qN094cWJSbjFSQklFb1M0QXZsMnRCdXJXcld2NFdDVnRzV1Zaemp4OSt2VE5zdTduN3U2dUtYeXovcWVmUXlxQTdRQStTMHBLdWxnaG1YeU1MbHk0Z0hidHl0WnlJeU1qQTZtcHFXalJvb1d5N3VlZmYwYURCZzNnN094Y3dUbWs2b2hsYXZWUjFXVnFOU0dMb3BnSk1LaXFTZ1YrKyt3TEZ5NVU2WXRGQmxlUHlmTGx5eEVURTROQmd3WVpUY0JaMEo0OWUzRDQ4R0ZFUkVUZ280OCt3b1VMRjB5bXk4cktZajh6b3RycmdTekx1L1I2L2FKejU4NWRxdXJNUElveFk4WW9vLzhCd0FzdnZLQzhmTHAvL3o1Ky92bm5JdnVrcHFiaTY2Ky94dXpaczVWMUsxYXN3T2pSb3hsY0VkRmpwMUtwaGdMb3h6NkFWYWRRSDhCL3U3dTdUMDVLU2xwUVZmbGhjUFVZUkVkSEl5RWhBWnMzYjhhc1diTVFIUjF0TkRTN3dZUUpFMkJqWTRQMTY5Y2pNakt5Mk9NVm5JZUxpSjU4c2l3ZmxXWDV1Q0FJaTVPU2ttNVVkWDRxUTE1ZUh1cldyYXZNQjFoNFBxdms1R1FBUUowNmRlRHM3S3dzWjJWbDRZOC8vbUM1U0VSVlFwYmwwWUlnS0gwQTZmRXIyQWR3OE9EQkVBUmhFQUFHVjAraTNOeGNMRnk0RU9mT25VTlVWQlNhTkdtQ3lNaElCQWNINDhhTkc1ZzJiVnJCS25VQVFHQmdJQUJnOWVyVmlJbUpxWXBzRTFFMWMrYk1tUWxWblllS1pKaTdUNjFXdzhmSEI2dFdyY0sxYTlmdzdMUC9HNE5ERUFUazV1YWlUcDM4MWtiQndjRUE4a2VEZXZiWlo3RnIxeTRBK1RkVnJWYXJ6S21WblowTkd4c2JPRGc0S0dtSWlDcVJLd0QyQWF3R0RIMEFBYlNxeW53d3VLb2t4NDhmeHllZmZBSVhGeGQ4OWRWWFNoV3h2YjA5b3FPanNYRGhRdmo1K1NFb0tBZytQajdLcEowR2dZR0JTcUJWR04vUUVsRk5WckIyYXUvZXZUaDY5Q2ptejUrUCtmUC8xd2ZaeDhjSHI3enlDZ1JCd01xVkt4RWJHd3RabHVIcDZhbE1uTDUvLzM3TW5Ea1RBUUVCZVAvOTk1Vmpmdi85OTQ4MC94WVJVV214RDJEMVVWMzZBREs0cWdTTEZ5L0dnUU1IMEsxYk55UW1KbUxnd0lFbTB3MFpNZ1JyMXF4QlVsSVMycmR2ajhqSVNHUmxaZUhZc1dPUE9jZEVSRlVqSlNVRnYvNzZLejcrK0dPakYwY3pac3pBakJrempOSnF0VnBvdFZxOC9QTExBSUFQUC93UXMyZlBSbUppSWdEZzNyMTdzTEd4WVdCRlJFUlZoc0ZWSlJneFlnVEdqeDhQUzB0TFRKOCt2Y1MwdzRZTmcwYWpnYlcxTlFZTUdBQlBUMDlsVzQ4ZVBaUW1NVUIrbndURFF3UVJVVTExL2ZwMW5EcDFDbXExR3NPR0RjUGJiNytOYWRPbXdkemNIQllXRmdEeUp5bFdxOVg0NmFlZmxQM1VhalVhTldxRTc3Ly9IcSsvL2pwVUtoV2NuSnp3elRmZlFLL1g0OFNKRSt6elFFUkVWWXJCVlNVd2pIYlZzMmZQaDZaTlRFeUV0YlcxeVcyaUtDck5aMHA3UENLaTZ1enUzYnNJQ0FqQVN5KzlCQ3NySyt6WXNRTVdGaGJJek14RVJrWUdwazJiQmlCL2hOWGZmdnZOYU4rLy8vNGI5ZXZYQjVBZmFCbGVQclZ1M1JvSERoeEFiR3dzUm8wYTlYaS9FQkVSVVFFTXJpcFJlbm82VHB3NFVhUS9GUURvOVhwMDd0eTVDbkpGUkZSMUdqZHVqUDM3OThQS3lncGVYbDVLVFZYLy92MHhZc1FJVEpnd0FScU5CdHUzYjhjWFgzeGh0Tyt0VzdlVTRkWnpjM09WOXZXdnYvNDZRa0pDOE13eno2Qjc5KzZQOXdzUkVSRVZ3T0NxbWtwTlRZVWtTY3FvV2tSRVR3SlJGR0ZsWlZWa3ZaT1RFMTU3N1RXc1hyMGFmLzMxRjk1NDQ0MGlFd3dmT25RSW5UdDNoaVJKMEdxMXNMUzBCQUJZV1ZraEx5OFBUWnMyTlV5dVRFUkVWQ1VZWEZVenNpd2pQRHdjVFpvMEtkSXNrSWpvU1RabXpCZ01HREFBRFJzMk5CbzVFQUIrKyswM0hEaHdBT1BIajhldFc3Zmc0T0FBQVBqNTU1OHhaY29VVEo4K0hWdTJiTUhJa1NNUkdocUsxcTFiVjhWWElDS2lXbzdCVlNWNzlkVlhTNTMyMXExYjBHcTFTRTVPeHZqeDQ0MG1HamFNa3FYWDZ5R0tZbVZrbFlqb3NWQ3IxVkNyMVRBM3o3OEY1ZVhsWWYvKy9WaS9majFlZXVrbDNMbHpCeU5Hak1DYmI3NkpybDI3d3NyS0NpRWhJUmczYmh6Mjc5K1Bqejc2Q0crLy9UYldyVnVIdFd2WFl2YnMyZkQyOXNhcnI3NktCUXNXWU1pUUlmRHo4M3ZvZ0VKRVJFUVZqY0ZWSmVyY3VUTldyRmhoTWhpU0pBa2hJU0ZHNi9SNlBRWVBIb3lKRXljVzJTYzlQUjBEQmd3QUFQVHUzYnZ5TWsxRVZNbjgvUHh3Nzk0OURCZ3dBRWVPSE1IY3VYUHg0b3N2SWp3OFhLbHhPbnIwS0dKalkvSHBwNS9pMjIrL3hlTEZpK0hxNmdwWmx2SHFxNi9DMHRJU1NVbEppSXFLUXBzMmJRQUFkZXJVUVZoWUdQcjE2NGVtVFp0VzVWY2tJcUphaXNGVkpWcTVjbVd4MjBSUkxOSlp1MFdMRnBnOGViTEo5RTg5OVJRT0h6NWNvZmtqSXFvS2UvYnNVVDVydFZyRXg4Y3IvYWNNdW5idGlxNWR1MEtTSklpaWlDWk5tZ0FBQkVGUTBoWTM3THBLcGFxa25CTVJFWldNd1JVUkVWVVp3MmlCeFdFemFDSWlxa2w0MXlJaUlpSWlJcW9BREs2SWlJaUlpSWdxQUlNcm9ocmsyclZyUmRibDVPUWdQRHdjdWJtNWxYTE9wS1FrYUxWYUFNQzZkZXVRazVOVGJOcEpreVlwbnovNDRBUGw4NTQ5ZTdCcDA2Wnk1K0dYWDM0cDk3NUVSRVJFand2N1hCSFZJSjkvL2ptc3JhMHhiOTQ4cFZPL2pZME5VbEpTc0hIalJyenp6anNtOTN2bGxWZndyMy85eStRMm5VNEh2VjZQcjc3NnFzaTJLMWV1WU5La1NkaTRjU09hTkdtQ0sxZXVZT1BHalViVEJCUjA1c3daNWZQWnMyZVZ6ei84OEFOZWV1a2xvN1FSRVJFNGNPQUFidDI2aFdlZWVRWUFsTTl4Y1hIdzl2Ykd2bjM3QUFBaElTRklURXdzN21jaElpSWlxaFpZYzBWVWd5eFpzZ1FBOE4xMzM4SGIyeHZlM3Q3bzBhTUhMbHk0Z0UyYk5pbnJ2TDI5RVI0ZS9ram5VcXZWQ0EwTlJXQmdvREpTMjN2dnZZZU5HemZpOTk5L04wcDcrZkpsK1B2N0l6TXpFLzcrL3ZEMzkwZDZlanI4L2YyUm5aMk5reWRQNHNVWFh6VGFKemc0R0hGeGNiQzF0VVZjWEp6Ulp5SWlJcUthaURWWFJEV0VMTXRRcTlYNCtPT1BJWW9pL1B6OGtKNmVqdEdqUjJQaHdvVndkbmFHTE1zNGNlSUV1blRwOGtqbmtpUUpzMmJOUXJObXpUQm8wQ0JsZmRPbVRURng0a1NNSHo4ZXExYXRVbXJEV3JWcWhkallXUFRzMlJPeHNiRUFBRzl2YjhUR3htTExsaTB3TnpmSCtQSGpBUUQzN3QyRGc0TURJaU1qMGJKbFN3aUM4RWg1SlNJaXFpMDBHZzFFVVZRbVlhZnFoelZYUkRYRW1UTm40Ty92ai8vKzk3OEFnTlRVVkx6MzNudDQ1NTEzNE96c0RDQS9LSXFKaWNIbXpac0I1UGVCR2pWcUZCNDhlQUNkVG1meUx6czdHNy84OGd0R2pScUYzYnQzUTZQUklEUTBGTW5KeVNacnYvcjI3UXQvZjMrTUdERUMrL2Z2QndBc1dMQUEvdjcrZU9xcHA1U2FxL3IxNitPTk45N0FOOTk4QTI5dmIremN1Uk03ZCs1RWt5Wk5zR3JWS2t5ZE9oVURCdzVFZG5hMnNvK2g1bXZ0MnJXUDZWY2xJaUtxR1RJeU11RHI2MnV5LzNWcDZIUTY3TjI3RnhrWkdTYTNTNUtFeU1oSTNMOS92OGcydlY2UGpJd00zTHAxQytmUG44ZUJBd2R3OWVyVkVzOG5TUkxDdzhNaFNWSzU4bHRUTWV3bHFpSGMzZDB4Wjg0Y3pKOC9IeHMyYkVCZ1lDRHUzTG1EMWF0WEl5SWlBanFkRG1abVpoQkZFZWZQbjRlYm14cysrK3l6TXA5bjBxUkpTRXRMd3hkZmZBRWJHeHVUYVVhT0hBbEhSMGZNblRzWDE2NWR3N1JwMDB5bTI3aHhJelp0Mm9RYk4yNEF5QzlvVTFKUzRPVGtoTmpZV0J3L2Zod3hNVEZZdm53NUFCalZmRGs1T1pVNTcwUkVSRStxaFFzWElqMDlIZSs5OTE2SjZYcjM3bzJwVTZjV1dSOFZGWVcxYTlkaStQRGhDQW9LTXJtdklBZ1lOR2dRNXMrZmoydlhydUhMTDcrRVZxdUZJQWpJeWNuQnM4OCtDenM3T3pnNE9NREh4d2NPRGc0WU1HQkFrZU1jUEhnUWtpUmh4NDRkQ0EwTkxkOFhycUVZWEJIVklGMjZkRUZjWEJ6TXpjMHhlL1pzMk52Ync5YldGalkyTnJDMnRsYlNiZCsrSFZldVhFSHIxcTBCQUo2ZW51alFvWU95L2Z6NTgwYkxkKzdjd2U3ZHV3SGtEeDd4MTE5L29XL2Z2Z0R5UnlPMHRyWTJtc3cxT3pzYjI3WnR3NVl0VzJCblp3Y0E2TkdqQnhvM2JxeWt1WDc5T3JadjN3NlZTb1ZKa3laQm85SGc5dTNiY0haMmhvV0ZCVFFhRFZhdVhJbmc0R0NUMzdWUG56NEFnUHYzNzhQTXpPeVJmamNpSXFLYWJQMzY5YmgxNnhhT0hqMnFER2hWRm9jT0hjTFdyVnNSSFIyTnlaTW5RNlZTRlJsb1NoUkZqQnMzRHExYXRZSmFyWWFmbngvNjlldUhPblhxUUtQUndOUFRVM2tCV3REQmd3ZE5ubE9TSkFpQ1VPc21nMmR3UlZUREhEMTZGSjZlbm1qZnZqMWVlZVVWN051M3oyaGtQUzh2THh3NWNxVGN4Mi9Sb2dWYXRHaWhGSmF2dnZvcVZxOWVqZWJObXl0cFhubmxGVmhiVzhQUjBWRlpKNHFpVWFIcjdlMk5wazJiQWdCZWZ2bGxIRDE2RkxkdjMwYXZYcjBBQUxHeHNmRHo4NE9IaDRleWo0dUxDelpzMklDQWdBQXNXYklFMjdadGc0V0ZCUVlPSEZqdTcwTkUxWk5LcFhwTHA5TmRQbmZ1WEJJQXVhcnpRMVJkSlNRa0lENCtIaUVoSWVqWHIxK0phU01pSXVEaTRtSzA3dWpSbzVnMWF4WVdMRmdBVjFkWGhJZUhZOXEwYVZpd1lBRThQVDJWZEgvKytTZk16TXpRdTNkdlpaMkZoVVdaOC92YmI3OWg1TWlSQVBMN2l4dk9vZEZvRUI4ZmIvVHM4Q1JpY0VWVWcyUm5aMlBhdEduWXYzOC8xR3ExOGpib1lYTmNOVzdjR0t0WHIxYVdYM3Z0dFNMTHB2ejExMS9JeWNsQnMyYk5qTmJuNU9TZ2J0MjZSdXNrU1RJYS9DSTlQVjM1UEhUb1VJU0hoeU1uSndjUkVSRUFnSUNBZ0NMblc3MTZOVHAxNm9TQWdBQk1tVElGVTZaTUtmRjdFVkhOSmN2eU9ITno4NWRWS3RWTldaWmo5SHI5em5QbnpwMEVVR1VkTkNSSlFrNU9EdExUMDVHZW5vNjB0RFNrcHFhaVVhTkdSZ01GYmRpd0FiNit2bWpRb0lHeTd2dnZ2OGUxYTljd2J0dzRrOGVPam81R256NTlqRjVVbFRWdjU4K2ZoNU9URXhvMWFtUXl6ZVhMbCtIbzZLaTBLS0FuZzVlWEZ6cDE2b1NFaEFSMDd0d1pZV0ZoT0hQbURMWnMyWUlaTTJZbzkrT0JBd2NXYWVteGFkTW1yRml4QXVIaDRVcVE0K25waWJDd01FeVpNZ1ZEaHc3RjZOR2pJWW9pVHA0OGlXWExsaUVvS0FqdTd1NG03OU1GZ3pFQU9IYnNXSkUwYmRxMHdiRmp4NUNabVFsZlgxOGNQbndZUUg3VC8vSUVhelVOZ3l1aVVuSjFkZlVTUmRGS285RWN2bkRoZ3FZcThuRDI3RmwwN05nUk5qWTJPSFhxVkxGelZ3SDVUUWg4ZlgzUnVIRmpXdDBGbmdBQUlBQkpSRUZVcEthbUlqQXdVTm1Xa3BKaXRGeGNzN3ZvNkdoNGUzc2JWZWxydFZxbzFXcVQvYkgwZXIzSjQ5amIyK1Btelp1b1Y2OGU2dFNwbzZ3M0ZkUkprbFJrL1lvVkswcjhya1JVb3pVWEJHRzZ1Ym41ZEpWS2RWZVc1WTJDSU93NGZmcjBNUUM2eWpycDMzLy9qZmZmZngrNXVibkl6YzFGZG5ZMjFHbzFiRzF0MGFCQkE5amIyNk4rL2ZwbzJMQWgzTjNkbGYydVg3K09tSmdZK1B2N0d4MnZiZHUyV0xSb0VUcDM3bXhVSXc4QVY2OWVSVnhjbk5IRHFvZUhoMUZ3QmdCWldWa21IMVlCWVBueTVZaUppY0dnUVlPTUptd3ZhTStlUFRoOCtEQWlJaUx3MFVjZjRjS0ZDeWJUWldWbDRkU3BVOFgvT0xXUXU3dDdMd0M2cEtTa282akU2NjQ4cksydFlXMXRqVXVYTGluTi9kM2MzUER6eno4akppWkd1WityMVdybEh2dm5uMzlpd1lJRnVIejVNbGF0V29WMjdkb2hMUzBOdlhyMXd2NzkrOUdqUnc5RVJVWGh3dzgvUkh4OFBJS0NndEMvZjMrMGJOa1NDeGN1Uks5ZXZZeXVSVU96d01MWDU4c3Z2NnhzbDJVWlZsWldBSURObXpkREVBU2pMZ3M2bmE1V2pITDQ1SDlEb2dwaVptYldIY0I4S3l1cmRIZDM5eTBBNHU3ZnYvL1Q3ZHUzUzY0MnFrREhqeCtIbDVjWFpGbkd4bzBiNGV2cld5U05KRW1RWlJrSERoeUFsNWNYWnM2Y2liWnQyNVo0WEVkSFJ3UUdCaXExV1JxTkJwR1JrVGgyN0JnMmJOaGcxTy9xeHg5L2hKT1RVNUUyMUthYUJScU85ZUdISDZKTm16Ykl6czdHM0xsekVSNGVEbEVVbFg1ZUJYWHExTW5rZXFJbmlQRFBuK2poNFNHbzFXb2hMeTlQME9sMFFzT0dEVVd0Vml2bzlYcEJwOU1KOWVyVkUvVjZ2YURYNndWSmtnUzlYaS9VcVZOSE5DekxzaXhZV2xxS2hzK1NKQWtXRmhhaTRmTS8yd1c5WGkvS3Npd1kvaXdzTEl6V21adWJGL3hzT0ZhUmRiSXNpN0lzQzJabVpnOWRCbEJpR2dCUG1maHRuaFlFWVJLQVNTcVZLZ1hBSmxtV2Z3R3dLeWtwNlU1Ri9rK29YNzgrd3NMQ1VLZE9IZFN0V3hmNzkrL0gxMTkvalZtelpxRlRwMDRBOHFlTzBPbDBSZ1BzZlBQTk54ZytmRGdzTFMyVmNrNm4wMEdTSkZoYVdob044RE43OW14MDY5WU5VVkZSQ0FvS1FrNU9Ec0xDd2hBVUZBUkxTMHVsT2JkQjRWb0JnK2pvYUNRa0pHRHo1czJZTldzV29xT2pUVTdtUG1IQ0JOalkyR0Q5K3ZXSWpJd3M5cnNidmg4WjhSRUVZYks3dTNzcWdNMEE0akwvbjcwN2o0dXE2djhBL3JtWFRWR1FNSGQ5c2x6SUpaWEJLQlVObFJaTVV6UjhjdDhRdFZ6VHpNd04wRUl6TlRkUUNjMWROSEZKN0FtWFVNalVGTXZBeUxWd3d5MEVSR2E3NS9jSHpmMHh6TENvS0tpZjkrdlY2NWs1OTl5NVorYkJjKy8zckptWkI4K2NPYU10N1lLdFdMRUNVVkZSeU1yS2dyMjlQVmF1WEdsMmZQUG16UUNBOVBSMDlPM2JGNUlrd2RmWEY1VXFWVUpVVkZTQlBaa3Z2dmdpb3FLaUVCRVJnZXpzYkFCQTgrYk5zWDc5K21LWHpUU0ZJREF3RVA3Ky91cS9DUUQ0L2ZmZnpSb1E5SHE5R253OXlSaGNFZDI3U3BJa0JRQUlxRktseXAycVZhdEdLNHF5UmEvWDcwMUtTc3A2bUJlT2k0dERVRkFReG8wYmg1bzFhMW9kZTkyaVJRdjQrUGlnVnExYStPeXp6d3I4TElQQnNtRnV5NVl0ZU82NTV4QVVGSVRhdFd0ajVjcVZjSFYxUlVSRUJNTER3eUhMTWlwVnFvU3BVNmNXK3JrWkdSblFhclhJek16RXhJa1RrWkdSZ2JsejU4SmdNR0RJa0NFWU4yNGNUcDgrYlhXU3E3V2VLd0FZUG54NGdjTVhpUjRuR28xR0hmWm1hdWsxUFhBSUlXQnJhd3RiVzFzNE9EaEFDQUZabGkzK3JlUnYvYzNmKzV4M0VybnBNL0t6ZG80cFB3Q0xjeVJKTXR1WHJxajN4YzFUaU1vQVB2ZzNmNmhHbzRrQ1VLSzdqRGRvMEFEbnpwMURhR2dvYXRTb2dUVnIxcUJTcFVvQWdPKysrdzZMRmkzQzBLRkQ4ZTY3N3dMSTdRMDRkdXdZUHY3NFk2eGN1UktiTjIrR2k0c0xnb09EY2VyVUtheGR1eFkyTmpZd0dvM3E3M3ZzMkRIY3ZIa1RuVHAxUWtoSUNNNmVQVnZzT1NkMzc5N0Y3Tm16OGR0dnYySEZpaFdvVWFNR2xpNWRpbEdqUnVHdnYvN0NwRW1UTElab20zb3hsaTlmam5YcjFwWFVUL1hVa0NUSkZjQUlBQ09jblowejNOM2R0d2dodnIxMjdkcVBseTlmemk2Tk1nMGRPaFJEaHc1RnUzYnRFQjBkRFZkWFY4VEh4K1Btelp0bXp3RmVYbDZJaVltQnZiMDlGRVVwMWtJUzVjdVh0MWhZS2l3c0REMTc5a1RseXBYTmdpVUFadTlOalFPSmlZbElTMHREaHc0ZE1HZk9ISXdmUHg0Mk5qWklTVWxSdDRvUlFzQmdNSEJZSU5FRGtKQzdqNXJVcEVrVFdhdlZTams1T1hLMWF0V2tuSndjT1crTHJGNnZsNDFHbzFTaFFnWFRhN2xjdVhLbVZsbzViMHVzMFdpVTg3YkNLb29pMjluWlNhWmplVnRnRlVXUmJXMXQ4N2EreXYrMm5NcENDRW5PclhVazAydHJlWVFRc2l6TGtoQkNCbURSL1NOSlVnVUFmV1ZaN3V2ZzRKQ2owV2gyQW9nVFFoeE9URXo4cFNSL1VMMWVqNmxUcDZKNTgrWVlOMjZjMlRDNU5tM2FxSzhMYTYwc0RxMVdpNWt6WjZKRml4WnFXa0JBQUFJQ0FvcFZXV2RuWjJQSWtDSG8xS2tUdG0zYkJxUFJpTEN3TUhVWTRmTGx5L0hsbDE5aXk1WXRCUzcxVGlVbUc0QmpWbFlXS2xhc1dOcGxlYXFaV29YL1pRQ2dDQ0dFSkVrQ3VZczVDQ0dFa3UrOUFHQ1JKa21Ta3VlNEFDQWtTVkx5dlJmSW5ic2s4bHhIelZQUWRmTjhScEhYTGFBY1ZxOGpoRkR5djVja3FSMEE2NU9IOGhGQzJBQ29La21TdGQ2dSt6Wjc5bXhzMmJJRjd1N3V5TW5Kd2JScDA1Q1ptWWtiTjI2Z1RwMDZXTDU4dVZsZE8zLytmQVFHQnVMMDZkT0lpWWxCdjM3OWNPellNY1RHeGlJeU1oSTJOalpJVDAvSHFGR2pzSExsU3RqYTJtTGp4bzI0ZVBFaWV2ZnVqVE5uenVEcnI3K0dyYTB0REFhRHVybTZOWWNQSDhibm4zK08rdlhyNDV0dnZvR1RreE9BM0dIV0VSRVJtRDE3Tm5yMDZJR1JJMGZDMTlmWElsZ09EQXcwRy82ZDEwUHN1WklCU0I0ZUhuSk9UbzUwNTg0ZDJkUWJxOVZxNWJ6M2ZiMWVMNXZ1KzNsN1lJMUdvNXozbm05blp5Y3JpbUs2cDZ2cGVlLzNOalkyc3VsZXJ5aUtiR05qay9jZUxnTXdwWnM5QStSN0hxaG41ZnM0UzVJMFdKS2t3ZFdyVjc5VHZYcjFiWXFpL0NUTGN2eng0OGQvZTFnL29qVzNidDJDb2locVQxQ1ZLbFV3ZWZKa1ZLeFlVVjBvU3FmVHFTc0ozdThLZldscGFZaU1qRlNIdmQ2NmRjdnFFRkxUMzVDaUtKZy9mejRHRHg0TUd4c2JhTFZhSkNRa29GMjdkamh3NEFDOHZiMEI1RFlVMk5uWlBSVXJCeks0b2hLbjBXZ3NWbjF5Y0hDQXM3T3pXU3V0cVRYVldvdXRFQUtTSkptMXpwcGFZdk8yd3BwdUpnWGxCYXkzdmxwN2IycFJOYlhhNW0xaExXWkxhemtBL2dEOEpVblN1YnU3ZnkrRTJGU2NFNHZEenM1T0hjZWZmLzdSN05telMrb3ljSEJ3TUF1czhpcXNVdHkzYng4QXdOblpHZEhSMFdwNm56NTl6TTU3NXBsbk1IUG16QklxN2YxemQzZi9USklrV3dDMlFnZzc1TmFIdGdEczhxWkxrcVFlL3pmZFRnaGhheTNkOUJuNTBtMEIzUHU2dVNWQUNKRWtTZExMNTgrZk4xdDZueDY5SzFldUFBQ0VFTW1KaVlsTlNyazRaWUs3dS91UGtpUzlWa2lXZENIRUhpRkVWRlpXMWc3VDhDeU5Sck9tcE1yd3hodHZ3TlBURTg4ODh3eU1SaU9pb3FLUWxwYUdDUk1td01uSkNUZHUzRkRyVzBWUmtKeWNqTE5ueitMaXhZdUlpSWhBUmtZR1pzeVlnVm16WnFGQmd3WVFRcUI4K2ZLb1hMa3kxcTlmai83OSt5TW9LQWkydHJZWVBYbzBldlhxcGY1YnRMR3h3ZWpSbzgzS1k1cVQ5Y1VYWDJELy92MW8yN1l0OXUzYlYrQ0txWDM2OU1IWFgzK054TVJFTkczYUZFdVhMaTEwM3RiRGxQZmVuLzllbi9mZWJycnZtKzc5ZVpjVnQ3R3hNYnV2NTcyUG0xNWJ1OStibmhueW5wUC92cDMzYy9QZjk0dXBBb0Erc2l6M0FaRGo3dTcrblJEQ2NsM3loK1RpeFl0bXcxUGQzTndRSEJ5c3pySFM2WFFsMGl0MDZOQWhOR25TQkpVclZ5NVcvcENRRUZ5OGVCR3VycTdZdFdzWGJHMXRzWHYzYnRTcFV3ZUppWWtJQ1FrQmtOdkE5TFEwcURLNG9vZkJDUE9XU3dYbXJiU21ZNHBrMmNwWjZER1l0N0xlODdGODF6QXJXMUdmQTZDQkpFbU5pL2tiU0pJa1BRT2dSZ244bm8rMXN0cEtKVW5TSk9UMnNCWjRjeTBvdUM0cTZDNGdYUytFT0g1L3BiMXZrUUJlbmpObkRxWk1tWUxhdFd0YkRDR2loeXM3T3h0WHJsekIzTGx6VFVsYlNyTThqNEdiUW9qL0FkaVVtSmk0RzREK1lWN00zZDBkMTY1ZHcrclZxM0hpeEFuMDd0MGJiNzMxRm1SWnhwa3paekJod2dUMDY5Y1BQWHIwZ0N6TGlJbUp3YVpObTNEbHloVTBiOTRjMDZaTmc1T1RFNEtDZ3FEVDZXQnJhNHVNakF6VXIxOGZxMWF0d2p2dnZBTVhGeGY4OE1NUHlNaklNTnU0VlpJazFLdG5yYk1FR0Rod0lNYU1HUU43ZTN0ODhza25oWDZIL3YzN1E2ZlRvVnk1Y3ZEejh6T2J0K1h0N1cyMmlKQldxMVVid2g0QzA3M2Y3UDZaN3g1YzJESFQvVmw5YlMxZm52UE5Yc1BLUGJ5b3o4cDdUVW1TbXNCNjc1VUZJWVQ4Ny9EQjZpWDVBeFpHcjljak16TVR2cjYrVm84YkRBYm9kRHI0K3ZwaXdJQUJlTys5OSs3ck9qLzg4QVBhdDI5ZjdQd05HemFFd1dCQVltSWlYRjFkMGFKRkM2U2xwU0VrSkFTOWUvZUdnNE1EOUhvOVRwMDZaYkdBeTVQcWlRaXU4cS9LUTZYcitQSGpUOFRmVlg0YWpXWXlnRmtGSFJkQ2FBSEVTNUswVFpLa2pjZU9IYnZ4NzNsekN6cW51SVFRK091dnYxQzNidDBIL1NqNmx4QmlzaERDS011eUhvQkJDR0ZBYmdCa0FHQ3dsaTZFTU5qYTJ1cnpwaW1LWWdDZ1Z4VEZvQ2lLd2Q3ZTNnQkFiekFZRERxZHpxRFZhdlVYTGx3d29CUlduMHBNVFB6YTNkMzkzZVRrNUk2OWUvZCsxSmNuUzRkMU9sMkJkY2hUN0NxQTd3RnNQSDc4ZUN3ZTRWTHNwcTB0SEIwZDBheFpNMFJIUjJQOSt2WEl6czVHVGs0T3RGb3Q1czJiaDB1WExtSFVxRkg0NmFlZnNISGpSa3lhTkFrN2QrN0VwRW1UNE9qb2lGZGZmUlUvL2ZRVFpGbkd5eSsvakUyYk51SGt5Wk53ZG5iRzMzLy9qYzgvL3h3REJnekFwazJiSUlSQXYzNzlDaTJYYWFuMURoMDZGUGtkOXUzYlo3WWlXMTZ5TEdQMzd0M3ErK0o4M3YxNjNPLzk3dTd1Y3lWSkdsOUlscnNBNGdCc014Z01VU2RQbnZ3SEFEUWF6Y0pIVVQ0UER3K3oveStCM05VQkRRWURIQjBkc1hYclZuei8vZmVJaUlpNDcydmN2SGtUUjQ4ZXhjY2ZmMnlXbm4vZUZaRGJrd3ZBYkFzV2swV0xGa0ZSRkF3Wk1nUUpDUWtZUDM0OGJHMXRNV0hDaFBzdTIrUGtzZjZISUlRNElrbVNaMm1YZzh6OFh0b0ZlTVJNbGUxV0ljVG1FeWRPcEQrTWkrajFldlRvMGFOTUxKMXJOQm9SSEJ5TTZkT25tL1ZLWldkblk4NmNPZmprazArc3JnYjBLUFo0dVJlSmlZbWhEL3doWlo4K01USFIxOTNkZmJ3a1NiMEFOQUJRdnFpVHFFVGxDQ0hPQWRpaTArbG1sZFkyRG1XUkpFbGJGRVdaY2VMRWlUaVUwaWJDblRwMVFvY09IZURzN0F4bloyZFVxRkFCNzc3N0x1TGk0bUJ2Ync5YlcxdGN2MzRkRXlkT3hELy8vSU1EQnc2Z1RwMDZPSERnQUdyVXFBRjdlM3RjdlhvVkxpNHVGcjMwcHVGL1Y2OWVSZVBHalpHV2xvWmF0V3FoY2VQY0FSQTZuYTdJUlhwdTM3Nk5JMGVPV04wdXcyZzB3dE9UajBBUGt4RGlqaVJKK3hSRitWYXYxMy83c0JldHVsZG56cHpCaUJFallEUWFVYTFhTlV5Wk1xWFEvTElzbzNidDJnV09LSEZ4Y2NIU3BVdk5waDcwN2RzWDQ4YU5zOGk3Y0dIQk1XV2ZQbjB3WU1BQTJOblp3ZHZiRzRjUEg3YTZNTStUNnJFT3JoSVRFMThwT2hkUnlSSkNaQUhZQitCYm5VNjN0U3hVdG12WHJrVmtaS1JabWs2bk0zdWRkMXg3Zkh3OHRtM2JwbzZGTGc1VFlIZjE2bFcxb3N4ZkJxMVdheld3ZWxSN3ZKQlYrbjhEeWFjaG1LVEh5UEhqeHhlWGRobmF0V3VIdUxnNGhJZUhJekl5VXEzWEhCMGRzWFRwVXFTbHBlSFRUejlWbDc3KzVKTlBrSjJkamRPblR5TWxKUVhYcjE5SGJHd3NtalZyWnZIWkJ3NGNRRVpHQmpwMzdxd0dRYmR1M2NLNWMrY0E1TTQxeXIvdFJFRkxzZDhQMHdJSUJRMGpvd0psQU5namhOaDgvZnIxN1k5eXU1VjcxYlJwVTNXRDN1SndkbmJHOXUzYkN6eHVZMk5qc2RpSnRjQUtnTVY4d2J6eTM5dWZocjJ0OG5xNnZpM1JBeEJDSkNxSzh0L2J0Mi92dUhEaFFzN0R2RlpCTjlqODZmYjI5b2lMaTBQZnZuM1J0MjlmZUhoNFdQUnUzYng1RXoxNjlNQ2VQWHZNS3JpdVhidWlTNWN1QUFCUFQwL0V4Y1daamMyM2xnWUFxYW1wNnRLcUpwY3ZYOGJHalJ1eGR1MWFLSXFDZ0lBQXpKa3pCODgrbTd1dzE2UGE0NFdJNkY0Y09IQUFNMmJNd096WnN5MGFqUHIxNjRjSkV5WmcrUERobURkdkhweWRuZEduVHgvWTJ0cWlTWk1tYU5La0NVNmNPSUdJaUFpRWhZV3A1MG1TQktQUmlBc1hMcWlUKzdkdDI0WnIxNjZoU3BVcWVPbWxsOUN5WmN1SDlwMkVFQWdKQ1VHTkdqVXNoZ1ZTb1E0cGl1S24xK3RqMk1OTUQ0TEJGVkV4L1R1NStwSFE2WFE0ZE9pUTJ0dDA3ZG8xK1B2N3E1djFBVUJtWmliZWVPT05JajlyNzk2OThQVDB0R2c1a2lUSmJLaUpMTXNXUTAveXB3MGFOQWpKeWNtUUpBbGVYbDY0ZS9jdWpoNDlpdURnWVBUdDIxZGR5YWhyMTY2WU8zY3VRa05ESC9rZUwwUkV4YkZ0MnpZc1hyd1k4K2ZQUjZOR2paQ2RuWTNzN0d4MXhUVW5KeWNzV2JJRTA2Wk53NkJCZ3hBV0ZvWTFhOWFvZGVuMDZkTng1TWdSZlBIRkYyalM1UDhYZ0d6ZHVqWGVmUE5OU0pLRVpjdVd3Y0hCQVMrOTlCSnExNjROSUhmK3lvNGRPNkRUNlN6bXN1aDBPb3dlUGRwc3lOVmJiNzFWN08rVW1wb0t2VjZQdExRMGpCa3p4cXdSU3EvWFE2L1h3MmcwUGpYRHMrNUZZbUxpdDZWZEJub3lNTGdpZWd5Y1AzOGV0V3JWdXE5emQrM2FoVDU5K3BSSU9WYXVYSW5wMDZmamxWZGV3ZXV2djQ0MzNuZ0RjK2JNd2RHalIyRTBHckYvLzM1a1ptYml6cDA3eU1qSXdLKy8vbHBxZTd3UUVSWG0wcVZMV0w1OE9WNTQ0UVVrSlNWaCtQRGhzTFcxeFgvLysxODFqNjJ0TFdiT25JbDE2OWJCMmRuWnJKRnE2TkNoK1BUVFQ4MkdYQVBBZ2dVTENyMXUvaDc3d25oNmVtTEpraVVGYnJpZWYyaVcwV2hFNzk2OU1XN2NPSXR6YnQrK0RUOC9Qd0NBajQ5UHNjdEFkSzhNQmdOaVkyUFJwazBiT0RzN1c4MXordlJwVkt0V3JjRGpqek1HVjBTUGdkMjdkeU0xTlJWNzl1eXhlbE9NaVlsUmwzcnUwS0VEYkd4c0VCc2JpOTkrK3cxLy8vMjN1cFR2SzYrOGdrcVZLajFRV1ZKU1VqQjQ4R0NrcGFXaFpzMmE4UEh4UVlNR0RWQzdkbTA4Kyt5emNIVjFSYVZLbGJCanh3NTgvZlhYQ0EwTmZTUjd2RXlkT3ZXQnZoY1JQVjArK09BRDlYV1RKazBLbkxzaXk3TFYxZjFNUFZFUFU5N2hodm5Kc296Rmk4Mm5yZFd0V3hmangxdGY4TzdaWjUrOXAvazU5SERNbXpjUE1URXh5TWpJUUlNR0RUQnAwaVQxdnFnb0NyNzY2aXZzMkxFRFFnaDA3OTRkbzBhTlVyZjNLT3A0UVU2ZVBJbUJBd2VhcGZYbzBRT1RKMDkrS05kZHNXSUZJaU1qTVdEQUFMUHRCL0xhdFdzWERoNDhpRVdMRm1IbXpKbElTa3F5bWk4cks2dE1MT1pGUkdXSVJxTVJHbzFHM0F1TlJpTzBXcTBRUW9qWTJGalJybDA3OGNzdnY0aHUzYnFKZWZQbUNhUFJLREl5TXNTcnI3NXFjVjVlWThlT0ZVdVhMaFVhalVhc1hyMWFUSjQ4MlN6dnZmd1hIaDR1N3R5NUkzeDhmSVNpS0NJMk5sYk1tREdqd08rUWs1TWpNakl5aEJCQy9POS8veE85ZXZVU09wMU9QWjYvN0huVHJsMjdwbjcvb2hpTlJuSDM3dDFpNWMzN3ZVdjc3NEtJN3MvOTFLbjA4RHp0ZGVxOS9qM0d4c2FLMjdkdmk0eU1EQkVjSEN6ZWVPTU5vU2lLRUVLSWxTdFhpdTdkdTRzclY2NklzMmZQaW80ZE80cm82R2oxM0tLT0YrUzMzMzRUR28xRzNMbHp4K3J4a3J4dVhGeWM2TkNoZ3poeDRvVG8yTEdqU0VoSUtMQmN5NVl0RTdObXpTcTA3QzFidGl6eSsrVlZGdjRlMlhORlZFYnBkRHFzV3JVS2E5YXN3ZHk1YytIaDRZRlZxMVpoekpneEdEMTZkSkU5TlVlT0hNR0pFeWNRRkJTRWlJZ0k5TzdkRzcxNzkwWjhmRHk4dkx6VWxpQ2RUb2RXclZwWkxQZnI0ZUdCZ3djUG11Mm8vdXV2djhMSnlVbGQxYysweDV5SGh3ZXFWcTFxZHYzMDlIUWNPblNvVlBkNElTSWlLa3Z5amo3eDlmWEZkOTk5QnlFRUpFbkM1czJiTVdMRUNGU3ZucnMzc1orZkgzYnQyb1Z1M2JvQlFKSEg3MWRKWFRjaElRRlRwMDVGYUdnb21qZHZqcENRRUV5YU5BbWhvYUZXRjZ3S0RBd0VBQ3hmdmh6cjFxMTdvTzlRbGpDNElpcWo1cytmajVNblR5SWlJZ0p1Ym00QWN1Y2JMVjI2Rk9QSGowZGlZcUpaZnIxZUR5QjNaYjB6Wjg3Z3pKa3pHRFpzbURxZTJjYkdCaE1uVHNTTUdUUHc4c3N2cTB1bVg3OStIYzdPenNXYXM5UzhlWE4wNnRRSkF3WU1RRlpXRnNhT0hRc2dkOVhDL0N0U21TcFM3dkZDUkVUMC80UVFTRXRMdzRZTkcrRHY3dzlabG5IejVrMWN2WHBWSFNJSUFJMGJOOGJtelpzQm9Namo5NnVrcnJ0eDQwWXNXYklFSVNFaDZ2Mi9WYXRXQ0FvS3dzU0pFOUd2WHo4RUJBUlluVDhZR0Jpb0JscjU1VjhhL25IQTRJcW9qQm96Wmd3cVZLaGdFVmc0T2pvaUxDd01tWm1aYXRyR2pSc1JGaGFHUm8wYUFjaGRYZERKeVFrOWUvWTBPOWZEd3dNTkdqVEFvVU9INE8zdERRRDQrZWVmelZhNktrcEFRQUNPSHorTzVPUmtuRDkvM3VyK0xubDVlbnFXeWg0dlJFUkVaYzNodzRmeC92dnZBd0RhdG0ycnpqMitjZU1HQVBNOW9seGNYSkNabVFsRlVZbzhYcHdWSU51MmJZdUtGU3VpVFpzMm1EaHhJbHhjWEI3NHVsZXVYRUZvYUNoT256Nk44UEJ3TkduU0JPbnA2ZWpZc1NQMjd0MExiMjl2ckZpeEFoOTk5QkZpWW1Jd2N1UklaR1ptWXVuU3BZWHViZms0WTNCRlZFYVZLMWZPSXJCU0ZBVVpHUm1vV0xFaUxsKytyQzRack5Gb3NISGpSdFNvVVFOQWJnK1hsNWVYMWNyMjg4OC9WM3V0enAwN2g3Q3dNQVFGQlJXN1hOdTJiVU42ZWpxR0R4K09FU05HWU0yYU5ZWG1mOVI3dkJBUkVaVlZyN3p5Q280ZVBZb0xGeTVneG93WkNBb0t3cXhaczJBMEdnSEE3TDR0eTdLNmFFUlJ4d3ZUdUhGakpDUWt3TTdPRG1mT25FRlFVQkNtVDUrT3I3NzY2b0d2dTJuVEpsU3FWQWxSVVZFRnJ2ejM0b3N2SWlvcUNoRVJFY2pPem9hZm54LzgvUHpNR2xTOXZiM045dFhVYXJYWXQyOWZrZCt0TEdKd1JmU1llZnZ0dDVHVGt3TTdPenYwN3QwYkFOQ3dZVU96UFA3Ky9nV2Vid3FzdG0vZmpubno1aUV3TUJCdDJyUXAxclUzYk5pQXFLZ29MRnUyREZXclZrV3paczN3d2dzdlFLL1hvMnZYcmxiUGFkYXMyU1BiNDRXSWlLaXNrMlVaTDd6d0FvWU5HNFlQUC93UUlTRWhhbUJ5Ky9adGRmL0c5UFIwdUxpNFFKYmxJby9uSHlydjZlbXByalpwWTJPak50YTZ1Ym5oZ3c4K3dMaHg0NkFveWdOZmQrellzY1hxTlN0ZnZqeEdqUnBWNkcrU2QzcEJjZVpjbDFVTXJvaktvSjA3ZDZxOVVubkpzb3lFaEFRb2lnSkprb3JWWWdWWVh6SzRXclZxV0xCZ0FkemQzYTJlRXhnWWFGR0d1blhySWlJaUFwVXJWd1lBZGY1VTI3WnRNWC8rZkxPODQ4YU5Bd0NML2JrZTVoNHZSRVJFanhOYlcxdklzb3lhTld2Q3lja0p5Y25KcUZtekpnQWdPVGtaVFpzMkJZQWlqOXZZMkJSN3lYS2RUZ2NIQjRjU3VTNDNwTGJFWDRTb0RLcFpzMmFoZ1ZOeGh3S1liTisrM1NMdDFWZGZMVEN3QW9CaHc0WlpCRmV0V3JWU0E2dTg4Z2RXQmFYZHE3Q3dzQUlyYm10N3ZCQVJFWlZWNTg2ZHcvZmZmdyt0Vm91clY2OGlJaUpDSGNFaHl6SzZkT21DeU1oSTNMaHhBK2ZPbmNQV3JWdlZUYTJMT2w2WWZmdjI0ZEtsU3pBYWpmajk5OSt4Y09GQ2RiVEp3N3h1Y2QyNmRRdUtvc0RYMTFmOTczSEduaXNpSWlJaW9vZXNmUG55V0wxNk5hWlBudzVIUjBmNCtQamd3dzgvVkkrUEhEa1NzMmJOUXRldVhlSGs1SVJodzRhWnpVc3E2bmhCVHA0OGlhQ2dJR1JuWjZOcTFhcm8wcVVMaGc0ZCt0Q3ZXeFFoQkVKQ1FsQ2pSZzJMWVlHUHMrSTNmUlBSZlRGdFpzY2R4c3NHMDk1Y3g0OGZaLzFIOUJoaW5WcTJQTzExS3Y4ZUxlVmRMZERGeGNWcW50VFVWSFRyMWcydFdyWENaNTk5WnJZWWhsNnZoMTZ2aDlGb2hJK1BEdzRmUGx6c2E1ZUZ2MGYyWEJFUkVSRVJVWW1RWlJtMWE5Y3VkRDZXMFdoRTc5NjlNVzdjT0l0OHQyL2ZocCtmSHdEelRaY2ZGd3l1aUlpSWlJaW9SRGc3TzF1ZDY1MVgzYnAxTVg3OGVLdkhubjMyV1J3OGVQQmhGTzJSNElJV1JFUkVSRVJFSllEQkZSRVJFUkVSVVFsZ2NFVkVSRVJFUkZRQ0dGd1JFUkVSRVJHVkFBWlhSRVJFUkVSRUpZREJGUkVSRVJFUlVRbGdjRVZFUkVSRVJGUUNHRndSRVJFUkVSR1ZBQVpYUkVSRVJFUkVKWURCRlJFUkVSRVJVUWxnY0VWRVJFUkVSRlFDR0Z3UlBYelpBSkNWbFZYYTVYanFaV2RubTE3bWxHWTVpT2lCc0U0dEkxaW5FbGxpY0VYMGtBa2hrZ0RnL1BuenBWMlVwOTZWSzFjQUFFS0ljNlZjRkNLNlQ2eFR5dzdXcVVTV0dGd1JQWHlSQURCbnpoeWtwS1RnenAwN3BWMmVwMDUyZGpiT25qMkx1WFBubXBLMmxHWjVpT2lCc0U0dFpheFRpUW9tbFhZQmlKNENkdTd1N3JzbFNlcFkyZ1VoQU1CaHJWYmJMaWtwU1ZmYUJTR2krOEk2dFd4NXF1dFVqVVlqQU9EWXNXT2xYUlFDNE9IaEFRQTRmdng0cWNVNDdMa2lldmowaVltSnZrS0lUd0Q4QnVCdWFSZm9LWlFqaEVnV1FnUS96UThCUkU4STFxbWxqM1hxLytNY3dES2lyTXdCdEMzTml4TTlSZlNKaVltaEFFSkx1eUJFUkU4QTFxbFVKZ2doa2lSSmV2bjgrZk40NmFXWFNyczRUN1d5TWdlUVBWZEVSRVJFUlBlSGN3QkxXVm1iQThnNVYwUkVSRVJFOTRkekFNdVdVcDhEYUZOYUZ5WWlJaUlpZXN3cFY2OWUzVkM5ZXZWc1NaS3FBbkFHWUZmYWhYcks1QWdoL2dRUXB0UHBCai9sY3dDSm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m95U1NWZGdFZWhFYWoyUXVnUTJtWGcvNmZFT0pJWW1MaUs2VmREaUpTMldvMG1uNUNpQUFBelNWSnFsRGFCWHJLWkFzaGtnQkVKaVltZmcxQVg5b0ZJcUlTeDNxMmRKV3Bldlp4RDY1RWFaZUJMQjAvZnZ5eC9yc2llb0xZYWpTYUtBQitwVjBRQW9TbVV5NVBBQUFnQUVsRVFWUVFleE1URTMzQkFJdm9TY0o2dGd3cEMvWHNZLzBRYkFxdWpoMDdWdHBGSVFBZUhoNEFHRndSbFJVYWpXWVFnTWpubjM4ZW4zNzZLZXJYcnc4bko2ZlNMdFpUSlNzckMrZlBuOGVjT1hPUW5Kd01JY1FuaVltSm9hVmRMaUlxR2F4blMxOVpxMmZsMHJvd0VSRTlYUDhPVWNHbm4zNEtkM2QzM3ZCTFFjV0tGZkhTU3k5aHlwUXBBQUJKa25xVmNwR0lxQVN4bmkxOVphMmVaWEJGUlBUa2FnNEE5ZXZYTCsxeVBQVnExNjV0ZXRtZ05NdEJSQ1dPOVd3WlVWYnFXUVpYUkVSUEtOT2thcmFrbHI0S0ZkVDU3ZVZMc3h4RVZMSll6NVlkWmFXZVpYQkZSRVJFUkVSVUFoaGNFUkVSRVJFUmxRQUdWMFJFUkVSRVJDV0F3UlVSRVJFUkVWRUpZSEJGUkVSRVJFUlVBaGhjRVJFUkVSRVJsUUFHVjBSRVJFUkVSQ1dBd1JVUkVSRVJFVkVKWUhCRlJFUkVSRVJVQWhoY0VSRVJFUkVSbFFBR1YwUkVSRVJFUkNXQXdSVVJFUkVSRVZFSllIQkZSRVJFUkVSVUFoaGNFUkVSRVJFUmxRQUdWMFJFUkVSRVJDV0F3ZFZUeW1nMFdrMVhGT1VSbDRTSWlJam82YVhUNldBd0dFcTdHRlJDR0Z3QmlJeU12S2Y4SjA2Y3dQSGp4d3ZOYy9yMGFXUmtaRHhJc1hEeDRrVjg5OTEzQlI2L2Z2MDZidDI2ZGMrZkd4c2JpNDgvL3RqcU1SOGZuM3YrUENKNnNtaTFXdnp3d3c4VzZZcWk0TnR2djBWT1RvNVorai8vL0lPcFU2Y1crSG5qeG8yelNIdlFPakl4TVJGNnZSNEFzSExsU21Sblp4ZVk5OGNmZjBSYVdwcjZ2bFdyVm1iSFkySmljT25TSmZXOW9pam8zTGt6amgwN1pwWXZKU1VGZ3djUHZ1OHlFeEhsbDVHUmdVNmRPdUg4K2ZQM2RiN0JZTUR1M2JzTHJFOFZSY0hTcFV0eC9mcDFpMk5Hb3hFWkdSbElUVTNGeVpNbnNYLy9mcHc3ZDY3UTZ5bUtncENRRURiR0Y4SzJ0QXRRR29ZUEg0N3c4SEQxZlZoWW1FVVE4OS8vL2hmLy9lOS9yWjUvN3R3NUxGbXlCTkhSMFhCMmRyYWFaOWV1WFRoNDhDQVdMVnFFbVRObklpa3B5V3Erckt3c2l4dTRpWjJkSFJZdlhndzNOemMwYU5EQTR2amh3NGV4ZE9sU2ZQSEZGMmpTcEFrQXdNUERBeFVyVml6MDgxdTNibzNQUHZzTWx5NWRRcTFhdGF4ZW00aWVYbmZ1M0VGNGVEak9uajJMRVNOR3FPbnIxNjlIVkZRVVhuLzlkWlFyVjA1Tmo0bUpRZm55NVFFQVk4YU1RV1ptSnJwMzc0NnRXN2ZDYURUaXp6Ly94SUFCQTFDelprMTgvdm5uQUI2c2pqeHo1Z3crL1BCRHJGKy9IalZxMU1DWk0yZXdmdjE2QkFRRUZQaWRoZzRkaXREUVVEUnUzRmhOeTg3T3hwdzVjNUNjbkl6UTBGQTFQVG82R3Rldlg4ZmN1WFBWdEFZTkdrQ24weUUxTlJXOWV2VlMwOXUxYTJmMkd4RVIzWXZaczJmajl1M2JlUC85OXd2TjUrUGpZN1ZoZk1XS0ZZaU1qTVNBQVFNd2N1UklxK2RLa29SZXZYcGgxcXhaT0gvK1BKWXRXd2E5WGc5SmtwQ2RuWTE2OWVyQjJka1pMaTR1OFBYMWhZdUxDL3o4L0N3K0p5NHVEb3FpWU51MmJmajAwMDh0anYvOTk5OVl2SGd4amg0OWlweWNIRFJ2M2h4VHAwNVZuelVWUmNGWFgzMkZIVHQyUUFpQjd0MjdZOVNvVVpBa3FUZy9GVDBLR28xR2FEUWFjYTlhdG14WjZQdThOQnFOYU5PbVRiSCt5MStXWmN1V2lWbXpaaFc3TEJxTlJyUnYzNzVZLzJtMVdpR0VFSHYzN2hYdnZmZWUwT3YxUXF2VkZ2dTdKU1VsQ1VWUmhCQkNkTzdjV2ZqNStRay9Qei9Sc21WTDlmWHJyNzh1amgwN1ZtajU4LzlXR28xR2xQYmZCUkhsdXQ4NlVnZ2hybDY5S2dZTkdpUnUzYm9saEJEaTlPblRvbVBIanVMTW1UTm0rYlJhcmZEMTlSVyt2cjdpL2ZmZkY3ZHYzeFlMRnk0VWNYRnhhcDUzM25sSENDR0VuNStmMmJuM1drY0tJY1RkdTNkRno1NDl4ZnIxNjlXMGl4Y3ZpdmJ0MjR1VWxKUUNQeWN4TVZGczNyeFpDQ0hFcTYrK0tvUVFJajQrWHN5ZE8xZXRUNFVRSWpVMVZmajcrNnYvYS9yK0NRa0pvbmZ2M3VLbm4zNFNDeGN1TExUTUJXRWRTZlRrZVpCNmR1WEtsYUpmdjM1bWRkQzlpSXVMRXgwNmRCQW5UcHdRSFR0MkZBa0pDUVhtalkyTkZULysrS1BRNlhRaU96dGJDSkZiZjk5cjJiVmFyZkR3OExCNmJQWHExV0xUcGszaTl1M2I0dWJObTJMVXFGRmk0TUNCNnZHVksxZUs3dDI3aXl0WHJvaXpaOCtLamgwN2l1am82SHU2ZmxIS1FqMzdWUFpjM2F2NCtQZ2k4eGlOUm5oNmVwcWxCUVlHQWdDV0wxK09kZXZXRmV0YXNiR3hzTEd4Z1ZhcnhjQ0JBekZ6NWt6VXExZlBhdDVidDI2aFE0Y084UGIyaGl6TDJMZHZIK3JVcVdPV3g4YkdCaGtaR1dvUDIydXZ2YVlleTg3T3hzYU5HMkV3R0xCejUwNEFRSWNPSGJCMTYxYm85WHE4L2ZiYnFGdTNickhLVFVSUGhvaUlDS3hhdFVwOTM2VkxGOXk5ZTFmdG1Sb3dZSUI2TEQ0K0hpdFdyRURkdW5XeGRPbFNBTUNOR3pkdzdOZ3h2UGJhYTJyZWE5ZXVZY0NBQWJoeTVRb0dEQmlBYjc3NUJzQzkxNUdLb21EcTFLbW9YYnUyV2U5UnJWcTFNRzdjT0l3Wk13Ymg0ZUY0N3JubjFHTkRoZ3pCUC8vOG83NWZ2MzQ5OUhvOXVuZnZycVlsSkNRQUFOemMzR0JuWjRjeFk4YWdkdTNhNk5DaEE0NGNPWUkzMzN3VE5Xdld4TVNKRTlHMGFWTjgrKzIzTUJxTnNMR3hLZDZQU2tTVXo1NDlleEFURTRQUm8wZWphOWV1aGVaZHRHZ1I2dGV2YjVhV2tKQ0FxVk9uSWpRMEZNMmJOMGRJU0FnbVRacUUwTkJRczZIUGx5NWRnbzJOamRtMER6czd1M3N1N3g5Ly9JRkJnd1lCQUlRUTZqVjBPaDFpWW1KUXJWbzE5T25UQjdMOC96T08rdlRwZ3c4KytBQ0tva0NXWld6ZXZCa2pSb3hBOWVyVkFRQitmbjdZdFdzWHVuWHJkcy9sS2N1ZXF1Q3FjK2ZPQUlCcTFhcXByNjI5TnhrNGNDQSsrZVNUWW4yMkxNdVlPSEdpMVdPQmdZSHFRMFIrTDcvOHNrWGE2NisvRG9QQmdNek1UQXdmUHR6aXVJT0RBN1pzMllMKy9mdmozWGZmeGNDQkE1R1FrSURnNEdDTE1uVHUzQm5kdW5XRDBXakVoQWtURUJjWEJ5QjN2c09jT1hQdy9QUFBXeTFYZW5vNmhnOGZEbGRYMTBLL054RTlXUUlDQXN5RzF3a2gwTEpsUyt6YXRRdVZLbFd5eUgvMzdsM2N1blVMUFh2MlJJc1dMWEQzN2wzMDdOa1R6Wm8xVTRPb3JsMjc0cHR2dmtIMzd0M1Z0THlLVTBmcWREcE1uejRkYVdscFpzTzZUYnAwNllJYk4yNWc0TUNCbURKbENqcDI3QWdBK1BycnJ3SGtCbWJyMTY5SGNuSXlMbCsrakZhdFdzSER3d050MjdZMWU5RFE2L1VZUG53NDVzeVpvNll0WGJvVUZ5OWVSTzNhdGRVMFQwL1BBb2QwRXhFVnhjdkxDeSsvL0RMMjdOa0RUMDlQQkFVRjRjU0pFOWk4ZVRNbVQ1Nk1DaFVxQUFDNmQrOXUwWkN6Y2VOR0xGbXlCQ0VoSVdxUTA2cFZLd1FGQldIaXhJbm8xNjhmQWdJQ0lNc3lqaDQ5aWdVTEZtRGt5SkZ3ZDNkSDM3NTlMY3FTZng3cW9VT0hMUEs4K09LTE9IVG9FREl6TTlHcFV5Y2NQSGdRUUc2anZLa096UnRZQWJtZEFNODg4d3hrV2NiTm16ZHg5ZXBWdlBUU1Mrcnh4bzBiWS9QbXpmZjYwNVY1VDFWd1ZkamlFQVh4OHZMQ2dnVUxMTkx6dHVUbTlmYmJieU0yTmhaTGx5NUZWbGFXMVQvUW9telpzZ1h2dnZzdXRtelpncnAxNnlJMU5kV2lSd29BbGkxYmh2ZmZmeCsydHJabzBhSUZ4bzBiaDA2ZE9wbmxtVEpsQ3FaTW1XS1dkdVhLRlV5YU5BbkJ3Y0hZdTNjdjd0eTVvN2JpbXVaS0FJQy92Lzg5bDUySW5peEM1STZ1S0doTS9JUUpFd0RrQmxDVEowOUd5NVl0Y2ViTUdaUXJWdzVyMTY2RjBXaFVlNjVNb3FPajc3bU9uRFJwRXRMVDA3RjQ4V0k0T2pwYXpUTm8wQ0JVcTFZTk0yYk13UG56NTlVZzhhZWZma0o0ZURoZWV1a2xoSVNFWVAvKy9lcWNzSysrK2dwZVhsN28xcTBiR2pSb0FEczdPelVnTXpHTlROaStmYnVhWnExaGpJaW91TXFWSzRkeTVjb2hKU1VGYm01dUFJQVdMVnJnbDE5K3dicDE2OVFHcDV5Y0hQVjU4OUtsU3dnTkRjWHAwNmNSSGg2T0prMmFJRDA5SFIwN2RzVGV2WHZoN2UyTkZTdFc0S09QUGtKTVRBeEdqaHlKYnQyNjRmbm5uOGZzMmJQUnNXTkhzenBYcDlPaFZhdFdGdld3YVpTVFRxZURFQUlPRGc0QWdFMmJOa0dTSkxNNXR3YURBYmEybHVHRXdXREF1blhyMEtOSER3QzVveG9BbURYYXU3aTRJRE16VSszWmVsSThWY0dWaVllSEIyclVxRkhnOGJTME5CdzllaFJBN3JDWDdPeHMzTDU5V3owbk96c2JiZHUyTFhDNG9KK2ZIL3o4L014YUFyeTl2YzJDTWExV2kzMzc5bG1jSzBrUzVzMmJoMDZkT3FsRDhycDE2NFlqUjQ1WXRGelVxbFVMa1pHUktGKytQQndkSFRGNjlHak1temNQVGs1T2FwNk1qQXpjdVhNSCsvZnZoN096TTVLU2t2RFJSeC9oK3ZYcm1EMTdOb1lQSDQ2S0ZTdXFYYm1tQ1l5QmdZR29VcVZLWVQ4akVUMWhGRVZCdTNidHJCN0wzM0JqMHJadFc2U2twT0RxMWF2bzNyMDdmdnJwSnlRbUp1TDY5ZXZxU3F5bW5pdVQrNmtqUjQ4ZWpTdFhycUJMbHk0QWN1dmhjdVhLbWQyUTc5eTVnMisvL1JhYk4yK0dzN016TWpJeTBMOS9mMGlTaEFrVEpxQk5tellBY3V1M2V2WHE0YU9QUHNMSWtTUHgzWGZmWWNLRUNhaGF0U3FXTFZ1R2p6NzZDS2RPbmJJWU9wTjM2QTVYeWlLaUI3Rml4UXBFUlVVaEt5c0w5dmIyV0xseXBkbHhVNDlPZW5vNit2YnRDMG1TNE92cmkwcVZLaUVxS3FyQUJkVmVmUEZGUkVWRklTSWlRbDFGdFhuejVsaS9mbjJ4eTJZYTVSUVlHQWgvZjMrOC92cnI2ckhmZi8vZExFRFM2L1ZxOEpYWDU1OS9EbG1XMVJWV1RWc0E1YTJ6WlZsK0loZXplQ3FES3dBRnRueGFFeDhmandVTEZpQW1KdWErcnlmTE1uYnYzcTIrNzlDaGc5bnh1M2Z2UXBabHlMS003Nzc3RGhVclZsVG5RUUV3KzhPZVBIbXlPbmIyNHNXTEtGZXVITnpjM0JBZUhvNDVjK1lnSWlJQ1FHNkxjNjlldmVEcTZncG5aMmNvaW9LeFk4ZGl3b1FKQ0EwTmhVNm5nNXViRzJ4dGJkRzhlWE9FaDRmRHo4OFBGeTlleE9uVHA5VUhFU0o2T3NpeWJORm90SDM3ZHN5Y09SUHZ2ZmRlZ1N0UkFibUJ4K3JWcTdGczJUSTBiTmdRdHJhMkZuT3VBRmdkRm1pNmRtRjFaTjI2ZFZHM2JsMzFwdi9XVzI5aCtmTGwrTTkvL3FQbWVmUE5OMUd1WERsVXExWk5UWnMxYXhZYU5XcWszdEQvK2VjZnJGdTNUcDA3VUw1OGVmajcrNk5Iang0NGRlb1VaRm5HclZ1M3NHWExGdlUrWWEzbnl0UUFSMFIwUDRZT0hZcWhRNGVpWGJ0MmlJNk9ocXVySytMajQzSHo1azJ6aGh3dkx5L0V4TVRBM3Q2KzJEMDg1Y3VYeDZoUm84elN3c0xDMExOblQxU3VYTm5zbVJJd2Y4YU1qWTBGa0x2ZFJWcGFHanAwNklBNWMrWmcvUGp4c0xHeFFVcEtDbDU0NFFVQXVjK1pCb1BCb2lGcS92ejVTRXhNUkVSRUJPenQ3UUZBRFFadjM3NnREbmxNVDArSGk0c0xaRm0yV0x2QTA5TVRZV0ZoUlg3WHN1aXBESzVrV1VaVVZGU0J4L01QOTBoS1NvSkdvN0hJbDNkeENBQVlPM2FzMWFVcml5TTlQVjJkejVCL0hMK0hoNGU2MEVWK2E5YXNRWXNXTGVEbTVvYUdEUnZDMGRFUlAvendBOTU0NHcxczJMQUJWNjlleFpkZmZna2c5M3V2V3JVS3RXclZ3b0lGQ3pCOCtIRDgrdXV2cUZDaEF1clhyNDhMRnk3ZzBxVkxDQThQeDd2dnZtdDEyQ01SUFQyMFdpMVdyVnFGVHovOUZBc1hMc1RMTDcrTVYxNTVwY0Q4NWN1WFIyeHNMTkxUMCtIdjcyOHg1NnFrWExseUJkbloyV1p6b0lEYzNpelRUZHZFTkd3eGI1NnNyQ3lMbmpJZ2QvN3RxbFdyWUdkbnB5NllZVFFhY2VYS0ZmVjc1SFh4NGtYODlOTlBWbHR0aVlpS2N1dldMU2lLb3ZZRVZhbFNCWk1uVDBiRmloWFZlYU02blU0TlVPNTM2RnhhV2hvaUl5UFJzMmRQOWJyVzVveWFubjhWUmNIOCtmTXhlUEJnZFpHMWhJUUV0R3ZYRGdjT0hJQzN0emVBM0k0Qk96czdzM0l0WHJ3WThmSHhXTDU4dVZrUFY4MmFOZUhrNUlUazVHVFVyRmtUQUpDY25JeW1UWnNDeUYyQTdVbVp4L3BVQmxlS29xaC9ZRVV4R0F5SWpZMUY1Y3FWa1oyZGJkYmpaV3BCTFlycEg0K3ZyMitCZWM2ZE80YzZkZXJBMzk4ZjZlbnBGc2ZmZXVzdHMvZXhzYkhJeWNuQnp6Ly9qUEhqeDZ2cGt5ZFB4dENoUTNIaHdnVnMzcndaQ3hjdU5OdkxLdTlyYjI5dkhEMTZGQTBiTmdRQTlPclZDNk5IajRiQllNRGt5Wk9MOWQySTZPRnpkM2Z2Q01DUW1KaVlBTUR3S0s2cDErc3haY29VMUt0WEQ5MjZkWU9Ua3hNbVRKaUFxVk9uNG8wMzNyQjZ6dG16WjlHOWUzY3NXYklFalJvMVV2ZTBLcXJucWpoMVpGNFJFUkY0L2ZYWHpXN29lcjBlT1RrNUZxTVM4dmFHQWNDSUVTTlF1WEpsL1Bubm53Z1BEN2U2YU0veTVjc0I1QWFYSDMvOE1lclhyNCtEQncrYTlWenA5WHEwYWRPR2dSWFJFNkkwNnRtTEZ5K3FnUWFRdTJKcGNIQ3cydkNqMCtudWEyVy8vQTRkT29RbVRacWdjdVhLeGNvZkVoS0NpeGN2d3RYVkZidDI3WUt0clMxMjc5Nk5PblhxSURFeEVTRWhJUUJnOFZ5OGJOa3l4TVhGWWNXS0ZSWjFxeXpMNk5LbEN5SWpJOUdpUlF0a1pHUmc2OWF0Q0E0T2Z1RHZWOVk4bGNIVnZmUmNyVnUzRG8wYU5jSUxMN3lBOTk1N0R3TUhEa1N6WnMyc25xZlg2MkZqWTZQZThJVVFDQWtKUVkwYU5TeUd2T1IzNE1BQnZQVFNTL2p3d3c4dGpubDRlT0Q3NzcrMzZMbUtqNC9IODg4L2J6Wi96TkhSRVEwYU5NQ3laY3ZRclZzM3RldTJJS1pWYWdDZ2N1WEt1SERoQWw1OTlWVVlESStrWGlHaTR2R1ZKR204dTd2N0xRQ2JBR3pOek13OGVPYk1HZTNEdU5qWnMyY1JIQnlNU3BVcTRZc3Z2Z0FBZE96WUVRYURBVE5tek1EdTNic1JFQkNnYmw2ZWxKU0U2OWV2NDhjZmY0U1RreE9jbloxeDh1UkpUSmt5QmZYcjEwZTNidDJzQmxYM1VrY0N1UThhUzVjdXhhRkRoN0IyN1ZxemVWYy8vUEFEYXRhc1dXRExybGFyeFp3NWN5QkpFb0tEZzdGeDQwYjA2OWNQNDhlUFIvdjI3UzNHL2YvNjY2OElDUWxCa3laTk1HblNKSGg1ZVFHQU9pem56Smt6eFg1UUlhTEh3aU90WjRIYzU4Yk16TXdDRzVZTUJnTjBPaDE4ZlgweFlNQUF2UGZlZS9kMW5SOSsrQUh0MjdjdmR2NkdEUnZDWURBZ01URVJycTZ1YU5HaUJkTFMwaEFTRW9MZXZYdkR3Y0VCZXIwZXAwNmRNZ3VpVEExVCtZY2RIanAwQ1BiMjloZzVjaVJtelpxRnJsMjd3c25KQ2NPR0RiTllxZkJKOEZRR1YvbnA5WHJjdkhrVEZTcFVRRXBLaXJvS3l0OS8vNDF2di8wV0sxZXVST1hLbGRHOGVYTkVSVVVoTEN3TTl2YjJhaEFtU1pJNlVXL0RoZzFvMkxBaFVsTlRvZGZya1phV2hqRmp4cGd0YmF6WDY2SFg2MkUwR2lITE1xNWR1NGFZbUJoMW41amkrdC8vL29mMjdkdERDSUdrcENUczNyMGJ1M2Z2eHR0dnY0M282R2hFUmthaVU2ZE9hTldxRlZxMWFvVjI3ZHFaL1NPNGZQa3k0dVBqRVJBUWdDKysrQUw3OSsvSE45OThnMDJiTnNIUHp3OTkrdlJCdDI3ZHVCdzdVUmtoU1pJcmdCRUFSamc3TzJlNHU3dHZFVUo4ZSszYXRSOHZYNzZjL2FDZm41R1JnZERRVUJ3NmRBaERoZ3hCNzk2OXpZS1ZOOTk4RXkrKytDTG16cDJML3YzN3c5UFRFMTk5OVJWY1hGd3dlL1pzS0lxQ1pjdVdZZnYyN1RoNDhDRG16NStQMU5SVVNKS0V6cDA3UTFFVVZLbFNCWkdSa2JoOCtYS3g2MGdnZDQ1VFVGQVFhdGV1alpVclY4TFYxUlVSRVJFSUR3K0hMTXVvVktrU3BrNmRhdlo5dEZvdGZ2dnROL3o4ODgvWXRXc1hXcmR1alhuejVrR1daZlR1M1J1TkdqWEMvUG56c1dEQkFyUnIxdzZOR3plR3JhMHRkdTdjaWIvLy9odWpSbzJDajQrUFdyOER1VDM4cWFtcHNMT3pzN3BWQmhFOTNoNTJQWnVYaDRlSFJhTlNUazRPREFZREhCMGRzWFhyVm56Ly9mZnFYUHI3Y2ZQbVRSdzllaFFmZi95eFdYcitBQWo0LzRWNjh1NGphTEpvMFNJb2lvSWhRNFlnSVNFQjQ4ZVBoNjJ0cmRuUTY2S0c5VGs0T0NBNE9QaUo3SzNLaThFVmN2K1loZzRkQ3FQUkNIdDdlL1dHV2IxNmRZU0hoNnV0azE1ZVhtcnJaZDV6aFJCcXE2ZnBRY0JvTktKMzc5NFlOMjZjUlV2cTdkdTMxYmxaUGo0K0VFS2dkZXZXWm12L0YwZnQyclhSdm4xN1pHWm00c3N2djRSR284SDY5ZXZWemRsbXpKaUI5OTkvSHpFeE1UaHc0SURaQm5MbHk1ZkhoUXNYOE1FSEgyRDc5dTFJVDAvSDJyVnI0ZXJxaXFaTm15SWhJUUhoNGVGbzNibzFneXVpc3NsWmtxVEJraVFOcmw2OStwM3ExYXR2VXhSbHk5MjdkL2VtcEtSazN0Y0hPanZEMDlNVEgzLzhzZFU5clFEZ3VlZWV3NkpGaTVDU2tvSktsU3JCM3Q0ZXRXclZRcTFhdFhEanhnMHNYNzRjRlN0V2hLK3ZiNkhEL082bGpnU0FaczJhWWViTW1XalJvb1dhejdRblYwR1R2STFHSTFhdVhJa21UWm9nUER6Y1lsTjBkM2QzckY2OUduLzg4UWZpNHVMdzY2Ky9vbW5UcHVqUm93ZmF0bTJyamhhUUpFa2Rwck5wMDZZaWZrVWllb0tVZUQxYmxETm56bURFaUJFd0dvMm9WcTJheFhZNitjbXlqTnExYXhmWWErL2k0b0tsUzVlYWJhN2V0MjlmakJzM3ppTHZ3b1VMQzd4T256NTlNR0RBQU5qWjJjSGIyeHVIRHg5V0YySWpjNC8xK29jYWpVWUFSVWZLajRPOEFkcmp5c1BEbzdTTFFFUkFqaERpT3lGRWxDekxVY0NUVVVjK0NWaEhFajB4V00rV1VhWjY5dmp4NDZYMlVNMmVxekxpY1Erc2lLaHNFRUxJL3c1cnFWN2FaU0VpZWhLeG5xWENNTGg2Q0o2MG5hYnZWV20yRmhBOWlkemQzZWRLa2pTK2tDeDNBY1FCMkdZd0dLSk9uano1RHdCb05KcUN4M2hRcVdFZFNWVDJzSjZsa3ZMMFJnQWxMTzljckVtVEppRWxKYVhFUHZ2MDZkUEl5TWdvc2M4am9zZWZFT0lPZ0oyS29nelVhclZWang4LzdudjgrUEZscGh2K28zYnMyREdzWGJ2Mm9WN0RhRFJpK3ZUcDZxUnJrK3pzYk15WU1RTmFyZlZGdlpLU2t1NzVXaGtaR2JodzRZSloyaSsvL0lKejU4N2Q4MmNSMGVPcHJOV3pENXZCWU1EdTNic0xmZWJrTTJuUjJITlZ3bkp5Y25EMDZGRjFENEQ4c3JPenJhN0NrdGVsUzVmd3l5Ky9xTzkzN2RxRmd3Y1BZdEdpUlpnNWMyYUJEd3BaV1ZrYzgwdjBaTXNBc0VjSXNmbjY5ZXZiTDE2OGVMZWtMM0F2eStJT0dUSkVYVkRpeXkrL3hLaFJvM0R4NGtVTUhUb1UxNjVkUTlXcVZkVzhOMjdjUUVSRUJKbzNiNDV0MjdZVldFZGFZNnJYcmw2OXFrNml6bXZ0MnJYUWFyVUY3amsxYk5nd3hNZkhxKzlidG15SktsV3FBQUN1WDc5dVZ0K2EzTHAxQzZ0WHI4YTBhZFBVdENWTGxpQWdJS0RJTFM2STZMSDIwT3Zaa25MeTVFa01IRGpRTEsxSGp4N3FYcVdLb3VDcnI3N0NqaDA3SUlSQTkrN2RNV3JVcUFLbm9xeFlzUUtSa1pFWU1HQUFSbzRjYVRVUG4wbUx4dURxQWZUdjN4K3JWNjgyUzl1L2Z6L3ExNjlmNEUzZTBkSFJiQ05LYS9LdlNEaDI3Rmc0T2pwaTFhcFZoUzdYbm5kL0xpSjZvaHhTRk1WUHI5ZkhKQ1VsNlI3cWhRNGRNbnU5Wk1tU0ludWsxcTVkaTJiTm1xRjU4K2FJam83R3pwMDcwYXBWSzNXSjRULysrQU1USjA1RW8wYU5BQUJkdTNaRmx5NWRBQUNlbnA2SWk0dFRWK01yS0EwQVVsTlRMUUtieTVjdlkrUEdqVmk3ZGkwVVJVRkFRQURtekptRFo1OTkxbXBadFZvdEtsU29vSll0ZjMyYmxwWUdJSGRGMVJkZWVFRjluNVdWaGJObno3S2VKWHB5UGJKNnRxUWRQSGpRWWdOMUFGaTllalhpNCtPeFljTUdaR2RuSXpBd0VQLzV6My9RclZzM2k3d0hEaHpBbGkxYkVCRVJnZkhqeDBPajBhQjE2OVlXK2ZoTVdqUUdWdy9nOU9uVEZtbFJVVkg0ODg4LzhkcHJyd0VBN3R5NUEwZEhSMGlTaE9YTGw4UE56UTNqeDQ5SGFtcHFnWjlyYldoTFlHQWdnTndOMnRhdFcxZEMzNENJSGdlSmlZbmZsc1oxLy9yckw0dmx5L1A3OWRkZnNXWExGc3lhTlF1aG9hRndkWFdGRUFKQ0NHUmxaYUZpeFlxWU4yOGV4b3daQTN0N2V3QzVDL2prM1JSZGxtV0xUZEx6cHcwYU5Bakp5Y21RSkFsZVhsNjRlL2N1amg0OWl1RGdZUFR0MnhjMWE5WUVrQnU0elowN0Y2R2hvZXBTOERrNU9mRDE5VVY0ZURqT256K1BldlhxcVo4clNSTHUzcjJyQm5LalJvMENrTHVSY3IxNjliQmp4dzRBUU1XS0ZhSFg2OVc5WVV4MXU0dUxpNXFIaUI1ZnBWWFBQa3liTjIvR2lCRWoxQzE2L1B6OHNHdlhMb3ZnS2lFaEFWT25Ua1ZvYUNpYU4yK09rSkFRVEpvMENhR2hvVlpITS9DWjlBbW0wV2lFUnFNUnBlWFZWMTlWWDdkcDAwYWNPSEZDYURRYUVSMGRyYWEzYnQxYWFMWGFlL3JjTm0zYTNGZDVXclpzZVYvbmxSVFQveCtsL1hkQlJMa2V0STRNRFEwVksxYXNLRFRQNGNPSHhXZWZmU2FHRGgwcWV2ZnVMWFE2bmNqS3loSWFqVWJzM0xsVHBLZW5DNDFHSTN4OGZJU1BqNCs0ZmZ1MlJiMXg1ODZkSXRPRUVHTGF0R2xpMTY1ZFFxZlRDVzl2Yi9INTU1OExqVVlqQWdJQ1JOKytmVVhYcmwyRmo0K1A4UFQwRkNkT25GRFBNOVdwOGZIeHdzZkhSeHcrZkZnOU5tdldMTkcyYlZ2UnJsMDdrWlNVSklRUVFsRVU4Y29ycjZoNTl1elpJMTU5OVZXeGVQRmlzOCswVnNiQ3NJNGtldktVNXJQb2I3LzlWbUI5ZWVQR0RhSFJhTVNGQ3hmVXRIMzc5b25YWG52TkxOK0dEUnVFbDVlWDJMOS92MW42L3YzN2haZVhsMWkyYkprd0dvMzNYTGJTZWlZdEMvVXNlNjVLMEtwVnErRG01cWIyU3FXbnA4UFIwVkZ0cmQyelowK2hYYWdtT1RrNTZONjlPd0NnWDc5K1dMcDBLYkt5c3N5RzZ4QVJQUXdUSmt4QVFrSUNnTnpKelpJazRldXZ2N2JJWjZxUFBEMDlVYjkrZlF3Wk1nUUxGeTZFblowZGJ0MjZCVWRIUjJ6YnRnMmRPM2ZHc1dQSGNPblNKUVFFQktCaXhZcjNYYmFVbEJRTUhqd1lhV2xwcUZtekpueDhmTkNnUVFQVXJsMGJ6ejc3TEZ4ZFhWR3BVaVhzMkxFRFgzLzl0ZG1HbURkdjNzU3BVNmZ3MldlZm1RMVhtVHg1c2pvL3dVU3YxME92MTZzakVENzY2Q05NbXpZTisvYnRBd0JjdTNZTmpvNk9Wb2ZoRUJFOWFtM2J0a1hGaWhYUnBrMGJUSnc0RVM0dUxyaHg0d1lBd05YVlZjM240dUtDek14TUtJcUNLMWV1SURRMEZLZFBuMFo0ZURpYU5HbUM5UFIwZE96WUVYdjM3b1czdHpkV3JGaUJqejc2Q0RFeE1SZzVjaVF5TXpQNVRGb01ESzVLMExCaHd5Q0V3QmRmZkFFQU9IWHFGSm8wYWFJZTkvSHhnYnU3TzJKalkrSHY3NjhPZWZIdzhFQlVWSlE2Vk9YS2xTdElTVW1CdDdjM2dOeHUzTHpkc3Q3ZTNtWnpFYlJhclhyVEp5SjZFSFBuemxWZmQrclVDWFBuemtYanhvM1Z0TXpNVExWdUFnQ2RUb2NKRXliQTA5TVR4NDRkUTJKaUl1clZxNGZubm5zTzVjdVhSMkppSXR6ZDNSRVZGWVV1WGJwQWxtV0x6WFRidG0xclVZNjhhWUdCZ2VqWHJ4OXUzcnlKLy96blA5aTdkeThhTm15SWxpMWJvbVhMbGhibit2cjZvbVBIanJodzRRS09IVHVHbkp3YzlPL2ZIKys5OXg0bVRab0VXMXRiMk5uWkFjZ05JSE55Y3ZEamp6K3E1K2ZrNUtCS2xTcjQvdnZ2OGM0NzcwQ2owYUJtelpwWXMyWU5qRVlqamh3NUFuZDM5M3YrYlltSVNsTGp4bzJSa0pBQU96czduRGx6QmtGQlFaZytmVHErK3VvckdJMUdBREJiQUVpV1pYVXhpMDJiTnFGU3BVcUlpb3FDczdPejFjOS84Y1VYRVJVVmhZaUlDR1JuWjhQUHo0L1BwTVhBNEtvRTNMcDFDMER1SHlFQS9QUFBQN2g4K1RKKy9QRkh0R3ZYeml5dmc0TURUcDA2aGY3OSt5TTBOQlIxNnRRQkFFeWRPaFZoWVdIWXVYTW5WcTVjaVo0OWU1bzl3T1FseTdJNkdSc0FPblRvOEJDK0ZSRTl6YlJhTGE1ZHU0Ym5ua3drTnMwQUFBaUVTVVJCVkh1dTBId0dnd0dPam82d3RiWEYzYnQzMGFoUkk1dy9meDdQUC84OHVuWHJoaSsrK0FLZmYvNDVkdTNhaGFpb0tBRC92L3FmVHFkRHExYXRjT1RJRWJQNVZSNGVIaFlUdEgvOTlWYzRPVG1wTGFhbUFNM0R3OE5zVlVJZ2Q5UkFkSFEwK3ZidGk5YXRXOFBCd1FIYnRtMkRuWjBkTWpNemtaR1JnVW1USmdFQUZpNWNpRC8rK01Qcy9ILysrUWZQUFBNTWdOeEF5L1RnNE9ibWh2Mzc5eU1xS2dxREJ3Kys1OStVaUtnazJkallxSFdubTVzYlB2amdBNHdiTnc2S29xZ0IwKzNidDFHaFFnVUF1WFdqaTRzTFpGbkcyTEZqaTdVbmEvbnk1ZFc1cU5id21kUVNnNnY3bEpPVEE2UFJpQWtUSnVDMzMzNHpPOWFuVHg5OCtlV1hTRWxKd1pneFk4eU9WYXhZRVVGQlFkaXpadytTa3BMVW0vcHJyNzJHdDk1NkMrN3U3bGkzYnAwNitaQ0lxRFNrcHFiaW1XZWVVVy9LQlhGMGRNVGl4WXNCNVBacTNiNTlHMUZSVWZEMDlJU0hod2ZxMUttRGZ2MzZJVEF3MEd4NENwQzdETHF6czdQRlloYldORy9lSEowNmRjS0FBUU9RbFpXRnNXUEhBZ0RzN2UzTmJ1eEE3bkx5VmF0V3hkNjllK0hnNEFBdkx5KzFwNnBidDI0WU9IQWd4bzRkQzUxT2gram9hTFg4ZWIrN2FWWEN1M2Z2cXIvQk8rKzhnOUdqUjZOT25Ub1dEV2RFUktWTnA5UEJ3Y0VCc2l5alpzMmFjSEp5UW5KeXNycmdUM0p5TXBvMmJRb0F4UXFzNlA0d3VMcFBmLzMxRjV5ZG5kR2lSUXZNbkRrVFBqNCs2ckYzM25rSDRlSGhhTmV1blZuTHE5Rm94QysvL0lKOSsvYmg0TUdEY0hOemc3Ky9QNERjSVlYT3pzNElDd3ZEeG8wYjRlL3ZqMXExYWxsYzk5YXRXMUFVUlYwRmk0am9ZZmpycjcrSzdMVUNnRC8vL0JQZmYvODlmdm5sRjJSblo2TkxseTQ0ZE9nUUprMmFCS1BScUs3R2QvbnlaU2lLWW5aRC8vbm5uODJHVGhjbElDQUF4NDhmUjNKeU1zNmZQNDltelpvVm1GZVdaYXRiWXRTc1dST2RPM2ZHOHVYTGNlWEtGYno3N3JzV1pUaHc0QUE4UFQyaEtBcjBlcjA2YjliQndRRmFyUmExYXRXQ0VGeVhnb2hLMTc1OSsrRG01b2JxMWF2ajFLbFRXTGh3SWJwMjdRb2d0dzdzMHFVTElpTWowYUpGQzJSa1pHRHIxcTBJRGc0dXNldnptZFE2QmxmM3ljM05EVEV4TWVwTjErVFNwVXVZTm0wYXZMMjljZTdjT1FRRUJHRFFvRUhxbmk4N2R1eUFyNjh2aGcwYmhrcVZLdUhtelp2cXcwYXZYcjNnNWVXRmlJZ0krUHY3NCtXWFg4YUNCUXNnU1JLRUVBZ0pDVUdOR2pVc3VtQ0ppRXBhYW1wcXNZSXJuVTZIR2pWcUlEUTBGRFZxMU1DSEgzNElQejgvNlBWNmZQREJCOURwZElpS2lzTEVpUk14ZlBod1RKczJEYlZyMThhNWMrY1FGaGFHb0tDZ1lwZHAyN1p0U0U5UHgvRGh3ekZpeEFpc1diUG12cjdic0dIRDRPZm5oOHFWSzJQV3JGbG14Lzc0NHcvczM3OGZZOGFNUVdwcUtseGNYQUFBdi96eUN5Wk9uSWhQUHZrRW16ZHZ4cUJCZy9EcHA1L0N6YzN0dnNwQVJQU2dUcDQ4aWFDZ0lHUm5aNk5xMWFybzBxVUxoZzRkcWg0Zk9YSWtaczJhaGE1ZHU4TEp5UW5EaGcyN3A0M2lDOEpuMHNJeHVIb0ErUU9yTld2V1lQWHExUmc1Y2lTNmR1MEtSVkd3ZmZ0MjllWWRGaGFHenAwN0E4aHRzZjNnZ3c4Z3l6TGVldXN0OVRQcTFLbURvS0FnZlB6eHgwaFBUNGNrU1VoTlRZVmVyMGRhV2hyR2pCbURnSUFBTmI5cFZTdWowY2d1WGlKNklBc1hMbFRuUmVuMWVnREEvLzczUDZ0NVRadnZ4c2ZIcThOTTR1TGljT25TSll3ZVBScisvdjVvMzc0OUprNmNDQWNIQjZ4YXRRb3paODVFU0VnSU9uWHFoSG56NWlFd01CQnQyclFwVnRrMmJOaUFxS2dvTEZ1MkRGV3JWa1d6WnMzd3dnc3ZRSy9YcXkyMStlWGs1Q0FuSndlMnRybTNPcTFXaTcxNzkyTFZxbFZvM2JvMUxsKytqSUVEQjhMZjN4OXQyclNCZzRNRFJvOGVqUkVqUm1EdjNyMllPWE1tM252dlBheGN1UktSa1pHWU5tMGFYbi85ZGJ6MTFsc0lEUTFGbno1OTBLTkhEM3p5eVNmRi81R0ppRXJJbURGakxLYWY1T1hnNElEZzRPQVM3YTNpTStrVHJyVDN1Y29yT2pwYS9QSEhIK0w2OWVzV3h3d0dnL2o5OTk4dDBoVkZFWXFpRlBuWjU4K2ZGM1BuenJXNno4RDE2OWVGbDVlWDhQTHlFcE1uVDc2L3dwZVFzckMzQUJIOXY5S29Jek16TTRVUVF2eGZlM2VzMHpZVWhRSDRaT2dEZ1pqTGtLa01QQXBpcmRncXNTQWVnS2xQMEwwUEFBSzFFa2FxbWdJRFJTekF3SUlFS1FHSjB5bHBTNXFKaTY1SnZtK0tIQ3MraWF6ZitSWEhQanM3Kysvemc4RWc5L2Iyc21tYWlhK3h0YldWOS9mMy95emIzZDNOcTZ1cnNYVlhWMWNuTGx0YVdzcUZoWVZjWDEvUDdlM3Q3SGE3dWJhMmxrZEhSNk4xZDNaMmNtVmxKUmNYRi9QOC9IeDBmNnpIeDhmUlBRcWJwc25EdzhPeDdlenY3K2ZsNWVYRTkvR1VqSVRwMDZidm9zOTFmWDJkeTh2TFkvY2ovRnZidjVPMklXYzdOVGYrWE1NUGIzamxLZW9hWHIycmFacFh2Vi9CdEpDUmZ6dzhQRVJtanAxeE1QVDAvMkF2UVViQzlKR3o3ZEtHbkhWYUlBQlRiM2kxd0VtY3dnSkFDWTRtQUFBQUJTaFhBQUFBQlNoWEFBQUFCU2hYQUFBQUJTaFhBQUFBQlNoWEFBQUFCU2hYQUFBQUJTaFhBQUFBQlNoWEFBQUFCU2hYQUFBQUJTaFhBQUFBQlNoWEFBQUFCU2hYQUFBQUJTaFhBQUFBQlNoWEFOT3JIeEZ4YzNOVGU0NloxKy8zaHcvdmFzNEJGQ2RuVzZJdE9hdGNBVXlwek94RlJKeWVudFllWmVaZFhGeEVSRVJtL3F3OENsQ1FuRzJQdHVTc2NnVXd2VDVHUkd4c2JNVHg4WEhjM3Q3V25tZm05UHY5T0RrNWljM056ZUdpVHpYbkFZcVRzNVcxTFdjN05UZitYUFB6ODFsN0JzWTFUZk9xOXl1WUltL201dVkrZHpxZGJ1MUJpSWlJTDRQQjRHMnYxN3V2UFFoUWpKeHRsK281KzZwL3Vjck1yN1ZuWU16MzJnTUFJdzhIQndmdk12TjlSSHlMaUYrMUI1cEJkNW41SXpNLzFEN2dBeTlDenRZblp3RUFBQUFBQUFBQUFBQUFBQUFBQUFBQUFBQUFBQUFBQUFBQUFBQUFBQUFBQUFBQUFBQUFBQUFBQUFBQUFBQUFBQUFBQUFBQUFBQUFBQUFBQUFBQUFBQUFBQUFBQUFBQUFBQUFBQUFBQUFBQUFBQUFBQUFBQUFBQUFBQUFBQUFBQUFBQUFIZ2h2d0U1UzBaNjNBL3NpUUFBQUFCSlJVNUVya0pnZ2c9PSIsCiAgICJUaGVtZSIgOiAiIiwKICAgIlR5cGUiIDogImZsb3ciLAogICAiVmVyc2lvbiIgOiAiMjIiCn0K"/>
    </extobj>
  </extobjs>
</s:customData>
</file>

<file path=customXml/itemProps3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26120</Words>
  <Application>WPS 演示</Application>
  <PresentationFormat>On-screen Show (4:3)</PresentationFormat>
  <Paragraphs>3645</Paragraphs>
  <Slides>189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189</vt:i4>
      </vt:variant>
    </vt:vector>
  </HeadingPairs>
  <TitlesOfParts>
    <vt:vector size="204" baseType="lpstr">
      <vt:lpstr>Arial</vt:lpstr>
      <vt:lpstr>宋体</vt:lpstr>
      <vt:lpstr>Wingdings</vt:lpstr>
      <vt:lpstr>BAPNIG+MicrosoftYaHei-Bold</vt:lpstr>
      <vt:lpstr>等线</vt:lpstr>
      <vt:lpstr>黑体</vt:lpstr>
      <vt:lpstr>KUMBUU+MicrosoftYaHei</vt:lpstr>
      <vt:lpstr>Calibri</vt:lpstr>
      <vt:lpstr>微软雅黑</vt:lpstr>
      <vt:lpstr>Arial Unicode MS</vt:lpstr>
      <vt:lpstr>IBWIQP+ArialMT</vt:lpstr>
      <vt:lpstr>Theme Office</vt:lpstr>
      <vt:lpstr>1_Theme Office</vt:lpstr>
      <vt:lpstr>2_Theme Office</vt:lpstr>
      <vt:lpstr>3_Theme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广告活动D4 自动广告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A. 搜索量、竞价、竞争  1. 核心大词（竞争大、高效出单词） 2. 竞价高的词（导入按竞价分） 3. 竞价低的词 4. 头部卖家不打广告的词 5. 没打广告的词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Administrator</dc:creator>
  <cp:lastModifiedBy>Administrator</cp:lastModifiedBy>
  <cp:revision>23</cp:revision>
  <dcterms:created xsi:type="dcterms:W3CDTF">2021-12-15T09:22:00Z</dcterms:created>
  <dcterms:modified xsi:type="dcterms:W3CDTF">2022-08-01T11:16:42Z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94DDF3CB71E9443EA1A3152436F66956</vt:lpwstr>
  </property>
  <property fmtid="{D5CDD505-2E9C-101B-9397-08002B2CF9AE}" pid="3" name="KSOProductBuildVer">
    <vt:lpwstr>2052-11.1.0.11875</vt:lpwstr>
  </property>
</Properties>
</file>
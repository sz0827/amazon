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58"/>
  </p:handoutMasterIdLst>
  <p:sldIdLst>
    <p:sldId id="2745" r:id="rId3"/>
    <p:sldId id="3484" r:id="rId5"/>
    <p:sldId id="3479" r:id="rId6"/>
    <p:sldId id="3559" r:id="rId7"/>
    <p:sldId id="3560" r:id="rId8"/>
    <p:sldId id="3582" r:id="rId9"/>
    <p:sldId id="3640" r:id="rId10"/>
    <p:sldId id="3566" r:id="rId11"/>
    <p:sldId id="3641" r:id="rId12"/>
    <p:sldId id="3652" r:id="rId13"/>
    <p:sldId id="3564" r:id="rId14"/>
    <p:sldId id="3596" r:id="rId15"/>
    <p:sldId id="3561" r:id="rId16"/>
    <p:sldId id="3642" r:id="rId17"/>
    <p:sldId id="3570" r:id="rId18"/>
    <p:sldId id="3567" r:id="rId19"/>
    <p:sldId id="3568" r:id="rId20"/>
    <p:sldId id="3565" r:id="rId21"/>
    <p:sldId id="3613" r:id="rId22"/>
    <p:sldId id="3643" r:id="rId23"/>
    <p:sldId id="3571" r:id="rId24"/>
    <p:sldId id="3575" r:id="rId25"/>
    <p:sldId id="3648" r:id="rId26"/>
    <p:sldId id="3607" r:id="rId27"/>
    <p:sldId id="3646" r:id="rId28"/>
    <p:sldId id="3645" r:id="rId29"/>
    <p:sldId id="3649" r:id="rId30"/>
    <p:sldId id="3650" r:id="rId31"/>
    <p:sldId id="3651" r:id="rId32"/>
    <p:sldId id="3653" r:id="rId33"/>
    <p:sldId id="3654" r:id="rId34"/>
    <p:sldId id="3573" r:id="rId35"/>
    <p:sldId id="3743" r:id="rId36"/>
    <p:sldId id="3744" r:id="rId37"/>
    <p:sldId id="3748" r:id="rId38"/>
    <p:sldId id="3619" r:id="rId39"/>
    <p:sldId id="3656" r:id="rId40"/>
    <p:sldId id="3657" r:id="rId41"/>
    <p:sldId id="3747" r:id="rId42"/>
    <p:sldId id="3658" r:id="rId43"/>
    <p:sldId id="3749" r:id="rId44"/>
    <p:sldId id="3660" r:id="rId45"/>
    <p:sldId id="3741" r:id="rId46"/>
    <p:sldId id="3655" r:id="rId47"/>
    <p:sldId id="3738" r:id="rId48"/>
    <p:sldId id="3739" r:id="rId49"/>
    <p:sldId id="3751" r:id="rId50"/>
    <p:sldId id="3752" r:id="rId51"/>
    <p:sldId id="3755" r:id="rId52"/>
    <p:sldId id="3756" r:id="rId53"/>
    <p:sldId id="3757" r:id="rId54"/>
    <p:sldId id="3753" r:id="rId55"/>
    <p:sldId id="3754" r:id="rId56"/>
    <p:sldId id="3758" r:id="rId57"/>
  </p:sldIdLst>
  <p:sldSz cx="12858750" cy="7232650"/>
  <p:notesSz cx="6858000" cy="9144000"/>
  <p:custDataLst>
    <p:tags r:id="rId62"/>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828" userDrawn="1">
          <p15:clr>
            <a:srgbClr val="A4A3A4"/>
          </p15:clr>
        </p15:guide>
        <p15:guide id="2" pos="4050" userDrawn="1">
          <p15:clr>
            <a:srgbClr val="A4A3A4"/>
          </p15:clr>
        </p15:guide>
        <p15:guide id="3" pos="363" userDrawn="1">
          <p15:clr>
            <a:srgbClr val="A4A3A4"/>
          </p15:clr>
        </p15:guide>
        <p15:guide id="4" orient="horz" pos="4299" userDrawn="1">
          <p15:clr>
            <a:srgbClr val="A4A3A4"/>
          </p15:clr>
        </p15:guide>
        <p15:guide id="5" pos="77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FFFFFF"/>
    <a:srgbClr val="EF4232"/>
    <a:srgbClr val="BFBFBF"/>
    <a:srgbClr val="212E3C"/>
    <a:srgbClr val="FBBF09"/>
    <a:srgbClr val="03A9F0"/>
    <a:srgbClr val="FABCA8"/>
    <a:srgbClr val="57562F"/>
    <a:srgbClr val="FBCD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74" autoAdjust="0"/>
    <p:restoredTop sz="92986" autoAdjust="0"/>
  </p:normalViewPr>
  <p:slideViewPr>
    <p:cSldViewPr>
      <p:cViewPr varScale="1">
        <p:scale>
          <a:sx n="105" d="100"/>
          <a:sy n="105" d="100"/>
        </p:scale>
        <p:origin x="936" y="208"/>
      </p:cViewPr>
      <p:guideLst>
        <p:guide orient="horz" pos="828"/>
        <p:guide pos="4050"/>
        <p:guide pos="363"/>
        <p:guide orient="horz" pos="4299"/>
        <p:guide pos="7717"/>
      </p:guideLst>
    </p:cSldViewPr>
  </p:slideViewPr>
  <p:outlineViewPr>
    <p:cViewPr>
      <p:scale>
        <a:sx n="100" d="100"/>
        <a:sy n="100" d="100"/>
      </p:scale>
      <p:origin x="0" y="-14412"/>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gs" Target="tags/tag91.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930" algn="l" rtl="0" eaLnBrk="0" fontAlgn="base" hangingPunct="0">
      <a:spcBef>
        <a:spcPct val="30000"/>
      </a:spcBef>
      <a:spcAft>
        <a:spcPct val="0"/>
      </a:spcAft>
      <a:defRPr sz="1300" kern="1200">
        <a:solidFill>
          <a:schemeClr val="tx1"/>
        </a:solidFill>
        <a:latin typeface="+mn-lt"/>
        <a:ea typeface="+mn-ea"/>
        <a:cs typeface="+mn-cs"/>
      </a:defRPr>
    </a:lvl2pPr>
    <a:lvl3pPr marL="913130" algn="l" rtl="0" eaLnBrk="0" fontAlgn="base" hangingPunct="0">
      <a:spcBef>
        <a:spcPct val="30000"/>
      </a:spcBef>
      <a:spcAft>
        <a:spcPct val="0"/>
      </a:spcAft>
      <a:defRPr sz="1300" kern="1200">
        <a:solidFill>
          <a:schemeClr val="tx1"/>
        </a:solidFill>
        <a:latin typeface="+mn-lt"/>
        <a:ea typeface="+mn-ea"/>
        <a:cs typeface="+mn-cs"/>
      </a:defRPr>
    </a:lvl3pPr>
    <a:lvl4pPr marL="1370330" algn="l" rtl="0" eaLnBrk="0" fontAlgn="base" hangingPunct="0">
      <a:spcBef>
        <a:spcPct val="30000"/>
      </a:spcBef>
      <a:spcAft>
        <a:spcPct val="0"/>
      </a:spcAft>
      <a:defRPr sz="1300" kern="1200">
        <a:solidFill>
          <a:schemeClr val="tx1"/>
        </a:solidFill>
        <a:latin typeface="+mn-lt"/>
        <a:ea typeface="+mn-ea"/>
        <a:cs typeface="+mn-cs"/>
      </a:defRPr>
    </a:lvl4pPr>
    <a:lvl5pPr marL="1827530" algn="l" rtl="0" eaLnBrk="0" fontAlgn="base" hangingPunct="0">
      <a:spcBef>
        <a:spcPct val="30000"/>
      </a:spcBef>
      <a:spcAft>
        <a:spcPct val="0"/>
      </a:spcAft>
      <a:defRPr sz="1300" kern="1200">
        <a:solidFill>
          <a:schemeClr val="tx1"/>
        </a:solidFill>
        <a:latin typeface="+mn-lt"/>
        <a:ea typeface="+mn-ea"/>
        <a:cs typeface="+mn-cs"/>
      </a:defRPr>
    </a:lvl5pPr>
    <a:lvl6pPr marL="2285365" algn="l" defTabSz="913765" rtl="0" eaLnBrk="1" latinLnBrk="0" hangingPunct="1">
      <a:defRPr sz="1300" kern="1200">
        <a:solidFill>
          <a:schemeClr val="tx1"/>
        </a:solidFill>
        <a:latin typeface="+mn-lt"/>
        <a:ea typeface="+mn-ea"/>
        <a:cs typeface="+mn-cs"/>
      </a:defRPr>
    </a:lvl6pPr>
    <a:lvl7pPr marL="2742565" algn="l" defTabSz="913765" rtl="0" eaLnBrk="1" latinLnBrk="0" hangingPunct="1">
      <a:defRPr sz="1300" kern="1200">
        <a:solidFill>
          <a:schemeClr val="tx1"/>
        </a:solidFill>
        <a:latin typeface="+mn-lt"/>
        <a:ea typeface="+mn-ea"/>
        <a:cs typeface="+mn-cs"/>
      </a:defRPr>
    </a:lvl7pPr>
    <a:lvl8pPr marL="3199765" algn="l" defTabSz="913765" rtl="0" eaLnBrk="1" latinLnBrk="0" hangingPunct="1">
      <a:defRPr sz="1300" kern="1200">
        <a:solidFill>
          <a:schemeClr val="tx1"/>
        </a:solidFill>
        <a:latin typeface="+mn-lt"/>
        <a:ea typeface="+mn-ea"/>
        <a:cs typeface="+mn-cs"/>
      </a:defRPr>
    </a:lvl8pPr>
    <a:lvl9pPr marL="3656965"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8674" name="Rectangle 2"/>
          <p:cNvSpPr>
            <a:spLocks noGrp="1" noRot="1" noChangeAspect="1" noTextEdit="1"/>
          </p:cNvSpPr>
          <p:nvPr>
            <p:ph type="sldImg"/>
          </p:nvPr>
        </p:nvSpPr>
        <p:spPr/>
      </p:sp>
      <p:sp>
        <p:nvSpPr>
          <p:cNvPr id="28675" name="Rectangle 3"/>
          <p:cNvSpPr>
            <a:spLocks noGrp="1"/>
          </p:cNvSpPr>
          <p:nvPr>
            <p:ph type="body" idx="1"/>
          </p:nvPr>
        </p:nvSpPr>
        <p:spPr>
          <a:xfrm>
            <a:off x="685800" y="4343400"/>
            <a:ext cx="5486400" cy="4114800"/>
          </a:xfrm>
          <a:prstGeom prst="rect">
            <a:avLst/>
          </a:prstGeom>
          <a:noFill/>
          <a:ln w="9525">
            <a:noFill/>
          </a:ln>
        </p:spPr>
        <p:txBody>
          <a:bodyPr/>
          <a:lstStyle/>
          <a:p>
            <a:pPr lvl="0"/>
            <a:endParaRPr lang="zh-CN" altLang="en-US" b="1"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596"/>
            <a:ext cx="2893219" cy="386187"/>
          </a:xfrm>
          <a:prstGeom prst="rect">
            <a:avLst/>
          </a:prstGeom>
        </p:spPr>
        <p:txBody>
          <a:bodyPr/>
          <a:lstStyle/>
          <a:p>
            <a:fld id="{E3AD87B8-9A4B-45E2-BBE5-FB86ADE287A3}" type="datetimeFigureOut">
              <a:rPr lang="zh-CN" altLang="en-US" smtClean="0"/>
            </a:fld>
            <a:endParaRPr lang="zh-CN" altLang="en-US"/>
          </a:p>
        </p:txBody>
      </p:sp>
      <p:sp>
        <p:nvSpPr>
          <p:cNvPr id="3" name="页脚占位符 2"/>
          <p:cNvSpPr>
            <a:spLocks noGrp="1"/>
          </p:cNvSpPr>
          <p:nvPr>
            <p:ph type="ftr" sz="quarter" idx="11"/>
          </p:nvPr>
        </p:nvSpPr>
        <p:spPr>
          <a:xfrm>
            <a:off x="4259461" y="6703596"/>
            <a:ext cx="4339828" cy="386187"/>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9081492" y="6703596"/>
            <a:ext cx="2893219" cy="386187"/>
          </a:xfrm>
          <a:prstGeom prst="rect">
            <a:avLst/>
          </a:prstGeom>
        </p:spPr>
        <p:txBody>
          <a:bodyPr/>
          <a:lstStyle/>
          <a:p>
            <a:fld id="{37AAA611-6692-4583-86AB-5AB9B972BD4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84039" y="385072"/>
            <a:ext cx="11090672" cy="1397978"/>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84039" y="1925358"/>
            <a:ext cx="11090672" cy="45890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84039" y="6703595"/>
            <a:ext cx="2893219" cy="385072"/>
          </a:xfrm>
        </p:spPr>
        <p:txBody>
          <a:bodyPr/>
          <a:lstStyle/>
          <a:p>
            <a:fld id="{33BFDFC5-D669-4DC9-94E3-07CA9AFCFD75}" type="datetimeFigureOut">
              <a:rPr lang="zh-CN" altLang="en-US" smtClean="0"/>
            </a:fld>
            <a:endParaRPr lang="zh-CN" altLang="en-US"/>
          </a:p>
        </p:txBody>
      </p:sp>
      <p:sp>
        <p:nvSpPr>
          <p:cNvPr id="5" name="页脚占位符 4"/>
          <p:cNvSpPr>
            <a:spLocks noGrp="1"/>
          </p:cNvSpPr>
          <p:nvPr>
            <p:ph type="ftr" sz="quarter" idx="11"/>
          </p:nvPr>
        </p:nvSpPr>
        <p:spPr>
          <a:xfrm>
            <a:off x="4259461" y="6703595"/>
            <a:ext cx="4339828" cy="385072"/>
          </a:xfrm>
        </p:spPr>
        <p:txBody>
          <a:bodyPr/>
          <a:lstStyle/>
          <a:p>
            <a:endParaRPr lang="zh-CN" altLang="en-US"/>
          </a:p>
        </p:txBody>
      </p:sp>
      <p:sp>
        <p:nvSpPr>
          <p:cNvPr id="6" name="灯片编号占位符 5"/>
          <p:cNvSpPr>
            <a:spLocks noGrp="1"/>
          </p:cNvSpPr>
          <p:nvPr>
            <p:ph type="sldNum" sz="quarter" idx="12"/>
          </p:nvPr>
        </p:nvSpPr>
        <p:spPr>
          <a:xfrm>
            <a:off x="9081492" y="6703595"/>
            <a:ext cx="2893219" cy="385072"/>
          </a:xfrm>
        </p:spPr>
        <p:txBody>
          <a:bodyPr/>
          <a:lstStyle/>
          <a:p>
            <a:fld id="{44375DF8-38CC-4446-8972-F296D6F24FB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7_Free Blank With Footer">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2000">
        <p:random/>
      </p:transition>
    </mc:Choice>
    <mc:Fallback>
      <p:transition spd="slow" advTm="2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706516" y="2729678"/>
            <a:ext cx="11445719" cy="948288"/>
          </a:xfrm>
        </p:spPr>
        <p:txBody>
          <a:bodyPr lIns="101600" tIns="38100" rIns="25400" bIns="38100" anchor="t" anchorCtr="0">
            <a:noAutofit/>
          </a:bodyPr>
          <a:lstStyle>
            <a:lvl1pPr algn="ctr">
              <a:defRPr sz="5695"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706516" y="3760978"/>
            <a:ext cx="11445719" cy="1002936"/>
          </a:xfrm>
        </p:spPr>
        <p:txBody>
          <a:bodyPr lIns="101600" tIns="38100" rIns="76200" bIns="38100">
            <a:noAutofit/>
          </a:bodyPr>
          <a:lstStyle>
            <a:lvl1pPr marL="0" indent="0" algn="ctr" eaLnBrk="1" fontAlgn="auto" latinLnBrk="0" hangingPunct="1">
              <a:lnSpc>
                <a:spcPct val="100000"/>
              </a:lnSpc>
              <a:buNone/>
              <a:defRPr sz="2530" u="none" strike="noStrike" kern="1200" cap="none" spc="200" normalizeH="0" baseline="0">
                <a:solidFill>
                  <a:schemeClr val="tx1"/>
                </a:solidFill>
                <a:uFillTx/>
              </a:defRPr>
            </a:lvl1pPr>
            <a:lvl2pPr marL="481965" indent="0" algn="ctr">
              <a:buNone/>
              <a:defRPr sz="2110"/>
            </a:lvl2pPr>
            <a:lvl3pPr marL="964565" indent="0" algn="ctr">
              <a:buNone/>
              <a:defRPr sz="1900"/>
            </a:lvl3pPr>
            <a:lvl4pPr marL="1446530" indent="0" algn="ctr">
              <a:buNone/>
              <a:defRPr sz="1685"/>
            </a:lvl4pPr>
            <a:lvl5pPr marL="1928495" indent="0" algn="ctr">
              <a:buNone/>
              <a:defRPr sz="1685"/>
            </a:lvl5pPr>
            <a:lvl6pPr marL="2411095" indent="0" algn="ctr">
              <a:buNone/>
              <a:defRPr sz="1685"/>
            </a:lvl6pPr>
            <a:lvl7pPr marL="2893060" indent="0" algn="ctr">
              <a:buNone/>
              <a:defRPr sz="1685"/>
            </a:lvl7pPr>
            <a:lvl8pPr marL="3375025" indent="0" algn="ctr">
              <a:buNone/>
              <a:defRPr sz="1685"/>
            </a:lvl8pPr>
            <a:lvl9pPr marL="3857625" indent="0" algn="ctr">
              <a:buNone/>
              <a:defRPr sz="1685"/>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927853" y="6696722"/>
            <a:ext cx="2847656" cy="334107"/>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341094" y="6696722"/>
            <a:ext cx="4176563" cy="334107"/>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9081492" y="6696722"/>
            <a:ext cx="2847656" cy="334107"/>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cxnSp>
        <p:nvCxnSpPr>
          <p:cNvPr id="8" name="直接连接符 7" hidden="1"/>
          <p:cNvCxnSpPr/>
          <p:nvPr userDrawn="1"/>
        </p:nvCxnSpPr>
        <p:spPr>
          <a:xfrm>
            <a:off x="783581" y="458148"/>
            <a:ext cx="0" cy="1467547"/>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80" name="组合 79"/>
          <p:cNvGrpSpPr/>
          <p:nvPr userDrawn="1"/>
        </p:nvGrpSpPr>
        <p:grpSpPr>
          <a:xfrm>
            <a:off x="0" y="241981"/>
            <a:ext cx="3404890" cy="608971"/>
            <a:chOff x="5829990" y="1676991"/>
            <a:chExt cx="3228413" cy="576000"/>
          </a:xfrm>
        </p:grpSpPr>
        <p:sp>
          <p:nvSpPr>
            <p:cNvPr id="81" name="矩形: 圆角 8"/>
            <p:cNvSpPr/>
            <p:nvPr/>
          </p:nvSpPr>
          <p:spPr>
            <a:xfrm>
              <a:off x="6444341" y="1676991"/>
              <a:ext cx="2614062" cy="576000"/>
            </a:xfrm>
            <a:prstGeom prst="roundRect">
              <a:avLst>
                <a:gd name="adj" fmla="val 0"/>
              </a:avLst>
            </a:prstGeom>
            <a:solidFill>
              <a:srgbClr val="56BE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8580" tIns="64290" rIns="128580" bIns="64290" numCol="1" spcCol="0" rtlCol="0" fromWordArt="0" anchor="ctr" anchorCtr="0" forceAA="0" compatLnSpc="1">
              <a:noAutofit/>
            </a:bodyPr>
            <a:lstStyle/>
            <a:p>
              <a:pPr algn="ctr"/>
              <a:endParaRPr lang="zh-CN" altLang="en-US" sz="100" dirty="0"/>
            </a:p>
          </p:txBody>
        </p:sp>
        <p:sp>
          <p:nvSpPr>
            <p:cNvPr id="82" name="矩形: 圆角 8"/>
            <p:cNvSpPr/>
            <p:nvPr/>
          </p:nvSpPr>
          <p:spPr>
            <a:xfrm>
              <a:off x="5829990" y="1676991"/>
              <a:ext cx="576000" cy="576000"/>
            </a:xfrm>
            <a:prstGeom prst="roundRect">
              <a:avLst>
                <a:gd name="adj" fmla="val 0"/>
              </a:avLst>
            </a:prstGeom>
            <a:solidFill>
              <a:srgbClr val="10747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8580" tIns="64290" rIns="128580" bIns="64290" numCol="1" spcCol="0" rtlCol="0" fromWordArt="0" anchor="ctr" anchorCtr="0" forceAA="0" compatLnSpc="1">
              <a:noAutofit/>
            </a:bodyPr>
            <a:lstStyle/>
            <a:p>
              <a:pPr algn="ctr" fontAlgn="ctr"/>
              <a:endParaRPr lang="en-US" altLang="zh-CN" sz="2810" b="1" dirty="0">
                <a:latin typeface="微软雅黑" panose="020B0503020204020204" pitchFamily="34" charset="-122"/>
                <a:ea typeface="微软雅黑" panose="020B0503020204020204" pitchFamily="34" charset="-122"/>
              </a:endParaRPr>
            </a:p>
          </p:txBody>
        </p:sp>
      </p:grpSp>
      <p:sp>
        <p:nvSpPr>
          <p:cNvPr id="83" name="矩形 82"/>
          <p:cNvSpPr/>
          <p:nvPr userDrawn="1"/>
        </p:nvSpPr>
        <p:spPr>
          <a:xfrm rot="10800000">
            <a:off x="7478613" y="427709"/>
            <a:ext cx="5380137" cy="237517"/>
          </a:xfrm>
          <a:prstGeom prst="rect">
            <a:avLst/>
          </a:prstGeom>
          <a:solidFill>
            <a:srgbClr val="E94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 name="文本占位符 5"/>
          <p:cNvSpPr txBox="1"/>
          <p:nvPr userDrawn="1"/>
        </p:nvSpPr>
        <p:spPr>
          <a:xfrm>
            <a:off x="1433215" y="3107361"/>
            <a:ext cx="9992320" cy="1425575"/>
          </a:xfrm>
          <a:prstGeom prst="rect">
            <a:avLst/>
          </a:prstGeom>
        </p:spPr>
        <p:txBody>
          <a:bodyPr vert="horz" wrap="square" lIns="128580" tIns="64290" rIns="128580" bIns="64290" rtlCol="0">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4220" b="1">
                <a:solidFill>
                  <a:srgbClr val="F7F7F7"/>
                </a:solidFill>
                <a:latin typeface="微软雅黑" panose="020B0503020204020204" pitchFamily="34" charset="-122"/>
                <a:ea typeface="微软雅黑" panose="020B0503020204020204" pitchFamily="34" charset="-122"/>
                <a:cs typeface="+mn-ea"/>
                <a:sym typeface="+mn-lt"/>
              </a:rPr>
              <a:t>更多</a:t>
            </a:r>
            <a:r>
              <a:rPr lang="en-US" altLang="zh-CN" sz="4220" b="1">
                <a:solidFill>
                  <a:srgbClr val="F7F7F7"/>
                </a:solidFill>
                <a:latin typeface="微软雅黑" panose="020B0503020204020204" pitchFamily="34" charset="-122"/>
                <a:ea typeface="微软雅黑" panose="020B0503020204020204" pitchFamily="34" charset="-122"/>
                <a:cs typeface="+mn-ea"/>
                <a:sym typeface="+mn-lt"/>
              </a:rPr>
              <a:t>EHS</a:t>
            </a:r>
            <a:r>
              <a:rPr lang="zh-CN" altLang="en-US" sz="4220" b="1">
                <a:solidFill>
                  <a:srgbClr val="F7F7F7"/>
                </a:solidFill>
                <a:latin typeface="微软雅黑" panose="020B0503020204020204" pitchFamily="34" charset="-122"/>
                <a:ea typeface="微软雅黑" panose="020B0503020204020204" pitchFamily="34" charset="-122"/>
                <a:cs typeface="+mn-ea"/>
                <a:sym typeface="+mn-lt"/>
              </a:rPr>
              <a:t>独家精品资料，请添加“安小应”微信号：</a:t>
            </a:r>
            <a:r>
              <a:rPr lang="en-US" altLang="zh-CN" sz="4220" b="1">
                <a:solidFill>
                  <a:srgbClr val="F7F7F7"/>
                </a:solidFill>
                <a:latin typeface="微软雅黑" panose="020B0503020204020204" pitchFamily="34" charset="-122"/>
                <a:ea typeface="微软雅黑" panose="020B0503020204020204" pitchFamily="34" charset="-122"/>
                <a:cs typeface="+mn-ea"/>
                <a:sym typeface="+mn-lt"/>
              </a:rPr>
              <a:t>ansyingcysafety</a:t>
            </a:r>
            <a:endParaRPr lang="en-US" altLang="en-US" sz="4220" b="1" dirty="0">
              <a:solidFill>
                <a:srgbClr val="F7F7F7"/>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fourObj">
  <p:cSld name="标题和四项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522388" y="416882"/>
            <a:ext cx="11863090" cy="676387"/>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522387" y="1265714"/>
            <a:ext cx="5824389" cy="26787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561090" y="1265714"/>
            <a:ext cx="5824388" cy="26787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522387" y="4105199"/>
            <a:ext cx="5824389" cy="268043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6561090" y="4105199"/>
            <a:ext cx="5824388" cy="268043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KSO_FD"/>
          <p:cNvSpPr>
            <a:spLocks noGrp="1" noChangeArrowheads="1"/>
          </p:cNvSpPr>
          <p:nvPr>
            <p:ph type="dt" sz="half" idx="12"/>
          </p:nvPr>
        </p:nvSpPr>
        <p:spPr>
          <a:xfrm>
            <a:off x="884039" y="6703595"/>
            <a:ext cx="2893219" cy="385072"/>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691B9277-4F20-44AD-9F2A-B7F1E2F1343E}" type="datetime1">
              <a:rPr kumimoji="0" lang="en-US" altLang="zh-CN" sz="1200" b="1" i="0" u="none" strike="noStrike" kern="1200" cap="none" spc="0" normalizeH="0" baseline="0" noProof="0">
                <a:ln>
                  <a:noFill/>
                </a:ln>
                <a:solidFill>
                  <a:schemeClr val="tx1">
                    <a:tint val="75000"/>
                  </a:schemeClr>
                </a:solidFill>
                <a:effectLst/>
                <a:uLnTx/>
                <a:uFillTx/>
                <a:latin typeface="黑体" panose="02010609060101010101" charset="-122"/>
                <a:ea typeface="宋体" panose="02010600030101010101" pitchFamily="2" charset="-122"/>
                <a:cs typeface="+mn-cs"/>
              </a:rPr>
            </a:fld>
            <a:endParaRPr kumimoji="0" lang="en-US" altLang="zh-CN" sz="1200" b="1" i="0" u="none" strike="noStrike" kern="1200" cap="none" spc="0" normalizeH="0" baseline="0" noProof="0">
              <a:ln>
                <a:noFill/>
              </a:ln>
              <a:solidFill>
                <a:schemeClr val="tx1">
                  <a:tint val="75000"/>
                </a:schemeClr>
              </a:solidFill>
              <a:effectLst/>
              <a:uLnTx/>
              <a:uFillTx/>
              <a:latin typeface="黑体" panose="02010609060101010101" charset="-122"/>
              <a:ea typeface="宋体" panose="02010600030101010101" pitchFamily="2" charset="-122"/>
              <a:cs typeface="+mn-cs"/>
            </a:endParaRPr>
          </a:p>
        </p:txBody>
      </p:sp>
      <p:sp>
        <p:nvSpPr>
          <p:cNvPr id="8" name="KSO_FT"/>
          <p:cNvSpPr>
            <a:spLocks noGrp="1" noChangeArrowheads="1"/>
          </p:cNvSpPr>
          <p:nvPr>
            <p:ph type="ftr" sz="quarter" idx="13"/>
          </p:nvPr>
        </p:nvSpPr>
        <p:spPr>
          <a:xfrm>
            <a:off x="4259461" y="6703595"/>
            <a:ext cx="4339828" cy="385072"/>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1">
                  <a:tint val="75000"/>
                </a:schemeClr>
              </a:solidFill>
              <a:effectLst/>
              <a:uLnTx/>
              <a:uFillTx/>
              <a:latin typeface="黑体" panose="02010609060101010101" charset="-122"/>
              <a:ea typeface="宋体" panose="02010600030101010101" pitchFamily="2" charset="-122"/>
              <a:cs typeface="+mn-cs"/>
            </a:endParaRPr>
          </a:p>
        </p:txBody>
      </p:sp>
      <p:sp>
        <p:nvSpPr>
          <p:cNvPr id="9" name="KSO_FN"/>
          <p:cNvSpPr>
            <a:spLocks noGrp="1" noChangeArrowheads="1"/>
          </p:cNvSpPr>
          <p:nvPr>
            <p:ph type="sldNum" sz="quarter" idx="14"/>
          </p:nvPr>
        </p:nvSpPr>
        <p:spPr>
          <a:xfrm>
            <a:off x="9081492" y="6703595"/>
            <a:ext cx="2893219" cy="385072"/>
          </a:xfrm>
          <a:prstGeom prst="rect">
            <a:avLst/>
          </a:prstGeom>
        </p:spPr>
        <p:txBody>
          <a:bodyPr vert="horz" lIns="91440" tIns="45720" rIns="91440" bIns="45720" rtlCol="0" anchor="ct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18EFAB83-ECC5-4867-B128-0762278EADE3}" type="slidenum">
              <a:rPr kumimoji="0" lang="en-US" altLang="zh-CN" sz="1200" b="1" i="0" u="none" strike="noStrike" kern="1200" cap="none" spc="0" normalizeH="0" baseline="0" noProof="0">
                <a:ln>
                  <a:noFill/>
                </a:ln>
                <a:solidFill>
                  <a:schemeClr val="tx1">
                    <a:tint val="75000"/>
                  </a:schemeClr>
                </a:solidFill>
                <a:effectLst/>
                <a:uLnTx/>
                <a:uFillTx/>
                <a:latin typeface="黑体" panose="02010609060101010101" charset="-122"/>
                <a:ea typeface="宋体" panose="02010600030101010101" pitchFamily="2" charset="-122"/>
                <a:cs typeface="+mn-cs"/>
              </a:rPr>
            </a:fld>
            <a:endParaRPr kumimoji="0" lang="en-US" altLang="zh-CN" sz="1200" b="1" i="0" u="none" strike="noStrike" kern="1200" cap="none" spc="0" normalizeH="0" baseline="0" noProof="0">
              <a:ln>
                <a:noFill/>
              </a:ln>
              <a:solidFill>
                <a:schemeClr val="tx1">
                  <a:tint val="75000"/>
                </a:schemeClr>
              </a:solidFill>
              <a:effectLst/>
              <a:uLnTx/>
              <a:uFillTx/>
              <a:latin typeface="黑体" panose="02010609060101010101" charset="-122"/>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9.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17.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tags" Target="../tags/tag21.xml"/><Relationship Id="rId1" Type="http://schemas.openxmlformats.org/officeDocument/2006/relationships/tags" Target="../tags/tag20.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23.xml"/><Relationship Id="rId1" Type="http://schemas.openxmlformats.org/officeDocument/2006/relationships/tags" Target="../tags/tag2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tags" Target="../tags/tag28.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tags" Target="../tags/tag33.xml"/><Relationship Id="rId1" Type="http://schemas.openxmlformats.org/officeDocument/2006/relationships/tags" Target="../tags/tag32.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35.xml"/><Relationship Id="rId1" Type="http://schemas.openxmlformats.org/officeDocument/2006/relationships/tags" Target="../tags/tag34.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tags" Target="../tags/tag37.xml"/><Relationship Id="rId1" Type="http://schemas.openxmlformats.org/officeDocument/2006/relationships/tags" Target="../tags/tag36.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tags" Target="../tags/tag39.xml"/><Relationship Id="rId1" Type="http://schemas.openxmlformats.org/officeDocument/2006/relationships/tags" Target="../tags/tag38.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41.xml"/><Relationship Id="rId1" Type="http://schemas.openxmlformats.org/officeDocument/2006/relationships/tags" Target="../tags/tag40.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43.xml"/><Relationship Id="rId1" Type="http://schemas.openxmlformats.org/officeDocument/2006/relationships/tags" Target="../tags/tag4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tags" Target="../tags/tag45.xml"/><Relationship Id="rId1" Type="http://schemas.openxmlformats.org/officeDocument/2006/relationships/tags" Target="../tags/tag44.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tags" Target="../tags/tag47.xml"/><Relationship Id="rId1" Type="http://schemas.openxmlformats.org/officeDocument/2006/relationships/tags" Target="../tags/tag46.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tags" Target="../tags/tag49.xml"/><Relationship Id="rId1" Type="http://schemas.openxmlformats.org/officeDocument/2006/relationships/tags" Target="../tags/tag4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tags" Target="../tags/tag50.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tags" Target="../tags/tag53.xml"/><Relationship Id="rId1" Type="http://schemas.openxmlformats.org/officeDocument/2006/relationships/tags" Target="../tags/tag52.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tags" Target="../tags/tag55.xml"/><Relationship Id="rId1" Type="http://schemas.openxmlformats.org/officeDocument/2006/relationships/tags" Target="../tags/tag54.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57.xml"/><Relationship Id="rId1" Type="http://schemas.openxmlformats.org/officeDocument/2006/relationships/tags" Target="../tags/tag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tags" Target="../tags/tag61.xml"/><Relationship Id="rId1" Type="http://schemas.openxmlformats.org/officeDocument/2006/relationships/tags" Target="../tags/tag60.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4.png"/><Relationship Id="rId2" Type="http://schemas.openxmlformats.org/officeDocument/2006/relationships/tags" Target="../tags/tag63.xml"/><Relationship Id="rId1" Type="http://schemas.openxmlformats.org/officeDocument/2006/relationships/tags" Target="../tags/tag6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68.xml"/><Relationship Id="rId1" Type="http://schemas.openxmlformats.org/officeDocument/2006/relationships/tags" Target="../tags/tag6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2.xml"/><Relationship Id="rId1" Type="http://schemas.openxmlformats.org/officeDocument/2006/relationships/tags" Target="../tags/tag71.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6.xml"/><Relationship Id="rId1" Type="http://schemas.openxmlformats.org/officeDocument/2006/relationships/tags" Target="../tags/tag75.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8.xml"/><Relationship Id="rId1" Type="http://schemas.openxmlformats.org/officeDocument/2006/relationships/tags" Target="../tags/tag7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0.xml"/><Relationship Id="rId1" Type="http://schemas.openxmlformats.org/officeDocument/2006/relationships/tags" Target="../tags/tag79.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2.xml"/><Relationship Id="rId1" Type="http://schemas.openxmlformats.org/officeDocument/2006/relationships/tags" Target="../tags/tag8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4.xml"/><Relationship Id="rId1" Type="http://schemas.openxmlformats.org/officeDocument/2006/relationships/tags" Target="../tags/tag8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6.xml"/><Relationship Id="rId1" Type="http://schemas.openxmlformats.org/officeDocument/2006/relationships/tags" Target="../tags/tag85.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8.xml"/><Relationship Id="rId1" Type="http://schemas.openxmlformats.org/officeDocument/2006/relationships/tags" Target="../tags/tag8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0.xml"/><Relationship Id="rId1" Type="http://schemas.openxmlformats.org/officeDocument/2006/relationships/tags" Target="../tags/tag8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6"/>
          <p:cNvSpPr/>
          <p:nvPr/>
        </p:nvSpPr>
        <p:spPr bwMode="auto">
          <a:xfrm>
            <a:off x="-281" y="5460775"/>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10"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cxnSp>
        <p:nvCxnSpPr>
          <p:cNvPr id="6" name="直接连接符 5"/>
          <p:cNvCxnSpPr/>
          <p:nvPr/>
        </p:nvCxnSpPr>
        <p:spPr>
          <a:xfrm>
            <a:off x="4136390" y="3544570"/>
            <a:ext cx="4873625" cy="0"/>
          </a:xfrm>
          <a:prstGeom prst="line">
            <a:avLst/>
          </a:prstGeom>
          <a:ln w="9525">
            <a:solidFill>
              <a:srgbClr val="003366"/>
            </a:solidFill>
            <a:prstDash val="solid"/>
          </a:ln>
        </p:spPr>
        <p:style>
          <a:lnRef idx="1">
            <a:schemeClr val="accent1"/>
          </a:lnRef>
          <a:fillRef idx="0">
            <a:schemeClr val="accent1"/>
          </a:fillRef>
          <a:effectRef idx="0">
            <a:schemeClr val="accent1"/>
          </a:effectRef>
          <a:fontRef idx="minor">
            <a:schemeClr val="tx1"/>
          </a:fontRef>
        </p:style>
      </p:cxnSp>
      <p:sp>
        <p:nvSpPr>
          <p:cNvPr id="7" name="矩形 259"/>
          <p:cNvSpPr>
            <a:spLocks noChangeArrowheads="1"/>
          </p:cNvSpPr>
          <p:nvPr/>
        </p:nvSpPr>
        <p:spPr bwMode="auto">
          <a:xfrm>
            <a:off x="1447800" y="2641600"/>
            <a:ext cx="962215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5400" dirty="0">
                <a:solidFill>
                  <a:schemeClr val="accent1"/>
                </a:solidFill>
                <a:cs typeface="微软雅黑" panose="020B0503020204020204" pitchFamily="34" charset="-122"/>
                <a:sym typeface="Arial" panose="020B0604020202020204" pitchFamily="34" charset="0"/>
              </a:rPr>
              <a:t>   </a:t>
            </a:r>
            <a:r>
              <a:rPr lang="zh-CN" altLang="en-US" sz="5400" dirty="0">
                <a:solidFill>
                  <a:schemeClr val="accent1"/>
                </a:solidFill>
                <a:sym typeface="+mn-ea"/>
              </a:rPr>
              <a:t>亚马逊知识产权培训</a:t>
            </a:r>
            <a:endParaRPr lang="zh-CN" altLang="en-US" sz="5400" spc="200" noProof="0" dirty="0">
              <a:ln>
                <a:noFill/>
              </a:ln>
              <a:solidFill>
                <a:schemeClr val="accent1"/>
              </a:solidFill>
              <a:effectLst/>
              <a:uLnTx/>
              <a:uFillTx/>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advTm="0">
        <p:dissolve/>
      </p:transition>
    </mc:Choice>
    <mc:Fallback>
      <p:transition spd="slow" advTm="0">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148"/>
          <p:cNvSpPr txBox="1"/>
          <p:nvPr/>
        </p:nvSpPr>
        <p:spPr>
          <a:xfrm>
            <a:off x="2036887" y="330207"/>
            <a:ext cx="2476020" cy="1206099"/>
          </a:xfrm>
          <a:prstGeom prst="rect">
            <a:avLst/>
          </a:prstGeom>
          <a:noFill/>
        </p:spPr>
        <p:txBody>
          <a:bodyPr vert="horz" wrap="square" rtlCol="0">
            <a:spAutoFit/>
          </a:bodyPr>
          <a:lstStyle/>
          <a:p>
            <a:pPr>
              <a:lnSpc>
                <a:spcPct val="120000"/>
              </a:lnSpc>
            </a:pPr>
            <a:r>
              <a:rPr lang="zh-CN" altLang="en-US" sz="6600" b="1" cap="all" spc="3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目录</a:t>
            </a:r>
            <a:endParaRPr lang="en-US" altLang="zh-CN" sz="6600" b="1" cap="all" spc="3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TextBox 148"/>
          <p:cNvSpPr txBox="1"/>
          <p:nvPr/>
        </p:nvSpPr>
        <p:spPr>
          <a:xfrm>
            <a:off x="2036887" y="1398368"/>
            <a:ext cx="3346876" cy="830164"/>
          </a:xfrm>
          <a:prstGeom prst="rect">
            <a:avLst/>
          </a:prstGeom>
          <a:noFill/>
        </p:spPr>
        <p:txBody>
          <a:bodyPr vert="horz" wrap="square" rtlCol="0">
            <a:spAutoFit/>
          </a:bodyPr>
          <a:lstStyle/>
          <a:p>
            <a:pPr>
              <a:lnSpc>
                <a:spcPct val="120000"/>
              </a:lnSpc>
            </a:pPr>
            <a:r>
              <a:rPr lang="en-US" altLang="zh-CN" sz="44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CONTENTS</a:t>
            </a:r>
            <a:endParaRPr lang="en-US" altLang="zh-CN" sz="44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dirty="0"/>
          </a:p>
        </p:txBody>
      </p:sp>
      <p:sp>
        <p:nvSpPr>
          <p:cNvPr id="18"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17" name="矩形 16"/>
          <p:cNvSpPr/>
          <p:nvPr/>
        </p:nvSpPr>
        <p:spPr>
          <a:xfrm>
            <a:off x="7911465" y="853120"/>
            <a:ext cx="4521835" cy="386080"/>
          </a:xfrm>
          <a:prstGeom prst="rect">
            <a:avLst/>
          </a:prstGeom>
          <a:effectLst/>
        </p:spPr>
        <p:txBody>
          <a:bodyPr wrap="square">
            <a:spAutoFit/>
          </a:bodyPr>
          <a:lstStyle/>
          <a:p>
            <a:pPr marL="0" indent="0" algn="l">
              <a:lnSpc>
                <a:spcPct val="80000"/>
              </a:lnSpc>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02  /  </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版权</a:t>
            </a:r>
            <a:endPar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矩形 18"/>
          <p:cNvSpPr/>
          <p:nvPr/>
        </p:nvSpPr>
        <p:spPr>
          <a:xfrm>
            <a:off x="7911465" y="3122143"/>
            <a:ext cx="4521200" cy="386080"/>
          </a:xfrm>
          <a:prstGeom prst="rect">
            <a:avLst/>
          </a:prstGeom>
          <a:effectLst/>
        </p:spPr>
        <p:txBody>
          <a:bodyPr wrap="square">
            <a:spAutoFit/>
          </a:bodyPr>
          <a:lstStyle/>
          <a:p>
            <a:pPr marL="0" indent="0" algn="l">
              <a:lnSpc>
                <a:spcPct val="80000"/>
              </a:lnSpc>
              <a:spcBef>
                <a:spcPts val="100"/>
              </a:spcBef>
              <a:spcAft>
                <a:spcPts val="100"/>
              </a:spcAft>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06  /   </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如何投诉他人侵权</a:t>
            </a:r>
            <a:endParaRPr lang="zh-CN" sz="240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7914212" y="279457"/>
            <a:ext cx="3543510" cy="380061"/>
          </a:xfrm>
          <a:prstGeom prst="rect">
            <a:avLst/>
          </a:prstGeom>
          <a:effectLst/>
        </p:spPr>
        <p:txBody>
          <a:bodyPr wrap="square">
            <a:noAutofit/>
          </a:bodyPr>
          <a:lstStyle/>
          <a:p>
            <a:pPr marL="0" algn="l">
              <a:lnSpc>
                <a:spcPct val="80000"/>
              </a:lnSpc>
              <a:spcBef>
                <a:spcPts val="100"/>
              </a:spcBef>
              <a:buClrTx/>
              <a:buSzTx/>
              <a:buFont typeface="Wingdings" panose="05000000000000000000" charset="0"/>
              <a:buNone/>
            </a:pP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01  /  </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知识产权是什么</a:t>
            </a:r>
            <a:endPar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矩形 2"/>
          <p:cNvSpPr/>
          <p:nvPr/>
        </p:nvSpPr>
        <p:spPr>
          <a:xfrm>
            <a:off x="7911465" y="1392430"/>
            <a:ext cx="4521835" cy="386080"/>
          </a:xfrm>
          <a:prstGeom prst="rect">
            <a:avLst/>
          </a:prstGeom>
          <a:effectLst/>
        </p:spPr>
        <p:txBody>
          <a:bodyPr wrap="square">
            <a:spAutoFit/>
          </a:bodyPr>
          <a:lstStyle/>
          <a:p>
            <a:pPr marL="0" lvl="1" indent="0" algn="l">
              <a:lnSpc>
                <a:spcPct val="80000"/>
              </a:lnSpc>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03  /  </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商标</a:t>
            </a:r>
            <a:endPar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p:nvPr/>
        </p:nvSpPr>
        <p:spPr>
          <a:xfrm>
            <a:off x="7911465" y="1931740"/>
            <a:ext cx="4521835" cy="386080"/>
          </a:xfrm>
          <a:prstGeom prst="rect">
            <a:avLst/>
          </a:prstGeom>
          <a:effectLst/>
        </p:spPr>
        <p:txBody>
          <a:bodyPr wrap="square">
            <a:spAutoFit/>
          </a:bodyPr>
          <a:lstStyle/>
          <a:p>
            <a:pPr marL="0" indent="0" algn="l">
              <a:lnSpc>
                <a:spcPct val="80000"/>
              </a:lnSpc>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04  /  </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专利</a:t>
            </a:r>
            <a:endPar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7911465" y="2526942"/>
            <a:ext cx="4521835" cy="386080"/>
          </a:xfrm>
          <a:prstGeom prst="rect">
            <a:avLst/>
          </a:prstGeom>
          <a:effectLst/>
        </p:spPr>
        <p:txBody>
          <a:bodyPr wrap="square">
            <a:spAutoFit/>
          </a:bodyPr>
          <a:lstStyle/>
          <a:p>
            <a:pPr marL="0" indent="0" algn="l">
              <a:lnSpc>
                <a:spcPct val="80000"/>
              </a:lnSpc>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05  /   </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如何防止被侵权</a:t>
            </a:r>
            <a:endPar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5"/>
          <p:cNvSpPr/>
          <p:nvPr/>
        </p:nvSpPr>
        <p:spPr>
          <a:xfrm>
            <a:off x="7904326" y="3662739"/>
            <a:ext cx="4521200" cy="386080"/>
          </a:xfrm>
          <a:prstGeom prst="rect">
            <a:avLst/>
          </a:prstGeom>
          <a:effectLst/>
        </p:spPr>
        <p:txBody>
          <a:bodyPr wrap="square">
            <a:spAutoFit/>
          </a:bodyPr>
          <a:p>
            <a:pPr marL="0" indent="0" algn="l">
              <a:lnSpc>
                <a:spcPct val="80000"/>
              </a:lnSpc>
              <a:spcBef>
                <a:spcPts val="100"/>
              </a:spcBef>
              <a:spcAft>
                <a:spcPts val="100"/>
              </a:spcAft>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a:t>
            </a: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7</a:t>
            </a: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  /   </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如何</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避免</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侵权</a:t>
            </a:r>
            <a:endParaRPr lang="zh-CN" sz="240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矩形 6"/>
          <p:cNvSpPr/>
          <p:nvPr/>
        </p:nvSpPr>
        <p:spPr>
          <a:xfrm>
            <a:off x="7904326" y="4199296"/>
            <a:ext cx="4521200" cy="386080"/>
          </a:xfrm>
          <a:prstGeom prst="rect">
            <a:avLst/>
          </a:prstGeom>
          <a:effectLst/>
        </p:spPr>
        <p:txBody>
          <a:bodyPr wrap="square">
            <a:spAutoFit/>
          </a:bodyPr>
          <a:lstStyle/>
          <a:p>
            <a:pPr marL="0" indent="0" algn="l">
              <a:lnSpc>
                <a:spcPct val="80000"/>
              </a:lnSpc>
              <a:spcBef>
                <a:spcPts val="100"/>
              </a:spcBef>
              <a:spcAft>
                <a:spcPts val="100"/>
              </a:spcAft>
              <a:buFont typeface="Wingdings" panose="05000000000000000000" charset="0"/>
              <a:buNone/>
            </a:pP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0</a:t>
            </a: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8</a:t>
            </a:r>
            <a:r>
              <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  /   </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如何</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申诉</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侵权</a:t>
            </a:r>
            <a:endParaRPr lang="zh-CN" sz="240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1908482" y="2143395"/>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01</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6793865" y="2766060"/>
            <a:ext cx="5582285" cy="615315"/>
          </a:xfrm>
          <a:prstGeom prst="rect">
            <a:avLst/>
          </a:prstGeom>
          <a:noFill/>
        </p:spPr>
        <p:txBody>
          <a:bodyPr wrap="square" lIns="0" tIns="0" rIns="0" bIns="0" rtlCol="0">
            <a:spAutoFit/>
          </a:bodyPr>
          <a:lstStyle/>
          <a:p>
            <a:pPr marL="0" algn="l">
              <a:lnSpc>
                <a:spcPct val="80000"/>
              </a:lnSpc>
              <a:spcBef>
                <a:spcPts val="100"/>
              </a:spcBef>
              <a:buClrTx/>
              <a:buSzTx/>
              <a:buFont typeface="Wingdings" panose="05000000000000000000" charset="0"/>
              <a:buNone/>
            </a:pPr>
            <a:r>
              <a:rPr lang="zh-CN" altLang="en-US" sz="5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知识产权是什么</a:t>
            </a:r>
            <a:endParaRPr lang="zh-CN" altLang="en-US" sz="5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方正姚体" panose="02010601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7"/>
          <p:cNvSpPr/>
          <p:nvPr/>
        </p:nvSpPr>
        <p:spPr>
          <a:xfrm>
            <a:off x="2605446" y="2502256"/>
            <a:ext cx="1573771" cy="6743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Clr>
                <a:schemeClr val="accent2"/>
              </a:buClr>
              <a:buNone/>
            </a:pPr>
            <a:r>
              <a:rPr lang="zh-CN" altLang="en-US" sz="253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无危则安</a:t>
            </a:r>
            <a:endParaRPr lang="zh-CN" altLang="en-US" sz="253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535" name="矩形 14"/>
          <p:cNvSpPr/>
          <p:nvPr/>
        </p:nvSpPr>
        <p:spPr>
          <a:xfrm>
            <a:off x="2340919" y="4894723"/>
            <a:ext cx="2040880" cy="6743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50000"/>
              </a:lnSpc>
              <a:spcBef>
                <a:spcPct val="0"/>
              </a:spcBef>
              <a:buClr>
                <a:schemeClr val="accent2"/>
              </a:buClr>
              <a:buNone/>
            </a:pPr>
            <a:r>
              <a:rPr lang="zh-CN" altLang="en-US" sz="253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全</a:t>
            </a:r>
            <a:endParaRPr lang="zh-CN" altLang="en-US" sz="253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extBox 8"/>
          <p:cNvSpPr/>
          <p:nvPr/>
        </p:nvSpPr>
        <p:spPr>
          <a:xfrm>
            <a:off x="8403286" y="3434799"/>
            <a:ext cx="1784723" cy="106489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Clr>
                <a:schemeClr val="accent2"/>
              </a:buClr>
              <a:buNone/>
            </a:pPr>
            <a:r>
              <a:rPr lang="zh-CN" altLang="en-US" sz="422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全</a:t>
            </a:r>
            <a:endParaRPr lang="zh-CN" altLang="en-US" sz="422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16"/>
          <p:cNvSpPr/>
          <p:nvPr/>
        </p:nvSpPr>
        <p:spPr>
          <a:xfrm>
            <a:off x="317500" y="2827655"/>
            <a:ext cx="8585200" cy="67437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50000"/>
              </a:lnSpc>
              <a:spcBef>
                <a:spcPct val="20000"/>
              </a:spcBef>
              <a:buClr>
                <a:schemeClr val="accent2"/>
              </a:buClr>
              <a:buFont typeface="Wingdings" panose="05000000000000000000" pitchFamily="2" charset="2"/>
              <a:buNone/>
            </a:pPr>
            <a:r>
              <a:rPr lang="zh-CN" altLang="zh-CN" sz="2530" b="1" dirty="0">
                <a:latin typeface="微软雅黑" panose="020B0503020204020204" pitchFamily="34" charset="-122"/>
                <a:ea typeface="微软雅黑" panose="020B0503020204020204" pitchFamily="34" charset="-122"/>
                <a:sym typeface="微软雅黑" panose="020B0503020204020204" pitchFamily="34" charset="-122"/>
              </a:rPr>
              <a:t>相关知识产权政策</a:t>
            </a:r>
            <a:endParaRPr lang="zh-CN" altLang="zh-CN" sz="253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542" name="Rectangle 2"/>
          <p:cNvSpPr/>
          <p:nvPr/>
        </p:nvSpPr>
        <p:spPr>
          <a:xfrm>
            <a:off x="188595" y="1234440"/>
            <a:ext cx="12499340" cy="1001395"/>
          </a:xfrm>
          <a:prstGeom prst="rect">
            <a:avLst/>
          </a:prstGeom>
          <a:noFill/>
          <a:ln w="9525">
            <a:noFill/>
          </a:ln>
        </p:spPr>
        <p:txBody>
          <a:bodyPr wrap="square" anchor="ct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None/>
            </a:pPr>
            <a:r>
              <a:rPr lang="zh-CN" altLang="en-US" sz="2955" dirty="0">
                <a:latin typeface="黑体" panose="02010609060101010101" charset="-122"/>
              </a:rPr>
              <a:t>知识产权是指人们就其智力劳动成果所依法享有的专有权利，通常是国家赋予创造者对其智力成果在一定时期内享有的专有权或独占权。</a:t>
            </a:r>
            <a:endParaRPr lang="zh-CN" altLang="en-US" sz="2955" dirty="0">
              <a:latin typeface="黑体" panose="02010609060101010101" charset="-122"/>
            </a:endParaRPr>
          </a:p>
        </p:txBody>
      </p:sp>
      <p:sp>
        <p:nvSpPr>
          <p:cNvPr id="7" name="任意多边形 6"/>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Content Placeholder 2"/>
          <p:cNvSpPr txBox="1"/>
          <p:nvPr/>
        </p:nvSpPr>
        <p:spPr>
          <a:xfrm>
            <a:off x="577215" y="112395"/>
            <a:ext cx="8253095" cy="1092200"/>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01  </a:t>
            </a:r>
            <a:r>
              <a:rPr lang="zh-CN" altLang="en-US" sz="3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知识产权是什么</a:t>
            </a:r>
            <a:endParaRPr lang="zh-CN" alt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方正姚体" panose="02010601030101010101" pitchFamily="2" charset="-122"/>
            </a:endParaRPr>
          </a:p>
          <a:p>
            <a:pPr algn="l"/>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629285" y="4077335"/>
            <a:ext cx="11057255" cy="1198880"/>
          </a:xfrm>
          <a:prstGeom prst="rect">
            <a:avLst/>
          </a:prstGeom>
          <a:noFill/>
        </p:spPr>
        <p:txBody>
          <a:bodyPr wrap="square" rtlCol="0">
            <a:spAutoFit/>
          </a:bodyPr>
          <a:p>
            <a:pPr algn="l"/>
            <a:r>
              <a:rPr lang="zh-CN" altLang="en-US" sz="2400"/>
              <a:t>1/卖家平台帮助-政策、协议和指南-计划政策-卖家知识产权政策</a:t>
            </a:r>
            <a:endParaRPr lang="zh-CN" altLang="en-US" sz="2400"/>
          </a:p>
          <a:p>
            <a:pPr algn="l"/>
            <a:endParaRPr lang="zh-CN" altLang="en-US" sz="2400"/>
          </a:p>
          <a:p>
            <a:pPr algn="l"/>
            <a:r>
              <a:rPr lang="zh-CN" altLang="en-US" sz="2400"/>
              <a:t>2/卖家平台帮助-政策、协议和指南-权利所有者的知识产权</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p:bldP spid="8" grpId="0" bldLvl="0"/>
      <p:bldP spid="9" grpId="0"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3447582" y="1240383"/>
            <a:ext cx="4820092" cy="610870"/>
          </a:xfrm>
          <a:prstGeom prst="rect">
            <a:avLst/>
          </a:prstGeom>
          <a:noFill/>
          <a:ln w="9525">
            <a:noFill/>
          </a:ln>
        </p:spPr>
        <p:txBody>
          <a:bodyPr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知识产权包括哪些类别？</a:t>
            </a:r>
            <a:endParaRPr lang="zh-CN" altLang="en-US" sz="3375"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圆角矩形 6"/>
          <p:cNvSpPr/>
          <p:nvPr/>
        </p:nvSpPr>
        <p:spPr>
          <a:xfrm>
            <a:off x="1892227" y="5663209"/>
            <a:ext cx="2799303" cy="569236"/>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8" name="圆角矩形 7"/>
          <p:cNvSpPr/>
          <p:nvPr/>
        </p:nvSpPr>
        <p:spPr>
          <a:xfrm>
            <a:off x="5095019" y="4333875"/>
            <a:ext cx="2799303" cy="569236"/>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9" name="圆角矩形 8"/>
          <p:cNvSpPr/>
          <p:nvPr/>
        </p:nvSpPr>
        <p:spPr>
          <a:xfrm>
            <a:off x="8297810" y="3004541"/>
            <a:ext cx="2799303" cy="569236"/>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23563" name="矩形 13"/>
          <p:cNvSpPr/>
          <p:nvPr/>
        </p:nvSpPr>
        <p:spPr>
          <a:xfrm>
            <a:off x="6081920" y="4447722"/>
            <a:ext cx="825500" cy="40195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80000"/>
              </a:lnSpc>
              <a:spcBef>
                <a:spcPct val="20000"/>
              </a:spcBef>
              <a:buClr>
                <a:schemeClr val="accent2"/>
              </a:buClr>
              <a:buFont typeface="Wingdings" panose="05000000000000000000" pitchFamily="2" charset="2"/>
              <a:buNone/>
            </a:pPr>
            <a:r>
              <a:rPr lang="zh-CN" altLang="en-US" sz="2530" b="1" dirty="0">
                <a:solidFill>
                  <a:schemeClr val="bg1"/>
                </a:solidFill>
                <a:latin typeface="微软雅黑" panose="020B0503020204020204" pitchFamily="34" charset="-122"/>
                <a:ea typeface="微软雅黑" panose="020B0503020204020204" pitchFamily="34" charset="-122"/>
              </a:rPr>
              <a:t>商标</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3564" name="矩形 14"/>
          <p:cNvSpPr/>
          <p:nvPr/>
        </p:nvSpPr>
        <p:spPr>
          <a:xfrm>
            <a:off x="2943586" y="5758641"/>
            <a:ext cx="825500" cy="40195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80000"/>
              </a:lnSpc>
              <a:spcBef>
                <a:spcPct val="20000"/>
              </a:spcBef>
              <a:buClr>
                <a:schemeClr val="accent2"/>
              </a:buClr>
              <a:buFont typeface="Wingdings" panose="05000000000000000000" pitchFamily="2" charset="2"/>
              <a:buNone/>
            </a:pPr>
            <a:r>
              <a:rPr lang="zh-CN" altLang="en-US" sz="2530" b="1" dirty="0">
                <a:solidFill>
                  <a:schemeClr val="bg1"/>
                </a:solidFill>
                <a:latin typeface="微软雅黑" panose="020B0503020204020204" pitchFamily="34" charset="-122"/>
                <a:ea typeface="微软雅黑" panose="020B0503020204020204" pitchFamily="34" charset="-122"/>
              </a:rPr>
              <a:t>版权</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3565" name="矩形 15"/>
          <p:cNvSpPr/>
          <p:nvPr/>
        </p:nvSpPr>
        <p:spPr>
          <a:xfrm>
            <a:off x="9284711" y="3084903"/>
            <a:ext cx="825500" cy="40195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80000"/>
              </a:lnSpc>
              <a:spcBef>
                <a:spcPct val="20000"/>
              </a:spcBef>
              <a:buClr>
                <a:schemeClr val="accent2"/>
              </a:buClr>
              <a:buFont typeface="Wingdings" panose="05000000000000000000" pitchFamily="2" charset="2"/>
              <a:buNone/>
            </a:pPr>
            <a:r>
              <a:rPr lang="zh-CN" altLang="en-US" sz="2530" b="1" dirty="0">
                <a:solidFill>
                  <a:schemeClr val="bg1"/>
                </a:solidFill>
                <a:latin typeface="微软雅黑" panose="020B0503020204020204" pitchFamily="34" charset="-122"/>
                <a:ea typeface="微软雅黑" panose="020B0503020204020204" pitchFamily="34" charset="-122"/>
              </a:rPr>
              <a:t>专利</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10" name="任意多边形 9"/>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Content Placeholder 2"/>
          <p:cNvSpPr txBox="1"/>
          <p:nvPr/>
        </p:nvSpPr>
        <p:spPr>
          <a:xfrm>
            <a:off x="577215" y="112395"/>
            <a:ext cx="8253095" cy="1092200"/>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01  </a:t>
            </a:r>
            <a:r>
              <a:rPr lang="zh-CN" altLang="en-US" sz="3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知识产权是什么</a:t>
            </a:r>
            <a:endParaRPr lang="zh-CN" altLang="en-US" sz="3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方正姚体" panose="02010601030101010101" pitchFamily="2" charset="-122"/>
            </a:endParaRPr>
          </a:p>
          <a:p>
            <a:pPr algn="l"/>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3"/>
          <a:stretch>
            <a:fillRect/>
          </a:stretch>
        </p:blipFill>
        <p:spPr>
          <a:xfrm>
            <a:off x="2466340" y="3486785"/>
            <a:ext cx="1651000" cy="1847850"/>
          </a:xfrm>
          <a:prstGeom prst="rect">
            <a:avLst/>
          </a:prstGeom>
        </p:spPr>
      </p:pic>
      <p:pic>
        <p:nvPicPr>
          <p:cNvPr id="4" name="图片 3"/>
          <p:cNvPicPr>
            <a:picLocks noChangeAspect="1"/>
          </p:cNvPicPr>
          <p:nvPr/>
        </p:nvPicPr>
        <p:blipFill>
          <a:blip r:embed="rId4"/>
          <a:stretch>
            <a:fillRect/>
          </a:stretch>
        </p:blipFill>
        <p:spPr>
          <a:xfrm>
            <a:off x="5608955" y="2309495"/>
            <a:ext cx="1771650" cy="1809750"/>
          </a:xfrm>
          <a:prstGeom prst="rect">
            <a:avLst/>
          </a:prstGeom>
        </p:spPr>
      </p:pic>
      <p:pic>
        <p:nvPicPr>
          <p:cNvPr id="5" name="图片 4"/>
          <p:cNvPicPr>
            <a:picLocks noChangeAspect="1"/>
          </p:cNvPicPr>
          <p:nvPr/>
        </p:nvPicPr>
        <p:blipFill>
          <a:blip r:embed="rId5"/>
          <a:stretch>
            <a:fillRect/>
          </a:stretch>
        </p:blipFill>
        <p:spPr>
          <a:xfrm>
            <a:off x="9065260" y="1040130"/>
            <a:ext cx="1663700" cy="1797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2468935" y="736005"/>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02</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42175" y="2832735"/>
            <a:ext cx="5582285" cy="768985"/>
          </a:xfrm>
          <a:prstGeom prst="rect">
            <a:avLst/>
          </a:prstGeom>
          <a:noFill/>
        </p:spPr>
        <p:txBody>
          <a:bodyPr wrap="square" lIns="0" tIns="0" rIns="0" bIns="0" rtlCol="0">
            <a:spAutoFit/>
          </a:bodyPr>
          <a:lstStyle/>
          <a:p>
            <a:pPr algn="ctr"/>
            <a:r>
              <a:rPr lang="zh-CN" altLang="en-US" sz="5000" dirty="0">
                <a:solidFill>
                  <a:schemeClr val="accent1"/>
                </a:solidFill>
                <a:latin typeface="黑体" panose="02010609060101010101" charset="-122"/>
                <a:ea typeface="微软雅黑" panose="020B0503020204020204" pitchFamily="34" charset="-122"/>
                <a:sym typeface="+mn-ea"/>
              </a:rPr>
              <a:t>版权</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4939665" y="735965"/>
            <a:ext cx="3608705" cy="36156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p:nvPr/>
        </p:nvSpPr>
        <p:spPr>
          <a:xfrm>
            <a:off x="2355215" y="947420"/>
            <a:ext cx="4420870" cy="610870"/>
          </a:xfrm>
          <a:prstGeom prst="rect">
            <a:avLst/>
          </a:prstGeom>
          <a:noFill/>
          <a:ln w="9525">
            <a:noFill/>
          </a:ln>
        </p:spPr>
        <p:txBody>
          <a:bodyPr wrap="square"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版权的定义</a:t>
            </a:r>
            <a:endPar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296" name="TextBox 7"/>
          <p:cNvSpPr/>
          <p:nvPr/>
        </p:nvSpPr>
        <p:spPr>
          <a:xfrm>
            <a:off x="4498975" y="2980690"/>
            <a:ext cx="8119110" cy="203771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None/>
            </a:pPr>
            <a:r>
              <a:rPr lang="zh-CN" altLang="en-US" sz="2110" dirty="0">
                <a:latin typeface="微软雅黑" panose="020B0503020204020204" pitchFamily="34" charset="-122"/>
                <a:ea typeface="微软雅黑" panose="020B0503020204020204" pitchFamily="34" charset="-122"/>
              </a:rPr>
              <a:t>版权是对原创作品的法律保护，以防止其他人未经许可复制作品。版权法涵盖的创意作品包括：视频、电影、歌曲、书籍、音乐作品、视频游戏和绘画等。</a:t>
            </a: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endParaRPr lang="zh-CN" altLang="en-US" sz="2110" dirty="0">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02  </a:t>
            </a:r>
            <a:r>
              <a:rPr lang="zh-CN" altLang="en-US" sz="3000" dirty="0">
                <a:solidFill>
                  <a:schemeClr val="accent1"/>
                </a:solidFill>
                <a:latin typeface="黑体" panose="02010609060101010101" charset="-122"/>
                <a:ea typeface="微软雅黑" panose="020B0503020204020204" pitchFamily="34" charset="-122"/>
                <a:sym typeface="+mn-ea"/>
              </a:rPr>
              <a:t>版权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3"/>
          <a:stretch>
            <a:fillRect/>
          </a:stretch>
        </p:blipFill>
        <p:spPr>
          <a:xfrm>
            <a:off x="669290" y="2534285"/>
            <a:ext cx="3608705" cy="3615690"/>
          </a:xfrm>
          <a:prstGeom prst="rect">
            <a:avLst/>
          </a:prstGeom>
        </p:spPr>
      </p:pic>
      <p:sp>
        <p:nvSpPr>
          <p:cNvPr id="4" name="文本框 3"/>
          <p:cNvSpPr txBox="1"/>
          <p:nvPr/>
        </p:nvSpPr>
        <p:spPr>
          <a:xfrm>
            <a:off x="4572000" y="5506085"/>
            <a:ext cx="7741285" cy="645160"/>
          </a:xfrm>
          <a:prstGeom prst="rect">
            <a:avLst/>
          </a:prstGeom>
          <a:noFill/>
        </p:spPr>
        <p:txBody>
          <a:bodyPr wrap="square" rtlCol="0">
            <a:spAutoFit/>
          </a:bodyPr>
          <a:p>
            <a:pPr algn="l"/>
            <a:r>
              <a:rPr lang="zh-CN" altLang="en-US" sz="2110" dirty="0">
                <a:latin typeface="微软雅黑" panose="020B0503020204020204" pitchFamily="34" charset="-122"/>
                <a:ea typeface="微软雅黑" panose="020B0503020204020204" pitchFamily="34" charset="-122"/>
              </a:rPr>
              <a:t>版权侵权指的是：卖家未得到版权所有者的授权，擅自将版权所有者的原创作品，上传到商品详情页。</a:t>
            </a:r>
            <a:endParaRPr lang="zh-CN" altLang="en-US" sz="211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500" fill="hold"/>
                                        <p:tgtEl>
                                          <p:spTgt spid="12291"/>
                                        </p:tgtEl>
                                        <p:attrNameLst>
                                          <p:attrName>ppt_w</p:attrName>
                                        </p:attrNameLst>
                                      </p:cBhvr>
                                      <p:tavLst>
                                        <p:tav tm="0">
                                          <p:val>
                                            <p:fltVal val="0"/>
                                          </p:val>
                                        </p:tav>
                                        <p:tav tm="100000">
                                          <p:val>
                                            <p:strVal val="#ppt_w"/>
                                          </p:val>
                                        </p:tav>
                                      </p:tavLst>
                                    </p:anim>
                                    <p:anim calcmode="lin" valueType="num">
                                      <p:cBhvr>
                                        <p:cTn id="8" dur="500" fill="hold"/>
                                        <p:tgtEl>
                                          <p:spTgt spid="12291"/>
                                        </p:tgtEl>
                                        <p:attrNameLst>
                                          <p:attrName>ppt_h</p:attrName>
                                        </p:attrNameLst>
                                      </p:cBhvr>
                                      <p:tavLst>
                                        <p:tav tm="0">
                                          <p:val>
                                            <p:fltVal val="0"/>
                                          </p:val>
                                        </p:tav>
                                        <p:tav tm="100000">
                                          <p:val>
                                            <p:strVal val="#ppt_h"/>
                                          </p:val>
                                        </p:tav>
                                      </p:tavLst>
                                    </p:anim>
                                    <p:animEffect filter="fade">
                                      <p:cBhvr>
                                        <p:cTn id="9" dur="500"/>
                                        <p:tgtEl>
                                          <p:spTgt spid="12291"/>
                                        </p:tgtEl>
                                      </p:cBhvr>
                                    </p:animEffect>
                                  </p:childTnLst>
                                </p:cTn>
                              </p:par>
                              <p:par>
                                <p:cTn id="10" presetID="3" presetClass="entr" presetSubtype="10" fill="hold" nodeType="withEffect">
                                  <p:stCondLst>
                                    <p:cond delay="0"/>
                                  </p:stCondLst>
                                  <p:childTnLst>
                                    <p:set>
                                      <p:cBhvr>
                                        <p:cTn id="11" dur="1" fill="hold">
                                          <p:stCondLst>
                                            <p:cond delay="0"/>
                                          </p:stCondLst>
                                        </p:cTn>
                                        <p:tgtEl>
                                          <p:spTgt spid="12296">
                                            <p:txEl>
                                              <p:pRg st="0" end="0"/>
                                            </p:txEl>
                                          </p:spTgt>
                                        </p:tgtEl>
                                        <p:attrNameLst>
                                          <p:attrName>style.visibility</p:attrName>
                                        </p:attrNameLst>
                                      </p:cBhvr>
                                      <p:to>
                                        <p:strVal val="visible"/>
                                      </p:to>
                                    </p:set>
                                    <p:animEffect transition="in" filter="blinds(horizontal)">
                                      <p:cBhvr>
                                        <p:cTn id="12" dur="500"/>
                                        <p:tgtEl>
                                          <p:spTgt spid="122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6"/>
          <p:cNvSpPr>
            <a:spLocks noGrp="1" noRot="1" noChangeArrowheads="1"/>
          </p:cNvSpPr>
          <p:nvPr>
            <p:ph type="title"/>
          </p:nvPr>
        </p:nvSpPr>
        <p:spPr>
          <a:xfrm>
            <a:off x="661093" y="1308559"/>
            <a:ext cx="6683504" cy="614680"/>
          </a:xfrm>
        </p:spPr>
        <p:txBody>
          <a:bodyPr vert="horz" wrap="square" lIns="96435" tIns="48217" rIns="96435" bIns="48217"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如何注册</a:t>
            </a:r>
            <a:endParaRPr kumimoji="0"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30725" name="组合 1"/>
          <p:cNvGrpSpPr/>
          <p:nvPr/>
        </p:nvGrpSpPr>
        <p:grpSpPr>
          <a:xfrm>
            <a:off x="517289" y="1970305"/>
            <a:ext cx="778514" cy="775166"/>
            <a:chOff x="2109158" y="1592898"/>
            <a:chExt cx="957577" cy="954879"/>
          </a:xfrm>
        </p:grpSpPr>
        <p:sp>
          <p:nvSpPr>
            <p:cNvPr id="10" name="Freeform 163"/>
            <p:cNvSpPr>
              <a:spLocks noEditPoints="1"/>
            </p:cNvSpPr>
            <p:nvPr/>
          </p:nvSpPr>
          <p:spPr bwMode="auto">
            <a:xfrm>
              <a:off x="2109158" y="1592898"/>
              <a:ext cx="957577" cy="954879"/>
            </a:xfrm>
            <a:custGeom>
              <a:avLst/>
              <a:gdLst>
                <a:gd name="T0" fmla="*/ 301 w 328"/>
                <a:gd name="T1" fmla="*/ 159 h 328"/>
                <a:gd name="T2" fmla="*/ 301 w 328"/>
                <a:gd name="T3" fmla="*/ 144 h 328"/>
                <a:gd name="T4" fmla="*/ 328 w 328"/>
                <a:gd name="T5" fmla="*/ 135 h 328"/>
                <a:gd name="T6" fmla="*/ 311 w 328"/>
                <a:gd name="T7" fmla="*/ 83 h 328"/>
                <a:gd name="T8" fmla="*/ 284 w 328"/>
                <a:gd name="T9" fmla="*/ 92 h 328"/>
                <a:gd name="T10" fmla="*/ 265 w 328"/>
                <a:gd name="T11" fmla="*/ 66 h 328"/>
                <a:gd name="T12" fmla="*/ 282 w 328"/>
                <a:gd name="T13" fmla="*/ 43 h 328"/>
                <a:gd name="T14" fmla="*/ 238 w 328"/>
                <a:gd name="T15" fmla="*/ 11 h 328"/>
                <a:gd name="T16" fmla="*/ 222 w 328"/>
                <a:gd name="T17" fmla="*/ 34 h 328"/>
                <a:gd name="T18" fmla="*/ 193 w 328"/>
                <a:gd name="T19" fmla="*/ 25 h 328"/>
                <a:gd name="T20" fmla="*/ 193 w 328"/>
                <a:gd name="T21" fmla="*/ 0 h 328"/>
                <a:gd name="T22" fmla="*/ 138 w 328"/>
                <a:gd name="T23" fmla="*/ 0 h 328"/>
                <a:gd name="T24" fmla="*/ 138 w 328"/>
                <a:gd name="T25" fmla="*/ 25 h 328"/>
                <a:gd name="T26" fmla="*/ 108 w 328"/>
                <a:gd name="T27" fmla="*/ 35 h 328"/>
                <a:gd name="T28" fmla="*/ 90 w 328"/>
                <a:gd name="T29" fmla="*/ 11 h 328"/>
                <a:gd name="T30" fmla="*/ 46 w 328"/>
                <a:gd name="T31" fmla="*/ 43 h 328"/>
                <a:gd name="T32" fmla="*/ 64 w 328"/>
                <a:gd name="T33" fmla="*/ 67 h 328"/>
                <a:gd name="T34" fmla="*/ 46 w 328"/>
                <a:gd name="T35" fmla="*/ 93 h 328"/>
                <a:gd name="T36" fmla="*/ 17 w 328"/>
                <a:gd name="T37" fmla="*/ 83 h 328"/>
                <a:gd name="T38" fmla="*/ 0 w 328"/>
                <a:gd name="T39" fmla="*/ 135 h 328"/>
                <a:gd name="T40" fmla="*/ 29 w 328"/>
                <a:gd name="T41" fmla="*/ 144 h 328"/>
                <a:gd name="T42" fmla="*/ 28 w 328"/>
                <a:gd name="T43" fmla="*/ 159 h 328"/>
                <a:gd name="T44" fmla="*/ 29 w 328"/>
                <a:gd name="T45" fmla="*/ 175 h 328"/>
                <a:gd name="T46" fmla="*/ 0 w 328"/>
                <a:gd name="T47" fmla="*/ 184 h 328"/>
                <a:gd name="T48" fmla="*/ 17 w 328"/>
                <a:gd name="T49" fmla="*/ 236 h 328"/>
                <a:gd name="T50" fmla="*/ 46 w 328"/>
                <a:gd name="T51" fmla="*/ 226 h 328"/>
                <a:gd name="T52" fmla="*/ 64 w 328"/>
                <a:gd name="T53" fmla="*/ 251 h 328"/>
                <a:gd name="T54" fmla="*/ 46 w 328"/>
                <a:gd name="T55" fmla="*/ 276 h 328"/>
                <a:gd name="T56" fmla="*/ 90 w 328"/>
                <a:gd name="T57" fmla="*/ 308 h 328"/>
                <a:gd name="T58" fmla="*/ 109 w 328"/>
                <a:gd name="T59" fmla="*/ 283 h 328"/>
                <a:gd name="T60" fmla="*/ 138 w 328"/>
                <a:gd name="T61" fmla="*/ 292 h 328"/>
                <a:gd name="T62" fmla="*/ 138 w 328"/>
                <a:gd name="T63" fmla="*/ 328 h 328"/>
                <a:gd name="T64" fmla="*/ 193 w 328"/>
                <a:gd name="T65" fmla="*/ 328 h 328"/>
                <a:gd name="T66" fmla="*/ 193 w 328"/>
                <a:gd name="T67" fmla="*/ 293 h 328"/>
                <a:gd name="T68" fmla="*/ 221 w 328"/>
                <a:gd name="T69" fmla="*/ 283 h 328"/>
                <a:gd name="T70" fmla="*/ 239 w 328"/>
                <a:gd name="T71" fmla="*/ 308 h 328"/>
                <a:gd name="T72" fmla="*/ 282 w 328"/>
                <a:gd name="T73" fmla="*/ 276 h 328"/>
                <a:gd name="T74" fmla="*/ 265 w 328"/>
                <a:gd name="T75" fmla="*/ 252 h 328"/>
                <a:gd name="T76" fmla="*/ 283 w 328"/>
                <a:gd name="T77" fmla="*/ 227 h 328"/>
                <a:gd name="T78" fmla="*/ 311 w 328"/>
                <a:gd name="T79" fmla="*/ 236 h 328"/>
                <a:gd name="T80" fmla="*/ 328 w 328"/>
                <a:gd name="T81" fmla="*/ 184 h 328"/>
                <a:gd name="T82" fmla="*/ 300 w 328"/>
                <a:gd name="T83" fmla="*/ 175 h 328"/>
                <a:gd name="T84" fmla="*/ 301 w 328"/>
                <a:gd name="T85" fmla="*/ 159 h 328"/>
                <a:gd name="T86" fmla="*/ 78 w 328"/>
                <a:gd name="T87" fmla="*/ 159 h 328"/>
                <a:gd name="T88" fmla="*/ 165 w 328"/>
                <a:gd name="T89" fmla="*/ 72 h 328"/>
                <a:gd name="T90" fmla="*/ 252 w 328"/>
                <a:gd name="T91" fmla="*/ 159 h 328"/>
                <a:gd name="T92" fmla="*/ 165 w 328"/>
                <a:gd name="T93" fmla="*/ 245 h 328"/>
                <a:gd name="T94" fmla="*/ 78 w 328"/>
                <a:gd name="T95" fmla="*/ 159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8" h="328">
                  <a:moveTo>
                    <a:pt x="301" y="159"/>
                  </a:moveTo>
                  <a:cubicBezTo>
                    <a:pt x="301" y="153"/>
                    <a:pt x="301" y="148"/>
                    <a:pt x="301" y="144"/>
                  </a:cubicBezTo>
                  <a:cubicBezTo>
                    <a:pt x="328" y="135"/>
                    <a:pt x="328" y="135"/>
                    <a:pt x="328" y="135"/>
                  </a:cubicBezTo>
                  <a:cubicBezTo>
                    <a:pt x="311" y="83"/>
                    <a:pt x="311" y="83"/>
                    <a:pt x="311" y="83"/>
                  </a:cubicBezTo>
                  <a:cubicBezTo>
                    <a:pt x="284" y="92"/>
                    <a:pt x="284" y="92"/>
                    <a:pt x="284" y="92"/>
                  </a:cubicBezTo>
                  <a:cubicBezTo>
                    <a:pt x="279" y="83"/>
                    <a:pt x="272" y="74"/>
                    <a:pt x="265" y="66"/>
                  </a:cubicBezTo>
                  <a:cubicBezTo>
                    <a:pt x="282" y="43"/>
                    <a:pt x="282" y="43"/>
                    <a:pt x="282" y="43"/>
                  </a:cubicBezTo>
                  <a:cubicBezTo>
                    <a:pt x="238" y="11"/>
                    <a:pt x="238" y="11"/>
                    <a:pt x="238" y="11"/>
                  </a:cubicBezTo>
                  <a:cubicBezTo>
                    <a:pt x="222" y="34"/>
                    <a:pt x="222" y="34"/>
                    <a:pt x="222" y="34"/>
                  </a:cubicBezTo>
                  <a:cubicBezTo>
                    <a:pt x="213" y="30"/>
                    <a:pt x="206" y="27"/>
                    <a:pt x="193" y="25"/>
                  </a:cubicBezTo>
                  <a:cubicBezTo>
                    <a:pt x="193" y="0"/>
                    <a:pt x="193" y="0"/>
                    <a:pt x="193" y="0"/>
                  </a:cubicBezTo>
                  <a:cubicBezTo>
                    <a:pt x="138" y="0"/>
                    <a:pt x="138" y="0"/>
                    <a:pt x="138" y="0"/>
                  </a:cubicBezTo>
                  <a:cubicBezTo>
                    <a:pt x="138" y="25"/>
                    <a:pt x="138" y="25"/>
                    <a:pt x="138" y="25"/>
                  </a:cubicBezTo>
                  <a:cubicBezTo>
                    <a:pt x="125" y="27"/>
                    <a:pt x="117" y="31"/>
                    <a:pt x="108" y="35"/>
                  </a:cubicBezTo>
                  <a:cubicBezTo>
                    <a:pt x="90" y="11"/>
                    <a:pt x="90" y="11"/>
                    <a:pt x="90" y="11"/>
                  </a:cubicBezTo>
                  <a:cubicBezTo>
                    <a:pt x="46" y="43"/>
                    <a:pt x="46" y="43"/>
                    <a:pt x="46" y="43"/>
                  </a:cubicBezTo>
                  <a:cubicBezTo>
                    <a:pt x="64" y="67"/>
                    <a:pt x="64" y="67"/>
                    <a:pt x="64" y="67"/>
                  </a:cubicBezTo>
                  <a:cubicBezTo>
                    <a:pt x="57" y="75"/>
                    <a:pt x="51" y="84"/>
                    <a:pt x="46" y="93"/>
                  </a:cubicBezTo>
                  <a:cubicBezTo>
                    <a:pt x="17" y="83"/>
                    <a:pt x="17" y="83"/>
                    <a:pt x="17" y="83"/>
                  </a:cubicBezTo>
                  <a:cubicBezTo>
                    <a:pt x="0" y="135"/>
                    <a:pt x="0" y="135"/>
                    <a:pt x="0" y="135"/>
                  </a:cubicBezTo>
                  <a:cubicBezTo>
                    <a:pt x="29" y="144"/>
                    <a:pt x="29" y="144"/>
                    <a:pt x="29" y="144"/>
                  </a:cubicBezTo>
                  <a:cubicBezTo>
                    <a:pt x="29" y="149"/>
                    <a:pt x="28" y="154"/>
                    <a:pt x="28" y="159"/>
                  </a:cubicBezTo>
                  <a:cubicBezTo>
                    <a:pt x="28" y="164"/>
                    <a:pt x="29" y="169"/>
                    <a:pt x="29" y="175"/>
                  </a:cubicBezTo>
                  <a:cubicBezTo>
                    <a:pt x="0" y="184"/>
                    <a:pt x="0" y="184"/>
                    <a:pt x="0" y="184"/>
                  </a:cubicBezTo>
                  <a:cubicBezTo>
                    <a:pt x="17" y="236"/>
                    <a:pt x="17" y="236"/>
                    <a:pt x="17" y="236"/>
                  </a:cubicBezTo>
                  <a:cubicBezTo>
                    <a:pt x="46" y="226"/>
                    <a:pt x="46" y="226"/>
                    <a:pt x="46" y="226"/>
                  </a:cubicBezTo>
                  <a:cubicBezTo>
                    <a:pt x="51" y="235"/>
                    <a:pt x="57" y="243"/>
                    <a:pt x="64" y="251"/>
                  </a:cubicBezTo>
                  <a:cubicBezTo>
                    <a:pt x="46" y="276"/>
                    <a:pt x="46" y="276"/>
                    <a:pt x="46" y="276"/>
                  </a:cubicBezTo>
                  <a:cubicBezTo>
                    <a:pt x="90" y="308"/>
                    <a:pt x="90" y="308"/>
                    <a:pt x="90" y="308"/>
                  </a:cubicBezTo>
                  <a:cubicBezTo>
                    <a:pt x="109" y="283"/>
                    <a:pt x="109" y="283"/>
                    <a:pt x="109" y="283"/>
                  </a:cubicBezTo>
                  <a:cubicBezTo>
                    <a:pt x="118" y="287"/>
                    <a:pt x="125" y="290"/>
                    <a:pt x="138" y="292"/>
                  </a:cubicBezTo>
                  <a:cubicBezTo>
                    <a:pt x="138" y="328"/>
                    <a:pt x="138" y="328"/>
                    <a:pt x="138" y="328"/>
                  </a:cubicBezTo>
                  <a:cubicBezTo>
                    <a:pt x="193" y="328"/>
                    <a:pt x="193" y="328"/>
                    <a:pt x="193" y="328"/>
                  </a:cubicBezTo>
                  <a:cubicBezTo>
                    <a:pt x="193" y="293"/>
                    <a:pt x="193" y="293"/>
                    <a:pt x="193" y="293"/>
                  </a:cubicBezTo>
                  <a:cubicBezTo>
                    <a:pt x="199" y="291"/>
                    <a:pt x="212" y="287"/>
                    <a:pt x="221" y="283"/>
                  </a:cubicBezTo>
                  <a:cubicBezTo>
                    <a:pt x="239" y="308"/>
                    <a:pt x="239" y="308"/>
                    <a:pt x="239" y="308"/>
                  </a:cubicBezTo>
                  <a:cubicBezTo>
                    <a:pt x="282" y="276"/>
                    <a:pt x="282" y="276"/>
                    <a:pt x="282" y="276"/>
                  </a:cubicBezTo>
                  <a:cubicBezTo>
                    <a:pt x="265" y="252"/>
                    <a:pt x="265" y="252"/>
                    <a:pt x="265" y="252"/>
                  </a:cubicBezTo>
                  <a:cubicBezTo>
                    <a:pt x="272" y="244"/>
                    <a:pt x="278" y="236"/>
                    <a:pt x="283" y="227"/>
                  </a:cubicBezTo>
                  <a:cubicBezTo>
                    <a:pt x="311" y="236"/>
                    <a:pt x="311" y="236"/>
                    <a:pt x="311" y="236"/>
                  </a:cubicBezTo>
                  <a:cubicBezTo>
                    <a:pt x="328" y="184"/>
                    <a:pt x="328" y="184"/>
                    <a:pt x="328" y="184"/>
                  </a:cubicBezTo>
                  <a:cubicBezTo>
                    <a:pt x="300" y="175"/>
                    <a:pt x="300" y="175"/>
                    <a:pt x="300" y="175"/>
                  </a:cubicBezTo>
                  <a:cubicBezTo>
                    <a:pt x="301" y="170"/>
                    <a:pt x="301" y="164"/>
                    <a:pt x="301" y="159"/>
                  </a:cubicBezTo>
                  <a:close/>
                  <a:moveTo>
                    <a:pt x="78" y="159"/>
                  </a:moveTo>
                  <a:cubicBezTo>
                    <a:pt x="78" y="111"/>
                    <a:pt x="117" y="72"/>
                    <a:pt x="165" y="72"/>
                  </a:cubicBezTo>
                  <a:cubicBezTo>
                    <a:pt x="213" y="72"/>
                    <a:pt x="252" y="111"/>
                    <a:pt x="252" y="159"/>
                  </a:cubicBezTo>
                  <a:cubicBezTo>
                    <a:pt x="252" y="206"/>
                    <a:pt x="213" y="245"/>
                    <a:pt x="165" y="245"/>
                  </a:cubicBezTo>
                  <a:cubicBezTo>
                    <a:pt x="117" y="245"/>
                    <a:pt x="78" y="206"/>
                    <a:pt x="78" y="15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sp>
          <p:nvSpPr>
            <p:cNvPr id="11" name="Freeform 164"/>
            <p:cNvSpPr>
              <a:spLocks noEditPoints="1"/>
            </p:cNvSpPr>
            <p:nvPr/>
          </p:nvSpPr>
          <p:spPr bwMode="auto">
            <a:xfrm>
              <a:off x="2461299" y="1943501"/>
              <a:ext cx="253295" cy="253672"/>
            </a:xfrm>
            <a:custGeom>
              <a:avLst/>
              <a:gdLst>
                <a:gd name="T0" fmla="*/ 147 w 147"/>
                <a:gd name="T1" fmla="*/ 73 h 147"/>
                <a:gd name="T2" fmla="*/ 74 w 147"/>
                <a:gd name="T3" fmla="*/ 0 h 147"/>
                <a:gd name="T4" fmla="*/ 0 w 147"/>
                <a:gd name="T5" fmla="*/ 73 h 147"/>
                <a:gd name="T6" fmla="*/ 74 w 147"/>
                <a:gd name="T7" fmla="*/ 147 h 147"/>
                <a:gd name="T8" fmla="*/ 147 w 147"/>
                <a:gd name="T9" fmla="*/ 73 h 147"/>
                <a:gd name="T10" fmla="*/ 74 w 147"/>
                <a:gd name="T11" fmla="*/ 109 h 147"/>
                <a:gd name="T12" fmla="*/ 38 w 147"/>
                <a:gd name="T13" fmla="*/ 73 h 147"/>
                <a:gd name="T14" fmla="*/ 74 w 147"/>
                <a:gd name="T15" fmla="*/ 38 h 147"/>
                <a:gd name="T16" fmla="*/ 109 w 147"/>
                <a:gd name="T17" fmla="*/ 73 h 147"/>
                <a:gd name="T18" fmla="*/ 74 w 147"/>
                <a:gd name="T19" fmla="*/ 10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147">
                  <a:moveTo>
                    <a:pt x="147" y="73"/>
                  </a:moveTo>
                  <a:cubicBezTo>
                    <a:pt x="147" y="33"/>
                    <a:pt x="114" y="0"/>
                    <a:pt x="74" y="0"/>
                  </a:cubicBezTo>
                  <a:cubicBezTo>
                    <a:pt x="33" y="0"/>
                    <a:pt x="0" y="33"/>
                    <a:pt x="0" y="73"/>
                  </a:cubicBezTo>
                  <a:cubicBezTo>
                    <a:pt x="0" y="114"/>
                    <a:pt x="33" y="147"/>
                    <a:pt x="74" y="147"/>
                  </a:cubicBezTo>
                  <a:cubicBezTo>
                    <a:pt x="114" y="147"/>
                    <a:pt x="147" y="114"/>
                    <a:pt x="147" y="73"/>
                  </a:cubicBezTo>
                  <a:close/>
                  <a:moveTo>
                    <a:pt x="74" y="109"/>
                  </a:moveTo>
                  <a:cubicBezTo>
                    <a:pt x="54" y="109"/>
                    <a:pt x="38" y="93"/>
                    <a:pt x="38" y="73"/>
                  </a:cubicBezTo>
                  <a:cubicBezTo>
                    <a:pt x="38" y="54"/>
                    <a:pt x="54" y="38"/>
                    <a:pt x="74" y="38"/>
                  </a:cubicBezTo>
                  <a:cubicBezTo>
                    <a:pt x="93" y="38"/>
                    <a:pt x="109" y="54"/>
                    <a:pt x="109" y="73"/>
                  </a:cubicBezTo>
                  <a:cubicBezTo>
                    <a:pt x="109" y="93"/>
                    <a:pt x="93" y="109"/>
                    <a:pt x="74" y="10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grpSp>
      <p:sp>
        <p:nvSpPr>
          <p:cNvPr id="3" name="矩形 2"/>
          <p:cNvSpPr/>
          <p:nvPr/>
        </p:nvSpPr>
        <p:spPr>
          <a:xfrm>
            <a:off x="1494790" y="2116455"/>
            <a:ext cx="1724025" cy="480060"/>
          </a:xfrm>
          <a:prstGeom prst="rect">
            <a:avLst/>
          </a:prstGeom>
        </p:spPr>
        <p:txBody>
          <a:bodyPr wrap="square">
            <a:spAutoFit/>
          </a:bodyPr>
          <a:lstStyle/>
          <a:p>
            <a:pPr marR="0" lvl="0" algn="l" defTabSz="914400" rtl="0" eaLnBrk="0" fontAlgn="base" latinLnBrk="0" hangingPunct="0">
              <a:lnSpc>
                <a:spcPct val="100000"/>
              </a:lnSpc>
              <a:spcBef>
                <a:spcPct val="0"/>
              </a:spcBef>
              <a:spcAft>
                <a:spcPct val="0"/>
              </a:spcAft>
              <a:defRPr/>
            </a:pPr>
            <a:r>
              <a:rPr lang="zh-CN" altLang="en-US" sz="2530" b="1" noProof="0" dirty="0">
                <a:ln>
                  <a:noFill/>
                </a:ln>
                <a:solidFill>
                  <a:schemeClr val="accent5"/>
                </a:solidFill>
                <a:effectLst/>
                <a:uLnTx/>
                <a:uFillTx/>
                <a:latin typeface="微软雅黑" panose="020B0503020204020204" pitchFamily="34" charset="-122"/>
                <a:ea typeface="微软雅黑" panose="020B0503020204020204" pitchFamily="34" charset="-122"/>
                <a:sym typeface="+mn-ea"/>
              </a:rPr>
              <a:t>如何注册</a:t>
            </a:r>
            <a:endPar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endParaRPr>
          </a:p>
        </p:txBody>
      </p:sp>
      <p:sp>
        <p:nvSpPr>
          <p:cNvPr id="30727" name="矩形 3"/>
          <p:cNvSpPr/>
          <p:nvPr/>
        </p:nvSpPr>
        <p:spPr>
          <a:xfrm>
            <a:off x="734060" y="2918460"/>
            <a:ext cx="11960225" cy="39878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None/>
            </a:pPr>
            <a:r>
              <a:rPr lang="zh-CN" altLang="en-US" sz="2000" dirty="0">
                <a:latin typeface="微软雅黑" panose="020B0503020204020204" pitchFamily="34" charset="-122"/>
                <a:ea typeface="微软雅黑" panose="020B0503020204020204" pitchFamily="34" charset="-122"/>
              </a:rPr>
              <a:t>美国版权局注册，欧洲或英国是在相应官网注册，可以网上注册或直接纸质注册</a:t>
            </a:r>
            <a:endParaRPr lang="zh-CN" altLang="en-US" sz="2000" dirty="0">
              <a:latin typeface="微软雅黑" panose="020B0503020204020204" pitchFamily="34" charset="-122"/>
              <a:ea typeface="微软雅黑" panose="020B0503020204020204" pitchFamily="34" charset="-122"/>
            </a:endParaRPr>
          </a:p>
        </p:txBody>
      </p:sp>
      <p:grpSp>
        <p:nvGrpSpPr>
          <p:cNvPr id="30728" name="组合 14"/>
          <p:cNvGrpSpPr/>
          <p:nvPr/>
        </p:nvGrpSpPr>
        <p:grpSpPr>
          <a:xfrm>
            <a:off x="517525" y="3434715"/>
            <a:ext cx="777875" cy="821055"/>
            <a:chOff x="2109158" y="1592898"/>
            <a:chExt cx="957577" cy="954879"/>
          </a:xfrm>
        </p:grpSpPr>
        <p:sp>
          <p:nvSpPr>
            <p:cNvPr id="16" name="Freeform 163"/>
            <p:cNvSpPr>
              <a:spLocks noEditPoints="1"/>
            </p:cNvSpPr>
            <p:nvPr/>
          </p:nvSpPr>
          <p:spPr bwMode="auto">
            <a:xfrm>
              <a:off x="2109158" y="1592898"/>
              <a:ext cx="957577" cy="954879"/>
            </a:xfrm>
            <a:custGeom>
              <a:avLst/>
              <a:gdLst>
                <a:gd name="T0" fmla="*/ 301 w 328"/>
                <a:gd name="T1" fmla="*/ 159 h 328"/>
                <a:gd name="T2" fmla="*/ 301 w 328"/>
                <a:gd name="T3" fmla="*/ 144 h 328"/>
                <a:gd name="T4" fmla="*/ 328 w 328"/>
                <a:gd name="T5" fmla="*/ 135 h 328"/>
                <a:gd name="T6" fmla="*/ 311 w 328"/>
                <a:gd name="T7" fmla="*/ 83 h 328"/>
                <a:gd name="T8" fmla="*/ 284 w 328"/>
                <a:gd name="T9" fmla="*/ 92 h 328"/>
                <a:gd name="T10" fmla="*/ 265 w 328"/>
                <a:gd name="T11" fmla="*/ 66 h 328"/>
                <a:gd name="T12" fmla="*/ 282 w 328"/>
                <a:gd name="T13" fmla="*/ 43 h 328"/>
                <a:gd name="T14" fmla="*/ 238 w 328"/>
                <a:gd name="T15" fmla="*/ 11 h 328"/>
                <a:gd name="T16" fmla="*/ 222 w 328"/>
                <a:gd name="T17" fmla="*/ 34 h 328"/>
                <a:gd name="T18" fmla="*/ 193 w 328"/>
                <a:gd name="T19" fmla="*/ 25 h 328"/>
                <a:gd name="T20" fmla="*/ 193 w 328"/>
                <a:gd name="T21" fmla="*/ 0 h 328"/>
                <a:gd name="T22" fmla="*/ 138 w 328"/>
                <a:gd name="T23" fmla="*/ 0 h 328"/>
                <a:gd name="T24" fmla="*/ 138 w 328"/>
                <a:gd name="T25" fmla="*/ 25 h 328"/>
                <a:gd name="T26" fmla="*/ 108 w 328"/>
                <a:gd name="T27" fmla="*/ 35 h 328"/>
                <a:gd name="T28" fmla="*/ 90 w 328"/>
                <a:gd name="T29" fmla="*/ 11 h 328"/>
                <a:gd name="T30" fmla="*/ 46 w 328"/>
                <a:gd name="T31" fmla="*/ 43 h 328"/>
                <a:gd name="T32" fmla="*/ 64 w 328"/>
                <a:gd name="T33" fmla="*/ 67 h 328"/>
                <a:gd name="T34" fmla="*/ 46 w 328"/>
                <a:gd name="T35" fmla="*/ 93 h 328"/>
                <a:gd name="T36" fmla="*/ 17 w 328"/>
                <a:gd name="T37" fmla="*/ 83 h 328"/>
                <a:gd name="T38" fmla="*/ 0 w 328"/>
                <a:gd name="T39" fmla="*/ 135 h 328"/>
                <a:gd name="T40" fmla="*/ 29 w 328"/>
                <a:gd name="T41" fmla="*/ 144 h 328"/>
                <a:gd name="T42" fmla="*/ 28 w 328"/>
                <a:gd name="T43" fmla="*/ 159 h 328"/>
                <a:gd name="T44" fmla="*/ 29 w 328"/>
                <a:gd name="T45" fmla="*/ 175 h 328"/>
                <a:gd name="T46" fmla="*/ 0 w 328"/>
                <a:gd name="T47" fmla="*/ 184 h 328"/>
                <a:gd name="T48" fmla="*/ 17 w 328"/>
                <a:gd name="T49" fmla="*/ 236 h 328"/>
                <a:gd name="T50" fmla="*/ 46 w 328"/>
                <a:gd name="T51" fmla="*/ 226 h 328"/>
                <a:gd name="T52" fmla="*/ 64 w 328"/>
                <a:gd name="T53" fmla="*/ 251 h 328"/>
                <a:gd name="T54" fmla="*/ 46 w 328"/>
                <a:gd name="T55" fmla="*/ 276 h 328"/>
                <a:gd name="T56" fmla="*/ 90 w 328"/>
                <a:gd name="T57" fmla="*/ 308 h 328"/>
                <a:gd name="T58" fmla="*/ 109 w 328"/>
                <a:gd name="T59" fmla="*/ 283 h 328"/>
                <a:gd name="T60" fmla="*/ 138 w 328"/>
                <a:gd name="T61" fmla="*/ 292 h 328"/>
                <a:gd name="T62" fmla="*/ 138 w 328"/>
                <a:gd name="T63" fmla="*/ 328 h 328"/>
                <a:gd name="T64" fmla="*/ 193 w 328"/>
                <a:gd name="T65" fmla="*/ 328 h 328"/>
                <a:gd name="T66" fmla="*/ 193 w 328"/>
                <a:gd name="T67" fmla="*/ 293 h 328"/>
                <a:gd name="T68" fmla="*/ 221 w 328"/>
                <a:gd name="T69" fmla="*/ 283 h 328"/>
                <a:gd name="T70" fmla="*/ 239 w 328"/>
                <a:gd name="T71" fmla="*/ 308 h 328"/>
                <a:gd name="T72" fmla="*/ 282 w 328"/>
                <a:gd name="T73" fmla="*/ 276 h 328"/>
                <a:gd name="T74" fmla="*/ 265 w 328"/>
                <a:gd name="T75" fmla="*/ 252 h 328"/>
                <a:gd name="T76" fmla="*/ 283 w 328"/>
                <a:gd name="T77" fmla="*/ 227 h 328"/>
                <a:gd name="T78" fmla="*/ 311 w 328"/>
                <a:gd name="T79" fmla="*/ 236 h 328"/>
                <a:gd name="T80" fmla="*/ 328 w 328"/>
                <a:gd name="T81" fmla="*/ 184 h 328"/>
                <a:gd name="T82" fmla="*/ 300 w 328"/>
                <a:gd name="T83" fmla="*/ 175 h 328"/>
                <a:gd name="T84" fmla="*/ 301 w 328"/>
                <a:gd name="T85" fmla="*/ 159 h 328"/>
                <a:gd name="T86" fmla="*/ 78 w 328"/>
                <a:gd name="T87" fmla="*/ 159 h 328"/>
                <a:gd name="T88" fmla="*/ 165 w 328"/>
                <a:gd name="T89" fmla="*/ 72 h 328"/>
                <a:gd name="T90" fmla="*/ 252 w 328"/>
                <a:gd name="T91" fmla="*/ 159 h 328"/>
                <a:gd name="T92" fmla="*/ 165 w 328"/>
                <a:gd name="T93" fmla="*/ 245 h 328"/>
                <a:gd name="T94" fmla="*/ 78 w 328"/>
                <a:gd name="T95" fmla="*/ 159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8" h="328">
                  <a:moveTo>
                    <a:pt x="301" y="159"/>
                  </a:moveTo>
                  <a:cubicBezTo>
                    <a:pt x="301" y="153"/>
                    <a:pt x="301" y="148"/>
                    <a:pt x="301" y="144"/>
                  </a:cubicBezTo>
                  <a:cubicBezTo>
                    <a:pt x="328" y="135"/>
                    <a:pt x="328" y="135"/>
                    <a:pt x="328" y="135"/>
                  </a:cubicBezTo>
                  <a:cubicBezTo>
                    <a:pt x="311" y="83"/>
                    <a:pt x="311" y="83"/>
                    <a:pt x="311" y="83"/>
                  </a:cubicBezTo>
                  <a:cubicBezTo>
                    <a:pt x="284" y="92"/>
                    <a:pt x="284" y="92"/>
                    <a:pt x="284" y="92"/>
                  </a:cubicBezTo>
                  <a:cubicBezTo>
                    <a:pt x="279" y="83"/>
                    <a:pt x="272" y="74"/>
                    <a:pt x="265" y="66"/>
                  </a:cubicBezTo>
                  <a:cubicBezTo>
                    <a:pt x="282" y="43"/>
                    <a:pt x="282" y="43"/>
                    <a:pt x="282" y="43"/>
                  </a:cubicBezTo>
                  <a:cubicBezTo>
                    <a:pt x="238" y="11"/>
                    <a:pt x="238" y="11"/>
                    <a:pt x="238" y="11"/>
                  </a:cubicBezTo>
                  <a:cubicBezTo>
                    <a:pt x="222" y="34"/>
                    <a:pt x="222" y="34"/>
                    <a:pt x="222" y="34"/>
                  </a:cubicBezTo>
                  <a:cubicBezTo>
                    <a:pt x="213" y="30"/>
                    <a:pt x="206" y="27"/>
                    <a:pt x="193" y="25"/>
                  </a:cubicBezTo>
                  <a:cubicBezTo>
                    <a:pt x="193" y="0"/>
                    <a:pt x="193" y="0"/>
                    <a:pt x="193" y="0"/>
                  </a:cubicBezTo>
                  <a:cubicBezTo>
                    <a:pt x="138" y="0"/>
                    <a:pt x="138" y="0"/>
                    <a:pt x="138" y="0"/>
                  </a:cubicBezTo>
                  <a:cubicBezTo>
                    <a:pt x="138" y="25"/>
                    <a:pt x="138" y="25"/>
                    <a:pt x="138" y="25"/>
                  </a:cubicBezTo>
                  <a:cubicBezTo>
                    <a:pt x="125" y="27"/>
                    <a:pt x="117" y="31"/>
                    <a:pt x="108" y="35"/>
                  </a:cubicBezTo>
                  <a:cubicBezTo>
                    <a:pt x="90" y="11"/>
                    <a:pt x="90" y="11"/>
                    <a:pt x="90" y="11"/>
                  </a:cubicBezTo>
                  <a:cubicBezTo>
                    <a:pt x="46" y="43"/>
                    <a:pt x="46" y="43"/>
                    <a:pt x="46" y="43"/>
                  </a:cubicBezTo>
                  <a:cubicBezTo>
                    <a:pt x="64" y="67"/>
                    <a:pt x="64" y="67"/>
                    <a:pt x="64" y="67"/>
                  </a:cubicBezTo>
                  <a:cubicBezTo>
                    <a:pt x="57" y="75"/>
                    <a:pt x="51" y="84"/>
                    <a:pt x="46" y="93"/>
                  </a:cubicBezTo>
                  <a:cubicBezTo>
                    <a:pt x="17" y="83"/>
                    <a:pt x="17" y="83"/>
                    <a:pt x="17" y="83"/>
                  </a:cubicBezTo>
                  <a:cubicBezTo>
                    <a:pt x="0" y="135"/>
                    <a:pt x="0" y="135"/>
                    <a:pt x="0" y="135"/>
                  </a:cubicBezTo>
                  <a:cubicBezTo>
                    <a:pt x="29" y="144"/>
                    <a:pt x="29" y="144"/>
                    <a:pt x="29" y="144"/>
                  </a:cubicBezTo>
                  <a:cubicBezTo>
                    <a:pt x="29" y="149"/>
                    <a:pt x="28" y="154"/>
                    <a:pt x="28" y="159"/>
                  </a:cubicBezTo>
                  <a:cubicBezTo>
                    <a:pt x="28" y="164"/>
                    <a:pt x="29" y="169"/>
                    <a:pt x="29" y="175"/>
                  </a:cubicBezTo>
                  <a:cubicBezTo>
                    <a:pt x="0" y="184"/>
                    <a:pt x="0" y="184"/>
                    <a:pt x="0" y="184"/>
                  </a:cubicBezTo>
                  <a:cubicBezTo>
                    <a:pt x="17" y="236"/>
                    <a:pt x="17" y="236"/>
                    <a:pt x="17" y="236"/>
                  </a:cubicBezTo>
                  <a:cubicBezTo>
                    <a:pt x="46" y="226"/>
                    <a:pt x="46" y="226"/>
                    <a:pt x="46" y="226"/>
                  </a:cubicBezTo>
                  <a:cubicBezTo>
                    <a:pt x="51" y="235"/>
                    <a:pt x="57" y="243"/>
                    <a:pt x="64" y="251"/>
                  </a:cubicBezTo>
                  <a:cubicBezTo>
                    <a:pt x="46" y="276"/>
                    <a:pt x="46" y="276"/>
                    <a:pt x="46" y="276"/>
                  </a:cubicBezTo>
                  <a:cubicBezTo>
                    <a:pt x="90" y="308"/>
                    <a:pt x="90" y="308"/>
                    <a:pt x="90" y="308"/>
                  </a:cubicBezTo>
                  <a:cubicBezTo>
                    <a:pt x="109" y="283"/>
                    <a:pt x="109" y="283"/>
                    <a:pt x="109" y="283"/>
                  </a:cubicBezTo>
                  <a:cubicBezTo>
                    <a:pt x="118" y="287"/>
                    <a:pt x="125" y="290"/>
                    <a:pt x="138" y="292"/>
                  </a:cubicBezTo>
                  <a:cubicBezTo>
                    <a:pt x="138" y="328"/>
                    <a:pt x="138" y="328"/>
                    <a:pt x="138" y="328"/>
                  </a:cubicBezTo>
                  <a:cubicBezTo>
                    <a:pt x="193" y="328"/>
                    <a:pt x="193" y="328"/>
                    <a:pt x="193" y="328"/>
                  </a:cubicBezTo>
                  <a:cubicBezTo>
                    <a:pt x="193" y="293"/>
                    <a:pt x="193" y="293"/>
                    <a:pt x="193" y="293"/>
                  </a:cubicBezTo>
                  <a:cubicBezTo>
                    <a:pt x="199" y="291"/>
                    <a:pt x="212" y="287"/>
                    <a:pt x="221" y="283"/>
                  </a:cubicBezTo>
                  <a:cubicBezTo>
                    <a:pt x="239" y="308"/>
                    <a:pt x="239" y="308"/>
                    <a:pt x="239" y="308"/>
                  </a:cubicBezTo>
                  <a:cubicBezTo>
                    <a:pt x="282" y="276"/>
                    <a:pt x="282" y="276"/>
                    <a:pt x="282" y="276"/>
                  </a:cubicBezTo>
                  <a:cubicBezTo>
                    <a:pt x="265" y="252"/>
                    <a:pt x="265" y="252"/>
                    <a:pt x="265" y="252"/>
                  </a:cubicBezTo>
                  <a:cubicBezTo>
                    <a:pt x="272" y="244"/>
                    <a:pt x="278" y="236"/>
                    <a:pt x="283" y="227"/>
                  </a:cubicBezTo>
                  <a:cubicBezTo>
                    <a:pt x="311" y="236"/>
                    <a:pt x="311" y="236"/>
                    <a:pt x="311" y="236"/>
                  </a:cubicBezTo>
                  <a:cubicBezTo>
                    <a:pt x="328" y="184"/>
                    <a:pt x="328" y="184"/>
                    <a:pt x="328" y="184"/>
                  </a:cubicBezTo>
                  <a:cubicBezTo>
                    <a:pt x="300" y="175"/>
                    <a:pt x="300" y="175"/>
                    <a:pt x="300" y="175"/>
                  </a:cubicBezTo>
                  <a:cubicBezTo>
                    <a:pt x="301" y="170"/>
                    <a:pt x="301" y="164"/>
                    <a:pt x="301" y="159"/>
                  </a:cubicBezTo>
                  <a:close/>
                  <a:moveTo>
                    <a:pt x="78" y="159"/>
                  </a:moveTo>
                  <a:cubicBezTo>
                    <a:pt x="78" y="111"/>
                    <a:pt x="117" y="72"/>
                    <a:pt x="165" y="72"/>
                  </a:cubicBezTo>
                  <a:cubicBezTo>
                    <a:pt x="213" y="72"/>
                    <a:pt x="252" y="111"/>
                    <a:pt x="252" y="159"/>
                  </a:cubicBezTo>
                  <a:cubicBezTo>
                    <a:pt x="252" y="206"/>
                    <a:pt x="213" y="245"/>
                    <a:pt x="165" y="245"/>
                  </a:cubicBezTo>
                  <a:cubicBezTo>
                    <a:pt x="117" y="245"/>
                    <a:pt x="78" y="206"/>
                    <a:pt x="78" y="15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sp>
          <p:nvSpPr>
            <p:cNvPr id="17" name="Freeform 164"/>
            <p:cNvSpPr>
              <a:spLocks noEditPoints="1"/>
            </p:cNvSpPr>
            <p:nvPr/>
          </p:nvSpPr>
          <p:spPr bwMode="auto">
            <a:xfrm>
              <a:off x="2461299" y="1943501"/>
              <a:ext cx="253295" cy="253672"/>
            </a:xfrm>
            <a:custGeom>
              <a:avLst/>
              <a:gdLst>
                <a:gd name="T0" fmla="*/ 147 w 147"/>
                <a:gd name="T1" fmla="*/ 73 h 147"/>
                <a:gd name="T2" fmla="*/ 74 w 147"/>
                <a:gd name="T3" fmla="*/ 0 h 147"/>
                <a:gd name="T4" fmla="*/ 0 w 147"/>
                <a:gd name="T5" fmla="*/ 73 h 147"/>
                <a:gd name="T6" fmla="*/ 74 w 147"/>
                <a:gd name="T7" fmla="*/ 147 h 147"/>
                <a:gd name="T8" fmla="*/ 147 w 147"/>
                <a:gd name="T9" fmla="*/ 73 h 147"/>
                <a:gd name="T10" fmla="*/ 74 w 147"/>
                <a:gd name="T11" fmla="*/ 109 h 147"/>
                <a:gd name="T12" fmla="*/ 38 w 147"/>
                <a:gd name="T13" fmla="*/ 73 h 147"/>
                <a:gd name="T14" fmla="*/ 74 w 147"/>
                <a:gd name="T15" fmla="*/ 38 h 147"/>
                <a:gd name="T16" fmla="*/ 109 w 147"/>
                <a:gd name="T17" fmla="*/ 73 h 147"/>
                <a:gd name="T18" fmla="*/ 74 w 147"/>
                <a:gd name="T19" fmla="*/ 10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147">
                  <a:moveTo>
                    <a:pt x="147" y="73"/>
                  </a:moveTo>
                  <a:cubicBezTo>
                    <a:pt x="147" y="33"/>
                    <a:pt x="114" y="0"/>
                    <a:pt x="74" y="0"/>
                  </a:cubicBezTo>
                  <a:cubicBezTo>
                    <a:pt x="33" y="0"/>
                    <a:pt x="0" y="33"/>
                    <a:pt x="0" y="73"/>
                  </a:cubicBezTo>
                  <a:cubicBezTo>
                    <a:pt x="0" y="114"/>
                    <a:pt x="33" y="147"/>
                    <a:pt x="74" y="147"/>
                  </a:cubicBezTo>
                  <a:cubicBezTo>
                    <a:pt x="114" y="147"/>
                    <a:pt x="147" y="114"/>
                    <a:pt x="147" y="73"/>
                  </a:cubicBezTo>
                  <a:close/>
                  <a:moveTo>
                    <a:pt x="74" y="109"/>
                  </a:moveTo>
                  <a:cubicBezTo>
                    <a:pt x="54" y="109"/>
                    <a:pt x="38" y="93"/>
                    <a:pt x="38" y="73"/>
                  </a:cubicBezTo>
                  <a:cubicBezTo>
                    <a:pt x="38" y="54"/>
                    <a:pt x="54" y="38"/>
                    <a:pt x="74" y="38"/>
                  </a:cubicBezTo>
                  <a:cubicBezTo>
                    <a:pt x="93" y="38"/>
                    <a:pt x="109" y="54"/>
                    <a:pt x="109" y="73"/>
                  </a:cubicBezTo>
                  <a:cubicBezTo>
                    <a:pt x="109" y="93"/>
                    <a:pt x="93" y="109"/>
                    <a:pt x="74" y="10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grpSp>
      <p:sp>
        <p:nvSpPr>
          <p:cNvPr id="5" name="矩形 4"/>
          <p:cNvSpPr/>
          <p:nvPr/>
        </p:nvSpPr>
        <p:spPr>
          <a:xfrm>
            <a:off x="1494790" y="3604895"/>
            <a:ext cx="1780540" cy="48006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rPr>
              <a:t>注册费用</a:t>
            </a:r>
            <a:endPar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endParaRPr>
          </a:p>
        </p:txBody>
      </p:sp>
      <p:sp>
        <p:nvSpPr>
          <p:cNvPr id="30730" name="矩形 5"/>
          <p:cNvSpPr/>
          <p:nvPr/>
        </p:nvSpPr>
        <p:spPr>
          <a:xfrm>
            <a:off x="803275" y="4478655"/>
            <a:ext cx="11992610" cy="70675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None/>
            </a:pPr>
            <a:r>
              <a:rPr lang="zh-CN" altLang="en-US" sz="2000" dirty="0">
                <a:latin typeface="微软雅黑" panose="020B0503020204020204" pitchFamily="34" charset="-122"/>
                <a:ea typeface="微软雅黑" panose="020B0503020204020204" pitchFamily="34" charset="-122"/>
              </a:rPr>
              <a:t>著作权登记费、著作权合同登记费、变更或者补充登记费、登记证书费、封存保管费、例外交存费、查询费、撤销登记费用</a:t>
            </a:r>
            <a:endParaRPr lang="zh-CN" altLang="en-US" sz="2000" dirty="0">
              <a:latin typeface="微软雅黑" panose="020B0503020204020204" pitchFamily="34" charset="-122"/>
              <a:ea typeface="微软雅黑" panose="020B0503020204020204" pitchFamily="34" charset="-122"/>
            </a:endParaRPr>
          </a:p>
        </p:txBody>
      </p:sp>
      <p:sp>
        <p:nvSpPr>
          <p:cNvPr id="7" name="矩形 6"/>
          <p:cNvSpPr/>
          <p:nvPr/>
        </p:nvSpPr>
        <p:spPr>
          <a:xfrm>
            <a:off x="1494155" y="5673090"/>
            <a:ext cx="2408555" cy="48006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rPr>
              <a:t>如何查询</a:t>
            </a:r>
            <a:endPar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endParaRPr>
          </a:p>
        </p:txBody>
      </p:sp>
      <p:sp>
        <p:nvSpPr>
          <p:cNvPr id="30732" name="矩形 11"/>
          <p:cNvSpPr/>
          <p:nvPr/>
        </p:nvSpPr>
        <p:spPr>
          <a:xfrm>
            <a:off x="942340" y="6520180"/>
            <a:ext cx="7442200" cy="41529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110" dirty="0">
                <a:latin typeface="微软雅黑" panose="020B0503020204020204" pitchFamily="34" charset="-122"/>
                <a:ea typeface="微软雅黑" panose="020B0503020204020204" pitchFamily="34" charset="-122"/>
              </a:rPr>
              <a:t>官网查询（美国，英国，欧洲），找第三方服务商协助查询</a:t>
            </a:r>
            <a:endParaRPr lang="zh-CN" altLang="en-US" sz="2110" dirty="0">
              <a:latin typeface="微软雅黑" panose="020B0503020204020204" pitchFamily="34" charset="-122"/>
              <a:ea typeface="微软雅黑" panose="020B0503020204020204" pitchFamily="34" charset="-122"/>
            </a:endParaRPr>
          </a:p>
        </p:txBody>
      </p:sp>
      <p:grpSp>
        <p:nvGrpSpPr>
          <p:cNvPr id="30733" name="组合 21"/>
          <p:cNvGrpSpPr/>
          <p:nvPr/>
        </p:nvGrpSpPr>
        <p:grpSpPr>
          <a:xfrm>
            <a:off x="517289" y="5501901"/>
            <a:ext cx="778514" cy="775165"/>
            <a:chOff x="2109158" y="1592898"/>
            <a:chExt cx="957577" cy="954879"/>
          </a:xfrm>
        </p:grpSpPr>
        <p:sp>
          <p:nvSpPr>
            <p:cNvPr id="23" name="Freeform 163"/>
            <p:cNvSpPr>
              <a:spLocks noEditPoints="1"/>
            </p:cNvSpPr>
            <p:nvPr/>
          </p:nvSpPr>
          <p:spPr bwMode="auto">
            <a:xfrm>
              <a:off x="2109158" y="1592898"/>
              <a:ext cx="957577" cy="954879"/>
            </a:xfrm>
            <a:custGeom>
              <a:avLst/>
              <a:gdLst>
                <a:gd name="T0" fmla="*/ 301 w 328"/>
                <a:gd name="T1" fmla="*/ 159 h 328"/>
                <a:gd name="T2" fmla="*/ 301 w 328"/>
                <a:gd name="T3" fmla="*/ 144 h 328"/>
                <a:gd name="T4" fmla="*/ 328 w 328"/>
                <a:gd name="T5" fmla="*/ 135 h 328"/>
                <a:gd name="T6" fmla="*/ 311 w 328"/>
                <a:gd name="T7" fmla="*/ 83 h 328"/>
                <a:gd name="T8" fmla="*/ 284 w 328"/>
                <a:gd name="T9" fmla="*/ 92 h 328"/>
                <a:gd name="T10" fmla="*/ 265 w 328"/>
                <a:gd name="T11" fmla="*/ 66 h 328"/>
                <a:gd name="T12" fmla="*/ 282 w 328"/>
                <a:gd name="T13" fmla="*/ 43 h 328"/>
                <a:gd name="T14" fmla="*/ 238 w 328"/>
                <a:gd name="T15" fmla="*/ 11 h 328"/>
                <a:gd name="T16" fmla="*/ 222 w 328"/>
                <a:gd name="T17" fmla="*/ 34 h 328"/>
                <a:gd name="T18" fmla="*/ 193 w 328"/>
                <a:gd name="T19" fmla="*/ 25 h 328"/>
                <a:gd name="T20" fmla="*/ 193 w 328"/>
                <a:gd name="T21" fmla="*/ 0 h 328"/>
                <a:gd name="T22" fmla="*/ 138 w 328"/>
                <a:gd name="T23" fmla="*/ 0 h 328"/>
                <a:gd name="T24" fmla="*/ 138 w 328"/>
                <a:gd name="T25" fmla="*/ 25 h 328"/>
                <a:gd name="T26" fmla="*/ 108 w 328"/>
                <a:gd name="T27" fmla="*/ 35 h 328"/>
                <a:gd name="T28" fmla="*/ 90 w 328"/>
                <a:gd name="T29" fmla="*/ 11 h 328"/>
                <a:gd name="T30" fmla="*/ 46 w 328"/>
                <a:gd name="T31" fmla="*/ 43 h 328"/>
                <a:gd name="T32" fmla="*/ 64 w 328"/>
                <a:gd name="T33" fmla="*/ 67 h 328"/>
                <a:gd name="T34" fmla="*/ 46 w 328"/>
                <a:gd name="T35" fmla="*/ 93 h 328"/>
                <a:gd name="T36" fmla="*/ 17 w 328"/>
                <a:gd name="T37" fmla="*/ 83 h 328"/>
                <a:gd name="T38" fmla="*/ 0 w 328"/>
                <a:gd name="T39" fmla="*/ 135 h 328"/>
                <a:gd name="T40" fmla="*/ 29 w 328"/>
                <a:gd name="T41" fmla="*/ 144 h 328"/>
                <a:gd name="T42" fmla="*/ 28 w 328"/>
                <a:gd name="T43" fmla="*/ 159 h 328"/>
                <a:gd name="T44" fmla="*/ 29 w 328"/>
                <a:gd name="T45" fmla="*/ 175 h 328"/>
                <a:gd name="T46" fmla="*/ 0 w 328"/>
                <a:gd name="T47" fmla="*/ 184 h 328"/>
                <a:gd name="T48" fmla="*/ 17 w 328"/>
                <a:gd name="T49" fmla="*/ 236 h 328"/>
                <a:gd name="T50" fmla="*/ 46 w 328"/>
                <a:gd name="T51" fmla="*/ 226 h 328"/>
                <a:gd name="T52" fmla="*/ 64 w 328"/>
                <a:gd name="T53" fmla="*/ 251 h 328"/>
                <a:gd name="T54" fmla="*/ 46 w 328"/>
                <a:gd name="T55" fmla="*/ 276 h 328"/>
                <a:gd name="T56" fmla="*/ 90 w 328"/>
                <a:gd name="T57" fmla="*/ 308 h 328"/>
                <a:gd name="T58" fmla="*/ 109 w 328"/>
                <a:gd name="T59" fmla="*/ 283 h 328"/>
                <a:gd name="T60" fmla="*/ 138 w 328"/>
                <a:gd name="T61" fmla="*/ 292 h 328"/>
                <a:gd name="T62" fmla="*/ 138 w 328"/>
                <a:gd name="T63" fmla="*/ 328 h 328"/>
                <a:gd name="T64" fmla="*/ 193 w 328"/>
                <a:gd name="T65" fmla="*/ 328 h 328"/>
                <a:gd name="T66" fmla="*/ 193 w 328"/>
                <a:gd name="T67" fmla="*/ 293 h 328"/>
                <a:gd name="T68" fmla="*/ 221 w 328"/>
                <a:gd name="T69" fmla="*/ 283 h 328"/>
                <a:gd name="T70" fmla="*/ 239 w 328"/>
                <a:gd name="T71" fmla="*/ 308 h 328"/>
                <a:gd name="T72" fmla="*/ 282 w 328"/>
                <a:gd name="T73" fmla="*/ 276 h 328"/>
                <a:gd name="T74" fmla="*/ 265 w 328"/>
                <a:gd name="T75" fmla="*/ 252 h 328"/>
                <a:gd name="T76" fmla="*/ 283 w 328"/>
                <a:gd name="T77" fmla="*/ 227 h 328"/>
                <a:gd name="T78" fmla="*/ 311 w 328"/>
                <a:gd name="T79" fmla="*/ 236 h 328"/>
                <a:gd name="T80" fmla="*/ 328 w 328"/>
                <a:gd name="T81" fmla="*/ 184 h 328"/>
                <a:gd name="T82" fmla="*/ 300 w 328"/>
                <a:gd name="T83" fmla="*/ 175 h 328"/>
                <a:gd name="T84" fmla="*/ 301 w 328"/>
                <a:gd name="T85" fmla="*/ 159 h 328"/>
                <a:gd name="T86" fmla="*/ 78 w 328"/>
                <a:gd name="T87" fmla="*/ 159 h 328"/>
                <a:gd name="T88" fmla="*/ 165 w 328"/>
                <a:gd name="T89" fmla="*/ 72 h 328"/>
                <a:gd name="T90" fmla="*/ 252 w 328"/>
                <a:gd name="T91" fmla="*/ 159 h 328"/>
                <a:gd name="T92" fmla="*/ 165 w 328"/>
                <a:gd name="T93" fmla="*/ 245 h 328"/>
                <a:gd name="T94" fmla="*/ 78 w 328"/>
                <a:gd name="T95" fmla="*/ 159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8" h="328">
                  <a:moveTo>
                    <a:pt x="301" y="159"/>
                  </a:moveTo>
                  <a:cubicBezTo>
                    <a:pt x="301" y="153"/>
                    <a:pt x="301" y="148"/>
                    <a:pt x="301" y="144"/>
                  </a:cubicBezTo>
                  <a:cubicBezTo>
                    <a:pt x="328" y="135"/>
                    <a:pt x="328" y="135"/>
                    <a:pt x="328" y="135"/>
                  </a:cubicBezTo>
                  <a:cubicBezTo>
                    <a:pt x="311" y="83"/>
                    <a:pt x="311" y="83"/>
                    <a:pt x="311" y="83"/>
                  </a:cubicBezTo>
                  <a:cubicBezTo>
                    <a:pt x="284" y="92"/>
                    <a:pt x="284" y="92"/>
                    <a:pt x="284" y="92"/>
                  </a:cubicBezTo>
                  <a:cubicBezTo>
                    <a:pt x="279" y="83"/>
                    <a:pt x="272" y="74"/>
                    <a:pt x="265" y="66"/>
                  </a:cubicBezTo>
                  <a:cubicBezTo>
                    <a:pt x="282" y="43"/>
                    <a:pt x="282" y="43"/>
                    <a:pt x="282" y="43"/>
                  </a:cubicBezTo>
                  <a:cubicBezTo>
                    <a:pt x="238" y="11"/>
                    <a:pt x="238" y="11"/>
                    <a:pt x="238" y="11"/>
                  </a:cubicBezTo>
                  <a:cubicBezTo>
                    <a:pt x="222" y="34"/>
                    <a:pt x="222" y="34"/>
                    <a:pt x="222" y="34"/>
                  </a:cubicBezTo>
                  <a:cubicBezTo>
                    <a:pt x="213" y="30"/>
                    <a:pt x="206" y="27"/>
                    <a:pt x="193" y="25"/>
                  </a:cubicBezTo>
                  <a:cubicBezTo>
                    <a:pt x="193" y="0"/>
                    <a:pt x="193" y="0"/>
                    <a:pt x="193" y="0"/>
                  </a:cubicBezTo>
                  <a:cubicBezTo>
                    <a:pt x="138" y="0"/>
                    <a:pt x="138" y="0"/>
                    <a:pt x="138" y="0"/>
                  </a:cubicBezTo>
                  <a:cubicBezTo>
                    <a:pt x="138" y="25"/>
                    <a:pt x="138" y="25"/>
                    <a:pt x="138" y="25"/>
                  </a:cubicBezTo>
                  <a:cubicBezTo>
                    <a:pt x="125" y="27"/>
                    <a:pt x="117" y="31"/>
                    <a:pt x="108" y="35"/>
                  </a:cubicBezTo>
                  <a:cubicBezTo>
                    <a:pt x="90" y="11"/>
                    <a:pt x="90" y="11"/>
                    <a:pt x="90" y="11"/>
                  </a:cubicBezTo>
                  <a:cubicBezTo>
                    <a:pt x="46" y="43"/>
                    <a:pt x="46" y="43"/>
                    <a:pt x="46" y="43"/>
                  </a:cubicBezTo>
                  <a:cubicBezTo>
                    <a:pt x="64" y="67"/>
                    <a:pt x="64" y="67"/>
                    <a:pt x="64" y="67"/>
                  </a:cubicBezTo>
                  <a:cubicBezTo>
                    <a:pt x="57" y="75"/>
                    <a:pt x="51" y="84"/>
                    <a:pt x="46" y="93"/>
                  </a:cubicBezTo>
                  <a:cubicBezTo>
                    <a:pt x="17" y="83"/>
                    <a:pt x="17" y="83"/>
                    <a:pt x="17" y="83"/>
                  </a:cubicBezTo>
                  <a:cubicBezTo>
                    <a:pt x="0" y="135"/>
                    <a:pt x="0" y="135"/>
                    <a:pt x="0" y="135"/>
                  </a:cubicBezTo>
                  <a:cubicBezTo>
                    <a:pt x="29" y="144"/>
                    <a:pt x="29" y="144"/>
                    <a:pt x="29" y="144"/>
                  </a:cubicBezTo>
                  <a:cubicBezTo>
                    <a:pt x="29" y="149"/>
                    <a:pt x="28" y="154"/>
                    <a:pt x="28" y="159"/>
                  </a:cubicBezTo>
                  <a:cubicBezTo>
                    <a:pt x="28" y="164"/>
                    <a:pt x="29" y="169"/>
                    <a:pt x="29" y="175"/>
                  </a:cubicBezTo>
                  <a:cubicBezTo>
                    <a:pt x="0" y="184"/>
                    <a:pt x="0" y="184"/>
                    <a:pt x="0" y="184"/>
                  </a:cubicBezTo>
                  <a:cubicBezTo>
                    <a:pt x="17" y="236"/>
                    <a:pt x="17" y="236"/>
                    <a:pt x="17" y="236"/>
                  </a:cubicBezTo>
                  <a:cubicBezTo>
                    <a:pt x="46" y="226"/>
                    <a:pt x="46" y="226"/>
                    <a:pt x="46" y="226"/>
                  </a:cubicBezTo>
                  <a:cubicBezTo>
                    <a:pt x="51" y="235"/>
                    <a:pt x="57" y="243"/>
                    <a:pt x="64" y="251"/>
                  </a:cubicBezTo>
                  <a:cubicBezTo>
                    <a:pt x="46" y="276"/>
                    <a:pt x="46" y="276"/>
                    <a:pt x="46" y="276"/>
                  </a:cubicBezTo>
                  <a:cubicBezTo>
                    <a:pt x="90" y="308"/>
                    <a:pt x="90" y="308"/>
                    <a:pt x="90" y="308"/>
                  </a:cubicBezTo>
                  <a:cubicBezTo>
                    <a:pt x="109" y="283"/>
                    <a:pt x="109" y="283"/>
                    <a:pt x="109" y="283"/>
                  </a:cubicBezTo>
                  <a:cubicBezTo>
                    <a:pt x="118" y="287"/>
                    <a:pt x="125" y="290"/>
                    <a:pt x="138" y="292"/>
                  </a:cubicBezTo>
                  <a:cubicBezTo>
                    <a:pt x="138" y="328"/>
                    <a:pt x="138" y="328"/>
                    <a:pt x="138" y="328"/>
                  </a:cubicBezTo>
                  <a:cubicBezTo>
                    <a:pt x="193" y="328"/>
                    <a:pt x="193" y="328"/>
                    <a:pt x="193" y="328"/>
                  </a:cubicBezTo>
                  <a:cubicBezTo>
                    <a:pt x="193" y="293"/>
                    <a:pt x="193" y="293"/>
                    <a:pt x="193" y="293"/>
                  </a:cubicBezTo>
                  <a:cubicBezTo>
                    <a:pt x="199" y="291"/>
                    <a:pt x="212" y="287"/>
                    <a:pt x="221" y="283"/>
                  </a:cubicBezTo>
                  <a:cubicBezTo>
                    <a:pt x="239" y="308"/>
                    <a:pt x="239" y="308"/>
                    <a:pt x="239" y="308"/>
                  </a:cubicBezTo>
                  <a:cubicBezTo>
                    <a:pt x="282" y="276"/>
                    <a:pt x="282" y="276"/>
                    <a:pt x="282" y="276"/>
                  </a:cubicBezTo>
                  <a:cubicBezTo>
                    <a:pt x="265" y="252"/>
                    <a:pt x="265" y="252"/>
                    <a:pt x="265" y="252"/>
                  </a:cubicBezTo>
                  <a:cubicBezTo>
                    <a:pt x="272" y="244"/>
                    <a:pt x="278" y="236"/>
                    <a:pt x="283" y="227"/>
                  </a:cubicBezTo>
                  <a:cubicBezTo>
                    <a:pt x="311" y="236"/>
                    <a:pt x="311" y="236"/>
                    <a:pt x="311" y="236"/>
                  </a:cubicBezTo>
                  <a:cubicBezTo>
                    <a:pt x="328" y="184"/>
                    <a:pt x="328" y="184"/>
                    <a:pt x="328" y="184"/>
                  </a:cubicBezTo>
                  <a:cubicBezTo>
                    <a:pt x="300" y="175"/>
                    <a:pt x="300" y="175"/>
                    <a:pt x="300" y="175"/>
                  </a:cubicBezTo>
                  <a:cubicBezTo>
                    <a:pt x="301" y="170"/>
                    <a:pt x="301" y="164"/>
                    <a:pt x="301" y="159"/>
                  </a:cubicBezTo>
                  <a:close/>
                  <a:moveTo>
                    <a:pt x="78" y="159"/>
                  </a:moveTo>
                  <a:cubicBezTo>
                    <a:pt x="78" y="111"/>
                    <a:pt x="117" y="72"/>
                    <a:pt x="165" y="72"/>
                  </a:cubicBezTo>
                  <a:cubicBezTo>
                    <a:pt x="213" y="72"/>
                    <a:pt x="252" y="111"/>
                    <a:pt x="252" y="159"/>
                  </a:cubicBezTo>
                  <a:cubicBezTo>
                    <a:pt x="252" y="206"/>
                    <a:pt x="213" y="245"/>
                    <a:pt x="165" y="245"/>
                  </a:cubicBezTo>
                  <a:cubicBezTo>
                    <a:pt x="117" y="245"/>
                    <a:pt x="78" y="206"/>
                    <a:pt x="78" y="15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sp>
          <p:nvSpPr>
            <p:cNvPr id="24" name="Freeform 164"/>
            <p:cNvSpPr>
              <a:spLocks noEditPoints="1"/>
            </p:cNvSpPr>
            <p:nvPr/>
          </p:nvSpPr>
          <p:spPr bwMode="auto">
            <a:xfrm>
              <a:off x="2461299" y="1943502"/>
              <a:ext cx="253295" cy="253671"/>
            </a:xfrm>
            <a:custGeom>
              <a:avLst/>
              <a:gdLst>
                <a:gd name="T0" fmla="*/ 147 w 147"/>
                <a:gd name="T1" fmla="*/ 73 h 147"/>
                <a:gd name="T2" fmla="*/ 74 w 147"/>
                <a:gd name="T3" fmla="*/ 0 h 147"/>
                <a:gd name="T4" fmla="*/ 0 w 147"/>
                <a:gd name="T5" fmla="*/ 73 h 147"/>
                <a:gd name="T6" fmla="*/ 74 w 147"/>
                <a:gd name="T7" fmla="*/ 147 h 147"/>
                <a:gd name="T8" fmla="*/ 147 w 147"/>
                <a:gd name="T9" fmla="*/ 73 h 147"/>
                <a:gd name="T10" fmla="*/ 74 w 147"/>
                <a:gd name="T11" fmla="*/ 109 h 147"/>
                <a:gd name="T12" fmla="*/ 38 w 147"/>
                <a:gd name="T13" fmla="*/ 73 h 147"/>
                <a:gd name="T14" fmla="*/ 74 w 147"/>
                <a:gd name="T15" fmla="*/ 38 h 147"/>
                <a:gd name="T16" fmla="*/ 109 w 147"/>
                <a:gd name="T17" fmla="*/ 73 h 147"/>
                <a:gd name="T18" fmla="*/ 74 w 147"/>
                <a:gd name="T19" fmla="*/ 10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147">
                  <a:moveTo>
                    <a:pt x="147" y="73"/>
                  </a:moveTo>
                  <a:cubicBezTo>
                    <a:pt x="147" y="33"/>
                    <a:pt x="114" y="0"/>
                    <a:pt x="74" y="0"/>
                  </a:cubicBezTo>
                  <a:cubicBezTo>
                    <a:pt x="33" y="0"/>
                    <a:pt x="0" y="33"/>
                    <a:pt x="0" y="73"/>
                  </a:cubicBezTo>
                  <a:cubicBezTo>
                    <a:pt x="0" y="114"/>
                    <a:pt x="33" y="147"/>
                    <a:pt x="74" y="147"/>
                  </a:cubicBezTo>
                  <a:cubicBezTo>
                    <a:pt x="114" y="147"/>
                    <a:pt x="147" y="114"/>
                    <a:pt x="147" y="73"/>
                  </a:cubicBezTo>
                  <a:close/>
                  <a:moveTo>
                    <a:pt x="74" y="109"/>
                  </a:moveTo>
                  <a:cubicBezTo>
                    <a:pt x="54" y="109"/>
                    <a:pt x="38" y="93"/>
                    <a:pt x="38" y="73"/>
                  </a:cubicBezTo>
                  <a:cubicBezTo>
                    <a:pt x="38" y="54"/>
                    <a:pt x="54" y="38"/>
                    <a:pt x="74" y="38"/>
                  </a:cubicBezTo>
                  <a:cubicBezTo>
                    <a:pt x="93" y="38"/>
                    <a:pt x="109" y="54"/>
                    <a:pt x="109" y="73"/>
                  </a:cubicBezTo>
                  <a:cubicBezTo>
                    <a:pt x="109" y="93"/>
                    <a:pt x="93" y="109"/>
                    <a:pt x="74" y="10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gr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02  </a:t>
            </a:r>
            <a:r>
              <a:rPr lang="zh-CN" altLang="en-US" sz="3000" dirty="0">
                <a:solidFill>
                  <a:schemeClr val="accent1"/>
                </a:solidFill>
                <a:latin typeface="黑体" panose="02010609060101010101" charset="-122"/>
                <a:ea typeface="微软雅黑" panose="020B0503020204020204" pitchFamily="34" charset="-122"/>
                <a:sym typeface="+mn-ea"/>
              </a:rPr>
              <a:t>版权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100820" y="1683385"/>
            <a:ext cx="2781300" cy="2838450"/>
          </a:xfrm>
          <a:prstGeom prst="rect">
            <a:avLst/>
          </a:prstGeom>
        </p:spPr>
      </p:pic>
      <p:sp>
        <p:nvSpPr>
          <p:cNvPr id="30730" name="矩形 5"/>
          <p:cNvSpPr/>
          <p:nvPr/>
        </p:nvSpPr>
        <p:spPr>
          <a:xfrm>
            <a:off x="921385" y="2895600"/>
            <a:ext cx="8656320" cy="378460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法人申请：营业执照或商业登记证复印件</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自然人申请：申请人身份证明及创作人身份证明文件</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申请表（须由申请人签署）</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创作人名称及地址</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作品说明书（作品名称、类型、完成日期及发表状况等）</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委托书</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其他需出具的资料</a:t>
            </a:r>
            <a:endParaRPr lang="zh-CN" altLang="en-US" sz="2000" dirty="0">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None/>
            </a:pPr>
            <a:r>
              <a:rPr lang="zh-CN" altLang="en-US" sz="2000" dirty="0">
                <a:latin typeface="微软雅黑" panose="020B0503020204020204" pitchFamily="34" charset="-122"/>
                <a:ea typeface="微软雅黑" panose="020B0503020204020204" pitchFamily="34" charset="-122"/>
              </a:rPr>
              <a:t>登记所需时间一般是提交审核后的4-8个月</a:t>
            </a:r>
            <a:endParaRPr lang="zh-CN" altLang="en-US" sz="2000" dirty="0">
              <a:latin typeface="微软雅黑" panose="020B0503020204020204" pitchFamily="34" charset="-122"/>
              <a:ea typeface="微软雅黑" panose="020B0503020204020204" pitchFamily="34" charset="-122"/>
            </a:endParaRPr>
          </a:p>
        </p:txBody>
      </p:sp>
      <p:grpSp>
        <p:nvGrpSpPr>
          <p:cNvPr id="30725" name="组合 1"/>
          <p:cNvGrpSpPr/>
          <p:nvPr/>
        </p:nvGrpSpPr>
        <p:grpSpPr>
          <a:xfrm>
            <a:off x="517289" y="1970305"/>
            <a:ext cx="778514" cy="775166"/>
            <a:chOff x="2109158" y="1592898"/>
            <a:chExt cx="957577" cy="954879"/>
          </a:xfrm>
        </p:grpSpPr>
        <p:sp>
          <p:nvSpPr>
            <p:cNvPr id="10" name="Freeform 163"/>
            <p:cNvSpPr>
              <a:spLocks noEditPoints="1"/>
            </p:cNvSpPr>
            <p:nvPr/>
          </p:nvSpPr>
          <p:spPr bwMode="auto">
            <a:xfrm>
              <a:off x="2109158" y="1592898"/>
              <a:ext cx="957577" cy="954879"/>
            </a:xfrm>
            <a:custGeom>
              <a:avLst/>
              <a:gdLst>
                <a:gd name="T0" fmla="*/ 301 w 328"/>
                <a:gd name="T1" fmla="*/ 159 h 328"/>
                <a:gd name="T2" fmla="*/ 301 w 328"/>
                <a:gd name="T3" fmla="*/ 144 h 328"/>
                <a:gd name="T4" fmla="*/ 328 w 328"/>
                <a:gd name="T5" fmla="*/ 135 h 328"/>
                <a:gd name="T6" fmla="*/ 311 w 328"/>
                <a:gd name="T7" fmla="*/ 83 h 328"/>
                <a:gd name="T8" fmla="*/ 284 w 328"/>
                <a:gd name="T9" fmla="*/ 92 h 328"/>
                <a:gd name="T10" fmla="*/ 265 w 328"/>
                <a:gd name="T11" fmla="*/ 66 h 328"/>
                <a:gd name="T12" fmla="*/ 282 w 328"/>
                <a:gd name="T13" fmla="*/ 43 h 328"/>
                <a:gd name="T14" fmla="*/ 238 w 328"/>
                <a:gd name="T15" fmla="*/ 11 h 328"/>
                <a:gd name="T16" fmla="*/ 222 w 328"/>
                <a:gd name="T17" fmla="*/ 34 h 328"/>
                <a:gd name="T18" fmla="*/ 193 w 328"/>
                <a:gd name="T19" fmla="*/ 25 h 328"/>
                <a:gd name="T20" fmla="*/ 193 w 328"/>
                <a:gd name="T21" fmla="*/ 0 h 328"/>
                <a:gd name="T22" fmla="*/ 138 w 328"/>
                <a:gd name="T23" fmla="*/ 0 h 328"/>
                <a:gd name="T24" fmla="*/ 138 w 328"/>
                <a:gd name="T25" fmla="*/ 25 h 328"/>
                <a:gd name="T26" fmla="*/ 108 w 328"/>
                <a:gd name="T27" fmla="*/ 35 h 328"/>
                <a:gd name="T28" fmla="*/ 90 w 328"/>
                <a:gd name="T29" fmla="*/ 11 h 328"/>
                <a:gd name="T30" fmla="*/ 46 w 328"/>
                <a:gd name="T31" fmla="*/ 43 h 328"/>
                <a:gd name="T32" fmla="*/ 64 w 328"/>
                <a:gd name="T33" fmla="*/ 67 h 328"/>
                <a:gd name="T34" fmla="*/ 46 w 328"/>
                <a:gd name="T35" fmla="*/ 93 h 328"/>
                <a:gd name="T36" fmla="*/ 17 w 328"/>
                <a:gd name="T37" fmla="*/ 83 h 328"/>
                <a:gd name="T38" fmla="*/ 0 w 328"/>
                <a:gd name="T39" fmla="*/ 135 h 328"/>
                <a:gd name="T40" fmla="*/ 29 w 328"/>
                <a:gd name="T41" fmla="*/ 144 h 328"/>
                <a:gd name="T42" fmla="*/ 28 w 328"/>
                <a:gd name="T43" fmla="*/ 159 h 328"/>
                <a:gd name="T44" fmla="*/ 29 w 328"/>
                <a:gd name="T45" fmla="*/ 175 h 328"/>
                <a:gd name="T46" fmla="*/ 0 w 328"/>
                <a:gd name="T47" fmla="*/ 184 h 328"/>
                <a:gd name="T48" fmla="*/ 17 w 328"/>
                <a:gd name="T49" fmla="*/ 236 h 328"/>
                <a:gd name="T50" fmla="*/ 46 w 328"/>
                <a:gd name="T51" fmla="*/ 226 h 328"/>
                <a:gd name="T52" fmla="*/ 64 w 328"/>
                <a:gd name="T53" fmla="*/ 251 h 328"/>
                <a:gd name="T54" fmla="*/ 46 w 328"/>
                <a:gd name="T55" fmla="*/ 276 h 328"/>
                <a:gd name="T56" fmla="*/ 90 w 328"/>
                <a:gd name="T57" fmla="*/ 308 h 328"/>
                <a:gd name="T58" fmla="*/ 109 w 328"/>
                <a:gd name="T59" fmla="*/ 283 h 328"/>
                <a:gd name="T60" fmla="*/ 138 w 328"/>
                <a:gd name="T61" fmla="*/ 292 h 328"/>
                <a:gd name="T62" fmla="*/ 138 w 328"/>
                <a:gd name="T63" fmla="*/ 328 h 328"/>
                <a:gd name="T64" fmla="*/ 193 w 328"/>
                <a:gd name="T65" fmla="*/ 328 h 328"/>
                <a:gd name="T66" fmla="*/ 193 w 328"/>
                <a:gd name="T67" fmla="*/ 293 h 328"/>
                <a:gd name="T68" fmla="*/ 221 w 328"/>
                <a:gd name="T69" fmla="*/ 283 h 328"/>
                <a:gd name="T70" fmla="*/ 239 w 328"/>
                <a:gd name="T71" fmla="*/ 308 h 328"/>
                <a:gd name="T72" fmla="*/ 282 w 328"/>
                <a:gd name="T73" fmla="*/ 276 h 328"/>
                <a:gd name="T74" fmla="*/ 265 w 328"/>
                <a:gd name="T75" fmla="*/ 252 h 328"/>
                <a:gd name="T76" fmla="*/ 283 w 328"/>
                <a:gd name="T77" fmla="*/ 227 h 328"/>
                <a:gd name="T78" fmla="*/ 311 w 328"/>
                <a:gd name="T79" fmla="*/ 236 h 328"/>
                <a:gd name="T80" fmla="*/ 328 w 328"/>
                <a:gd name="T81" fmla="*/ 184 h 328"/>
                <a:gd name="T82" fmla="*/ 300 w 328"/>
                <a:gd name="T83" fmla="*/ 175 h 328"/>
                <a:gd name="T84" fmla="*/ 301 w 328"/>
                <a:gd name="T85" fmla="*/ 159 h 328"/>
                <a:gd name="T86" fmla="*/ 78 w 328"/>
                <a:gd name="T87" fmla="*/ 159 h 328"/>
                <a:gd name="T88" fmla="*/ 165 w 328"/>
                <a:gd name="T89" fmla="*/ 72 h 328"/>
                <a:gd name="T90" fmla="*/ 252 w 328"/>
                <a:gd name="T91" fmla="*/ 159 h 328"/>
                <a:gd name="T92" fmla="*/ 165 w 328"/>
                <a:gd name="T93" fmla="*/ 245 h 328"/>
                <a:gd name="T94" fmla="*/ 78 w 328"/>
                <a:gd name="T95" fmla="*/ 159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8" h="328">
                  <a:moveTo>
                    <a:pt x="301" y="159"/>
                  </a:moveTo>
                  <a:cubicBezTo>
                    <a:pt x="301" y="153"/>
                    <a:pt x="301" y="148"/>
                    <a:pt x="301" y="144"/>
                  </a:cubicBezTo>
                  <a:cubicBezTo>
                    <a:pt x="328" y="135"/>
                    <a:pt x="328" y="135"/>
                    <a:pt x="328" y="135"/>
                  </a:cubicBezTo>
                  <a:cubicBezTo>
                    <a:pt x="311" y="83"/>
                    <a:pt x="311" y="83"/>
                    <a:pt x="311" y="83"/>
                  </a:cubicBezTo>
                  <a:cubicBezTo>
                    <a:pt x="284" y="92"/>
                    <a:pt x="284" y="92"/>
                    <a:pt x="284" y="92"/>
                  </a:cubicBezTo>
                  <a:cubicBezTo>
                    <a:pt x="279" y="83"/>
                    <a:pt x="272" y="74"/>
                    <a:pt x="265" y="66"/>
                  </a:cubicBezTo>
                  <a:cubicBezTo>
                    <a:pt x="282" y="43"/>
                    <a:pt x="282" y="43"/>
                    <a:pt x="282" y="43"/>
                  </a:cubicBezTo>
                  <a:cubicBezTo>
                    <a:pt x="238" y="11"/>
                    <a:pt x="238" y="11"/>
                    <a:pt x="238" y="11"/>
                  </a:cubicBezTo>
                  <a:cubicBezTo>
                    <a:pt x="222" y="34"/>
                    <a:pt x="222" y="34"/>
                    <a:pt x="222" y="34"/>
                  </a:cubicBezTo>
                  <a:cubicBezTo>
                    <a:pt x="213" y="30"/>
                    <a:pt x="206" y="27"/>
                    <a:pt x="193" y="25"/>
                  </a:cubicBezTo>
                  <a:cubicBezTo>
                    <a:pt x="193" y="0"/>
                    <a:pt x="193" y="0"/>
                    <a:pt x="193" y="0"/>
                  </a:cubicBezTo>
                  <a:cubicBezTo>
                    <a:pt x="138" y="0"/>
                    <a:pt x="138" y="0"/>
                    <a:pt x="138" y="0"/>
                  </a:cubicBezTo>
                  <a:cubicBezTo>
                    <a:pt x="138" y="25"/>
                    <a:pt x="138" y="25"/>
                    <a:pt x="138" y="25"/>
                  </a:cubicBezTo>
                  <a:cubicBezTo>
                    <a:pt x="125" y="27"/>
                    <a:pt x="117" y="31"/>
                    <a:pt x="108" y="35"/>
                  </a:cubicBezTo>
                  <a:cubicBezTo>
                    <a:pt x="90" y="11"/>
                    <a:pt x="90" y="11"/>
                    <a:pt x="90" y="11"/>
                  </a:cubicBezTo>
                  <a:cubicBezTo>
                    <a:pt x="46" y="43"/>
                    <a:pt x="46" y="43"/>
                    <a:pt x="46" y="43"/>
                  </a:cubicBezTo>
                  <a:cubicBezTo>
                    <a:pt x="64" y="67"/>
                    <a:pt x="64" y="67"/>
                    <a:pt x="64" y="67"/>
                  </a:cubicBezTo>
                  <a:cubicBezTo>
                    <a:pt x="57" y="75"/>
                    <a:pt x="51" y="84"/>
                    <a:pt x="46" y="93"/>
                  </a:cubicBezTo>
                  <a:cubicBezTo>
                    <a:pt x="17" y="83"/>
                    <a:pt x="17" y="83"/>
                    <a:pt x="17" y="83"/>
                  </a:cubicBezTo>
                  <a:cubicBezTo>
                    <a:pt x="0" y="135"/>
                    <a:pt x="0" y="135"/>
                    <a:pt x="0" y="135"/>
                  </a:cubicBezTo>
                  <a:cubicBezTo>
                    <a:pt x="29" y="144"/>
                    <a:pt x="29" y="144"/>
                    <a:pt x="29" y="144"/>
                  </a:cubicBezTo>
                  <a:cubicBezTo>
                    <a:pt x="29" y="149"/>
                    <a:pt x="28" y="154"/>
                    <a:pt x="28" y="159"/>
                  </a:cubicBezTo>
                  <a:cubicBezTo>
                    <a:pt x="28" y="164"/>
                    <a:pt x="29" y="169"/>
                    <a:pt x="29" y="175"/>
                  </a:cubicBezTo>
                  <a:cubicBezTo>
                    <a:pt x="0" y="184"/>
                    <a:pt x="0" y="184"/>
                    <a:pt x="0" y="184"/>
                  </a:cubicBezTo>
                  <a:cubicBezTo>
                    <a:pt x="17" y="236"/>
                    <a:pt x="17" y="236"/>
                    <a:pt x="17" y="236"/>
                  </a:cubicBezTo>
                  <a:cubicBezTo>
                    <a:pt x="46" y="226"/>
                    <a:pt x="46" y="226"/>
                    <a:pt x="46" y="226"/>
                  </a:cubicBezTo>
                  <a:cubicBezTo>
                    <a:pt x="51" y="235"/>
                    <a:pt x="57" y="243"/>
                    <a:pt x="64" y="251"/>
                  </a:cubicBezTo>
                  <a:cubicBezTo>
                    <a:pt x="46" y="276"/>
                    <a:pt x="46" y="276"/>
                    <a:pt x="46" y="276"/>
                  </a:cubicBezTo>
                  <a:cubicBezTo>
                    <a:pt x="90" y="308"/>
                    <a:pt x="90" y="308"/>
                    <a:pt x="90" y="308"/>
                  </a:cubicBezTo>
                  <a:cubicBezTo>
                    <a:pt x="109" y="283"/>
                    <a:pt x="109" y="283"/>
                    <a:pt x="109" y="283"/>
                  </a:cubicBezTo>
                  <a:cubicBezTo>
                    <a:pt x="118" y="287"/>
                    <a:pt x="125" y="290"/>
                    <a:pt x="138" y="292"/>
                  </a:cubicBezTo>
                  <a:cubicBezTo>
                    <a:pt x="138" y="328"/>
                    <a:pt x="138" y="328"/>
                    <a:pt x="138" y="328"/>
                  </a:cubicBezTo>
                  <a:cubicBezTo>
                    <a:pt x="193" y="328"/>
                    <a:pt x="193" y="328"/>
                    <a:pt x="193" y="328"/>
                  </a:cubicBezTo>
                  <a:cubicBezTo>
                    <a:pt x="193" y="293"/>
                    <a:pt x="193" y="293"/>
                    <a:pt x="193" y="293"/>
                  </a:cubicBezTo>
                  <a:cubicBezTo>
                    <a:pt x="199" y="291"/>
                    <a:pt x="212" y="287"/>
                    <a:pt x="221" y="283"/>
                  </a:cubicBezTo>
                  <a:cubicBezTo>
                    <a:pt x="239" y="308"/>
                    <a:pt x="239" y="308"/>
                    <a:pt x="239" y="308"/>
                  </a:cubicBezTo>
                  <a:cubicBezTo>
                    <a:pt x="282" y="276"/>
                    <a:pt x="282" y="276"/>
                    <a:pt x="282" y="276"/>
                  </a:cubicBezTo>
                  <a:cubicBezTo>
                    <a:pt x="265" y="252"/>
                    <a:pt x="265" y="252"/>
                    <a:pt x="265" y="252"/>
                  </a:cubicBezTo>
                  <a:cubicBezTo>
                    <a:pt x="272" y="244"/>
                    <a:pt x="278" y="236"/>
                    <a:pt x="283" y="227"/>
                  </a:cubicBezTo>
                  <a:cubicBezTo>
                    <a:pt x="311" y="236"/>
                    <a:pt x="311" y="236"/>
                    <a:pt x="311" y="236"/>
                  </a:cubicBezTo>
                  <a:cubicBezTo>
                    <a:pt x="328" y="184"/>
                    <a:pt x="328" y="184"/>
                    <a:pt x="328" y="184"/>
                  </a:cubicBezTo>
                  <a:cubicBezTo>
                    <a:pt x="300" y="175"/>
                    <a:pt x="300" y="175"/>
                    <a:pt x="300" y="175"/>
                  </a:cubicBezTo>
                  <a:cubicBezTo>
                    <a:pt x="301" y="170"/>
                    <a:pt x="301" y="164"/>
                    <a:pt x="301" y="159"/>
                  </a:cubicBezTo>
                  <a:close/>
                  <a:moveTo>
                    <a:pt x="78" y="159"/>
                  </a:moveTo>
                  <a:cubicBezTo>
                    <a:pt x="78" y="111"/>
                    <a:pt x="117" y="72"/>
                    <a:pt x="165" y="72"/>
                  </a:cubicBezTo>
                  <a:cubicBezTo>
                    <a:pt x="213" y="72"/>
                    <a:pt x="252" y="111"/>
                    <a:pt x="252" y="159"/>
                  </a:cubicBezTo>
                  <a:cubicBezTo>
                    <a:pt x="252" y="206"/>
                    <a:pt x="213" y="245"/>
                    <a:pt x="165" y="245"/>
                  </a:cubicBezTo>
                  <a:cubicBezTo>
                    <a:pt x="117" y="245"/>
                    <a:pt x="78" y="206"/>
                    <a:pt x="78" y="15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sp>
          <p:nvSpPr>
            <p:cNvPr id="11" name="Freeform 164"/>
            <p:cNvSpPr>
              <a:spLocks noEditPoints="1"/>
            </p:cNvSpPr>
            <p:nvPr/>
          </p:nvSpPr>
          <p:spPr bwMode="auto">
            <a:xfrm>
              <a:off x="2461299" y="1943501"/>
              <a:ext cx="253295" cy="253672"/>
            </a:xfrm>
            <a:custGeom>
              <a:avLst/>
              <a:gdLst>
                <a:gd name="T0" fmla="*/ 147 w 147"/>
                <a:gd name="T1" fmla="*/ 73 h 147"/>
                <a:gd name="T2" fmla="*/ 74 w 147"/>
                <a:gd name="T3" fmla="*/ 0 h 147"/>
                <a:gd name="T4" fmla="*/ 0 w 147"/>
                <a:gd name="T5" fmla="*/ 73 h 147"/>
                <a:gd name="T6" fmla="*/ 74 w 147"/>
                <a:gd name="T7" fmla="*/ 147 h 147"/>
                <a:gd name="T8" fmla="*/ 147 w 147"/>
                <a:gd name="T9" fmla="*/ 73 h 147"/>
                <a:gd name="T10" fmla="*/ 74 w 147"/>
                <a:gd name="T11" fmla="*/ 109 h 147"/>
                <a:gd name="T12" fmla="*/ 38 w 147"/>
                <a:gd name="T13" fmla="*/ 73 h 147"/>
                <a:gd name="T14" fmla="*/ 74 w 147"/>
                <a:gd name="T15" fmla="*/ 38 h 147"/>
                <a:gd name="T16" fmla="*/ 109 w 147"/>
                <a:gd name="T17" fmla="*/ 73 h 147"/>
                <a:gd name="T18" fmla="*/ 74 w 147"/>
                <a:gd name="T19" fmla="*/ 10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147">
                  <a:moveTo>
                    <a:pt x="147" y="73"/>
                  </a:moveTo>
                  <a:cubicBezTo>
                    <a:pt x="147" y="33"/>
                    <a:pt x="114" y="0"/>
                    <a:pt x="74" y="0"/>
                  </a:cubicBezTo>
                  <a:cubicBezTo>
                    <a:pt x="33" y="0"/>
                    <a:pt x="0" y="33"/>
                    <a:pt x="0" y="73"/>
                  </a:cubicBezTo>
                  <a:cubicBezTo>
                    <a:pt x="0" y="114"/>
                    <a:pt x="33" y="147"/>
                    <a:pt x="74" y="147"/>
                  </a:cubicBezTo>
                  <a:cubicBezTo>
                    <a:pt x="114" y="147"/>
                    <a:pt x="147" y="114"/>
                    <a:pt x="147" y="73"/>
                  </a:cubicBezTo>
                  <a:close/>
                  <a:moveTo>
                    <a:pt x="74" y="109"/>
                  </a:moveTo>
                  <a:cubicBezTo>
                    <a:pt x="54" y="109"/>
                    <a:pt x="38" y="93"/>
                    <a:pt x="38" y="73"/>
                  </a:cubicBezTo>
                  <a:cubicBezTo>
                    <a:pt x="38" y="54"/>
                    <a:pt x="54" y="38"/>
                    <a:pt x="74" y="38"/>
                  </a:cubicBezTo>
                  <a:cubicBezTo>
                    <a:pt x="93" y="38"/>
                    <a:pt x="109" y="54"/>
                    <a:pt x="109" y="73"/>
                  </a:cubicBezTo>
                  <a:cubicBezTo>
                    <a:pt x="109" y="93"/>
                    <a:pt x="93" y="109"/>
                    <a:pt x="74" y="10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黑体" panose="02010609060101010101" charset="-122"/>
                <a:ea typeface="宋体" panose="02010600030101010101" pitchFamily="2" charset="-122"/>
                <a:cs typeface="+mn-cs"/>
              </a:endParaRPr>
            </a:p>
          </p:txBody>
        </p:sp>
      </p:grpSp>
      <p:sp>
        <p:nvSpPr>
          <p:cNvPr id="3" name="矩形 2"/>
          <p:cNvSpPr/>
          <p:nvPr/>
        </p:nvSpPr>
        <p:spPr>
          <a:xfrm>
            <a:off x="1494790" y="2116455"/>
            <a:ext cx="1724025" cy="480060"/>
          </a:xfrm>
          <a:prstGeom prst="rect">
            <a:avLst/>
          </a:prstGeom>
        </p:spPr>
        <p:txBody>
          <a:bodyPr wrap="square">
            <a:spAutoFit/>
          </a:bodyPr>
          <a:lstStyle/>
          <a:p>
            <a:pPr marR="0" lvl="0" algn="l" defTabSz="914400" rtl="0" eaLnBrk="0" fontAlgn="base" latinLnBrk="0" hangingPunct="0">
              <a:lnSpc>
                <a:spcPct val="100000"/>
              </a:lnSpc>
              <a:spcBef>
                <a:spcPct val="0"/>
              </a:spcBef>
              <a:spcAft>
                <a:spcPct val="0"/>
              </a:spcAft>
              <a:defRPr/>
            </a:pPr>
            <a:r>
              <a:rPr lang="zh-CN" altLang="en-US" sz="2530" b="1" noProof="0" dirty="0">
                <a:ln>
                  <a:noFill/>
                </a:ln>
                <a:solidFill>
                  <a:schemeClr val="accent5"/>
                </a:solidFill>
                <a:effectLst/>
                <a:uLnTx/>
                <a:uFillTx/>
                <a:latin typeface="微软雅黑" panose="020B0503020204020204" pitchFamily="34" charset="-122"/>
                <a:ea typeface="微软雅黑" panose="020B0503020204020204" pitchFamily="34" charset="-122"/>
                <a:sym typeface="+mn-ea"/>
              </a:rPr>
              <a:t>注册要求</a:t>
            </a:r>
            <a:endParaRPr sz="252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2" name="任意多边形 1"/>
          <p:cNvSpPr/>
          <p:nvPr>
            <p:custDataLst>
              <p:tags r:id="rId2"/>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3"/>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02  </a:t>
            </a:r>
            <a:r>
              <a:rPr lang="zh-CN" altLang="en-US" sz="3000" dirty="0">
                <a:solidFill>
                  <a:schemeClr val="accent1"/>
                </a:solidFill>
                <a:latin typeface="黑体" panose="02010609060101010101" charset="-122"/>
                <a:ea typeface="微软雅黑" panose="020B0503020204020204" pitchFamily="34" charset="-122"/>
                <a:sym typeface="+mn-ea"/>
              </a:rPr>
              <a:t>版权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02  </a:t>
            </a:r>
            <a:r>
              <a:rPr lang="zh-CN" altLang="en-US" sz="3000" dirty="0">
                <a:solidFill>
                  <a:schemeClr val="accent1"/>
                </a:solidFill>
                <a:latin typeface="黑体" panose="02010609060101010101" charset="-122"/>
                <a:ea typeface="微软雅黑" panose="020B0503020204020204" pitchFamily="34" charset="-122"/>
                <a:sym typeface="+mn-ea"/>
              </a:rPr>
              <a:t>版权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058025" y="2277745"/>
            <a:ext cx="4639945" cy="544830"/>
          </a:xfrm>
          <a:prstGeom prst="rect">
            <a:avLst/>
          </a:prstGeom>
          <a:noFill/>
        </p:spPr>
        <p:txBody>
          <a:bodyPr wrap="square" rtlCol="0">
            <a:spAutoFit/>
          </a:bodyPr>
          <a:p>
            <a:pPr algn="l">
              <a:lnSpc>
                <a:spcPct val="140000"/>
              </a:lnSpc>
            </a:pPr>
            <a:r>
              <a:rPr lang="zh-CN" altLang="en-US" sz="2110" dirty="0">
                <a:latin typeface="微软雅黑" panose="020B0503020204020204" pitchFamily="34" charset="-122"/>
                <a:ea typeface="微软雅黑" panose="020B0503020204020204" pitchFamily="34" charset="-122"/>
              </a:rPr>
              <a:t>版权保护的重点是商品或服务的标志。</a:t>
            </a:r>
            <a:endParaRPr lang="zh-CN" altLang="en-US" sz="211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276860" y="1336675"/>
            <a:ext cx="6321425" cy="5292090"/>
          </a:xfrm>
          <a:prstGeom prst="rect">
            <a:avLst/>
          </a:prstGeom>
        </p:spPr>
      </p:pic>
      <p:sp>
        <p:nvSpPr>
          <p:cNvPr id="7" name="椭圆 6"/>
          <p:cNvSpPr/>
          <p:nvPr/>
        </p:nvSpPr>
        <p:spPr>
          <a:xfrm>
            <a:off x="6999605" y="4641850"/>
            <a:ext cx="170815" cy="1936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6999605" y="5328285"/>
            <a:ext cx="170815" cy="1936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9" name="文本框 8"/>
          <p:cNvSpPr txBox="1"/>
          <p:nvPr/>
        </p:nvSpPr>
        <p:spPr>
          <a:xfrm>
            <a:off x="6999605" y="3415665"/>
            <a:ext cx="4639945" cy="544830"/>
          </a:xfrm>
          <a:prstGeom prst="rect">
            <a:avLst/>
          </a:prstGeom>
          <a:noFill/>
        </p:spPr>
        <p:txBody>
          <a:bodyPr wrap="square" rtlCol="0">
            <a:spAutoFit/>
          </a:bodyPr>
          <a:p>
            <a:pPr algn="l">
              <a:lnSpc>
                <a:spcPct val="140000"/>
              </a:lnSpc>
            </a:pPr>
            <a:r>
              <a:rPr lang="zh-CN" altLang="en-US" sz="2110">
                <a:sym typeface="+mn-ea"/>
              </a:rPr>
              <a:t>经常侵犯版权的类型：</a:t>
            </a:r>
            <a:endParaRPr lang="zh-CN" altLang="en-US" sz="211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7233920" y="4377690"/>
            <a:ext cx="4639945" cy="544830"/>
          </a:xfrm>
          <a:prstGeom prst="rect">
            <a:avLst/>
          </a:prstGeom>
          <a:noFill/>
        </p:spPr>
        <p:txBody>
          <a:bodyPr wrap="square" rtlCol="0">
            <a:spAutoFit/>
          </a:bodyPr>
          <a:p>
            <a:pPr algn="l">
              <a:lnSpc>
                <a:spcPct val="140000"/>
              </a:lnSpc>
            </a:pPr>
            <a:r>
              <a:rPr lang="en-US" altLang="zh-CN" sz="2110">
                <a:sym typeface="+mn-ea"/>
              </a:rPr>
              <a:t>1.</a:t>
            </a:r>
            <a:r>
              <a:rPr lang="zh-CN" altLang="en-US" sz="2110">
                <a:sym typeface="+mn-ea"/>
              </a:rPr>
              <a:t>动漫的大片的人物形象</a:t>
            </a:r>
            <a:r>
              <a:rPr lang="zh-CN" altLang="en-US" sz="2110" dirty="0">
                <a:latin typeface="微软雅黑" panose="020B0503020204020204" pitchFamily="34" charset="-122"/>
                <a:ea typeface="微软雅黑" panose="020B0503020204020204" pitchFamily="34" charset="-122"/>
              </a:rPr>
              <a:t>。</a:t>
            </a:r>
            <a:endParaRPr lang="zh-CN" altLang="en-US" sz="211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7289800" y="5217795"/>
            <a:ext cx="4639945" cy="415290"/>
          </a:xfrm>
          <a:prstGeom prst="rect">
            <a:avLst/>
          </a:prstGeom>
          <a:noFill/>
        </p:spPr>
        <p:txBody>
          <a:bodyPr wrap="square" rtlCol="0">
            <a:spAutoFit/>
          </a:bodyPr>
          <a:p>
            <a:pPr algn="l"/>
            <a:r>
              <a:rPr lang="en-US" altLang="zh-CN" sz="2110">
                <a:sym typeface="+mn-ea"/>
              </a:rPr>
              <a:t>2.</a:t>
            </a:r>
            <a:r>
              <a:rPr lang="zh-CN" altLang="en-US" sz="2110">
                <a:sym typeface="+mn-ea"/>
              </a:rPr>
              <a:t>图片侵权</a:t>
            </a:r>
            <a:endParaRPr lang="zh-CN" altLang="en-US" sz="211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2263140"/>
            <a:ext cx="2781300" cy="2838450"/>
          </a:xfrm>
          <a:prstGeom prst="rect">
            <a:avLst/>
          </a:prstGeom>
        </p:spPr>
      </p:pic>
      <p:sp>
        <p:nvSpPr>
          <p:cNvPr id="15365" name="矩形 32"/>
          <p:cNvSpPr>
            <a:spLocks noChangeArrowheads="1"/>
          </p:cNvSpPr>
          <p:nvPr/>
        </p:nvSpPr>
        <p:spPr bwMode="auto">
          <a:xfrm>
            <a:off x="2805442" y="1746470"/>
            <a:ext cx="309880" cy="401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charset="-122"/>
                <a:ea typeface="宋体" panose="02010600030101010101" pitchFamily="2" charset="-122"/>
              </a:defRPr>
            </a:lvl1pPr>
            <a:lvl2pPr marL="742950" indent="-285750">
              <a:defRPr sz="2800" b="1">
                <a:solidFill>
                  <a:schemeClr val="tx1"/>
                </a:solidFill>
                <a:latin typeface="黑体" panose="02010609060101010101" charset="-122"/>
                <a:ea typeface="宋体" panose="02010600030101010101" pitchFamily="2" charset="-122"/>
              </a:defRPr>
            </a:lvl2pPr>
            <a:lvl3pPr marL="1143000" indent="-228600">
              <a:defRPr sz="2800" b="1">
                <a:solidFill>
                  <a:schemeClr val="tx1"/>
                </a:solidFill>
                <a:latin typeface="黑体" panose="02010609060101010101" charset="-122"/>
                <a:ea typeface="宋体" panose="02010600030101010101" pitchFamily="2" charset="-122"/>
              </a:defRPr>
            </a:lvl3pPr>
            <a:lvl4pPr marL="1600200" indent="-228600">
              <a:defRPr sz="2800" b="1">
                <a:solidFill>
                  <a:schemeClr val="tx1"/>
                </a:solidFill>
                <a:latin typeface="黑体" panose="02010609060101010101" charset="-122"/>
                <a:ea typeface="宋体" panose="02010600030101010101" pitchFamily="2" charset="-122"/>
              </a:defRPr>
            </a:lvl4pPr>
            <a:lvl5pPr marL="2057400" indent="-228600">
              <a:defRPr sz="2800" b="1">
                <a:solidFill>
                  <a:schemeClr val="tx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黑体" panose="02010609060101010101" charset="-122"/>
                <a:ea typeface="宋体" panose="02010600030101010101" pitchFamily="2" charset="-122"/>
              </a:defRPr>
            </a:lvl9pPr>
          </a:lstStyle>
          <a:p>
            <a:pPr marL="0" marR="0" lvl="0" indent="0" algn="ctr" defTabSz="914400" rtl="0" eaLnBrk="0" fontAlgn="base" latinLnBrk="0" hangingPunct="0">
              <a:lnSpc>
                <a:spcPct val="80000"/>
              </a:lnSpc>
              <a:spcBef>
                <a:spcPct val="20000"/>
              </a:spcBef>
              <a:spcAft>
                <a:spcPct val="0"/>
              </a:spcAft>
              <a:buClr>
                <a:schemeClr val="accent2"/>
              </a:buClr>
              <a:buSzTx/>
              <a:buFont typeface="Wingdings" panose="05000000000000000000" pitchFamily="2" charset="2"/>
              <a:buNone/>
              <a:defRPr/>
            </a:pPr>
            <a:endParaRPr kumimoji="0" lang="zh-CN" altLang="en-US" sz="2530" b="1" i="0" u="none" strike="noStrike" kern="1200" cap="none" spc="0" normalizeH="0" baseline="0" noProof="0">
              <a:ln>
                <a:noFill/>
              </a:ln>
              <a:solidFill>
                <a:srgbClr val="FFFFFF"/>
              </a:solidFill>
              <a:effectLst>
                <a:outerShdw blurRad="38100" dist="38100" dir="2700000" algn="tl">
                  <a:srgbClr val="C0C0C0"/>
                </a:outerShdw>
              </a:effectLst>
              <a:uLnTx/>
              <a:uFillTx/>
              <a:latin typeface="黑体" panose="02010609060101010101" charset="-122"/>
              <a:ea typeface="黑体" panose="02010609060101010101" charset="-122"/>
              <a:cs typeface="+mn-cs"/>
            </a:endParaRPr>
          </a:p>
        </p:txBody>
      </p:sp>
      <p:sp>
        <p:nvSpPr>
          <p:cNvPr id="27653" name="矩形 4"/>
          <p:cNvSpPr/>
          <p:nvPr/>
        </p:nvSpPr>
        <p:spPr>
          <a:xfrm>
            <a:off x="4117340" y="1084580"/>
            <a:ext cx="5243830" cy="610870"/>
          </a:xfrm>
          <a:prstGeom prst="rect">
            <a:avLst/>
          </a:prstGeom>
          <a:noFill/>
          <a:ln w="9525">
            <a:noFill/>
          </a:ln>
        </p:spPr>
        <p:txBody>
          <a:bodyPr wrap="square"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如何才能受到保护</a:t>
            </a:r>
            <a:endParaRPr lang="zh-CN" altLang="en-US" sz="3375" dirty="0">
              <a:solidFill>
                <a:srgbClr val="000000"/>
              </a:solidFill>
              <a:latin typeface="微软雅黑" panose="020B0503020204020204" pitchFamily="34" charset="-122"/>
              <a:ea typeface="微软雅黑" panose="020B0503020204020204" pitchFamily="34" charset="-122"/>
            </a:endParaRPr>
          </a:p>
        </p:txBody>
      </p:sp>
      <p:sp>
        <p:nvSpPr>
          <p:cNvPr id="6" name="圆角矩形 5"/>
          <p:cNvSpPr/>
          <p:nvPr/>
        </p:nvSpPr>
        <p:spPr>
          <a:xfrm>
            <a:off x="2655673" y="2337472"/>
            <a:ext cx="873945" cy="79860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48" name="圆角矩形 47"/>
          <p:cNvSpPr/>
          <p:nvPr/>
        </p:nvSpPr>
        <p:spPr>
          <a:xfrm>
            <a:off x="2655673" y="3536217"/>
            <a:ext cx="873945" cy="79693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49" name="圆角矩形 48"/>
          <p:cNvSpPr/>
          <p:nvPr/>
        </p:nvSpPr>
        <p:spPr>
          <a:xfrm>
            <a:off x="2655673" y="4734962"/>
            <a:ext cx="873945" cy="79693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50" name="圆角矩形 49"/>
          <p:cNvSpPr/>
          <p:nvPr/>
        </p:nvSpPr>
        <p:spPr>
          <a:xfrm>
            <a:off x="2655673" y="5932032"/>
            <a:ext cx="873945" cy="79860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7" name="圆角矩形 6"/>
          <p:cNvSpPr/>
          <p:nvPr/>
        </p:nvSpPr>
        <p:spPr>
          <a:xfrm>
            <a:off x="3620135" y="2350770"/>
            <a:ext cx="9171305" cy="785495"/>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27659" name="矩形 7"/>
          <p:cNvSpPr/>
          <p:nvPr/>
        </p:nvSpPr>
        <p:spPr>
          <a:xfrm>
            <a:off x="3743325" y="2424430"/>
            <a:ext cx="2981960" cy="4800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00000"/>
              </a:lnSpc>
              <a:spcBef>
                <a:spcPct val="50000"/>
              </a:spcBef>
              <a:buClr>
                <a:schemeClr val="tx1"/>
              </a:buClr>
              <a:buNone/>
            </a:pPr>
            <a:r>
              <a:rPr sz="2530" b="1" dirty="0">
                <a:solidFill>
                  <a:schemeClr val="bg1"/>
                </a:solidFill>
                <a:latin typeface="微软雅黑" panose="020B0503020204020204" pitchFamily="34" charset="-122"/>
                <a:ea typeface="微软雅黑" panose="020B0503020204020204" pitchFamily="34" charset="-122"/>
              </a:rPr>
              <a:t>版权登记</a:t>
            </a:r>
            <a:endParaRPr sz="2530" b="1" dirty="0">
              <a:solidFill>
                <a:schemeClr val="bg1"/>
              </a:solidFill>
              <a:latin typeface="微软雅黑" panose="020B0503020204020204" pitchFamily="34" charset="-122"/>
              <a:ea typeface="微软雅黑" panose="020B0503020204020204" pitchFamily="34" charset="-122"/>
            </a:endParaRPr>
          </a:p>
        </p:txBody>
      </p:sp>
      <p:sp>
        <p:nvSpPr>
          <p:cNvPr id="27660" name="矩形 8"/>
          <p:cNvSpPr/>
          <p:nvPr/>
        </p:nvSpPr>
        <p:spPr>
          <a:xfrm>
            <a:off x="2838164" y="2496523"/>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一</a:t>
            </a:r>
            <a:endParaRPr lang="zh-CN" altLang="en-US" sz="2530" b="1" dirty="0">
              <a:latin typeface="黑体" panose="02010609060101010101" charset="-122"/>
            </a:endParaRPr>
          </a:p>
        </p:txBody>
      </p:sp>
      <p:sp>
        <p:nvSpPr>
          <p:cNvPr id="54" name="圆角矩形 53"/>
          <p:cNvSpPr/>
          <p:nvPr/>
        </p:nvSpPr>
        <p:spPr>
          <a:xfrm>
            <a:off x="3620135" y="3547745"/>
            <a:ext cx="9237980" cy="849630"/>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55" name="圆角矩形 54"/>
          <p:cNvSpPr/>
          <p:nvPr/>
        </p:nvSpPr>
        <p:spPr>
          <a:xfrm>
            <a:off x="3620135" y="4746625"/>
            <a:ext cx="9237345" cy="785495"/>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56" name="圆角矩形 55"/>
          <p:cNvSpPr/>
          <p:nvPr/>
        </p:nvSpPr>
        <p:spPr>
          <a:xfrm>
            <a:off x="3620135" y="5945505"/>
            <a:ext cx="9237980" cy="849630"/>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27664" name="矩形 9"/>
          <p:cNvSpPr/>
          <p:nvPr/>
        </p:nvSpPr>
        <p:spPr>
          <a:xfrm>
            <a:off x="3743325" y="3696970"/>
            <a:ext cx="9653270" cy="4800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00000"/>
              </a:lnSpc>
              <a:spcBef>
                <a:spcPct val="50000"/>
              </a:spcBef>
              <a:buClr>
                <a:schemeClr val="tx1"/>
              </a:buClr>
              <a:buNone/>
            </a:pPr>
            <a:r>
              <a:rPr lang="zh-CN" altLang="en-US" sz="2530" b="1" dirty="0">
                <a:solidFill>
                  <a:schemeClr val="bg1"/>
                </a:solidFill>
                <a:latin typeface="微软雅黑" panose="020B0503020204020204" pitchFamily="34" charset="-122"/>
                <a:ea typeface="微软雅黑" panose="020B0503020204020204" pitchFamily="34" charset="-122"/>
              </a:rPr>
              <a:t>将作品刻录在光盘或U盘中保存好，然后给自己寄一封EMS</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7665" name="矩形 10"/>
          <p:cNvSpPr/>
          <p:nvPr/>
        </p:nvSpPr>
        <p:spPr>
          <a:xfrm>
            <a:off x="3742690" y="4974590"/>
            <a:ext cx="5694045" cy="4800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00000"/>
              </a:lnSpc>
              <a:spcBef>
                <a:spcPct val="50000"/>
              </a:spcBef>
              <a:buClr>
                <a:schemeClr val="tx1"/>
              </a:buClr>
              <a:buNone/>
            </a:pPr>
            <a:r>
              <a:rPr lang="zh-CN" altLang="en-US" sz="2530" b="1" dirty="0">
                <a:solidFill>
                  <a:schemeClr val="bg1"/>
                </a:solidFill>
                <a:latin typeface="微软雅黑" panose="020B0503020204020204" pitchFamily="34" charset="-122"/>
                <a:ea typeface="微软雅黑" panose="020B0503020204020204" pitchFamily="34" charset="-122"/>
              </a:rPr>
              <a:t>过第三方进行区块链版权存证</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7666" name="矩形 11"/>
          <p:cNvSpPr/>
          <p:nvPr/>
        </p:nvSpPr>
        <p:spPr>
          <a:xfrm>
            <a:off x="3742690" y="6043295"/>
            <a:ext cx="5427345" cy="4800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50000"/>
              </a:spcBef>
              <a:buClr>
                <a:schemeClr val="tx1"/>
              </a:buClr>
              <a:buNone/>
            </a:pPr>
            <a:r>
              <a:rPr lang="zh-CN" altLang="en-US" sz="2530" b="1" dirty="0">
                <a:solidFill>
                  <a:schemeClr val="bg1"/>
                </a:solidFill>
                <a:latin typeface="微软雅黑" panose="020B0503020204020204" pitchFamily="34" charset="-122"/>
                <a:ea typeface="微软雅黑" panose="020B0503020204020204" pitchFamily="34" charset="-122"/>
              </a:rPr>
              <a:t>其他能够证明作品属于你自己的方式</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7667" name="矩形 12"/>
          <p:cNvSpPr/>
          <p:nvPr/>
        </p:nvSpPr>
        <p:spPr>
          <a:xfrm>
            <a:off x="2833141" y="3696943"/>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二</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7668" name="矩形 13"/>
          <p:cNvSpPr/>
          <p:nvPr/>
        </p:nvSpPr>
        <p:spPr>
          <a:xfrm>
            <a:off x="2851558" y="4878945"/>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三</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27669" name="矩形 14"/>
          <p:cNvSpPr/>
          <p:nvPr/>
        </p:nvSpPr>
        <p:spPr>
          <a:xfrm>
            <a:off x="2851558" y="6087735"/>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四</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3032374" y="3015533"/>
            <a:ext cx="122219" cy="64122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a:off x="3029025" y="4202558"/>
            <a:ext cx="122219" cy="64122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65" name="圆角矩形 64"/>
          <p:cNvSpPr/>
          <p:nvPr/>
        </p:nvSpPr>
        <p:spPr>
          <a:xfrm>
            <a:off x="3025677" y="5401303"/>
            <a:ext cx="120544" cy="64122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9" name="任意多边形 8"/>
          <p:cNvSpPr/>
          <p:nvPr>
            <p:custDataLst>
              <p:tags r:id="rId2"/>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3"/>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0"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02  </a:t>
            </a:r>
            <a:r>
              <a:rPr lang="zh-CN" altLang="en-US" sz="3000" dirty="0">
                <a:solidFill>
                  <a:schemeClr val="accent1"/>
                </a:solidFill>
                <a:latin typeface="黑体" panose="02010609060101010101" charset="-122"/>
                <a:ea typeface="微软雅黑" panose="020B0503020204020204" pitchFamily="34" charset="-122"/>
                <a:sym typeface="+mn-ea"/>
              </a:rPr>
              <a:t>版权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2036887" y="663997"/>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03</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42175" y="2832735"/>
            <a:ext cx="5582285" cy="768985"/>
          </a:xfrm>
          <a:prstGeom prst="rect">
            <a:avLst/>
          </a:prstGeom>
          <a:noFill/>
        </p:spPr>
        <p:txBody>
          <a:bodyPr wrap="square" lIns="0" tIns="0" rIns="0" bIns="0" rtlCol="0">
            <a:spAutoFit/>
          </a:bodyPr>
          <a:lstStyle/>
          <a:p>
            <a:pPr algn="ctr"/>
            <a:r>
              <a:rPr lang="zh-CN" altLang="en-US" sz="5000" dirty="0">
                <a:latin typeface="黑体" panose="02010609060101010101" charset="-122"/>
                <a:ea typeface="微软雅黑" panose="020B0503020204020204" pitchFamily="34" charset="-122"/>
                <a:sym typeface="+mn-ea"/>
              </a:rPr>
              <a:t>商标</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4184650" y="917575"/>
            <a:ext cx="3943350" cy="3460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p:nvPr/>
        </p:nvSpPr>
        <p:spPr>
          <a:xfrm>
            <a:off x="3543012" y="1240383"/>
            <a:ext cx="3594561" cy="610870"/>
          </a:xfrm>
          <a:prstGeom prst="rect">
            <a:avLst/>
          </a:prstGeom>
          <a:noFill/>
          <a:ln w="9525">
            <a:noFill/>
          </a:ln>
        </p:spPr>
        <p:txBody>
          <a:bodyPr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商标的定义</a:t>
            </a:r>
            <a:endPar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296" name="TextBox 7"/>
          <p:cNvSpPr/>
          <p:nvPr/>
        </p:nvSpPr>
        <p:spPr>
          <a:xfrm>
            <a:off x="4531360" y="2555240"/>
            <a:ext cx="8119110" cy="349821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None/>
            </a:pPr>
            <a:r>
              <a:rPr lang="zh-CN" altLang="en-US" sz="2110" dirty="0">
                <a:latin typeface="微软雅黑" panose="020B0503020204020204" pitchFamily="34" charset="-122"/>
                <a:ea typeface="微软雅黑" panose="020B0503020204020204" pitchFamily="34" charset="-122"/>
              </a:rPr>
              <a:t>商标是对公司用于标识商品和服务的文字、符号、设计或这三者之间的组合的法律保护。商标有助于将某家公司的商品和服务与其它公司区分开来，例如品牌名称或徽标。</a:t>
            </a: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r>
              <a:rPr lang="zh-CN" altLang="en-US" sz="2110" dirty="0">
                <a:latin typeface="微软雅黑" panose="020B0503020204020204" pitchFamily="34" charset="-122"/>
                <a:ea typeface="微软雅黑" panose="020B0503020204020204" pitchFamily="34" charset="-122"/>
              </a:rPr>
              <a:t>商标侵权指的是：卖家使用某种特定标志或易混淆的近似标志，如某品牌商标的文字、符号或设计，或其组合（如品牌名称或徽标），导致消费者对所售商品是否为商标所有者的商品产生混淆。</a:t>
            </a:r>
            <a:endParaRPr lang="zh-CN" altLang="en-US" sz="2110" dirty="0">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Content Placeholder 2"/>
          <p:cNvSpPr txBox="1"/>
          <p:nvPr/>
        </p:nvSpPr>
        <p:spPr>
          <a:xfrm>
            <a:off x="577215" y="6413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03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商标</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p:cNvPicPr>
            <a:picLocks noChangeAspect="1"/>
          </p:cNvPicPr>
          <p:nvPr/>
        </p:nvPicPr>
        <p:blipFill>
          <a:blip r:embed="rId3"/>
          <a:stretch>
            <a:fillRect/>
          </a:stretch>
        </p:blipFill>
        <p:spPr>
          <a:xfrm>
            <a:off x="355600" y="2555240"/>
            <a:ext cx="3943350" cy="34607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500" fill="hold"/>
                                        <p:tgtEl>
                                          <p:spTgt spid="12291"/>
                                        </p:tgtEl>
                                        <p:attrNameLst>
                                          <p:attrName>ppt_w</p:attrName>
                                        </p:attrNameLst>
                                      </p:cBhvr>
                                      <p:tavLst>
                                        <p:tav tm="0">
                                          <p:val>
                                            <p:fltVal val="0"/>
                                          </p:val>
                                        </p:tav>
                                        <p:tav tm="100000">
                                          <p:val>
                                            <p:strVal val="#ppt_w"/>
                                          </p:val>
                                        </p:tav>
                                      </p:tavLst>
                                    </p:anim>
                                    <p:anim calcmode="lin" valueType="num">
                                      <p:cBhvr>
                                        <p:cTn id="8" dur="500" fill="hold"/>
                                        <p:tgtEl>
                                          <p:spTgt spid="12291"/>
                                        </p:tgtEl>
                                        <p:attrNameLst>
                                          <p:attrName>ppt_h</p:attrName>
                                        </p:attrNameLst>
                                      </p:cBhvr>
                                      <p:tavLst>
                                        <p:tav tm="0">
                                          <p:val>
                                            <p:fltVal val="0"/>
                                          </p:val>
                                        </p:tav>
                                        <p:tav tm="100000">
                                          <p:val>
                                            <p:strVal val="#ppt_h"/>
                                          </p:val>
                                        </p:tav>
                                      </p:tavLst>
                                    </p:anim>
                                    <p:animEffect filter="fade">
                                      <p:cBhvr>
                                        <p:cTn id="9" dur="500"/>
                                        <p:tgtEl>
                                          <p:spTgt spid="12291"/>
                                        </p:tgtEl>
                                      </p:cBhvr>
                                    </p:animEffect>
                                  </p:childTnLst>
                                </p:cTn>
                              </p:par>
                              <p:par>
                                <p:cTn id="10" presetID="3" presetClass="entr" presetSubtype="10" fill="hold" nodeType="withEffect">
                                  <p:stCondLst>
                                    <p:cond delay="0"/>
                                  </p:stCondLst>
                                  <p:childTnLst>
                                    <p:set>
                                      <p:cBhvr>
                                        <p:cTn id="11" dur="1" fill="hold">
                                          <p:stCondLst>
                                            <p:cond delay="0"/>
                                          </p:stCondLst>
                                        </p:cTn>
                                        <p:tgtEl>
                                          <p:spTgt spid="12296">
                                            <p:txEl>
                                              <p:pRg st="0" end="0"/>
                                            </p:txEl>
                                          </p:spTgt>
                                        </p:tgtEl>
                                        <p:attrNameLst>
                                          <p:attrName>style.visibility</p:attrName>
                                        </p:attrNameLst>
                                      </p:cBhvr>
                                      <p:to>
                                        <p:strVal val="visible"/>
                                      </p:to>
                                    </p:set>
                                    <p:animEffect transition="in" filter="blinds(horizontal)">
                                      <p:cBhvr>
                                        <p:cTn id="12" dur="500"/>
                                        <p:tgtEl>
                                          <p:spTgt spid="12296">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296">
                                            <p:txEl>
                                              <p:pRg st="2" end="2"/>
                                            </p:txEl>
                                          </p:spTgt>
                                        </p:tgtEl>
                                        <p:attrNameLst>
                                          <p:attrName>style.visibility</p:attrName>
                                        </p:attrNameLst>
                                      </p:cBhvr>
                                      <p:to>
                                        <p:strVal val="visible"/>
                                      </p:to>
                                    </p:set>
                                    <p:animEffect transition="in" filter="blinds(horizontal)">
                                      <p:cBhvr>
                                        <p:cTn id="15" dur="500"/>
                                        <p:tgtEl>
                                          <p:spTgt spid="1229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6"/>
          <p:cNvSpPr>
            <a:spLocks noGrp="1" noRot="1" noChangeArrowheads="1"/>
          </p:cNvSpPr>
          <p:nvPr>
            <p:ph type="title"/>
          </p:nvPr>
        </p:nvSpPr>
        <p:spPr>
          <a:xfrm>
            <a:off x="661093" y="1308559"/>
            <a:ext cx="6683504" cy="614680"/>
          </a:xfrm>
        </p:spPr>
        <p:txBody>
          <a:bodyPr vert="horz" wrap="square" lIns="96435" tIns="48217" rIns="96435" bIns="48217"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如何注册</a:t>
            </a:r>
            <a:endParaRPr kumimoji="0"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1494790" y="2211705"/>
            <a:ext cx="1724025" cy="480060"/>
          </a:xfrm>
          <a:prstGeom prst="rect">
            <a:avLst/>
          </a:prstGeom>
        </p:spPr>
        <p:txBody>
          <a:bodyPr wrap="square">
            <a:spAutoFit/>
          </a:bodyPr>
          <a:lstStyle/>
          <a:p>
            <a:pPr marR="0" lvl="0" algn="l" defTabSz="914400" rtl="0" eaLnBrk="0" fontAlgn="base" latinLnBrk="0" hangingPunct="0">
              <a:lnSpc>
                <a:spcPct val="100000"/>
              </a:lnSpc>
              <a:spcBef>
                <a:spcPct val="0"/>
              </a:spcBef>
              <a:spcAft>
                <a:spcPct val="0"/>
              </a:spcAft>
              <a:defRPr/>
            </a:pPr>
            <a:r>
              <a:rPr lang="zh-CN" altLang="en-US" sz="2530" b="1" noProof="0" dirty="0">
                <a:ln>
                  <a:noFill/>
                </a:ln>
                <a:solidFill>
                  <a:schemeClr val="accent5"/>
                </a:solidFill>
                <a:effectLst/>
                <a:uLnTx/>
                <a:uFillTx/>
                <a:latin typeface="微软雅黑" panose="020B0503020204020204" pitchFamily="34" charset="-122"/>
                <a:ea typeface="微软雅黑" panose="020B0503020204020204" pitchFamily="34" charset="-122"/>
                <a:sym typeface="+mn-ea"/>
              </a:rPr>
              <a:t>如何注册</a:t>
            </a:r>
            <a:endPar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endParaRPr>
          </a:p>
        </p:txBody>
      </p:sp>
      <p:sp>
        <p:nvSpPr>
          <p:cNvPr id="30727" name="矩形 3"/>
          <p:cNvSpPr/>
          <p:nvPr/>
        </p:nvSpPr>
        <p:spPr>
          <a:xfrm>
            <a:off x="1009015" y="3070225"/>
            <a:ext cx="11685270" cy="70675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None/>
            </a:pPr>
            <a:r>
              <a:rPr lang="zh-CN" altLang="en-US" sz="2000" dirty="0">
                <a:latin typeface="微软雅黑" panose="020B0503020204020204" pitchFamily="34" charset="-122"/>
                <a:ea typeface="微软雅黑" panose="020B0503020204020204" pitchFamily="34" charset="-122"/>
              </a:rPr>
              <a:t>商标申请人向当地商标局提交申请，使用证据，缴纳申请费用，初步通过---公示1-3个月---准备通过---注册成功</a:t>
            </a:r>
            <a:endParaRPr lang="zh-CN" altLang="en-US" sz="2000" dirty="0">
              <a:latin typeface="微软雅黑" panose="020B0503020204020204" pitchFamily="34" charset="-122"/>
              <a:ea typeface="微软雅黑" panose="020B0503020204020204" pitchFamily="34" charset="-122"/>
            </a:endParaRPr>
          </a:p>
        </p:txBody>
      </p:sp>
      <p:sp>
        <p:nvSpPr>
          <p:cNvPr id="5" name="矩形 4"/>
          <p:cNvSpPr/>
          <p:nvPr/>
        </p:nvSpPr>
        <p:spPr>
          <a:xfrm rot="10800000" flipV="1">
            <a:off x="1559560" y="4291330"/>
            <a:ext cx="1715770" cy="48006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rPr>
              <a:t>注册时限</a:t>
            </a:r>
            <a:endParaRPr kumimoji="0" lang="zh-CN" altLang="en-US" sz="2530" b="1" i="0" u="none" strike="noStrike" kern="120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cs typeface="+mn-cs"/>
            </a:endParaRPr>
          </a:p>
        </p:txBody>
      </p:sp>
      <p:sp>
        <p:nvSpPr>
          <p:cNvPr id="30730" name="矩形 5"/>
          <p:cNvSpPr/>
          <p:nvPr/>
        </p:nvSpPr>
        <p:spPr>
          <a:xfrm>
            <a:off x="1009650" y="5298440"/>
            <a:ext cx="11786235" cy="70675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None/>
            </a:pPr>
            <a:r>
              <a:rPr lang="zh-CN" altLang="en-US" sz="2000" dirty="0">
                <a:latin typeface="微软雅黑" panose="020B0503020204020204" pitchFamily="34" charset="-122"/>
                <a:ea typeface="微软雅黑" panose="020B0503020204020204" pitchFamily="34" charset="-122"/>
              </a:rPr>
              <a:t>商标的有效时期是10年，商标的所有者要在有效期之前重新向当地的商标局提出申请，商标才能继续生效。</a:t>
            </a:r>
            <a:endParaRPr lang="zh-CN" altLang="en-US" sz="2000" dirty="0">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1092200"/>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03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商标</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a:p>
            <a:pPr algn="l"/>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3"/>
          <a:stretch>
            <a:fillRect/>
          </a:stretch>
        </p:blipFill>
        <p:spPr>
          <a:xfrm>
            <a:off x="518795" y="2072005"/>
            <a:ext cx="865505" cy="759460"/>
          </a:xfrm>
          <a:prstGeom prst="rect">
            <a:avLst/>
          </a:prstGeom>
        </p:spPr>
      </p:pic>
      <p:pic>
        <p:nvPicPr>
          <p:cNvPr id="8" name="图片 7"/>
          <p:cNvPicPr>
            <a:picLocks noChangeAspect="1"/>
          </p:cNvPicPr>
          <p:nvPr/>
        </p:nvPicPr>
        <p:blipFill>
          <a:blip r:embed="rId3"/>
          <a:stretch>
            <a:fillRect/>
          </a:stretch>
        </p:blipFill>
        <p:spPr>
          <a:xfrm>
            <a:off x="518795" y="4291330"/>
            <a:ext cx="865505" cy="75946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同心圆 4"/>
          <p:cNvSpPr/>
          <p:nvPr/>
        </p:nvSpPr>
        <p:spPr>
          <a:xfrm>
            <a:off x="3033356" y="2023918"/>
            <a:ext cx="1176980" cy="1176980"/>
          </a:xfrm>
          <a:prstGeom prst="donut">
            <a:avLst>
              <a:gd name="adj" fmla="val 1172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6" name="同心圆 5"/>
          <p:cNvSpPr/>
          <p:nvPr/>
        </p:nvSpPr>
        <p:spPr>
          <a:xfrm>
            <a:off x="3047383" y="3244164"/>
            <a:ext cx="1176980" cy="1176980"/>
          </a:xfrm>
          <a:prstGeom prst="donut">
            <a:avLst>
              <a:gd name="adj" fmla="val 1172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8" name="同心圆 7"/>
          <p:cNvSpPr/>
          <p:nvPr/>
        </p:nvSpPr>
        <p:spPr>
          <a:xfrm>
            <a:off x="3026659" y="4421408"/>
            <a:ext cx="1176980" cy="1176980"/>
          </a:xfrm>
          <a:prstGeom prst="donut">
            <a:avLst>
              <a:gd name="adj" fmla="val 1172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9" name="同心圆 8"/>
          <p:cNvSpPr/>
          <p:nvPr/>
        </p:nvSpPr>
        <p:spPr>
          <a:xfrm>
            <a:off x="3015864" y="5598877"/>
            <a:ext cx="1176980" cy="1176980"/>
          </a:xfrm>
          <a:prstGeom prst="donut">
            <a:avLst>
              <a:gd name="adj" fmla="val 1172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34824" name="矩形 10"/>
          <p:cNvSpPr/>
          <p:nvPr/>
        </p:nvSpPr>
        <p:spPr>
          <a:xfrm>
            <a:off x="3191516" y="2228174"/>
            <a:ext cx="825500" cy="59690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30000"/>
              </a:lnSpc>
              <a:spcBef>
                <a:spcPct val="0"/>
              </a:spcBef>
              <a:buFontTx/>
              <a:buNone/>
            </a:pPr>
            <a:r>
              <a:rPr lang="zh-CN" altLang="en-US" sz="2530" b="1" dirty="0">
                <a:latin typeface="微软雅黑" panose="020B0503020204020204" pitchFamily="34" charset="-122"/>
                <a:ea typeface="微软雅黑" panose="020B0503020204020204" pitchFamily="34" charset="-122"/>
              </a:rPr>
              <a:t>美国</a:t>
            </a:r>
            <a:endParaRPr lang="zh-CN" altLang="en-US" sz="2530" b="1" dirty="0">
              <a:latin typeface="微软雅黑" panose="020B0503020204020204" pitchFamily="34" charset="-122"/>
              <a:ea typeface="微软雅黑" panose="020B0503020204020204" pitchFamily="34" charset="-122"/>
            </a:endParaRPr>
          </a:p>
        </p:txBody>
      </p:sp>
      <p:sp>
        <p:nvSpPr>
          <p:cNvPr id="34825" name="矩形 11"/>
          <p:cNvSpPr/>
          <p:nvPr/>
        </p:nvSpPr>
        <p:spPr>
          <a:xfrm>
            <a:off x="3113405" y="3461385"/>
            <a:ext cx="1079500" cy="59690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30000"/>
              </a:lnSpc>
              <a:spcBef>
                <a:spcPct val="0"/>
              </a:spcBef>
              <a:buFontTx/>
              <a:buNone/>
            </a:pPr>
            <a:r>
              <a:rPr lang="zh-CN" altLang="en-US" sz="2530" b="1" dirty="0">
                <a:latin typeface="微软雅黑" panose="020B0503020204020204" pitchFamily="34" charset="-122"/>
                <a:ea typeface="微软雅黑" panose="020B0503020204020204" pitchFamily="34" charset="-122"/>
              </a:rPr>
              <a:t>英国</a:t>
            </a:r>
            <a:endParaRPr lang="zh-CN" altLang="en-US" sz="2530" b="1" dirty="0">
              <a:latin typeface="微软雅黑" panose="020B0503020204020204" pitchFamily="34" charset="-122"/>
              <a:ea typeface="微软雅黑" panose="020B0503020204020204" pitchFamily="34" charset="-122"/>
            </a:endParaRPr>
          </a:p>
        </p:txBody>
      </p:sp>
      <p:sp>
        <p:nvSpPr>
          <p:cNvPr id="34827" name="矩形 13"/>
          <p:cNvSpPr/>
          <p:nvPr/>
        </p:nvSpPr>
        <p:spPr>
          <a:xfrm>
            <a:off x="3223327" y="4675890"/>
            <a:ext cx="825500" cy="59690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30000"/>
              </a:lnSpc>
              <a:spcBef>
                <a:spcPct val="0"/>
              </a:spcBef>
              <a:buFontTx/>
              <a:buNone/>
            </a:pPr>
            <a:r>
              <a:rPr lang="zh-CN" altLang="en-US" sz="2530" b="1" dirty="0">
                <a:latin typeface="微软雅黑" panose="020B0503020204020204" pitchFamily="34" charset="-122"/>
                <a:ea typeface="微软雅黑" panose="020B0503020204020204" pitchFamily="34" charset="-122"/>
              </a:rPr>
              <a:t>欧盟</a:t>
            </a:r>
            <a:endParaRPr lang="zh-CN" altLang="en-US" sz="2530" b="1" dirty="0">
              <a:latin typeface="微软雅黑" panose="020B0503020204020204" pitchFamily="34" charset="-122"/>
              <a:ea typeface="微软雅黑" panose="020B0503020204020204" pitchFamily="34" charset="-122"/>
            </a:endParaRPr>
          </a:p>
        </p:txBody>
      </p:sp>
      <p:sp>
        <p:nvSpPr>
          <p:cNvPr id="34830" name="矩形 16"/>
          <p:cNvSpPr/>
          <p:nvPr/>
        </p:nvSpPr>
        <p:spPr>
          <a:xfrm>
            <a:off x="4667250" y="2228850"/>
            <a:ext cx="3305810" cy="51308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30000"/>
              </a:lnSpc>
              <a:spcBef>
                <a:spcPct val="0"/>
              </a:spcBef>
              <a:buFontTx/>
              <a:buNone/>
            </a:pPr>
            <a:r>
              <a:rPr lang="zh-CN" altLang="en-US" sz="2110" dirty="0">
                <a:latin typeface="微软雅黑" panose="020B0503020204020204" pitchFamily="34" charset="-122"/>
                <a:ea typeface="微软雅黑" panose="020B0503020204020204" pitchFamily="34" charset="-122"/>
              </a:rPr>
              <a:t>https://www.uspto.gov/</a:t>
            </a:r>
            <a:endParaRPr lang="zh-CN" altLang="en-US" sz="2110" dirty="0">
              <a:latin typeface="微软雅黑" panose="020B0503020204020204" pitchFamily="34" charset="-122"/>
              <a:ea typeface="微软雅黑" panose="020B0503020204020204" pitchFamily="34" charset="-122"/>
            </a:endParaRPr>
          </a:p>
        </p:txBody>
      </p:sp>
      <p:sp>
        <p:nvSpPr>
          <p:cNvPr id="34833" name="矩形 19"/>
          <p:cNvSpPr/>
          <p:nvPr/>
        </p:nvSpPr>
        <p:spPr>
          <a:xfrm>
            <a:off x="4666309" y="3425754"/>
            <a:ext cx="5495925" cy="51308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30000"/>
              </a:lnSpc>
              <a:spcBef>
                <a:spcPct val="0"/>
              </a:spcBef>
              <a:buFontTx/>
              <a:buNone/>
            </a:pPr>
            <a:r>
              <a:rPr lang="zh-CN" altLang="en-US" sz="2110" dirty="0">
                <a:latin typeface="微软雅黑" panose="020B0503020204020204" pitchFamily="34" charset="-122"/>
                <a:ea typeface="微软雅黑" panose="020B0503020204020204" pitchFamily="34" charset="-122"/>
              </a:rPr>
              <a:t>https://www.gov.uk/search-for-trademark</a:t>
            </a:r>
            <a:endParaRPr lang="zh-CN" altLang="en-US" sz="2110" dirty="0">
              <a:latin typeface="微软雅黑" panose="020B0503020204020204" pitchFamily="34" charset="-122"/>
              <a:ea typeface="微软雅黑" panose="020B0503020204020204" pitchFamily="34" charset="-122"/>
            </a:endParaRPr>
          </a:p>
        </p:txBody>
      </p:sp>
      <p:sp>
        <p:nvSpPr>
          <p:cNvPr id="34834" name="矩形 20"/>
          <p:cNvSpPr/>
          <p:nvPr/>
        </p:nvSpPr>
        <p:spPr>
          <a:xfrm>
            <a:off x="4667250" y="4676775"/>
            <a:ext cx="4605655" cy="51308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30000"/>
              </a:lnSpc>
              <a:spcBef>
                <a:spcPct val="0"/>
              </a:spcBef>
              <a:buFontTx/>
              <a:buNone/>
            </a:pPr>
            <a:r>
              <a:rPr lang="zh-CN" altLang="en-US" sz="2110" dirty="0">
                <a:latin typeface="微软雅黑" panose="020B0503020204020204" pitchFamily="34" charset="-122"/>
                <a:ea typeface="微软雅黑" panose="020B0503020204020204" pitchFamily="34" charset="-122"/>
              </a:rPr>
              <a:t>https://euipo.europa.eu/eSearch/ </a:t>
            </a:r>
            <a:endParaRPr lang="zh-CN" altLang="en-US" sz="2110" dirty="0">
              <a:latin typeface="微软雅黑" panose="020B0503020204020204" pitchFamily="34" charset="-122"/>
              <a:ea typeface="微软雅黑" panose="020B0503020204020204" pitchFamily="34" charset="-122"/>
            </a:endParaRPr>
          </a:p>
        </p:txBody>
      </p:sp>
      <p:sp>
        <p:nvSpPr>
          <p:cNvPr id="34835" name="矩形 21"/>
          <p:cNvSpPr/>
          <p:nvPr/>
        </p:nvSpPr>
        <p:spPr>
          <a:xfrm>
            <a:off x="4666615" y="5888990"/>
            <a:ext cx="7613650" cy="9347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30000"/>
              </a:lnSpc>
              <a:spcBef>
                <a:spcPct val="0"/>
              </a:spcBef>
              <a:buFontTx/>
              <a:buNone/>
            </a:pPr>
            <a:r>
              <a:rPr lang="zh-CN" altLang="en-US" sz="2110" dirty="0">
                <a:latin typeface="微软雅黑" panose="020B0503020204020204" pitchFamily="34" charset="-122"/>
                <a:ea typeface="微软雅黑" panose="020B0503020204020204" pitchFamily="34" charset="-122"/>
                <a:sym typeface="Arial" panose="020B0604020202020204" pitchFamily="34" charset="0"/>
              </a:rPr>
              <a:t>https://www.trademarkia.com/trademarks-search.aspx?tn=</a:t>
            </a:r>
            <a:endParaRPr lang="zh-CN" altLang="en-US" sz="211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34836" name="Text Box 15"/>
          <p:cNvSpPr txBox="1"/>
          <p:nvPr/>
        </p:nvSpPr>
        <p:spPr>
          <a:xfrm>
            <a:off x="1031587" y="1240383"/>
            <a:ext cx="4585702" cy="610870"/>
          </a:xfrm>
          <a:prstGeom prst="rect">
            <a:avLst/>
          </a:prstGeom>
          <a:noFill/>
          <a:ln w="9525">
            <a:noFill/>
          </a:ln>
        </p:spPr>
        <p:txBody>
          <a:bodyPr anchor="ct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None/>
            </a:pPr>
            <a:r>
              <a:rPr lang="zh-CN" altLang="en-US" sz="3375" b="1" dirty="0">
                <a:solidFill>
                  <a:srgbClr val="000000"/>
                </a:solidFill>
                <a:latin typeface="微软雅黑" panose="020B0503020204020204" pitchFamily="34" charset="-122"/>
                <a:ea typeface="微软雅黑" panose="020B0503020204020204" pitchFamily="34" charset="-122"/>
              </a:rPr>
              <a:t>如何查询</a:t>
            </a:r>
            <a:endParaRPr lang="zh-CN" altLang="en-US" sz="3375" b="1" dirty="0">
              <a:solidFill>
                <a:srgbClr val="000000"/>
              </a:solidFill>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任意多边形 1"/>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03 </a:t>
            </a:r>
            <a:r>
              <a:rPr lang="zh-CN" alt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商标</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矩形 13"/>
          <p:cNvSpPr/>
          <p:nvPr/>
        </p:nvSpPr>
        <p:spPr>
          <a:xfrm>
            <a:off x="3168015" y="5888990"/>
            <a:ext cx="970280" cy="59690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30000"/>
              </a:lnSpc>
              <a:spcBef>
                <a:spcPct val="0"/>
              </a:spcBef>
              <a:buFontTx/>
              <a:buNone/>
            </a:pPr>
            <a:r>
              <a:rPr lang="zh-CN" altLang="en-US" sz="2530" b="1" dirty="0">
                <a:latin typeface="微软雅黑" panose="020B0503020204020204" pitchFamily="34" charset="-122"/>
                <a:ea typeface="微软雅黑" panose="020B0503020204020204" pitchFamily="34" charset="-122"/>
              </a:rPr>
              <a:t>其他</a:t>
            </a:r>
            <a:endParaRPr lang="zh-CN" altLang="en-US" sz="253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idx="4294967295"/>
          </p:nvPr>
        </p:nvSpPr>
        <p:spPr>
          <a:xfrm>
            <a:off x="744855" y="1073785"/>
            <a:ext cx="7358380" cy="614680"/>
          </a:xfrm>
        </p:spPr>
        <p:txBody>
          <a:bodyPr vert="horz" wrap="square" lIns="96435" tIns="48217" rIns="96435" bIns="48217"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2、商标类型：</a:t>
            </a:r>
            <a:r>
              <a:rPr lang="en-US" altLang="zh-CN"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TM</a:t>
            </a: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和</a:t>
            </a:r>
            <a:r>
              <a:rPr lang="en-US" altLang="zh-CN"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R</a:t>
            </a: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标</a:t>
            </a:r>
            <a:endParaRPr kumimoji="0" lang="zh-CN" altLang="en-US"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梯形 2"/>
          <p:cNvSpPr/>
          <p:nvPr/>
        </p:nvSpPr>
        <p:spPr>
          <a:xfrm rot="5400000">
            <a:off x="5080129" y="3050067"/>
            <a:ext cx="398465" cy="341542"/>
          </a:xfrm>
          <a:prstGeom prst="trapezoi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9" name="梯形 8"/>
          <p:cNvSpPr/>
          <p:nvPr/>
        </p:nvSpPr>
        <p:spPr>
          <a:xfrm rot="5400000">
            <a:off x="5080967" y="4922382"/>
            <a:ext cx="396792" cy="341542"/>
          </a:xfrm>
          <a:prstGeom prst="trapezoi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6"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03 </a:t>
            </a:r>
            <a:r>
              <a:rPr lang="zh-CN" alt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商标</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文本框 3"/>
          <p:cNvSpPr txBox="1"/>
          <p:nvPr/>
        </p:nvSpPr>
        <p:spPr>
          <a:xfrm>
            <a:off x="5551170" y="3020695"/>
            <a:ext cx="7098665" cy="1014730"/>
          </a:xfrm>
          <a:prstGeom prst="rect">
            <a:avLst/>
          </a:prstGeom>
          <a:noFill/>
        </p:spPr>
        <p:txBody>
          <a:bodyPr wrap="square" rtlCol="0">
            <a:spAutoFit/>
          </a:bodyPr>
          <a:p>
            <a:pPr algn="l"/>
            <a:r>
              <a:rPr lang="zh-CN" altLang="en-US" sz="2000"/>
              <a:t>用TM则是商标符号的意思，M是英文trademark的缩写。TM域名代表了商标域名。即标注TM的文字、图形或符号是回商标，但不一定已答经注册</a:t>
            </a:r>
            <a:endParaRPr lang="zh-CN" altLang="en-US" sz="2000"/>
          </a:p>
        </p:txBody>
      </p:sp>
      <p:sp>
        <p:nvSpPr>
          <p:cNvPr id="5" name="文本框 4"/>
          <p:cNvSpPr txBox="1"/>
          <p:nvPr/>
        </p:nvSpPr>
        <p:spPr>
          <a:xfrm>
            <a:off x="5551805" y="4894580"/>
            <a:ext cx="6800850" cy="922020"/>
          </a:xfrm>
          <a:prstGeom prst="rect">
            <a:avLst/>
          </a:prstGeom>
          <a:noFill/>
        </p:spPr>
        <p:txBody>
          <a:bodyPr wrap="square" rtlCol="0">
            <a:spAutoFit/>
          </a:bodyPr>
          <a:p>
            <a:pPr algn="l">
              <a:buClrTx/>
              <a:buSzTx/>
              <a:buFontTx/>
            </a:pPr>
            <a:r>
              <a:rPr lang="zh-CN" altLang="en-US" sz="2000"/>
              <a:t>R是REGISTER的缩写，用在商标上是指注册商标的意思。用圆圈R，是“注册商标”的标记，意思是该商标已在国家商标局进行注册申请并已经商标局审查通过，成为注册商标。</a:t>
            </a:r>
            <a:endParaRPr lang="zh-CN" altLang="en-US" sz="2000"/>
          </a:p>
        </p:txBody>
      </p:sp>
      <p:pic>
        <p:nvPicPr>
          <p:cNvPr id="7" name="图片 6"/>
          <p:cNvPicPr>
            <a:picLocks noChangeAspect="1"/>
          </p:cNvPicPr>
          <p:nvPr/>
        </p:nvPicPr>
        <p:blipFill>
          <a:blip r:embed="rId3"/>
          <a:stretch>
            <a:fillRect/>
          </a:stretch>
        </p:blipFill>
        <p:spPr>
          <a:xfrm>
            <a:off x="733425" y="2696210"/>
            <a:ext cx="4375150" cy="3397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rrowheads="1"/>
          </p:cNvSpPr>
          <p:nvPr>
            <p:ph type="title" idx="4294967295"/>
          </p:nvPr>
        </p:nvSpPr>
        <p:spPr>
          <a:xfrm>
            <a:off x="672812" y="1046852"/>
            <a:ext cx="9007328" cy="1134745"/>
          </a:xfrm>
        </p:spPr>
        <p:txBody>
          <a:bodyPr vert="horz" wrap="square" lIns="96435" tIns="48217" rIns="96435" bIns="48217"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商标类型：</a:t>
            </a:r>
            <a:r>
              <a:rPr lang="en-US" altLang="zh-CN"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TM</a:t>
            </a: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和</a:t>
            </a:r>
            <a:r>
              <a:rPr lang="en-US" altLang="zh-CN"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R</a:t>
            </a: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标</a:t>
            </a:r>
            <a:br>
              <a:rPr kumimoji="0" lang="zh-CN" altLang="en-US"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br>
            <a:endParaRPr kumimoji="0" lang="zh-CN" altLang="en-US" sz="3375"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椭圆 1"/>
          <p:cNvSpPr/>
          <p:nvPr/>
        </p:nvSpPr>
        <p:spPr>
          <a:xfrm>
            <a:off x="5699904" y="3023904"/>
            <a:ext cx="2231742" cy="22300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4" name="右中括号 3"/>
          <p:cNvSpPr/>
          <p:nvPr/>
        </p:nvSpPr>
        <p:spPr>
          <a:xfrm>
            <a:off x="4092648" y="2461365"/>
            <a:ext cx="1557029" cy="3355146"/>
          </a:xfrm>
          <a:prstGeom prst="rightBracket">
            <a:avLst>
              <a:gd name="adj" fmla="val 89679"/>
            </a:avLst>
          </a:prstGeom>
          <a:ln w="34925">
            <a:solidFill>
              <a:schemeClr val="accent2"/>
            </a:solidFill>
            <a:prstDash val="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10" name="右中括号 9"/>
          <p:cNvSpPr/>
          <p:nvPr/>
        </p:nvSpPr>
        <p:spPr>
          <a:xfrm flipH="1">
            <a:off x="7965130" y="2359237"/>
            <a:ext cx="1557029" cy="3559401"/>
          </a:xfrm>
          <a:prstGeom prst="rightBracket">
            <a:avLst>
              <a:gd name="adj" fmla="val 89679"/>
            </a:avLst>
          </a:prstGeom>
          <a:ln w="34925">
            <a:solidFill>
              <a:schemeClr val="accent2"/>
            </a:solidFill>
            <a:prstDash val="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32777" name="矩形 6"/>
          <p:cNvSpPr/>
          <p:nvPr/>
        </p:nvSpPr>
        <p:spPr>
          <a:xfrm>
            <a:off x="9680496" y="2181772"/>
            <a:ext cx="211074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FontTx/>
              <a:buNone/>
            </a:pPr>
            <a:r>
              <a:rPr lang="zh-CN" altLang="en-US" sz="2530" b="1" dirty="0">
                <a:latin typeface="微软雅黑" panose="020B0503020204020204" pitchFamily="34" charset="-122"/>
                <a:ea typeface="微软雅黑" panose="020B0503020204020204" pitchFamily="34" charset="-122"/>
              </a:rPr>
              <a:t>法律意义不同</a:t>
            </a:r>
            <a:endParaRPr lang="zh-CN" altLang="en-US" sz="2530" b="1" dirty="0">
              <a:latin typeface="微软雅黑" panose="020B0503020204020204" pitchFamily="34" charset="-122"/>
              <a:ea typeface="微软雅黑" panose="020B0503020204020204" pitchFamily="34" charset="-122"/>
            </a:endParaRPr>
          </a:p>
        </p:txBody>
      </p:sp>
      <p:sp>
        <p:nvSpPr>
          <p:cNvPr id="32778" name="矩形 7"/>
          <p:cNvSpPr/>
          <p:nvPr/>
        </p:nvSpPr>
        <p:spPr>
          <a:xfrm>
            <a:off x="2189056" y="5573748"/>
            <a:ext cx="211074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FontTx/>
              <a:buNone/>
            </a:pPr>
            <a:r>
              <a:rPr lang="zh-CN" altLang="en-US" sz="2530" b="1" dirty="0">
                <a:latin typeface="微软雅黑" panose="020B0503020204020204" pitchFamily="34" charset="-122"/>
                <a:ea typeface="微软雅黑" panose="020B0503020204020204" pitchFamily="34" charset="-122"/>
              </a:rPr>
              <a:t>使用时间不同</a:t>
            </a:r>
            <a:endParaRPr lang="zh-CN" altLang="en-US" sz="2530" b="1" dirty="0">
              <a:latin typeface="微软雅黑" panose="020B0503020204020204" pitchFamily="34" charset="-122"/>
              <a:ea typeface="微软雅黑" panose="020B0503020204020204" pitchFamily="34" charset="-122"/>
            </a:endParaRPr>
          </a:p>
        </p:txBody>
      </p:sp>
      <p:sp>
        <p:nvSpPr>
          <p:cNvPr id="32780" name="矩形 10"/>
          <p:cNvSpPr/>
          <p:nvPr/>
        </p:nvSpPr>
        <p:spPr>
          <a:xfrm>
            <a:off x="9680575" y="5752465"/>
            <a:ext cx="2648585" cy="4800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FontTx/>
              <a:buNone/>
            </a:pPr>
            <a:r>
              <a:rPr lang="zh-CN" altLang="en-US" sz="2530" b="1" dirty="0">
                <a:latin typeface="微软雅黑" panose="020B0503020204020204" pitchFamily="34" charset="-122"/>
                <a:ea typeface="微软雅黑" panose="020B0503020204020204" pitchFamily="34" charset="-122"/>
              </a:rPr>
              <a:t>使用价值不同</a:t>
            </a:r>
            <a:endParaRPr lang="zh-CN" altLang="en-US" sz="2530" b="1" dirty="0">
              <a:latin typeface="微软雅黑" panose="020B0503020204020204" pitchFamily="34" charset="-122"/>
              <a:ea typeface="微软雅黑" panose="020B0503020204020204" pitchFamily="34" charset="-122"/>
            </a:endParaRPr>
          </a:p>
        </p:txBody>
      </p:sp>
      <p:sp>
        <p:nvSpPr>
          <p:cNvPr id="32781" name="矩形 2"/>
          <p:cNvSpPr/>
          <p:nvPr/>
        </p:nvSpPr>
        <p:spPr>
          <a:xfrm>
            <a:off x="6207125" y="3696970"/>
            <a:ext cx="1957070" cy="76835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00000"/>
              </a:lnSpc>
              <a:spcBef>
                <a:spcPct val="0"/>
              </a:spcBef>
              <a:buFontTx/>
              <a:buNone/>
            </a:pPr>
            <a:r>
              <a:rPr lang="zh-CN" altLang="en-US" sz="4400" b="1" dirty="0">
                <a:solidFill>
                  <a:schemeClr val="bg1"/>
                </a:solidFill>
                <a:latin typeface="微软雅黑" panose="020B0503020204020204" pitchFamily="34" charset="-122"/>
                <a:ea typeface="微软雅黑" panose="020B0503020204020204" pitchFamily="34" charset="-122"/>
              </a:rPr>
              <a:t>区别</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7"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03</a:t>
            </a:r>
            <a:r>
              <a:rPr lang="zh-CN" alt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商标</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矩形 10"/>
          <p:cNvSpPr/>
          <p:nvPr/>
        </p:nvSpPr>
        <p:spPr>
          <a:xfrm>
            <a:off x="2075180" y="2154555"/>
            <a:ext cx="1757045" cy="4800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00000"/>
              </a:lnSpc>
              <a:spcBef>
                <a:spcPct val="0"/>
              </a:spcBef>
              <a:buFontTx/>
              <a:buNone/>
            </a:pPr>
            <a:r>
              <a:rPr lang="zh-CN" altLang="en-US" sz="2530" b="1" dirty="0">
                <a:latin typeface="微软雅黑" panose="020B0503020204020204" pitchFamily="34" charset="-122"/>
                <a:ea typeface="微软雅黑" panose="020B0503020204020204" pitchFamily="34" charset="-122"/>
              </a:rPr>
              <a:t>注册表达</a:t>
            </a:r>
            <a:endParaRPr lang="zh-CN" altLang="en-US" sz="253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073910" y="1945640"/>
            <a:ext cx="9444990" cy="4994910"/>
          </a:xfrm>
          <a:prstGeom prst="rect">
            <a:avLst/>
          </a:prstGeom>
        </p:spPr>
      </p:pic>
      <p:sp>
        <p:nvSpPr>
          <p:cNvPr id="29698" name="Text Box 4"/>
          <p:cNvSpPr txBox="1"/>
          <p:nvPr/>
        </p:nvSpPr>
        <p:spPr>
          <a:xfrm>
            <a:off x="1456055" y="935355"/>
            <a:ext cx="10341610" cy="1130935"/>
          </a:xfrm>
          <a:prstGeom prst="rect">
            <a:avLst/>
          </a:prstGeom>
          <a:noFill/>
          <a:ln w="9525">
            <a:noFill/>
          </a:ln>
        </p:spPr>
        <p:txBody>
          <a:bodyPr wrap="square" anchor="ct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None/>
            </a:pP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商标类型：</a:t>
            </a:r>
            <a:r>
              <a:rPr lang="en-US" altLang="zh-CN" sz="337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TM</a:t>
            </a: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和</a:t>
            </a:r>
            <a:r>
              <a:rPr lang="en-US" altLang="zh-CN" sz="337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R</a:t>
            </a:r>
            <a: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标</a:t>
            </a:r>
            <a:br>
              <a:rPr lang="zh-CN" altLang="en-US" sz="3375"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br>
            <a:endParaRPr lang="zh-CN" altLang="en-US" sz="3375" b="1" dirty="0">
              <a:solidFill>
                <a:srgbClr val="000000"/>
              </a:solidFill>
              <a:latin typeface="微软雅黑" panose="020B0503020204020204" pitchFamily="34" charset="-122"/>
              <a:ea typeface="微软雅黑" panose="020B0503020204020204" pitchFamily="34" charset="-122"/>
            </a:endParaRPr>
          </a:p>
        </p:txBody>
      </p:sp>
      <p:sp>
        <p:nvSpPr>
          <p:cNvPr id="29707" name="矩形 8"/>
          <p:cNvSpPr/>
          <p:nvPr/>
        </p:nvSpPr>
        <p:spPr>
          <a:xfrm>
            <a:off x="2161777" y="5168147"/>
            <a:ext cx="1254760" cy="415290"/>
          </a:xfrm>
          <a:prstGeom prst="rect">
            <a:avLst/>
          </a:prstGeom>
          <a:noFill/>
          <a:ln w="9525">
            <a:noFill/>
          </a:ln>
        </p:spPr>
        <p:txBody>
          <a:bodyPr wrap="none">
            <a:spAutoFit/>
          </a:bodyPr>
          <a:lstStyle/>
          <a:p>
            <a:r>
              <a:rPr lang="zh-CN" altLang="en-US" sz="2110" dirty="0">
                <a:solidFill>
                  <a:schemeClr val="bg1"/>
                </a:solidFill>
                <a:latin typeface="微软雅黑" panose="020B0503020204020204" pitchFamily="34" charset="-122"/>
                <a:ea typeface="微软雅黑" panose="020B0503020204020204" pitchFamily="34" charset="-122"/>
              </a:rPr>
              <a:t>安全生产</a:t>
            </a:r>
            <a:endParaRPr lang="zh-CN" altLang="en-US" sz="2110" dirty="0">
              <a:solidFill>
                <a:schemeClr val="bg1"/>
              </a:solidFill>
              <a:latin typeface="黑体" panose="02010609060101010101" charset="-122"/>
            </a:endParaRPr>
          </a:p>
        </p:txBody>
      </p:sp>
      <p:sp>
        <p:nvSpPr>
          <p:cNvPr id="29708" name="矩形 9"/>
          <p:cNvSpPr/>
          <p:nvPr/>
        </p:nvSpPr>
        <p:spPr>
          <a:xfrm>
            <a:off x="5898646" y="5206655"/>
            <a:ext cx="986790" cy="415290"/>
          </a:xfrm>
          <a:prstGeom prst="rect">
            <a:avLst/>
          </a:prstGeom>
          <a:noFill/>
          <a:ln w="9525">
            <a:noFill/>
          </a:ln>
        </p:spPr>
        <p:txBody>
          <a:bodyPr wrap="none">
            <a:spAutoFit/>
          </a:bodyPr>
          <a:lstStyle/>
          <a:p>
            <a:r>
              <a:rPr lang="zh-CN" altLang="en-US" sz="2110" dirty="0">
                <a:solidFill>
                  <a:schemeClr val="bg1"/>
                </a:solidFill>
                <a:latin typeface="微软雅黑" panose="020B0503020204020204" pitchFamily="34" charset="-122"/>
                <a:ea typeface="微软雅黑" panose="020B0503020204020204" pitchFamily="34" charset="-122"/>
              </a:rPr>
              <a:t>全电压</a:t>
            </a:r>
            <a:endParaRPr lang="zh-CN" altLang="en-US" sz="2110" dirty="0">
              <a:solidFill>
                <a:schemeClr val="bg1"/>
              </a:solidFill>
              <a:latin typeface="微软雅黑" panose="020B0503020204020204" pitchFamily="34" charset="-122"/>
              <a:ea typeface="微软雅黑" panose="020B0503020204020204" pitchFamily="34" charset="-122"/>
            </a:endParaRPr>
          </a:p>
        </p:txBody>
      </p:sp>
      <p:sp>
        <p:nvSpPr>
          <p:cNvPr id="29709" name="矩形 13"/>
          <p:cNvSpPr/>
          <p:nvPr/>
        </p:nvSpPr>
        <p:spPr>
          <a:xfrm>
            <a:off x="9489857" y="5168147"/>
            <a:ext cx="986790" cy="415290"/>
          </a:xfrm>
          <a:prstGeom prst="rect">
            <a:avLst/>
          </a:prstGeom>
          <a:noFill/>
          <a:ln w="9525">
            <a:noFill/>
          </a:ln>
        </p:spPr>
        <p:txBody>
          <a:bodyPr wrap="none">
            <a:spAutoFit/>
          </a:bodyPr>
          <a:lstStyle/>
          <a:p>
            <a:r>
              <a:rPr lang="zh-CN" altLang="en-US" sz="2110" dirty="0">
                <a:solidFill>
                  <a:schemeClr val="bg1"/>
                </a:solidFill>
                <a:latin typeface="微软雅黑" panose="020B0503020204020204" pitchFamily="34" charset="-122"/>
                <a:ea typeface="微软雅黑" panose="020B0503020204020204" pitchFamily="34" charset="-122"/>
              </a:rPr>
              <a:t>空作业</a:t>
            </a:r>
            <a:endParaRPr lang="zh-CN" altLang="en-US" sz="2110" dirty="0">
              <a:solidFill>
                <a:schemeClr val="bg1"/>
              </a:solidFill>
              <a:latin typeface="微软雅黑" panose="020B0503020204020204" pitchFamily="34" charset="-122"/>
              <a:ea typeface="微软雅黑" panose="020B0503020204020204" pitchFamily="34" charset="-122"/>
            </a:endParaRPr>
          </a:p>
        </p:txBody>
      </p:sp>
      <p:sp>
        <p:nvSpPr>
          <p:cNvPr id="29710" name="矩形 14"/>
          <p:cNvSpPr/>
          <p:nvPr/>
        </p:nvSpPr>
        <p:spPr>
          <a:xfrm>
            <a:off x="999865" y="5906481"/>
            <a:ext cx="3370213" cy="114300"/>
          </a:xfrm>
          <a:prstGeom prst="rect">
            <a:avLst/>
          </a:prstGeom>
          <a:noFill/>
          <a:ln w="9525">
            <a:noFill/>
          </a:ln>
        </p:spPr>
        <p:txBody>
          <a:bodyPr>
            <a:spAutoFit/>
          </a:bodyPr>
          <a:lstStyle/>
          <a:p>
            <a:pPr eaLnBrk="1" hangingPunct="1">
              <a:lnSpc>
                <a:spcPct val="150000"/>
              </a:lnSpc>
            </a:pPr>
            <a:r>
              <a:rPr lang="zh-CN" altLang="en-US" sz="100" b="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是指在劳动生产过程中，努力改善劳动条件克服不安全因素，防止事故发生，使劳动生产在保证人员安全健康和财产安全的前提下顺利进行。</a:t>
            </a:r>
            <a:endParaRPr lang="zh-CN" altLang="en-US" sz="100" b="0" dirty="0">
              <a:solidFill>
                <a:srgbClr val="000000"/>
              </a:solidFill>
              <a:latin typeface="微软雅黑" panose="020B0503020204020204" pitchFamily="34" charset="-122"/>
              <a:ea typeface="微软雅黑" panose="020B0503020204020204" pitchFamily="34" charset="-122"/>
            </a:endParaRPr>
          </a:p>
        </p:txBody>
      </p:sp>
      <p:sp>
        <p:nvSpPr>
          <p:cNvPr id="29711" name="矩形 15"/>
          <p:cNvSpPr/>
          <p:nvPr/>
        </p:nvSpPr>
        <p:spPr>
          <a:xfrm>
            <a:off x="4661394" y="5906481"/>
            <a:ext cx="3395327" cy="114300"/>
          </a:xfrm>
          <a:prstGeom prst="rect">
            <a:avLst/>
          </a:prstGeom>
          <a:noFill/>
          <a:ln w="9525">
            <a:noFill/>
          </a:ln>
        </p:spPr>
        <p:txBody>
          <a:bodyPr>
            <a:spAutoFit/>
          </a:bodyPr>
          <a:lstStyle/>
          <a:p>
            <a:pPr eaLnBrk="1" hangingPunct="1">
              <a:lnSpc>
                <a:spcPct val="150000"/>
              </a:lnSpc>
            </a:pPr>
            <a:r>
              <a:rPr lang="zh-CN" altLang="en-US" sz="100" b="0" dirty="0">
                <a:solidFill>
                  <a:srgbClr val="000000"/>
                </a:solidFill>
                <a:latin typeface="微软雅黑" panose="020B0503020204020204" pitchFamily="34" charset="-122"/>
                <a:ea typeface="微软雅黑" panose="020B0503020204020204" pitchFamily="34" charset="-122"/>
              </a:rPr>
              <a:t>即在特定环境下，人体触电后不会直接致残或致死的电压值。安全电压共有5个：6V、12V、24V、36V、42V </a:t>
            </a:r>
            <a:endParaRPr lang="zh-CN" altLang="en-US" sz="100" b="0" dirty="0">
              <a:solidFill>
                <a:srgbClr val="000000"/>
              </a:solidFill>
              <a:latin typeface="微软雅黑" panose="020B0503020204020204" pitchFamily="34" charset="-122"/>
              <a:ea typeface="微软雅黑" panose="020B0503020204020204" pitchFamily="34" charset="-122"/>
            </a:endParaRPr>
          </a:p>
        </p:txBody>
      </p:sp>
      <p:sp>
        <p:nvSpPr>
          <p:cNvPr id="29712" name="矩形 16"/>
          <p:cNvSpPr/>
          <p:nvPr/>
        </p:nvSpPr>
        <p:spPr>
          <a:xfrm>
            <a:off x="8483649" y="5906481"/>
            <a:ext cx="3083922" cy="114300"/>
          </a:xfrm>
          <a:prstGeom prst="rect">
            <a:avLst/>
          </a:prstGeom>
          <a:noFill/>
          <a:ln w="9525">
            <a:noFill/>
          </a:ln>
        </p:spPr>
        <p:txBody>
          <a:bodyPr>
            <a:spAutoFit/>
          </a:bodyPr>
          <a:lstStyle/>
          <a:p>
            <a:pPr eaLnBrk="1" hangingPunct="1">
              <a:lnSpc>
                <a:spcPct val="150000"/>
              </a:lnSpc>
            </a:pPr>
            <a:r>
              <a:rPr lang="zh-CN" altLang="en-US" sz="100" b="0" dirty="0">
                <a:solidFill>
                  <a:srgbClr val="000000"/>
                </a:solidFill>
                <a:latin typeface="微软雅黑" panose="020B0503020204020204" pitchFamily="34" charset="-122"/>
                <a:ea typeface="微软雅黑" panose="020B0503020204020204" pitchFamily="34" charset="-122"/>
              </a:rPr>
              <a:t>凡作业平面2米以上作业视为高空作业。</a:t>
            </a:r>
            <a:endParaRPr lang="zh-CN" altLang="en-US" sz="100" b="0" dirty="0">
              <a:solidFill>
                <a:srgbClr val="000000"/>
              </a:solidFill>
              <a:latin typeface="微软雅黑" panose="020B0503020204020204" pitchFamily="34" charset="-122"/>
              <a:ea typeface="微软雅黑" panose="020B0503020204020204" pitchFamily="34" charset="-122"/>
            </a:endParaRPr>
          </a:p>
        </p:txBody>
      </p:sp>
      <p:sp>
        <p:nvSpPr>
          <p:cNvPr id="9" name="任意多边形 8"/>
          <p:cNvSpPr/>
          <p:nvPr>
            <p:custDataLst>
              <p:tags r:id="rId2"/>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3"/>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0"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03 </a:t>
            </a:r>
            <a:r>
              <a:rPr lang="zh-CN" alt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商标</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ransition spd="med">
    <p:cover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2468935" y="808013"/>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04</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76465" y="2832735"/>
            <a:ext cx="5582285" cy="768985"/>
          </a:xfrm>
          <a:prstGeom prst="rect">
            <a:avLst/>
          </a:prstGeom>
          <a:noFill/>
        </p:spPr>
        <p:txBody>
          <a:bodyPr wrap="square" lIns="0" tIns="0" rIns="0" bIns="0" rtlCol="0">
            <a:spAutoFit/>
          </a:bodyPr>
          <a:lstStyle/>
          <a:p>
            <a:pPr algn="ctr"/>
            <a:r>
              <a:rPr lang="zh-CN" altLang="en-US" sz="5000" dirty="0">
                <a:latin typeface="黑体" panose="02010609060101010101" charset="-122"/>
                <a:ea typeface="微软雅黑" panose="020B0503020204020204" pitchFamily="34" charset="-122"/>
                <a:sym typeface="+mn-ea"/>
              </a:rPr>
              <a:t>专利</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sp>
        <p:nvSpPr>
          <p:cNvPr id="9" name="TextBox 8"/>
          <p:cNvSpPr txBox="1"/>
          <p:nvPr/>
        </p:nvSpPr>
        <p:spPr>
          <a:xfrm>
            <a:off x="1561126" y="5871239"/>
            <a:ext cx="309880" cy="645160"/>
          </a:xfrm>
          <a:prstGeom prst="rect">
            <a:avLst/>
          </a:prstGeom>
          <a:noFill/>
        </p:spPr>
        <p:txBody>
          <a:bodyPr wrap="none" rtlCol="0">
            <a:spAutoFit/>
          </a:bodyPr>
          <a:lstStyle/>
          <a:p>
            <a:endParaRPr lang="zh-CN" altLang="en-US" sz="3600" b="1" dirty="0">
              <a:solidFill>
                <a:schemeClr val="bg1"/>
              </a:solidFill>
            </a:endParaRPr>
          </a:p>
        </p:txBody>
      </p:sp>
      <p:pic>
        <p:nvPicPr>
          <p:cNvPr id="2" name="图片 1"/>
          <p:cNvPicPr>
            <a:picLocks noChangeAspect="1"/>
          </p:cNvPicPr>
          <p:nvPr/>
        </p:nvPicPr>
        <p:blipFill>
          <a:blip r:embed="rId1"/>
          <a:stretch>
            <a:fillRect/>
          </a:stretch>
        </p:blipFill>
        <p:spPr>
          <a:xfrm>
            <a:off x="5302250" y="1195705"/>
            <a:ext cx="3221355" cy="32594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p:nvPr/>
        </p:nvSpPr>
        <p:spPr>
          <a:xfrm>
            <a:off x="3543012" y="1240383"/>
            <a:ext cx="3594561" cy="610870"/>
          </a:xfrm>
          <a:prstGeom prst="rect">
            <a:avLst/>
          </a:prstGeom>
          <a:noFill/>
          <a:ln w="9525">
            <a:noFill/>
          </a:ln>
        </p:spPr>
        <p:txBody>
          <a:bodyPr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专利的定义</a:t>
            </a:r>
            <a:endPar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296" name="TextBox 7"/>
          <p:cNvSpPr/>
          <p:nvPr/>
        </p:nvSpPr>
        <p:spPr>
          <a:xfrm>
            <a:off x="4531360" y="2555240"/>
            <a:ext cx="8119110" cy="301117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None/>
            </a:pPr>
            <a:r>
              <a:rPr lang="zh-CN" altLang="en-US" sz="2110" dirty="0">
                <a:latin typeface="微软雅黑" panose="020B0503020204020204" pitchFamily="34" charset="-122"/>
                <a:ea typeface="微软雅黑" panose="020B0503020204020204" pitchFamily="34" charset="-122"/>
              </a:rPr>
              <a:t>专利是对发明的法律保护，不同的国家有不同的专利类型。</a:t>
            </a: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endParaRPr lang="zh-CN" altLang="en-US" sz="2110" dirty="0">
              <a:latin typeface="微软雅黑" panose="020B0503020204020204" pitchFamily="34" charset="-122"/>
              <a:ea typeface="微软雅黑" panose="020B0503020204020204" pitchFamily="34" charset="-122"/>
            </a:endParaRPr>
          </a:p>
          <a:p>
            <a:pPr marL="0" lvl="0" indent="0">
              <a:lnSpc>
                <a:spcPct val="150000"/>
              </a:lnSpc>
              <a:spcBef>
                <a:spcPct val="0"/>
              </a:spcBef>
              <a:buNone/>
            </a:pPr>
            <a:r>
              <a:rPr lang="zh-CN" altLang="en-US" sz="2110" dirty="0">
                <a:latin typeface="微软雅黑" panose="020B0503020204020204" pitchFamily="34" charset="-122"/>
                <a:ea typeface="微软雅黑" panose="020B0503020204020204" pitchFamily="34" charset="-122"/>
              </a:rPr>
              <a:t>专利侵权指的是：卖家在他人专利有效期限内制造、使用、提供销售、销售、或将发明进口至专利注册国的行为</a:t>
            </a:r>
            <a:endParaRPr lang="zh-CN" altLang="en-US" sz="2110" dirty="0">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Content Placeholder 2"/>
          <p:cNvSpPr txBox="1"/>
          <p:nvPr/>
        </p:nvSpPr>
        <p:spPr>
          <a:xfrm>
            <a:off x="577215" y="6413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p:nvPicPr>
        <p:blipFill>
          <a:blip r:embed="rId3"/>
          <a:stretch>
            <a:fillRect/>
          </a:stretch>
        </p:blipFill>
        <p:spPr>
          <a:xfrm>
            <a:off x="577215" y="2667000"/>
            <a:ext cx="3253105" cy="303403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500" fill="hold"/>
                                        <p:tgtEl>
                                          <p:spTgt spid="12291"/>
                                        </p:tgtEl>
                                        <p:attrNameLst>
                                          <p:attrName>ppt_w</p:attrName>
                                        </p:attrNameLst>
                                      </p:cBhvr>
                                      <p:tavLst>
                                        <p:tav tm="0">
                                          <p:val>
                                            <p:fltVal val="0"/>
                                          </p:val>
                                        </p:tav>
                                        <p:tav tm="100000">
                                          <p:val>
                                            <p:strVal val="#ppt_w"/>
                                          </p:val>
                                        </p:tav>
                                      </p:tavLst>
                                    </p:anim>
                                    <p:anim calcmode="lin" valueType="num">
                                      <p:cBhvr>
                                        <p:cTn id="8" dur="500" fill="hold"/>
                                        <p:tgtEl>
                                          <p:spTgt spid="12291"/>
                                        </p:tgtEl>
                                        <p:attrNameLst>
                                          <p:attrName>ppt_h</p:attrName>
                                        </p:attrNameLst>
                                      </p:cBhvr>
                                      <p:tavLst>
                                        <p:tav tm="0">
                                          <p:val>
                                            <p:fltVal val="0"/>
                                          </p:val>
                                        </p:tav>
                                        <p:tav tm="100000">
                                          <p:val>
                                            <p:strVal val="#ppt_h"/>
                                          </p:val>
                                        </p:tav>
                                      </p:tavLst>
                                    </p:anim>
                                    <p:animEffect filter="fade">
                                      <p:cBhvr>
                                        <p:cTn id="9" dur="500"/>
                                        <p:tgtEl>
                                          <p:spTgt spid="12291"/>
                                        </p:tgtEl>
                                      </p:cBhvr>
                                    </p:animEffect>
                                  </p:childTnLst>
                                </p:cTn>
                              </p:par>
                              <p:par>
                                <p:cTn id="10" presetID="3" presetClass="entr" presetSubtype="10" fill="hold" nodeType="withEffect">
                                  <p:stCondLst>
                                    <p:cond delay="0"/>
                                  </p:stCondLst>
                                  <p:childTnLst>
                                    <p:set>
                                      <p:cBhvr>
                                        <p:cTn id="11" dur="1" fill="hold">
                                          <p:stCondLst>
                                            <p:cond delay="0"/>
                                          </p:stCondLst>
                                        </p:cTn>
                                        <p:tgtEl>
                                          <p:spTgt spid="12296">
                                            <p:txEl>
                                              <p:pRg st="0" end="0"/>
                                            </p:txEl>
                                          </p:spTgt>
                                        </p:tgtEl>
                                        <p:attrNameLst>
                                          <p:attrName>style.visibility</p:attrName>
                                        </p:attrNameLst>
                                      </p:cBhvr>
                                      <p:to>
                                        <p:strVal val="visible"/>
                                      </p:to>
                                    </p:set>
                                    <p:animEffect transition="in" filter="blinds(horizontal)">
                                      <p:cBhvr>
                                        <p:cTn id="12" dur="500"/>
                                        <p:tgtEl>
                                          <p:spTgt spid="12296">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296">
                                            <p:txEl>
                                              <p:pRg st="4" end="4"/>
                                            </p:txEl>
                                          </p:spTgt>
                                        </p:tgtEl>
                                        <p:attrNameLst>
                                          <p:attrName>style.visibility</p:attrName>
                                        </p:attrNameLst>
                                      </p:cBhvr>
                                      <p:to>
                                        <p:strVal val="visible"/>
                                      </p:to>
                                    </p:set>
                                    <p:animEffect transition="in" filter="blinds(horizontal)">
                                      <p:cBhvr>
                                        <p:cTn id="15" dur="500"/>
                                        <p:tgtEl>
                                          <p:spTgt spid="1229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p:nvPr/>
        </p:nvSpPr>
        <p:spPr>
          <a:xfrm>
            <a:off x="888077" y="1455648"/>
            <a:ext cx="6087480" cy="610870"/>
          </a:xfrm>
          <a:prstGeom prst="rect">
            <a:avLst/>
          </a:prstGeom>
          <a:noFill/>
          <a:ln w="9525">
            <a:noFill/>
          </a:ln>
        </p:spPr>
        <p:txBody>
          <a:bodyPr anchor="ct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None/>
            </a:pPr>
            <a:r>
              <a:rPr lang="zh-CN" altLang="en-US" sz="3375" b="1" dirty="0">
                <a:solidFill>
                  <a:srgbClr val="000000"/>
                </a:solidFill>
                <a:latin typeface="微软雅黑" panose="020B0503020204020204" pitchFamily="34" charset="-122"/>
                <a:ea typeface="微软雅黑" panose="020B0503020204020204" pitchFamily="34" charset="-122"/>
              </a:rPr>
              <a:t>专利的类型</a:t>
            </a:r>
            <a:endParaRPr lang="zh-CN" altLang="en-US" sz="3375" b="1" dirty="0">
              <a:solidFill>
                <a:srgbClr val="000000"/>
              </a:solidFill>
              <a:latin typeface="微软雅黑" panose="020B0503020204020204" pitchFamily="34" charset="-122"/>
              <a:ea typeface="微软雅黑" panose="020B0503020204020204" pitchFamily="34" charset="-122"/>
            </a:endParaRPr>
          </a:p>
        </p:txBody>
      </p:sp>
      <p:sp>
        <p:nvSpPr>
          <p:cNvPr id="7" name="圆角矩形 6"/>
          <p:cNvSpPr/>
          <p:nvPr/>
        </p:nvSpPr>
        <p:spPr>
          <a:xfrm>
            <a:off x="1880525" y="3024869"/>
            <a:ext cx="873945" cy="79860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8" name="圆角矩形 7"/>
          <p:cNvSpPr/>
          <p:nvPr/>
        </p:nvSpPr>
        <p:spPr>
          <a:xfrm>
            <a:off x="1880525" y="4223613"/>
            <a:ext cx="873945" cy="79693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9" name="圆角矩形 8"/>
          <p:cNvSpPr/>
          <p:nvPr/>
        </p:nvSpPr>
        <p:spPr>
          <a:xfrm>
            <a:off x="1880525" y="5422358"/>
            <a:ext cx="873945" cy="79693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10" name="圆角矩形 9"/>
          <p:cNvSpPr/>
          <p:nvPr/>
        </p:nvSpPr>
        <p:spPr>
          <a:xfrm>
            <a:off x="2844878" y="3038262"/>
            <a:ext cx="4061669" cy="78521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35850" name="矩形 8"/>
          <p:cNvSpPr/>
          <p:nvPr/>
        </p:nvSpPr>
        <p:spPr>
          <a:xfrm>
            <a:off x="2063015" y="3183919"/>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一</a:t>
            </a:r>
            <a:endParaRPr lang="zh-CN" altLang="en-US" sz="2530" b="1" dirty="0">
              <a:latin typeface="黑体" panose="02010609060101010101" charset="-122"/>
            </a:endParaRPr>
          </a:p>
        </p:txBody>
      </p:sp>
      <p:sp>
        <p:nvSpPr>
          <p:cNvPr id="12" name="圆角矩形 11"/>
          <p:cNvSpPr/>
          <p:nvPr/>
        </p:nvSpPr>
        <p:spPr>
          <a:xfrm>
            <a:off x="2844878" y="4235332"/>
            <a:ext cx="4061669" cy="78521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13" name="圆角矩形 12"/>
          <p:cNvSpPr/>
          <p:nvPr/>
        </p:nvSpPr>
        <p:spPr>
          <a:xfrm>
            <a:off x="2844878" y="5434077"/>
            <a:ext cx="4061669" cy="78521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sp>
        <p:nvSpPr>
          <p:cNvPr id="35853" name="矩形 12"/>
          <p:cNvSpPr/>
          <p:nvPr/>
        </p:nvSpPr>
        <p:spPr>
          <a:xfrm>
            <a:off x="2057993" y="4384339"/>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二</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35854" name="矩形 12"/>
          <p:cNvSpPr/>
          <p:nvPr/>
        </p:nvSpPr>
        <p:spPr>
          <a:xfrm>
            <a:off x="2079757" y="5578060"/>
            <a:ext cx="504190" cy="480060"/>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r>
              <a:rPr lang="zh-CN" altLang="en-US" sz="2530" b="1" dirty="0">
                <a:solidFill>
                  <a:schemeClr val="bg1"/>
                </a:solidFill>
                <a:latin typeface="微软雅黑" panose="020B0503020204020204" pitchFamily="34" charset="-122"/>
                <a:ea typeface="微软雅黑" panose="020B0503020204020204" pitchFamily="34" charset="-122"/>
              </a:rPr>
              <a:t>三</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35855" name="矩形 1"/>
          <p:cNvSpPr/>
          <p:nvPr/>
        </p:nvSpPr>
        <p:spPr>
          <a:xfrm>
            <a:off x="3273480" y="3265957"/>
            <a:ext cx="2110740" cy="40195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80000"/>
              </a:lnSpc>
              <a:spcBef>
                <a:spcPct val="0"/>
              </a:spcBef>
              <a:buSzPct val="90000"/>
              <a:buFontTx/>
              <a:buNone/>
            </a:pPr>
            <a:r>
              <a:rPr lang="zh-CN" altLang="en-US" sz="2530" b="1" dirty="0">
                <a:solidFill>
                  <a:schemeClr val="bg1"/>
                </a:solidFill>
                <a:latin typeface="微软雅黑" panose="020B0503020204020204" pitchFamily="34" charset="-122"/>
                <a:ea typeface="微软雅黑" panose="020B0503020204020204" pitchFamily="34" charset="-122"/>
              </a:rPr>
              <a:t>外观设计专利 </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35856" name="矩形 2"/>
          <p:cNvSpPr/>
          <p:nvPr/>
        </p:nvSpPr>
        <p:spPr>
          <a:xfrm>
            <a:off x="3273480" y="4463027"/>
            <a:ext cx="2110740" cy="40195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80000"/>
              </a:lnSpc>
              <a:spcBef>
                <a:spcPct val="0"/>
              </a:spcBef>
              <a:buSzPct val="90000"/>
              <a:buFontTx/>
              <a:buNone/>
            </a:pPr>
            <a:r>
              <a:rPr lang="zh-CN" altLang="en-US" sz="2530" b="1" dirty="0">
                <a:solidFill>
                  <a:schemeClr val="bg1"/>
                </a:solidFill>
                <a:latin typeface="微软雅黑" panose="020B0503020204020204" pitchFamily="34" charset="-122"/>
                <a:ea typeface="微软雅黑" panose="020B0503020204020204" pitchFamily="34" charset="-122"/>
              </a:rPr>
              <a:t>实用新型专利</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35857" name="矩形 3"/>
          <p:cNvSpPr/>
          <p:nvPr/>
        </p:nvSpPr>
        <p:spPr>
          <a:xfrm>
            <a:off x="3273480" y="5656750"/>
            <a:ext cx="1468120" cy="40195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80000"/>
              </a:lnSpc>
              <a:spcBef>
                <a:spcPct val="0"/>
              </a:spcBef>
              <a:buSzPct val="90000"/>
              <a:buFontTx/>
              <a:buNone/>
            </a:pPr>
            <a:r>
              <a:rPr lang="zh-CN" altLang="en-US" sz="2530" b="1" dirty="0">
                <a:solidFill>
                  <a:schemeClr val="bg1"/>
                </a:solidFill>
                <a:latin typeface="微软雅黑" panose="020B0503020204020204" pitchFamily="34" charset="-122"/>
                <a:ea typeface="微软雅黑" panose="020B0503020204020204" pitchFamily="34" charset="-122"/>
              </a:rPr>
              <a:t>发明专利</a:t>
            </a:r>
            <a:endParaRPr lang="zh-CN" altLang="en-US" sz="2530" b="1" dirty="0">
              <a:solidFill>
                <a:schemeClr val="bg1"/>
              </a:solidFill>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任意多边形 1"/>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3"/>
          <a:stretch>
            <a:fillRect/>
          </a:stretch>
        </p:blipFill>
        <p:spPr>
          <a:xfrm>
            <a:off x="7868285" y="2620010"/>
            <a:ext cx="4113530" cy="3836035"/>
          </a:xfrm>
          <a:prstGeom prst="rect">
            <a:avLst/>
          </a:prstGeom>
        </p:spPr>
      </p:pic>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89785" y="289641"/>
            <a:ext cx="8679180" cy="1205442"/>
          </a:xfrm>
        </p:spPr>
        <p:txBody>
          <a:bodyPr vert="horz" wrap="square" lIns="96435" tIns="48217" rIns="96435" bIns="48217"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zh-CN" altLang="zh-CN" sz="4220" b="0" i="0" u="none" strike="noStrike" kern="1200" cap="none" spc="0" normalizeH="0" baseline="0" noProof="0">
                <a:ln>
                  <a:noFill/>
                </a:ln>
                <a:solidFill>
                  <a:srgbClr val="FF0000"/>
                </a:solidFill>
                <a:effectLst/>
                <a:uLnTx/>
                <a:uFillTx/>
                <a:latin typeface="+mj-lt"/>
                <a:ea typeface="+mj-ea"/>
                <a:cs typeface="+mj-cs"/>
              </a:rPr>
            </a:br>
            <a:endParaRPr kumimoji="0" lang="zh-CN" altLang="zh-CN" sz="4220" b="0" i="0" u="none" strike="noStrike" kern="1200" cap="none" spc="0" normalizeH="0" baseline="0" noProof="0">
              <a:ln>
                <a:noFill/>
              </a:ln>
              <a:solidFill>
                <a:srgbClr val="FF0000"/>
              </a:solidFill>
              <a:effectLst/>
              <a:uLnTx/>
              <a:uFillTx/>
              <a:latin typeface="+mj-lt"/>
              <a:ea typeface="+mj-ea"/>
              <a:cs typeface="+mj-cs"/>
            </a:endParaRPr>
          </a:p>
        </p:txBody>
      </p:sp>
      <p:sp>
        <p:nvSpPr>
          <p:cNvPr id="40979" name="AutoShape 29"/>
          <p:cNvSpPr/>
          <p:nvPr/>
        </p:nvSpPr>
        <p:spPr>
          <a:xfrm>
            <a:off x="733425" y="1639183"/>
            <a:ext cx="7580630" cy="826275"/>
          </a:xfrm>
          <a:prstGeom prst="roundRect">
            <a:avLst>
              <a:gd name="adj" fmla="val 50000"/>
            </a:avLst>
          </a:prstGeom>
          <a:noFill/>
          <a:ln w="9525">
            <a:noFill/>
          </a:ln>
        </p:spPr>
        <p:txBody>
          <a:bodyPr anchor="ctr">
            <a:spAutoFit/>
          </a:bodyPr>
          <a:lstStyle/>
          <a:p>
            <a:pPr>
              <a:buFont typeface="Arial" panose="020B0604020202020204" pitchFamily="34" charset="0"/>
            </a:pPr>
            <a:r>
              <a:rPr lang="zh-CN" altLang="en-US" sz="3200" dirty="0">
                <a:solidFill>
                  <a:srgbClr val="000000"/>
                </a:solidFill>
                <a:latin typeface="微软雅黑" panose="020B0503020204020204" pitchFamily="34" charset="-122"/>
                <a:ea typeface="微软雅黑" panose="020B0503020204020204" pitchFamily="34" charset="-122"/>
              </a:rPr>
              <a:t>外观设计专利权：</a:t>
            </a:r>
            <a:endParaRPr lang="zh-CN" altLang="en-US" sz="3200" dirty="0">
              <a:solidFill>
                <a:srgbClr val="000000"/>
              </a:solidFill>
              <a:latin typeface="微软雅黑" panose="020B0503020204020204" pitchFamily="34" charset="-122"/>
              <a:ea typeface="微软雅黑" panose="020B0503020204020204" pitchFamily="34" charset="-122"/>
            </a:endParaRPr>
          </a:p>
        </p:txBody>
      </p:sp>
      <p:sp>
        <p:nvSpPr>
          <p:cNvPr id="40973" name="矩形 5"/>
          <p:cNvSpPr/>
          <p:nvPr/>
        </p:nvSpPr>
        <p:spPr>
          <a:xfrm>
            <a:off x="2807335" y="2133926"/>
            <a:ext cx="1287479"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公司级安全教育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0974" name="矩形 8"/>
          <p:cNvSpPr/>
          <p:nvPr/>
        </p:nvSpPr>
        <p:spPr>
          <a:xfrm>
            <a:off x="2696836" y="4064308"/>
            <a:ext cx="1525219"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部门级安全教育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0975" name="矩形 13"/>
          <p:cNvSpPr/>
          <p:nvPr/>
        </p:nvSpPr>
        <p:spPr>
          <a:xfrm>
            <a:off x="2738692" y="5989666"/>
            <a:ext cx="1441507"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班组级安全教育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 name="任意多边形 3"/>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任意多边形 5"/>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9"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815340" y="3129280"/>
            <a:ext cx="5769610" cy="2037715"/>
          </a:xfrm>
          <a:prstGeom prst="rect">
            <a:avLst/>
          </a:prstGeom>
          <a:noFill/>
          <a:ln w="9525">
            <a:noFill/>
          </a:ln>
        </p:spPr>
        <p:txBody>
          <a:bodyPr wrap="square">
            <a:spAutoFit/>
          </a:bodyPr>
          <a:p>
            <a:pPr marL="0" indent="0">
              <a:lnSpc>
                <a:spcPct val="150000"/>
              </a:lnSpc>
            </a:pPr>
            <a:r>
              <a:rPr lang="zh-CN" altLang="zh-CN" sz="2110" b="0" dirty="0">
                <a:latin typeface="微软雅黑" panose="020B0503020204020204" pitchFamily="34" charset="-122"/>
                <a:ea typeface="微软雅黑" panose="020B0503020204020204" pitchFamily="34" charset="-122"/>
              </a:rPr>
              <a:t>产品的形状、图案、色彩或者其结合所做出的富有美感并适用于工业上应用的新设计，简单来讲就是长得像，只要有60%以上的相似投诉侵权就会被处罚。</a:t>
            </a:r>
            <a:endParaRPr lang="zh-CN" altLang="zh-CN" sz="2110" dirty="0">
              <a:latin typeface="微软雅黑" panose="020B0503020204020204" pitchFamily="34" charset="-122"/>
              <a:ea typeface="微软雅黑" panose="020B0503020204020204" pitchFamily="34" charset="-122"/>
            </a:endParaRPr>
          </a:p>
        </p:txBody>
      </p:sp>
      <p:sp>
        <p:nvSpPr>
          <p:cNvPr id="11" name="椭圆 10"/>
          <p:cNvSpPr/>
          <p:nvPr/>
        </p:nvSpPr>
        <p:spPr>
          <a:xfrm>
            <a:off x="357949" y="1899109"/>
            <a:ext cx="308057" cy="3063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pic>
        <p:nvPicPr>
          <p:cNvPr id="14" name="图片 13"/>
          <p:cNvPicPr>
            <a:picLocks noChangeAspect="1"/>
          </p:cNvPicPr>
          <p:nvPr/>
        </p:nvPicPr>
        <p:blipFill>
          <a:blip r:embed="rId3"/>
          <a:stretch>
            <a:fillRect/>
          </a:stretch>
        </p:blipFill>
        <p:spPr>
          <a:xfrm>
            <a:off x="8584565" y="2205355"/>
            <a:ext cx="2898140" cy="40874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3"/>
          <a:stretch>
            <a:fillRect/>
          </a:stretch>
        </p:blipFill>
        <p:spPr>
          <a:xfrm>
            <a:off x="669290" y="1852295"/>
            <a:ext cx="6490970" cy="3737610"/>
          </a:xfrm>
          <a:prstGeom prst="rect">
            <a:avLst/>
          </a:prstGeom>
        </p:spPr>
      </p:pic>
      <p:sp>
        <p:nvSpPr>
          <p:cNvPr id="5" name="文本框 4"/>
          <p:cNvSpPr txBox="1"/>
          <p:nvPr/>
        </p:nvSpPr>
        <p:spPr>
          <a:xfrm>
            <a:off x="7322820" y="2275840"/>
            <a:ext cx="4639945" cy="2360930"/>
          </a:xfrm>
          <a:prstGeom prst="rect">
            <a:avLst/>
          </a:prstGeom>
          <a:noFill/>
        </p:spPr>
        <p:txBody>
          <a:bodyPr wrap="square" rtlCol="0">
            <a:spAutoFit/>
          </a:bodyPr>
          <a:p>
            <a:pPr algn="l">
              <a:lnSpc>
                <a:spcPct val="140000"/>
              </a:lnSpc>
            </a:pPr>
            <a:r>
              <a:rPr lang="zh-CN" altLang="en-US" sz="2110" dirty="0">
                <a:latin typeface="微软雅黑" panose="020B0503020204020204" pitchFamily="34" charset="-122"/>
                <a:ea typeface="微软雅黑" panose="020B0503020204020204" pitchFamily="34" charset="-122"/>
              </a:rPr>
              <a:t>共注册了29个商标，注册人是Cheveux Corp.。“C.C”商标主要注册的类目：25类、28类，比如：鞋子、袜子、头巾、头带、手套、围巾、帽子等。</a:t>
            </a:r>
            <a:endParaRPr lang="zh-CN" altLang="en-US" sz="211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任意多边形 1"/>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3"/>
          <a:stretch>
            <a:fillRect/>
          </a:stretch>
        </p:blipFill>
        <p:spPr>
          <a:xfrm>
            <a:off x="1975485" y="4403090"/>
            <a:ext cx="1907540" cy="2660650"/>
          </a:xfrm>
          <a:prstGeom prst="rect">
            <a:avLst/>
          </a:prstGeom>
        </p:spPr>
      </p:pic>
      <p:pic>
        <p:nvPicPr>
          <p:cNvPr id="6" name="图片 5"/>
          <p:cNvPicPr>
            <a:picLocks noChangeAspect="1"/>
          </p:cNvPicPr>
          <p:nvPr/>
        </p:nvPicPr>
        <p:blipFill>
          <a:blip r:embed="rId4"/>
          <a:stretch>
            <a:fillRect/>
          </a:stretch>
        </p:blipFill>
        <p:spPr>
          <a:xfrm>
            <a:off x="4801235" y="4389120"/>
            <a:ext cx="1974215" cy="2515235"/>
          </a:xfrm>
          <a:prstGeom prst="rect">
            <a:avLst/>
          </a:prstGeom>
        </p:spPr>
      </p:pic>
      <p:pic>
        <p:nvPicPr>
          <p:cNvPr id="10" name="图片 9"/>
          <p:cNvPicPr>
            <a:picLocks noChangeAspect="1"/>
          </p:cNvPicPr>
          <p:nvPr/>
        </p:nvPicPr>
        <p:blipFill>
          <a:blip r:embed="rId5"/>
          <a:stretch>
            <a:fillRect/>
          </a:stretch>
        </p:blipFill>
        <p:spPr>
          <a:xfrm>
            <a:off x="8027035" y="4316095"/>
            <a:ext cx="3740150" cy="2406650"/>
          </a:xfrm>
          <a:prstGeom prst="rect">
            <a:avLst/>
          </a:prstGeom>
        </p:spPr>
      </p:pic>
      <p:sp>
        <p:nvSpPr>
          <p:cNvPr id="11" name="文本框 10"/>
          <p:cNvSpPr txBox="1"/>
          <p:nvPr/>
        </p:nvSpPr>
        <p:spPr>
          <a:xfrm>
            <a:off x="733425" y="1027430"/>
            <a:ext cx="11800205" cy="706755"/>
          </a:xfrm>
          <a:prstGeom prst="rect">
            <a:avLst/>
          </a:prstGeom>
          <a:noFill/>
        </p:spPr>
        <p:txBody>
          <a:bodyPr wrap="square" rtlCol="0">
            <a:spAutoFit/>
          </a:bodyPr>
          <a:p>
            <a:pPr algn="l"/>
            <a:r>
              <a:rPr lang="zh-CN" altLang="en-US" sz="2000"/>
              <a:t>CC BEANIE的外观专利基本都是冬季的毛线帽，大部分都是帽子上有个“洞”，方便扎马尾的女士。如果你的帽子商标不是C.C但有个“洞”，很大可能会侵权。</a:t>
            </a:r>
            <a:endParaRPr lang="zh-CN" altLang="en-US" sz="2000"/>
          </a:p>
        </p:txBody>
      </p:sp>
      <p:sp>
        <p:nvSpPr>
          <p:cNvPr id="12" name="文本框 11"/>
          <p:cNvSpPr txBox="1"/>
          <p:nvPr/>
        </p:nvSpPr>
        <p:spPr>
          <a:xfrm>
            <a:off x="733425" y="1893570"/>
            <a:ext cx="11801475" cy="1014730"/>
          </a:xfrm>
          <a:prstGeom prst="rect">
            <a:avLst/>
          </a:prstGeom>
          <a:noFill/>
        </p:spPr>
        <p:txBody>
          <a:bodyPr wrap="square" rtlCol="0">
            <a:spAutoFit/>
          </a:bodyPr>
          <a:p>
            <a:pPr algn="l"/>
            <a:r>
              <a:rPr lang="zh-CN" altLang="en-US" sz="2000"/>
              <a:t>CC BEANIE部分专利都有虚线，虚线在美国专利图上表达的意思：虚线部分的设计代表权利人没有指定形状，即使做出改变也还是会侵权。简单来说就是想改变帽子的造型/纹路，保留了马尾洞的设计就会侵权。</a:t>
            </a:r>
            <a:endParaRPr lang="zh-CN" altLang="en-US" sz="2000"/>
          </a:p>
          <a:p>
            <a:pPr algn="l"/>
            <a:endParaRPr lang="zh-CN" altLang="en-US" sz="2000"/>
          </a:p>
        </p:txBody>
      </p:sp>
      <p:sp>
        <p:nvSpPr>
          <p:cNvPr id="13" name="文本框 12"/>
          <p:cNvSpPr txBox="1"/>
          <p:nvPr/>
        </p:nvSpPr>
        <p:spPr>
          <a:xfrm>
            <a:off x="733425" y="2815590"/>
            <a:ext cx="11666220" cy="1322070"/>
          </a:xfrm>
          <a:prstGeom prst="rect">
            <a:avLst/>
          </a:prstGeom>
          <a:noFill/>
        </p:spPr>
        <p:txBody>
          <a:bodyPr wrap="square" rtlCol="0">
            <a:spAutoFit/>
          </a:bodyPr>
          <a:p>
            <a:pPr algn="l"/>
            <a:endParaRPr lang="zh-CN" altLang="en-US" sz="2000"/>
          </a:p>
          <a:p>
            <a:pPr algn="l"/>
            <a:r>
              <a:rPr lang="zh-CN" altLang="en-US" sz="2000">
                <a:sym typeface="+mn-ea"/>
              </a:rPr>
              <a:t>此外，CC BEANIE注册的专利都有一个特点，很多款式都申请一个全实线专利，然后再申请一个含有虚线的专利，最大化的夸大保护范围。</a:t>
            </a:r>
            <a:endParaRPr lang="zh-CN" altLang="en-US" sz="2000"/>
          </a:p>
          <a:p>
            <a:endParaRPr lang="zh-CN" altLang="en-US" sz="200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3"/>
          <a:stretch>
            <a:fillRect/>
          </a:stretch>
        </p:blipFill>
        <p:spPr>
          <a:xfrm>
            <a:off x="803275" y="1359535"/>
            <a:ext cx="11128375" cy="55225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p:cNvSpPr>
          <p:nvPr/>
        </p:nvSpPr>
        <p:spPr>
          <a:xfrm>
            <a:off x="1031587" y="1096873"/>
            <a:ext cx="5998747" cy="610870"/>
          </a:xfrm>
          <a:prstGeom prst="rect">
            <a:avLst/>
          </a:prstGeom>
          <a:noFill/>
          <a:ln w="9525">
            <a:noFill/>
          </a:ln>
        </p:spPr>
        <p:txBody>
          <a:bodyPr wrap="square"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rPr>
              <a:t>解压玩具-独角兽</a:t>
            </a:r>
            <a:endParaRPr lang="zh-CN" altLang="en-US" sz="3375" dirty="0">
              <a:solidFill>
                <a:srgbClr val="000000"/>
              </a:solidFill>
              <a:latin typeface="微软雅黑" panose="020B0503020204020204" pitchFamily="34" charset="-122"/>
              <a:ea typeface="微软雅黑" panose="020B0503020204020204" pitchFamily="34" charset="-122"/>
            </a:endParaRPr>
          </a:p>
        </p:txBody>
      </p:sp>
      <p:sp>
        <p:nvSpPr>
          <p:cNvPr id="2" name="图文框 1"/>
          <p:cNvSpPr/>
          <p:nvPr/>
        </p:nvSpPr>
        <p:spPr>
          <a:xfrm>
            <a:off x="1796796" y="2097804"/>
            <a:ext cx="9303666" cy="4436695"/>
          </a:xfrm>
          <a:prstGeom prst="frame">
            <a:avLst>
              <a:gd name="adj1" fmla="val 243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7" rIns="96435" bIns="48217"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96263" name="矩形 2"/>
          <p:cNvSpPr/>
          <p:nvPr/>
        </p:nvSpPr>
        <p:spPr>
          <a:xfrm>
            <a:off x="6354035" y="2780887"/>
            <a:ext cx="4175516" cy="2524760"/>
          </a:xfrm>
          <a:prstGeom prst="rect">
            <a:avLst/>
          </a:prstGeom>
          <a:noFill/>
          <a:ln w="9525">
            <a:noFill/>
          </a:ln>
        </p:spPr>
        <p:txBody>
          <a:bodyPr>
            <a:spAutoFit/>
          </a:bodyPr>
          <a:lstStyle/>
          <a:p>
            <a:pPr eaLnBrk="1" hangingPunct="1">
              <a:lnSpc>
                <a:spcPct val="150000"/>
              </a:lnSpc>
              <a:buFont typeface="Webdings" panose="05030102010509060703" pitchFamily="18" charset="2"/>
            </a:pPr>
            <a:r>
              <a:rPr lang="zh-CN" altLang="en-US" sz="2110" b="0" dirty="0">
                <a:latin typeface="微软雅黑" panose="020B0503020204020204" pitchFamily="34" charset="-122"/>
                <a:ea typeface="微软雅黑" panose="020B0503020204020204" pitchFamily="34" charset="-122"/>
              </a:rPr>
              <a:t>该专利于2020年12月29日提交，通过加急申请，2021年7月13日正式获取专利证书，保护的对象是具有独角兽轮廓的灭鼠先锋类益智玩具。</a:t>
            </a:r>
            <a:endParaRPr lang="zh-CN" altLang="en-US" sz="2110" b="0" dirty="0">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6"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10" name="图片 9"/>
          <p:cNvPicPr>
            <a:picLocks noChangeAspect="1"/>
          </p:cNvPicPr>
          <p:nvPr/>
        </p:nvPicPr>
        <p:blipFill>
          <a:blip r:embed="rId3"/>
          <a:stretch>
            <a:fillRect/>
          </a:stretch>
        </p:blipFill>
        <p:spPr>
          <a:xfrm>
            <a:off x="2635250" y="2590800"/>
            <a:ext cx="3162300" cy="37198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89785" y="289641"/>
            <a:ext cx="8679180" cy="1205442"/>
          </a:xfrm>
        </p:spPr>
        <p:txBody>
          <a:bodyPr vert="horz" wrap="square" lIns="96435" tIns="48217" rIns="96435" bIns="48217"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zh-CN" altLang="zh-CN" sz="4220" b="0" i="0" u="none" strike="noStrike" kern="1200" cap="none" spc="0" normalizeH="0" baseline="0" noProof="0">
                <a:ln>
                  <a:noFill/>
                </a:ln>
                <a:solidFill>
                  <a:srgbClr val="FF0000"/>
                </a:solidFill>
                <a:effectLst/>
                <a:uLnTx/>
                <a:uFillTx/>
                <a:latin typeface="+mj-lt"/>
                <a:ea typeface="+mj-ea"/>
                <a:cs typeface="+mj-cs"/>
              </a:rPr>
            </a:br>
            <a:endParaRPr kumimoji="0" lang="zh-CN" altLang="zh-CN" sz="4220" b="0" i="0" u="none" strike="noStrike" kern="1200" cap="none" spc="0" normalizeH="0" baseline="0" noProof="0">
              <a:ln>
                <a:noFill/>
              </a:ln>
              <a:solidFill>
                <a:srgbClr val="FF0000"/>
              </a:solidFill>
              <a:effectLst/>
              <a:uLnTx/>
              <a:uFillTx/>
              <a:latin typeface="+mj-lt"/>
              <a:ea typeface="+mj-ea"/>
              <a:cs typeface="+mj-cs"/>
            </a:endParaRPr>
          </a:p>
        </p:txBody>
      </p:sp>
      <p:sp>
        <p:nvSpPr>
          <p:cNvPr id="40979" name="AutoShape 29"/>
          <p:cNvSpPr/>
          <p:nvPr/>
        </p:nvSpPr>
        <p:spPr>
          <a:xfrm>
            <a:off x="733425" y="1639638"/>
            <a:ext cx="7580630" cy="825365"/>
          </a:xfrm>
          <a:prstGeom prst="roundRect">
            <a:avLst>
              <a:gd name="adj" fmla="val 50000"/>
            </a:avLst>
          </a:prstGeom>
          <a:noFill/>
          <a:ln w="9525">
            <a:noFill/>
          </a:ln>
        </p:spPr>
        <p:txBody>
          <a:bodyPr anchor="ctr">
            <a:spAutoFit/>
          </a:bodyPr>
          <a:lstStyle/>
          <a:p>
            <a:pPr>
              <a:buFont typeface="Arial" panose="020B0604020202020204" pitchFamily="34" charset="0"/>
            </a:pPr>
            <a:r>
              <a:rPr lang="zh-CN" altLang="en-US" sz="3200" dirty="0">
                <a:solidFill>
                  <a:srgbClr val="000000"/>
                </a:solidFill>
                <a:latin typeface="微软雅黑" panose="020B0503020204020204" pitchFamily="34" charset="-122"/>
                <a:ea typeface="微软雅黑" panose="020B0503020204020204" pitchFamily="34" charset="-122"/>
              </a:rPr>
              <a:t>实用新型专利权：</a:t>
            </a:r>
            <a:endParaRPr lang="zh-CN" altLang="en-US" sz="3200" dirty="0">
              <a:solidFill>
                <a:srgbClr val="000000"/>
              </a:solidFill>
              <a:latin typeface="微软雅黑" panose="020B0503020204020204" pitchFamily="34" charset="-122"/>
              <a:ea typeface="微软雅黑" panose="020B0503020204020204" pitchFamily="34" charset="-122"/>
            </a:endParaRPr>
          </a:p>
        </p:txBody>
      </p:sp>
      <p:sp>
        <p:nvSpPr>
          <p:cNvPr id="40973" name="矩形 5"/>
          <p:cNvSpPr/>
          <p:nvPr/>
        </p:nvSpPr>
        <p:spPr>
          <a:xfrm>
            <a:off x="2807335" y="2133926"/>
            <a:ext cx="1287479"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公司级安全教育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0974" name="矩形 8"/>
          <p:cNvSpPr/>
          <p:nvPr/>
        </p:nvSpPr>
        <p:spPr>
          <a:xfrm>
            <a:off x="2696836" y="4064308"/>
            <a:ext cx="1525219"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部门级安全教育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0975" name="矩形 13"/>
          <p:cNvSpPr/>
          <p:nvPr/>
        </p:nvSpPr>
        <p:spPr>
          <a:xfrm>
            <a:off x="733425" y="5749925"/>
            <a:ext cx="11393170" cy="6451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algn="l" eaLnBrk="1" hangingPunct="1">
              <a:lnSpc>
                <a:spcPct val="100000"/>
              </a:lnSpc>
              <a:buClrTx/>
              <a:buSzTx/>
              <a:buFontTx/>
              <a:buNone/>
            </a:pPr>
            <a:r>
              <a:rPr lang="zh-CN" altLang="en-US" sz="1800">
                <a:solidFill>
                  <a:schemeClr val="tx1"/>
                </a:solidFill>
                <a:latin typeface="Calibri" panose="020F0502020204030204" pitchFamily="34" charset="0"/>
                <a:ea typeface="宋体" panose="02010600030101010101" pitchFamily="2" charset="-122"/>
              </a:rPr>
              <a:t>https://baike.baidu.com/item/%E5%AE%9E%E7%94%A8%E6%96%B0%E5%9E%8B%E4%B8%93%E5%88%A9/1139963?fr=aladdin</a:t>
            </a:r>
            <a:endParaRPr lang="zh-CN" altLang="en-US" sz="1800">
              <a:solidFill>
                <a:schemeClr val="tx1"/>
              </a:solidFill>
              <a:latin typeface="Calibri" panose="020F0502020204030204" pitchFamily="34" charset="0"/>
              <a:ea typeface="宋体" panose="02010600030101010101" pitchFamily="2" charset="-122"/>
            </a:endParaRPr>
          </a:p>
        </p:txBody>
      </p:sp>
      <p:sp>
        <p:nvSpPr>
          <p:cNvPr id="4" name="任意多边形 3"/>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任意多边形 5"/>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9"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815340" y="3129280"/>
            <a:ext cx="5769610" cy="1551305"/>
          </a:xfrm>
          <a:prstGeom prst="rect">
            <a:avLst/>
          </a:prstGeom>
          <a:noFill/>
          <a:ln w="9525">
            <a:noFill/>
          </a:ln>
        </p:spPr>
        <p:txBody>
          <a:bodyPr wrap="square">
            <a:spAutoFit/>
          </a:bodyPr>
          <a:p>
            <a:pPr marL="0" indent="0">
              <a:lnSpc>
                <a:spcPct val="150000"/>
              </a:lnSpc>
            </a:pPr>
            <a:r>
              <a:rPr lang="zh-CN" altLang="zh-CN" sz="2110" b="0" dirty="0">
                <a:latin typeface="微软雅黑" panose="020B0503020204020204" pitchFamily="34" charset="-122"/>
                <a:ea typeface="微软雅黑" panose="020B0503020204020204" pitchFamily="34" charset="-122"/>
              </a:rPr>
              <a:t>指对产品的形状、构造或者其结合所提出的适于实用的新的技术方案，有时会被人们又称小发明或小专利，比较具有实用性。</a:t>
            </a:r>
            <a:endParaRPr lang="zh-CN" altLang="zh-CN" sz="2110" b="0" dirty="0">
              <a:latin typeface="微软雅黑" panose="020B0503020204020204" pitchFamily="34" charset="-122"/>
              <a:ea typeface="微软雅黑" panose="020B0503020204020204" pitchFamily="34" charset="-122"/>
            </a:endParaRPr>
          </a:p>
        </p:txBody>
      </p:sp>
      <p:sp>
        <p:nvSpPr>
          <p:cNvPr id="11" name="椭圆 10"/>
          <p:cNvSpPr/>
          <p:nvPr/>
        </p:nvSpPr>
        <p:spPr>
          <a:xfrm>
            <a:off x="357949" y="1899109"/>
            <a:ext cx="308057" cy="3063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pic>
        <p:nvPicPr>
          <p:cNvPr id="14" name="图片 13"/>
          <p:cNvPicPr>
            <a:picLocks noChangeAspect="1"/>
          </p:cNvPicPr>
          <p:nvPr/>
        </p:nvPicPr>
        <p:blipFill>
          <a:blip r:embed="rId3"/>
          <a:stretch>
            <a:fillRect/>
          </a:stretch>
        </p:blipFill>
        <p:spPr>
          <a:xfrm>
            <a:off x="8605520" y="1572260"/>
            <a:ext cx="2898140" cy="40874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89785" y="289641"/>
            <a:ext cx="8679180" cy="1205442"/>
          </a:xfrm>
        </p:spPr>
        <p:txBody>
          <a:bodyPr vert="horz" wrap="square" lIns="96435" tIns="48217" rIns="96435" bIns="48217"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br>
              <a:rPr kumimoji="0" lang="zh-CN" altLang="zh-CN" sz="4220" b="0" i="0" u="none" strike="noStrike" kern="1200" cap="none" spc="0" normalizeH="0" baseline="0" noProof="0">
                <a:ln>
                  <a:noFill/>
                </a:ln>
                <a:solidFill>
                  <a:srgbClr val="FF0000"/>
                </a:solidFill>
                <a:effectLst/>
                <a:uLnTx/>
                <a:uFillTx/>
                <a:latin typeface="+mj-lt"/>
                <a:ea typeface="+mj-ea"/>
                <a:cs typeface="+mj-cs"/>
              </a:rPr>
            </a:br>
            <a:endParaRPr kumimoji="0" lang="zh-CN" altLang="zh-CN" sz="4220" b="0" i="0" u="none" strike="noStrike" kern="1200" cap="none" spc="0" normalizeH="0" baseline="0" noProof="0">
              <a:ln>
                <a:noFill/>
              </a:ln>
              <a:solidFill>
                <a:srgbClr val="FF0000"/>
              </a:solidFill>
              <a:effectLst/>
              <a:uLnTx/>
              <a:uFillTx/>
              <a:latin typeface="+mj-lt"/>
              <a:ea typeface="+mj-ea"/>
              <a:cs typeface="+mj-cs"/>
            </a:endParaRPr>
          </a:p>
        </p:txBody>
      </p:sp>
      <p:sp>
        <p:nvSpPr>
          <p:cNvPr id="40979" name="AutoShape 29"/>
          <p:cNvSpPr/>
          <p:nvPr/>
        </p:nvSpPr>
        <p:spPr>
          <a:xfrm>
            <a:off x="733425" y="1639677"/>
            <a:ext cx="7580630" cy="825287"/>
          </a:xfrm>
          <a:prstGeom prst="roundRect">
            <a:avLst>
              <a:gd name="adj" fmla="val 50000"/>
            </a:avLst>
          </a:prstGeom>
          <a:noFill/>
          <a:ln w="9525">
            <a:noFill/>
          </a:ln>
        </p:spPr>
        <p:txBody>
          <a:bodyPr anchor="ctr">
            <a:spAutoFit/>
          </a:bodyPr>
          <a:lstStyle/>
          <a:p>
            <a:pPr>
              <a:buFont typeface="Arial" panose="020B0604020202020204" pitchFamily="34" charset="0"/>
            </a:pPr>
            <a:r>
              <a:rPr lang="zh-CN" altLang="en-US" sz="3200" dirty="0">
                <a:solidFill>
                  <a:srgbClr val="000000"/>
                </a:solidFill>
                <a:latin typeface="微软雅黑" panose="020B0503020204020204" pitchFamily="34" charset="-122"/>
                <a:ea typeface="微软雅黑" panose="020B0503020204020204" pitchFamily="34" charset="-122"/>
              </a:rPr>
              <a:t>发明专利权：</a:t>
            </a:r>
            <a:endParaRPr lang="zh-CN" altLang="en-US" sz="3200" dirty="0">
              <a:solidFill>
                <a:srgbClr val="000000"/>
              </a:solidFill>
              <a:latin typeface="微软雅黑" panose="020B0503020204020204" pitchFamily="34" charset="-122"/>
              <a:ea typeface="微软雅黑" panose="020B0503020204020204" pitchFamily="34" charset="-122"/>
            </a:endParaRPr>
          </a:p>
        </p:txBody>
      </p:sp>
      <p:sp>
        <p:nvSpPr>
          <p:cNvPr id="40973" name="矩形 5"/>
          <p:cNvSpPr/>
          <p:nvPr/>
        </p:nvSpPr>
        <p:spPr>
          <a:xfrm>
            <a:off x="2807335" y="2133926"/>
            <a:ext cx="1287479"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公司级安全教育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0974" name="矩形 8"/>
          <p:cNvSpPr/>
          <p:nvPr/>
        </p:nvSpPr>
        <p:spPr>
          <a:xfrm>
            <a:off x="2696836" y="4064308"/>
            <a:ext cx="1525219"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部门级安全教育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0975" name="矩形 13"/>
          <p:cNvSpPr/>
          <p:nvPr/>
        </p:nvSpPr>
        <p:spPr>
          <a:xfrm>
            <a:off x="2738692" y="5989666"/>
            <a:ext cx="1441507" cy="7397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a:lnSpc>
                <a:spcPct val="100000"/>
              </a:lnSpc>
              <a:spcBef>
                <a:spcPct val="0"/>
              </a:spcBef>
              <a:buFontTx/>
              <a:buNone/>
            </a:pPr>
            <a:r>
              <a:rPr lang="zh-CN" altLang="zh-CN" sz="2110" b="1" dirty="0">
                <a:solidFill>
                  <a:schemeClr val="bg1"/>
                </a:solidFill>
                <a:latin typeface="微软雅黑" panose="020B0503020204020204" pitchFamily="34" charset="-122"/>
                <a:ea typeface="微软雅黑" panose="020B0503020204020204" pitchFamily="34" charset="-122"/>
              </a:rPr>
              <a:t>班组级安全教育</a:t>
            </a:r>
            <a:endParaRPr lang="zh-CN" altLang="en-US" sz="2110" b="1" dirty="0">
              <a:solidFill>
                <a:schemeClr val="bg1"/>
              </a:solidFill>
              <a:latin typeface="微软雅黑" panose="020B0503020204020204" pitchFamily="34" charset="-122"/>
              <a:ea typeface="微软雅黑" panose="020B0503020204020204" pitchFamily="34" charset="-122"/>
            </a:endParaRPr>
          </a:p>
        </p:txBody>
      </p:sp>
      <p:sp>
        <p:nvSpPr>
          <p:cNvPr id="4" name="任意多边形 3"/>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任意多边形 5"/>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9"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815340" y="3129280"/>
            <a:ext cx="5769610" cy="2524760"/>
          </a:xfrm>
          <a:prstGeom prst="rect">
            <a:avLst/>
          </a:prstGeom>
          <a:noFill/>
          <a:ln w="9525">
            <a:noFill/>
          </a:ln>
        </p:spPr>
        <p:txBody>
          <a:bodyPr wrap="square">
            <a:spAutoFit/>
          </a:bodyPr>
          <a:p>
            <a:pPr marL="0" indent="0">
              <a:lnSpc>
                <a:spcPct val="150000"/>
              </a:lnSpc>
            </a:pPr>
            <a:r>
              <a:rPr lang="zh-CN" altLang="zh-CN" sz="2110" b="0" dirty="0">
                <a:latin typeface="微软雅黑" panose="020B0503020204020204" pitchFamily="34" charset="-122"/>
                <a:ea typeface="微软雅黑" panose="020B0503020204020204" pitchFamily="34" charset="-122"/>
              </a:rPr>
              <a:t>发明专利权如果出售的产品是别人发明的，而且别人申请了专利保护，卖家未经允许擅自生产销售，则侵权风险高。某个产品拥有发明专利权，未经允许不可以擅自生产销售，也就是指仿品。</a:t>
            </a:r>
            <a:endParaRPr lang="zh-CN" altLang="zh-CN" sz="2110" b="0" dirty="0">
              <a:latin typeface="微软雅黑" panose="020B0503020204020204" pitchFamily="34" charset="-122"/>
              <a:ea typeface="微软雅黑" panose="020B0503020204020204" pitchFamily="34" charset="-122"/>
            </a:endParaRPr>
          </a:p>
        </p:txBody>
      </p:sp>
      <p:sp>
        <p:nvSpPr>
          <p:cNvPr id="11" name="椭圆 10"/>
          <p:cNvSpPr/>
          <p:nvPr/>
        </p:nvSpPr>
        <p:spPr>
          <a:xfrm>
            <a:off x="357949" y="1899109"/>
            <a:ext cx="308057" cy="3063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lt1"/>
              </a:solidFill>
              <a:effectLst/>
              <a:uLnTx/>
              <a:uFillTx/>
              <a:latin typeface="+mn-lt"/>
              <a:ea typeface="+mn-ea"/>
              <a:cs typeface="+mn-cs"/>
            </a:endParaRPr>
          </a:p>
        </p:txBody>
      </p:sp>
      <p:pic>
        <p:nvPicPr>
          <p:cNvPr id="14" name="图片 13"/>
          <p:cNvPicPr>
            <a:picLocks noChangeAspect="1"/>
          </p:cNvPicPr>
          <p:nvPr/>
        </p:nvPicPr>
        <p:blipFill>
          <a:blip r:embed="rId3"/>
          <a:stretch>
            <a:fillRect/>
          </a:stretch>
        </p:blipFill>
        <p:spPr>
          <a:xfrm>
            <a:off x="8584565" y="2205355"/>
            <a:ext cx="2898140" cy="4087495"/>
          </a:xfrm>
          <a:prstGeom prst="rect">
            <a:avLst/>
          </a:prstGeom>
        </p:spPr>
      </p:pic>
      <p:sp>
        <p:nvSpPr>
          <p:cNvPr id="2" name="文本框 1"/>
          <p:cNvSpPr txBox="1"/>
          <p:nvPr/>
        </p:nvSpPr>
        <p:spPr>
          <a:xfrm>
            <a:off x="934720" y="6212205"/>
            <a:ext cx="9702165" cy="368300"/>
          </a:xfrm>
          <a:prstGeom prst="rect">
            <a:avLst/>
          </a:prstGeom>
          <a:noFill/>
        </p:spPr>
        <p:txBody>
          <a:bodyPr wrap="none" rtlCol="0">
            <a:spAutoFit/>
          </a:bodyPr>
          <a:p>
            <a:pPr algn="l"/>
            <a:r>
              <a:rPr lang="zh-CN" altLang="en-US"/>
              <a:t>https://baike.baidu.com/item/%E5%8F%91%E6%98%8E%E4%B8%93%E5%88%A9/1140123?fr=aladdin</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空心弧 1"/>
          <p:cNvSpPr/>
          <p:nvPr/>
        </p:nvSpPr>
        <p:spPr>
          <a:xfrm rot="5400000">
            <a:off x="-3632714" y="1294176"/>
            <a:ext cx="5543358" cy="5543358"/>
          </a:xfrm>
          <a:prstGeom prst="blockArc">
            <a:avLst>
              <a:gd name="adj1" fmla="val 10800000"/>
              <a:gd name="adj2" fmla="val 10842"/>
              <a:gd name="adj3" fmla="val 33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24" name="空心弧 23"/>
          <p:cNvSpPr/>
          <p:nvPr/>
        </p:nvSpPr>
        <p:spPr>
          <a:xfrm rot="16200000" flipH="1">
            <a:off x="11063629" y="1294176"/>
            <a:ext cx="5543358" cy="5543358"/>
          </a:xfrm>
          <a:prstGeom prst="blockArc">
            <a:avLst>
              <a:gd name="adj1" fmla="val 10800000"/>
              <a:gd name="adj2" fmla="val 10842"/>
              <a:gd name="adj3" fmla="val 33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44050" name="矩形 15"/>
          <p:cNvSpPr/>
          <p:nvPr/>
        </p:nvSpPr>
        <p:spPr>
          <a:xfrm>
            <a:off x="1910715" y="2054860"/>
            <a:ext cx="4886960" cy="147637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50000"/>
              </a:lnSpc>
              <a:spcBef>
                <a:spcPct val="0"/>
              </a:spcBef>
              <a:buFontTx/>
              <a:buNone/>
            </a:pPr>
            <a:r>
              <a:rPr lang="zh-CN" altLang="en-US" sz="2000" dirty="0">
                <a:latin typeface="微软雅黑" panose="020B0503020204020204" pitchFamily="34" charset="-122"/>
                <a:ea typeface="微软雅黑" panose="020B0503020204020204" pitchFamily="34" charset="-122"/>
              </a:rPr>
              <a:t>产品发明是指创造出包含新技术方案的物品。例如，对机器、设备、工具、用品等物品进行改进而做出的发明创造。</a:t>
            </a:r>
            <a:endParaRPr lang="zh-CN" altLang="en-US" sz="2000" dirty="0">
              <a:latin typeface="微软雅黑" panose="020B0503020204020204" pitchFamily="34" charset="-122"/>
              <a:ea typeface="微软雅黑" panose="020B0503020204020204" pitchFamily="34" charset="-122"/>
            </a:endParaRPr>
          </a:p>
        </p:txBody>
      </p:sp>
      <p:sp>
        <p:nvSpPr>
          <p:cNvPr id="4" name="任意多边形 3"/>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6"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0" y="3121660"/>
            <a:ext cx="1425575" cy="1568450"/>
          </a:xfrm>
          <a:prstGeom prst="rect">
            <a:avLst/>
          </a:prstGeom>
          <a:noFill/>
        </p:spPr>
        <p:txBody>
          <a:bodyPr wrap="square" rtlCol="0">
            <a:spAutoFit/>
            <a:scene3d>
              <a:camera prst="orthographicFront"/>
              <a:lightRig rig="threePt" dir="t"/>
            </a:scene3d>
          </a:bodyPr>
          <a:p>
            <a:pPr algn="l"/>
            <a:r>
              <a:rPr lang="zh-CN" altLang="en-US" sz="4800">
                <a:solidFill>
                  <a:schemeClr val="tx1"/>
                </a:solidFill>
                <a:effectLst>
                  <a:outerShdw blurRad="38100" dist="19050" dir="2700000" algn="tl" rotWithShape="0">
                    <a:schemeClr val="dk1">
                      <a:alpha val="40000"/>
                    </a:schemeClr>
                  </a:outerShdw>
                </a:effectLst>
              </a:rPr>
              <a:t>产品发明</a:t>
            </a:r>
            <a:endParaRPr lang="zh-CN" altLang="en-US" sz="48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11433175" y="3055620"/>
            <a:ext cx="1425575" cy="1568450"/>
          </a:xfrm>
          <a:prstGeom prst="rect">
            <a:avLst/>
          </a:prstGeom>
          <a:noFill/>
        </p:spPr>
        <p:txBody>
          <a:bodyPr wrap="square" rtlCol="0">
            <a:spAutoFit/>
            <a:scene3d>
              <a:camera prst="orthographicFront"/>
              <a:lightRig rig="threePt" dir="t"/>
            </a:scene3d>
          </a:bodyPr>
          <a:p>
            <a:pPr algn="l"/>
            <a:r>
              <a:rPr lang="zh-CN" altLang="en-US" sz="4800">
                <a:solidFill>
                  <a:schemeClr val="tx1"/>
                </a:solidFill>
                <a:effectLst>
                  <a:outerShdw blurRad="38100" dist="19050" dir="2700000" algn="tl" rotWithShape="0">
                    <a:schemeClr val="dk1">
                      <a:alpha val="40000"/>
                    </a:schemeClr>
                  </a:outerShdw>
                </a:effectLst>
              </a:rPr>
              <a:t>方法发明</a:t>
            </a:r>
            <a:endParaRPr lang="zh-CN" altLang="en-US" sz="4800">
              <a:solidFill>
                <a:schemeClr val="tx1"/>
              </a:solidFill>
              <a:effectLst>
                <a:outerShdw blurRad="38100" dist="19050" dir="2700000" algn="tl" rotWithShape="0">
                  <a:schemeClr val="dk1">
                    <a:alpha val="40000"/>
                  </a:schemeClr>
                </a:outerShdw>
              </a:effectLst>
            </a:endParaRPr>
          </a:p>
        </p:txBody>
      </p:sp>
      <p:sp>
        <p:nvSpPr>
          <p:cNvPr id="8" name="矩形 15"/>
          <p:cNvSpPr/>
          <p:nvPr/>
        </p:nvSpPr>
        <p:spPr>
          <a:xfrm>
            <a:off x="6492765" y="4212422"/>
            <a:ext cx="4356332" cy="52959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r">
              <a:lnSpc>
                <a:spcPct val="150000"/>
              </a:lnSpc>
              <a:spcBef>
                <a:spcPct val="0"/>
              </a:spcBef>
              <a:buFontTx/>
              <a:buNone/>
            </a:pPr>
            <a:endParaRPr lang="zh-CN" altLang="en-US" sz="1900" dirty="0">
              <a:latin typeface="微软雅黑" panose="020B0503020204020204" pitchFamily="34" charset="-122"/>
              <a:ea typeface="微软雅黑" panose="020B0503020204020204" pitchFamily="34" charset="-122"/>
            </a:endParaRPr>
          </a:p>
        </p:txBody>
      </p:sp>
      <p:sp>
        <p:nvSpPr>
          <p:cNvPr id="9" name="矩形 15"/>
          <p:cNvSpPr/>
          <p:nvPr/>
        </p:nvSpPr>
        <p:spPr>
          <a:xfrm>
            <a:off x="6629290" y="3842852"/>
            <a:ext cx="4356332" cy="193802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a:lnSpc>
                <a:spcPct val="150000"/>
              </a:lnSpc>
              <a:spcBef>
                <a:spcPct val="0"/>
              </a:spcBef>
              <a:buFontTx/>
              <a:buNone/>
            </a:pPr>
            <a:r>
              <a:rPr lang="zh-CN" altLang="en-US" sz="2000" dirty="0">
                <a:latin typeface="微软雅黑" panose="020B0503020204020204" pitchFamily="34" charset="-122"/>
                <a:ea typeface="微软雅黑" panose="020B0503020204020204" pitchFamily="34" charset="-122"/>
              </a:rPr>
              <a:t>方法发明是指利用规律使用、制造或测试产品的新的步骤和手段。例如，适用于某种物品的加工方法、测试方法、制造工艺等。</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3"/>
          <a:stretch>
            <a:fillRect/>
          </a:stretch>
        </p:blipFill>
        <p:spPr>
          <a:xfrm>
            <a:off x="960120" y="1146810"/>
            <a:ext cx="10939145" cy="59817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p:cNvSpPr>
          <p:nvPr/>
        </p:nvSpPr>
        <p:spPr>
          <a:xfrm>
            <a:off x="1031587" y="1096873"/>
            <a:ext cx="5998747" cy="610870"/>
          </a:xfrm>
          <a:prstGeom prst="rect">
            <a:avLst/>
          </a:prstGeom>
          <a:noFill/>
          <a:ln w="9525">
            <a:noFill/>
          </a:ln>
        </p:spPr>
        <p:txBody>
          <a:bodyPr wrap="square"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rPr>
              <a:t>Tee Turtle 翻面章鱼</a:t>
            </a:r>
            <a:endParaRPr lang="zh-CN" altLang="en-US" sz="3375" dirty="0">
              <a:solidFill>
                <a:srgbClr val="000000"/>
              </a:solidFill>
              <a:latin typeface="微软雅黑" panose="020B0503020204020204" pitchFamily="34" charset="-122"/>
              <a:ea typeface="微软雅黑" panose="020B0503020204020204" pitchFamily="34" charset="-122"/>
            </a:endParaRPr>
          </a:p>
        </p:txBody>
      </p:sp>
      <p:sp>
        <p:nvSpPr>
          <p:cNvPr id="2" name="图文框 1"/>
          <p:cNvSpPr/>
          <p:nvPr/>
        </p:nvSpPr>
        <p:spPr>
          <a:xfrm>
            <a:off x="1796796" y="2097804"/>
            <a:ext cx="9303666" cy="4436695"/>
          </a:xfrm>
          <a:prstGeom prst="frame">
            <a:avLst>
              <a:gd name="adj1" fmla="val 243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7" rIns="96435" bIns="48217"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900" b="1" i="0" u="none" strike="noStrike" kern="1200" cap="none" spc="0" normalizeH="0" baseline="0" noProof="0">
              <a:ln>
                <a:noFill/>
              </a:ln>
              <a:solidFill>
                <a:schemeClr val="tx1"/>
              </a:solidFill>
              <a:effectLst/>
              <a:uLnTx/>
              <a:uFillTx/>
              <a:latin typeface="+mn-lt"/>
              <a:ea typeface="+mn-ea"/>
              <a:cs typeface="+mn-cs"/>
            </a:endParaRPr>
          </a:p>
        </p:txBody>
      </p:sp>
      <p:sp>
        <p:nvSpPr>
          <p:cNvPr id="96263" name="矩形 2"/>
          <p:cNvSpPr/>
          <p:nvPr/>
        </p:nvSpPr>
        <p:spPr>
          <a:xfrm>
            <a:off x="6354035" y="2780887"/>
            <a:ext cx="4175516" cy="2524760"/>
          </a:xfrm>
          <a:prstGeom prst="rect">
            <a:avLst/>
          </a:prstGeom>
          <a:noFill/>
          <a:ln w="9525">
            <a:noFill/>
          </a:ln>
        </p:spPr>
        <p:txBody>
          <a:bodyPr>
            <a:spAutoFit/>
          </a:bodyPr>
          <a:lstStyle/>
          <a:p>
            <a:pPr eaLnBrk="1" hangingPunct="1">
              <a:lnSpc>
                <a:spcPct val="150000"/>
              </a:lnSpc>
              <a:buFont typeface="Webdings" panose="05030102010509060703" pitchFamily="18" charset="2"/>
            </a:pPr>
            <a:r>
              <a:rPr lang="zh-CN" altLang="en-US" sz="2110" b="0" dirty="0">
                <a:latin typeface="微软雅黑" panose="020B0503020204020204" pitchFamily="34" charset="-122"/>
                <a:ea typeface="微软雅黑" panose="020B0503020204020204" pitchFamily="34" charset="-122"/>
              </a:rPr>
              <a:t>不仅拥有外观专利，还拥有美国发明专利。只要采用且包含对方的核心结构就属于侵权，类似结构的翻面设计，如果只是改变外观形状也存在侵权风险。</a:t>
            </a:r>
            <a:endParaRPr lang="zh-CN" altLang="en-US" sz="2110" b="0" dirty="0">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6"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3"/>
          <a:stretch>
            <a:fillRect/>
          </a:stretch>
        </p:blipFill>
        <p:spPr>
          <a:xfrm>
            <a:off x="2699385" y="2375535"/>
            <a:ext cx="2663825" cy="37344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7" name="矩形 2"/>
          <p:cNvSpPr/>
          <p:nvPr/>
        </p:nvSpPr>
        <p:spPr>
          <a:xfrm>
            <a:off x="5819140" y="1120775"/>
            <a:ext cx="6591300" cy="268668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200000"/>
              </a:lnSpc>
              <a:spcBef>
                <a:spcPct val="0"/>
              </a:spcBef>
              <a:buFontTx/>
              <a:buNone/>
            </a:pPr>
            <a:r>
              <a:rPr lang="zh-CN" altLang="en-US" sz="2110" dirty="0">
                <a:solidFill>
                  <a:srgbClr val="000000"/>
                </a:solidFill>
                <a:latin typeface="微软雅黑" panose="020B0503020204020204" pitchFamily="34" charset="-122"/>
                <a:ea typeface="微软雅黑" panose="020B0503020204020204" pitchFamily="34" charset="-122"/>
              </a:rPr>
              <a:t>外观专利的侵权是一种比较普遍的专利侵权方式，专利侵权相对来说比较难以识别，因为要判定一个产品是否有专利，要查找其专利人、专利名或专利号，但这对于卖家来说并不是一件易事。</a:t>
            </a:r>
            <a:endParaRPr lang="zh-CN" altLang="en-US" sz="2110" dirty="0">
              <a:solidFill>
                <a:srgbClr val="000000"/>
              </a:solidFill>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任意多边形 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5"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04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专利</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7" name="内容占位符 6"/>
          <p:cNvPicPr>
            <a:picLocks noChangeAspect="1"/>
          </p:cNvPicPr>
          <p:nvPr>
            <p:ph idx="1"/>
          </p:nvPr>
        </p:nvPicPr>
        <p:blipFill>
          <a:blip r:embed="rId3"/>
          <a:stretch>
            <a:fillRect/>
          </a:stretch>
        </p:blipFill>
        <p:spPr>
          <a:xfrm>
            <a:off x="843915" y="2274570"/>
            <a:ext cx="4282440" cy="3993515"/>
          </a:xfrm>
          <a:prstGeom prst="rect">
            <a:avLst/>
          </a:prstGeom>
        </p:spPr>
      </p:pic>
    </p:spTree>
  </p:cSld>
  <p:clrMapOvr>
    <a:masterClrMapping/>
  </p:clrMapOvr>
  <p:transition spd="med">
    <p:cover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1908482" y="2143395"/>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05</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76465" y="2832735"/>
            <a:ext cx="5582285" cy="768985"/>
          </a:xfrm>
          <a:prstGeom prst="rect">
            <a:avLst/>
          </a:prstGeom>
          <a:noFill/>
        </p:spPr>
        <p:txBody>
          <a:bodyPr wrap="square" lIns="0" tIns="0" rIns="0" bIns="0" rtlCol="0">
            <a:spAutoFit/>
          </a:bodyPr>
          <a:lstStyle/>
          <a:p>
            <a:pPr algn="ctr"/>
            <a:r>
              <a:rPr lang="zh-CN" altLang="en-US" sz="5000" dirty="0">
                <a:latin typeface="黑体" panose="02010609060101010101" charset="-122"/>
                <a:ea typeface="微软雅黑" panose="020B0503020204020204" pitchFamily="34" charset="-122"/>
                <a:sym typeface="+mn-ea"/>
              </a:rPr>
              <a:t>如何防止被侵权</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05 </a:t>
            </a:r>
            <a:r>
              <a:rPr lang="zh-CN" altLang="en-US" sz="3000" dirty="0">
                <a:latin typeface="黑体" panose="02010609060101010101" charset="-122"/>
                <a:ea typeface="微软雅黑" panose="020B0503020204020204" pitchFamily="34" charset="-122"/>
                <a:sym typeface="+mn-ea"/>
              </a:rPr>
              <a:t>如何防止被侵权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33425" y="1600200"/>
            <a:ext cx="11242675" cy="4246245"/>
          </a:xfrm>
          <a:prstGeom prst="rect">
            <a:avLst/>
          </a:prstGeom>
          <a:noFill/>
        </p:spPr>
        <p:txBody>
          <a:bodyPr wrap="square" rtlCol="0">
            <a:spAutoFit/>
          </a:bodyPr>
          <a:p>
            <a:pPr algn="l">
              <a:lnSpc>
                <a:spcPct val="200000"/>
              </a:lnSpc>
            </a:pPr>
            <a:r>
              <a:rPr lang="zh-CN" altLang="en-US" sz="2000">
                <a:latin typeface="+mn-ea"/>
                <a:ea typeface="+mn-ea"/>
                <a:cs typeface="+mn-ea"/>
              </a:rPr>
              <a:t>1.</a:t>
            </a:r>
            <a:r>
              <a:rPr lang="en-US" altLang="zh-CN" sz="2000">
                <a:latin typeface="+mn-ea"/>
                <a:ea typeface="+mn-ea"/>
                <a:cs typeface="+mn-ea"/>
              </a:rPr>
              <a:t> </a:t>
            </a:r>
            <a:r>
              <a:rPr lang="zh-CN" altLang="en-US" sz="2000">
                <a:latin typeface="+mn-ea"/>
                <a:ea typeface="+mn-ea"/>
                <a:cs typeface="+mn-ea"/>
              </a:rPr>
              <a:t>注册商标，涉及到的国家和类目还有形式都要注册。</a:t>
            </a:r>
            <a:endParaRPr lang="zh-CN" altLang="en-US" sz="2000">
              <a:latin typeface="+mn-ea"/>
              <a:ea typeface="+mn-ea"/>
              <a:cs typeface="+mn-ea"/>
            </a:endParaRPr>
          </a:p>
          <a:p>
            <a:pPr algn="l">
              <a:lnSpc>
                <a:spcPct val="200000"/>
              </a:lnSpc>
            </a:pPr>
            <a:r>
              <a:rPr lang="en-US" altLang="zh-CN" sz="2000">
                <a:latin typeface="+mn-ea"/>
                <a:ea typeface="+mn-ea"/>
                <a:cs typeface="+mn-ea"/>
              </a:rPr>
              <a:t>2. </a:t>
            </a:r>
            <a:r>
              <a:rPr lang="zh-CN" altLang="en-US" sz="2000">
                <a:latin typeface="+mn-ea"/>
                <a:ea typeface="+mn-ea"/>
                <a:cs typeface="+mn-ea"/>
              </a:rPr>
              <a:t>做品牌备案，品牌授权。</a:t>
            </a:r>
            <a:endParaRPr lang="zh-CN" altLang="en-US" sz="2000">
              <a:latin typeface="+mn-ea"/>
              <a:ea typeface="+mn-ea"/>
              <a:cs typeface="+mn-ea"/>
            </a:endParaRPr>
          </a:p>
          <a:p>
            <a:pPr algn="l">
              <a:lnSpc>
                <a:spcPct val="200000"/>
              </a:lnSpc>
            </a:pPr>
            <a:r>
              <a:rPr lang="en-US" altLang="zh-CN" sz="2000">
                <a:latin typeface="+mn-ea"/>
                <a:ea typeface="+mn-ea"/>
                <a:cs typeface="+mn-ea"/>
              </a:rPr>
              <a:t>3. 透明计划（Transparency Program）：亚马逊会提供唯一的二维码，卖家将代码贴在商品包装上，商品入仓时，亚马逊识别代码，确认为正品后才可入仓。</a:t>
            </a:r>
            <a:endParaRPr lang="en-US" altLang="zh-CN" sz="2000">
              <a:latin typeface="+mn-ea"/>
              <a:ea typeface="+mn-ea"/>
              <a:cs typeface="+mn-ea"/>
            </a:endParaRPr>
          </a:p>
          <a:p>
            <a:pPr algn="l">
              <a:lnSpc>
                <a:spcPct val="200000"/>
              </a:lnSpc>
            </a:pPr>
            <a:r>
              <a:rPr lang="en-US" altLang="zh-CN" sz="2000">
                <a:latin typeface="+mn-ea"/>
                <a:ea typeface="+mn-ea"/>
                <a:cs typeface="+mn-ea"/>
              </a:rPr>
              <a:t>    入驻要求：必须是Brand owner（品牌所有者）</a:t>
            </a:r>
            <a:r>
              <a:rPr lang="zh-CN" altLang="en-US" sz="2000">
                <a:latin typeface="+mn-ea"/>
                <a:ea typeface="+mn-ea"/>
                <a:cs typeface="+mn-ea"/>
              </a:rPr>
              <a:t>；</a:t>
            </a:r>
            <a:r>
              <a:rPr lang="en-US" altLang="zh-CN" sz="2000">
                <a:latin typeface="+mn-ea"/>
                <a:ea typeface="+mn-ea"/>
                <a:cs typeface="+mn-ea"/>
              </a:rPr>
              <a:t>成功进行品牌备案，商标</a:t>
            </a:r>
            <a:r>
              <a:rPr lang="zh-CN" altLang="en-US" sz="2000">
                <a:latin typeface="+mn-ea"/>
                <a:ea typeface="+mn-ea"/>
                <a:cs typeface="+mn-ea"/>
              </a:rPr>
              <a:t>必须</a:t>
            </a:r>
            <a:r>
              <a:rPr lang="en-US" altLang="zh-CN" sz="2000">
                <a:latin typeface="+mn-ea"/>
                <a:ea typeface="+mn-ea"/>
                <a:cs typeface="+mn-ea"/>
              </a:rPr>
              <a:t>是R标。</a:t>
            </a:r>
            <a:endParaRPr lang="en-US" altLang="zh-CN" sz="2000">
              <a:latin typeface="+mn-ea"/>
              <a:ea typeface="+mn-ea"/>
              <a:cs typeface="+mn-ea"/>
            </a:endParaRPr>
          </a:p>
          <a:p>
            <a:pPr algn="l">
              <a:lnSpc>
                <a:spcPct val="200000"/>
              </a:lnSpc>
            </a:pPr>
            <a:r>
              <a:rPr lang="en-US" altLang="zh-CN" sz="2000">
                <a:latin typeface="+mn-ea"/>
                <a:ea typeface="+mn-ea"/>
                <a:cs typeface="+mn-ea"/>
              </a:rPr>
              <a:t>    </a:t>
            </a:r>
            <a:r>
              <a:rPr lang="zh-CN" altLang="en-US" sz="2000">
                <a:latin typeface="+mn-ea"/>
                <a:ea typeface="+mn-ea"/>
                <a:cs typeface="+mn-ea"/>
              </a:rPr>
              <a:t>收费要求：按标签数量收费，具体收费已</a:t>
            </a:r>
            <a:r>
              <a:rPr lang="en-US" altLang="zh-CN" sz="2000">
                <a:latin typeface="+mn-ea"/>
                <a:ea typeface="+mn-ea"/>
                <a:cs typeface="+mn-ea"/>
                <a:sym typeface="+mn-ea"/>
              </a:rPr>
              <a:t>Transparency</a:t>
            </a:r>
            <a:r>
              <a:rPr lang="zh-CN" altLang="en-US" sz="2000">
                <a:latin typeface="+mn-ea"/>
                <a:ea typeface="+mn-ea"/>
                <a:cs typeface="+mn-ea"/>
                <a:sym typeface="+mn-ea"/>
              </a:rPr>
              <a:t>收费单为准。</a:t>
            </a:r>
            <a:endParaRPr lang="zh-CN" altLang="en-US" sz="2000">
              <a:latin typeface="+mn-ea"/>
              <a:ea typeface="+mn-ea"/>
              <a:cs typeface="+mn-ea"/>
              <a:sym typeface="+mn-ea"/>
            </a:endParaRPr>
          </a:p>
          <a:p>
            <a:pPr algn="l">
              <a:lnSpc>
                <a:spcPct val="150000"/>
              </a:lnSpc>
            </a:pPr>
            <a:endParaRPr lang="en-US" altLang="zh-CN" sz="2000">
              <a:latin typeface="+mn-ea"/>
              <a:ea typeface="+mn-ea"/>
              <a:cs typeface="+mn-ea"/>
              <a:sym typeface="+mn-ea"/>
            </a:endParaRPr>
          </a:p>
        </p:txBody>
      </p:sp>
      <p:sp>
        <p:nvSpPr>
          <p:cNvPr id="6" name="等腰三角形 5"/>
          <p:cNvSpPr/>
          <p:nvPr/>
        </p:nvSpPr>
        <p:spPr>
          <a:xfrm>
            <a:off x="885190" y="4336415"/>
            <a:ext cx="144145" cy="216535"/>
          </a:xfrm>
          <a:prstGeom prst="triangle">
            <a:avLst/>
          </a:prstGeom>
          <a:solidFill>
            <a:srgbClr val="FF0000"/>
          </a:solidFill>
          <a:ln w="9525" cap="flat" cmpd="sng" algn="ctr">
            <a:solidFill>
              <a:schemeClr val="tx2">
                <a:lumMod val="60000"/>
                <a:lumOff val="40000"/>
              </a:schemeClr>
            </a:solidFill>
            <a:prstDash val="solid"/>
            <a:round/>
            <a:headEnd type="none" w="med" len="med"/>
            <a:tailEnd type="none" w="med" len="med"/>
          </a:ln>
        </p:spPr>
        <p:txBody>
          <a:bodyPr vert="horz" wrap="square" lIns="179705" tIns="71755" rIns="179705" bIns="71755" numCol="1" rtlCol="0" anchor="ctr" anchorCtr="0" compatLnSpc="1">
            <a:spAutoFit/>
          </a:bodyPr>
          <a:p>
            <a:pPr algn="just" eaLnBrk="1" latinLnBrk="0" hangingPunct="1">
              <a:lnSpc>
                <a:spcPct val="150000"/>
              </a:lnSpc>
              <a:spcBef>
                <a:spcPts val="0"/>
              </a:spcBef>
              <a:spcAft>
                <a:spcPts val="0"/>
              </a:spcAft>
            </a:pPr>
            <a:endParaRPr lang="zh-CN" altLang="en-US" sz="1800" spc="100">
              <a:solidFill>
                <a:srgbClr val="FF0000"/>
              </a:solidFill>
              <a:uFillTx/>
              <a:latin typeface="微软雅黑" panose="020B0503020204020204" pitchFamily="34" charset="-122"/>
              <a:ea typeface="微软雅黑" panose="020B0503020204020204" pitchFamily="34" charset="-122"/>
              <a:cs typeface="+mn-ea"/>
              <a:sym typeface="微软雅黑 Light" panose="020B0502040204020203" pitchFamily="34" charset="-122"/>
            </a:endParaRPr>
          </a:p>
        </p:txBody>
      </p:sp>
      <p:sp>
        <p:nvSpPr>
          <p:cNvPr id="7" name="等腰三角形 6"/>
          <p:cNvSpPr/>
          <p:nvPr/>
        </p:nvSpPr>
        <p:spPr>
          <a:xfrm>
            <a:off x="885190" y="4984115"/>
            <a:ext cx="144145" cy="216535"/>
          </a:xfrm>
          <a:prstGeom prst="triangle">
            <a:avLst/>
          </a:prstGeom>
          <a:solidFill>
            <a:srgbClr val="FF0000"/>
          </a:solidFill>
          <a:ln w="9525" cap="flat" cmpd="sng" algn="ctr">
            <a:solidFill>
              <a:schemeClr val="tx2">
                <a:lumMod val="60000"/>
                <a:lumOff val="40000"/>
              </a:schemeClr>
            </a:solidFill>
            <a:prstDash val="solid"/>
            <a:round/>
            <a:headEnd type="none" w="med" len="med"/>
            <a:tailEnd type="none" w="med" len="med"/>
          </a:ln>
        </p:spPr>
        <p:txBody>
          <a:bodyPr vert="horz" wrap="square" lIns="179705" tIns="71755" rIns="179705" bIns="71755" numCol="1" rtlCol="0" anchor="ctr" anchorCtr="0" compatLnSpc="1">
            <a:spAutoFit/>
          </a:bodyPr>
          <a:p>
            <a:pPr algn="just" eaLnBrk="1" latinLnBrk="0" hangingPunct="1">
              <a:lnSpc>
                <a:spcPct val="150000"/>
              </a:lnSpc>
              <a:spcBef>
                <a:spcPts val="0"/>
              </a:spcBef>
              <a:spcAft>
                <a:spcPts val="0"/>
              </a:spcAft>
            </a:pPr>
            <a:endParaRPr lang="zh-CN" altLang="en-US" sz="1800" spc="100">
              <a:solidFill>
                <a:srgbClr val="FF0000"/>
              </a:solidFill>
              <a:uFillTx/>
              <a:latin typeface="微软雅黑" panose="020B0503020204020204" pitchFamily="34" charset="-122"/>
              <a:ea typeface="微软雅黑" panose="020B0503020204020204" pitchFamily="34" charset="-122"/>
              <a:cs typeface="+mn-ea"/>
              <a:sym typeface="微软雅黑 Light" panose="020B0502040204020203" pitchFamily="34"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05 </a:t>
            </a:r>
            <a:r>
              <a:rPr lang="zh-CN" altLang="en-US" sz="3000" dirty="0">
                <a:latin typeface="黑体" panose="02010609060101010101" charset="-122"/>
                <a:ea typeface="微软雅黑" panose="020B0503020204020204" pitchFamily="34" charset="-122"/>
                <a:sym typeface="+mn-ea"/>
              </a:rPr>
              <a:t>如何防止被侵权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41045" y="1088390"/>
            <a:ext cx="11242675" cy="5015865"/>
          </a:xfrm>
          <a:prstGeom prst="rect">
            <a:avLst/>
          </a:prstGeom>
          <a:noFill/>
        </p:spPr>
        <p:txBody>
          <a:bodyPr wrap="square" rtlCol="0">
            <a:spAutoFit/>
          </a:bodyPr>
          <a:p>
            <a:pPr algn="l">
              <a:lnSpc>
                <a:spcPct val="200000"/>
              </a:lnSpc>
            </a:pPr>
            <a:r>
              <a:rPr lang="en-US" altLang="zh-CN" sz="2000">
                <a:latin typeface="+mn-ea"/>
                <a:ea typeface="+mn-ea"/>
                <a:cs typeface="+mn-ea"/>
                <a:sym typeface="+mn-ea"/>
              </a:rPr>
              <a:t>4. 零计划（Amazon Project Zero）：为每个产品生成一个独特的代码，品牌商可以将代码打印到现有的包装上，或者使用标签附加到产品包装上，在这些产品进入亚马逊仓库时，亚马逊就可以扫描这些代码，以确定其真实性。</a:t>
            </a:r>
            <a:endParaRPr lang="en-US" altLang="zh-CN" sz="2000">
              <a:latin typeface="+mn-ea"/>
              <a:ea typeface="+mn-ea"/>
              <a:cs typeface="+mn-ea"/>
              <a:sym typeface="+mn-ea"/>
            </a:endParaRPr>
          </a:p>
          <a:p>
            <a:pPr algn="l">
              <a:lnSpc>
                <a:spcPct val="200000"/>
              </a:lnSpc>
            </a:pPr>
            <a:r>
              <a:rPr lang="en-US" altLang="zh-CN" sz="2000">
                <a:latin typeface="+mn-ea"/>
                <a:ea typeface="+mn-ea"/>
                <a:cs typeface="+mn-ea"/>
                <a:sym typeface="+mn-ea"/>
              </a:rPr>
              <a:t>  入驻要求：商标的权利所有者</a:t>
            </a:r>
            <a:r>
              <a:rPr lang="zh-CN" altLang="en-US" sz="2000">
                <a:latin typeface="+mn-ea"/>
                <a:ea typeface="+mn-ea"/>
                <a:cs typeface="+mn-ea"/>
                <a:sym typeface="+mn-ea"/>
              </a:rPr>
              <a:t>；</a:t>
            </a:r>
            <a:r>
              <a:rPr lang="en-US" altLang="zh-CN" sz="2000">
                <a:latin typeface="+mn-ea"/>
                <a:ea typeface="+mn-ea"/>
                <a:cs typeface="+mn-ea"/>
                <a:sym typeface="+mn-ea"/>
              </a:rPr>
              <a:t>拥有一个可以访问品牌注册中心的亚马逊帐户</a:t>
            </a:r>
            <a:r>
              <a:rPr lang="zh-CN" altLang="en-US" sz="2000">
                <a:latin typeface="+mn-ea"/>
                <a:ea typeface="+mn-ea"/>
                <a:cs typeface="+mn-ea"/>
                <a:sym typeface="+mn-ea"/>
              </a:rPr>
              <a:t>；</a:t>
            </a:r>
            <a:r>
              <a:rPr lang="en-US" altLang="zh-CN" sz="2000">
                <a:latin typeface="+mn-ea"/>
                <a:ea typeface="+mn-ea"/>
                <a:cs typeface="+mn-ea"/>
                <a:sym typeface="+mn-ea"/>
              </a:rPr>
              <a:t>在过去六个月中提交了潜在侵权报告，接受率为至少90％。</a:t>
            </a:r>
            <a:endParaRPr lang="en-US" altLang="zh-CN" sz="2000">
              <a:latin typeface="+mn-ea"/>
              <a:ea typeface="+mn-ea"/>
              <a:cs typeface="+mn-ea"/>
              <a:sym typeface="+mn-ea"/>
            </a:endParaRPr>
          </a:p>
          <a:p>
            <a:pPr algn="l">
              <a:lnSpc>
                <a:spcPct val="200000"/>
              </a:lnSpc>
            </a:pPr>
            <a:r>
              <a:rPr lang="en-US" altLang="zh-CN" sz="2000">
                <a:latin typeface="+mn-ea"/>
                <a:ea typeface="+mn-ea"/>
                <a:cs typeface="+mn-ea"/>
                <a:sym typeface="+mn-ea"/>
              </a:rPr>
              <a:t>  </a:t>
            </a:r>
            <a:r>
              <a:rPr lang="zh-CN" altLang="en-US" sz="2000">
                <a:latin typeface="+mn-ea"/>
                <a:ea typeface="+mn-ea"/>
                <a:cs typeface="+mn-ea"/>
                <a:sym typeface="+mn-ea"/>
              </a:rPr>
              <a:t>收费要求</a:t>
            </a:r>
            <a:r>
              <a:rPr lang="en-US" altLang="zh-CN" sz="2000">
                <a:latin typeface="+mn-ea"/>
                <a:ea typeface="+mn-ea"/>
                <a:cs typeface="+mn-ea"/>
                <a:sym typeface="+mn-ea"/>
              </a:rPr>
              <a:t> </a:t>
            </a:r>
            <a:endParaRPr lang="en-US" altLang="zh-CN" sz="2000">
              <a:latin typeface="+mn-ea"/>
              <a:ea typeface="+mn-ea"/>
              <a:cs typeface="+mn-ea"/>
              <a:sym typeface="+mn-ea"/>
            </a:endParaRPr>
          </a:p>
          <a:p>
            <a:pPr algn="l">
              <a:lnSpc>
                <a:spcPct val="200000"/>
              </a:lnSpc>
            </a:pPr>
            <a:r>
              <a:rPr lang="en-US" altLang="zh-CN" sz="2000">
                <a:latin typeface="+mn-ea"/>
                <a:ea typeface="+mn-ea"/>
                <a:cs typeface="+mn-ea"/>
                <a:sym typeface="+mn-ea"/>
              </a:rPr>
              <a:t>5. </a:t>
            </a:r>
            <a:r>
              <a:rPr lang="zh-CN" altLang="en-US" sz="2000">
                <a:latin typeface="+mn-ea"/>
                <a:ea typeface="+mn-ea"/>
                <a:cs typeface="+mn-ea"/>
                <a:sym typeface="+mn-ea"/>
              </a:rPr>
              <a:t>申请专利</a:t>
            </a:r>
            <a:r>
              <a:rPr lang="en-US" altLang="zh-CN" sz="2000">
                <a:latin typeface="+mn-ea"/>
                <a:ea typeface="+mn-ea"/>
                <a:cs typeface="+mn-ea"/>
                <a:sym typeface="+mn-ea"/>
              </a:rPr>
              <a:t>/</a:t>
            </a:r>
            <a:r>
              <a:rPr lang="zh-CN" altLang="en-US" sz="2000">
                <a:latin typeface="+mn-ea"/>
                <a:ea typeface="+mn-ea"/>
                <a:cs typeface="+mn-ea"/>
                <a:sym typeface="+mn-ea"/>
              </a:rPr>
              <a:t>版权</a:t>
            </a:r>
            <a:endParaRPr lang="zh-CN" altLang="en-US" sz="2000">
              <a:latin typeface="+mn-ea"/>
              <a:ea typeface="+mn-ea"/>
              <a:cs typeface="+mn-ea"/>
              <a:sym typeface="+mn-ea"/>
            </a:endParaRPr>
          </a:p>
          <a:p>
            <a:pPr algn="l">
              <a:lnSpc>
                <a:spcPct val="200000"/>
              </a:lnSpc>
            </a:pPr>
            <a:endParaRPr lang="en-US" altLang="zh-CN" sz="2000">
              <a:latin typeface="+mn-ea"/>
              <a:ea typeface="+mn-ea"/>
              <a:cs typeface="+mn-ea"/>
              <a:sym typeface="+mn-ea"/>
            </a:endParaRPr>
          </a:p>
        </p:txBody>
      </p:sp>
      <p:sp>
        <p:nvSpPr>
          <p:cNvPr id="8" name="等腰三角形 7"/>
          <p:cNvSpPr/>
          <p:nvPr/>
        </p:nvSpPr>
        <p:spPr>
          <a:xfrm>
            <a:off x="812800" y="3256280"/>
            <a:ext cx="144145" cy="216535"/>
          </a:xfrm>
          <a:prstGeom prst="triangle">
            <a:avLst/>
          </a:prstGeom>
          <a:solidFill>
            <a:srgbClr val="FF0000"/>
          </a:solidFill>
          <a:ln w="9525" cap="flat" cmpd="sng" algn="ctr">
            <a:solidFill>
              <a:schemeClr val="tx2">
                <a:lumMod val="60000"/>
                <a:lumOff val="40000"/>
              </a:schemeClr>
            </a:solidFill>
            <a:prstDash val="solid"/>
            <a:round/>
            <a:headEnd type="none" w="med" len="med"/>
            <a:tailEnd type="none" w="med" len="med"/>
          </a:ln>
        </p:spPr>
        <p:txBody>
          <a:bodyPr vert="horz" wrap="square" lIns="179705" tIns="71755" rIns="179705" bIns="71755" numCol="1" rtlCol="0" anchor="ctr" anchorCtr="0" compatLnSpc="1">
            <a:spAutoFit/>
          </a:bodyPr>
          <a:p>
            <a:pPr algn="just" eaLnBrk="1" latinLnBrk="0" hangingPunct="1">
              <a:lnSpc>
                <a:spcPct val="150000"/>
              </a:lnSpc>
              <a:spcBef>
                <a:spcPts val="0"/>
              </a:spcBef>
              <a:spcAft>
                <a:spcPts val="0"/>
              </a:spcAft>
            </a:pPr>
            <a:endParaRPr lang="zh-CN" altLang="en-US" sz="1800" spc="100">
              <a:solidFill>
                <a:srgbClr val="FF0000"/>
              </a:solidFill>
              <a:uFillTx/>
              <a:latin typeface="微软雅黑" panose="020B0503020204020204" pitchFamily="34" charset="-122"/>
              <a:ea typeface="微软雅黑" panose="020B0503020204020204" pitchFamily="34" charset="-122"/>
              <a:cs typeface="+mn-ea"/>
              <a:sym typeface="微软雅黑 Light" panose="020B0502040204020203" pitchFamily="34" charset="-122"/>
            </a:endParaRPr>
          </a:p>
        </p:txBody>
      </p:sp>
      <p:sp>
        <p:nvSpPr>
          <p:cNvPr id="9" name="等腰三角形 8"/>
          <p:cNvSpPr/>
          <p:nvPr/>
        </p:nvSpPr>
        <p:spPr>
          <a:xfrm>
            <a:off x="812800" y="4480560"/>
            <a:ext cx="144145" cy="216535"/>
          </a:xfrm>
          <a:prstGeom prst="triangle">
            <a:avLst/>
          </a:prstGeom>
          <a:solidFill>
            <a:srgbClr val="FF0000"/>
          </a:solidFill>
          <a:ln w="9525" cap="flat" cmpd="sng" algn="ctr">
            <a:solidFill>
              <a:schemeClr val="tx2">
                <a:lumMod val="60000"/>
                <a:lumOff val="40000"/>
              </a:schemeClr>
            </a:solidFill>
            <a:prstDash val="solid"/>
            <a:round/>
            <a:headEnd type="none" w="med" len="med"/>
            <a:tailEnd type="none" w="med" len="med"/>
          </a:ln>
        </p:spPr>
        <p:txBody>
          <a:bodyPr vert="horz" wrap="square" lIns="179705" tIns="71755" rIns="179705" bIns="71755" numCol="1" rtlCol="0" anchor="ctr" anchorCtr="0" compatLnSpc="1">
            <a:spAutoFit/>
          </a:bodyPr>
          <a:p>
            <a:pPr algn="just" eaLnBrk="1" latinLnBrk="0" hangingPunct="1">
              <a:lnSpc>
                <a:spcPct val="150000"/>
              </a:lnSpc>
              <a:spcBef>
                <a:spcPts val="0"/>
              </a:spcBef>
              <a:spcAft>
                <a:spcPts val="0"/>
              </a:spcAft>
            </a:pPr>
            <a:endParaRPr lang="zh-CN" altLang="en-US" sz="1800" spc="100">
              <a:solidFill>
                <a:srgbClr val="FF0000"/>
              </a:solidFill>
              <a:uFillTx/>
              <a:latin typeface="微软雅黑" panose="020B0503020204020204" pitchFamily="34" charset="-122"/>
              <a:ea typeface="微软雅黑" panose="020B0503020204020204" pitchFamily="34" charset="-122"/>
              <a:cs typeface="+mn-ea"/>
              <a:sym typeface="微软雅黑 Light" panose="020B0502040204020203" pitchFamily="34" charset="-122"/>
            </a:endParaRPr>
          </a:p>
        </p:txBody>
      </p:sp>
      <p:pic>
        <p:nvPicPr>
          <p:cNvPr id="10" name="图片 9"/>
          <p:cNvPicPr>
            <a:picLocks noChangeAspect="1"/>
          </p:cNvPicPr>
          <p:nvPr/>
        </p:nvPicPr>
        <p:blipFill>
          <a:blip r:embed="rId3"/>
          <a:stretch>
            <a:fillRect/>
          </a:stretch>
        </p:blipFill>
        <p:spPr>
          <a:xfrm>
            <a:off x="2108835" y="4408170"/>
            <a:ext cx="7108825" cy="615315"/>
          </a:xfrm>
          <a:prstGeom prst="rect">
            <a:avLst/>
          </a:prstGeom>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1908482" y="2143395"/>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06</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76465" y="2832735"/>
            <a:ext cx="5582285" cy="768985"/>
          </a:xfrm>
          <a:prstGeom prst="rect">
            <a:avLst/>
          </a:prstGeom>
          <a:noFill/>
        </p:spPr>
        <p:txBody>
          <a:bodyPr wrap="square" lIns="0" tIns="0" rIns="0" bIns="0" rtlCol="0">
            <a:spAutoFit/>
          </a:bodyPr>
          <a:lstStyle/>
          <a:p>
            <a:pPr algn="ctr"/>
            <a:r>
              <a:rPr lang="zh-CN" altLang="en-US" sz="5000" dirty="0">
                <a:latin typeface="黑体" panose="02010609060101010101" charset="-122"/>
                <a:ea typeface="微软雅黑" panose="020B0503020204020204" pitchFamily="34" charset="-122"/>
                <a:sym typeface="+mn-ea"/>
              </a:rPr>
              <a:t>如何投诉他人侵权</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7463790" y="3758565"/>
            <a:ext cx="5208270" cy="76644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p:nvPr/>
        </p:nvSpPr>
        <p:spPr>
          <a:xfrm>
            <a:off x="2355215" y="947420"/>
            <a:ext cx="4420870" cy="610870"/>
          </a:xfrm>
          <a:prstGeom prst="rect">
            <a:avLst/>
          </a:prstGeom>
          <a:noFill/>
          <a:ln w="9525">
            <a:noFill/>
          </a:ln>
        </p:spPr>
        <p:txBody>
          <a:bodyPr wrap="square" anchor="ctr">
            <a:spAutoFit/>
          </a:bodyPr>
          <a:lstStyle/>
          <a:p>
            <a:pPr>
              <a:buFont typeface="Arial" panose="020B0604020202020204" pitchFamily="34" charset="0"/>
            </a:pPr>
            <a:r>
              <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投诉他人侵权条件</a:t>
            </a:r>
            <a:endParaRPr lang="zh-CN" altLang="en-US" sz="337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1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06  </a:t>
            </a:r>
            <a:r>
              <a:rPr lang="zh-CN" altLang="en-US" sz="3000" dirty="0">
                <a:latin typeface="黑体" panose="02010609060101010101" charset="-122"/>
                <a:ea typeface="微软雅黑" panose="020B0503020204020204" pitchFamily="34" charset="-122"/>
                <a:sym typeface="+mn-ea"/>
              </a:rPr>
              <a:t>如何投诉他人侵权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3"/>
          <a:stretch>
            <a:fillRect/>
          </a:stretch>
        </p:blipFill>
        <p:spPr>
          <a:xfrm>
            <a:off x="318770" y="2682875"/>
            <a:ext cx="3861435" cy="3367405"/>
          </a:xfrm>
          <a:prstGeom prst="rect">
            <a:avLst/>
          </a:prstGeom>
        </p:spPr>
      </p:pic>
      <p:sp>
        <p:nvSpPr>
          <p:cNvPr id="44041" name="矩形 6"/>
          <p:cNvSpPr/>
          <p:nvPr/>
        </p:nvSpPr>
        <p:spPr>
          <a:xfrm>
            <a:off x="4077335" y="2509520"/>
            <a:ext cx="8131175" cy="52959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en-US" altLang="zh-CN" sz="1900" dirty="0">
                <a:latin typeface="微软雅黑" panose="020B0503020204020204" pitchFamily="34" charset="-122"/>
                <a:ea typeface="微软雅黑" panose="020B0503020204020204" pitchFamily="34" charset="-122"/>
              </a:rPr>
              <a:t>1.</a:t>
            </a:r>
            <a:r>
              <a:rPr lang="zh-CN" altLang="en-US" sz="1900" dirty="0">
                <a:latin typeface="微软雅黑" panose="020B0503020204020204" pitchFamily="34" charset="-122"/>
                <a:ea typeface="微软雅黑" panose="020B0503020204020204" pitchFamily="34" charset="-122"/>
              </a:rPr>
              <a:t>侵权通知必须由权利所有者或者经权利所有者许可的代理人来提交</a:t>
            </a:r>
            <a:endParaRPr lang="zh-CN" altLang="en-US" sz="1900" dirty="0">
              <a:latin typeface="微软雅黑" panose="020B0503020204020204" pitchFamily="34" charset="-122"/>
              <a:ea typeface="微软雅黑" panose="020B0503020204020204" pitchFamily="34" charset="-122"/>
            </a:endParaRPr>
          </a:p>
        </p:txBody>
      </p:sp>
      <p:sp>
        <p:nvSpPr>
          <p:cNvPr id="7" name="矩形 6"/>
          <p:cNvSpPr/>
          <p:nvPr/>
        </p:nvSpPr>
        <p:spPr>
          <a:xfrm>
            <a:off x="4180205" y="3399790"/>
            <a:ext cx="8131175" cy="52959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en-US" altLang="zh-CN" sz="1900" dirty="0">
                <a:latin typeface="微软雅黑" panose="020B0503020204020204" pitchFamily="34" charset="-122"/>
                <a:ea typeface="微软雅黑" panose="020B0503020204020204" pitchFamily="34" charset="-122"/>
              </a:rPr>
              <a:t>2.</a:t>
            </a:r>
            <a:r>
              <a:rPr lang="zh-CN" altLang="en-US" sz="1900" dirty="0">
                <a:latin typeface="微软雅黑" panose="020B0503020204020204" pitchFamily="34" charset="-122"/>
                <a:ea typeface="微软雅黑" panose="020B0503020204020204" pitchFamily="34" charset="-122"/>
              </a:rPr>
              <a:t>需要通过亚马逊账户完成</a:t>
            </a:r>
            <a:endParaRPr lang="zh-CN" altLang="en-US" sz="1900" dirty="0">
              <a:latin typeface="微软雅黑" panose="020B0503020204020204" pitchFamily="34" charset="-122"/>
              <a:ea typeface="微软雅黑" panose="020B0503020204020204" pitchFamily="34" charset="-122"/>
            </a:endParaRPr>
          </a:p>
        </p:txBody>
      </p:sp>
      <p:sp>
        <p:nvSpPr>
          <p:cNvPr id="8" name="矩形 7"/>
          <p:cNvSpPr/>
          <p:nvPr/>
        </p:nvSpPr>
        <p:spPr>
          <a:xfrm>
            <a:off x="4180205" y="4361815"/>
            <a:ext cx="8131175" cy="96837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en-US" sz="1900" dirty="0">
                <a:latin typeface="微软雅黑" panose="020B0503020204020204" pitchFamily="34" charset="-122"/>
                <a:ea typeface="微软雅黑" panose="020B0503020204020204" pitchFamily="34" charset="-122"/>
              </a:rPr>
              <a:t>3.</a:t>
            </a:r>
            <a:r>
              <a:rPr lang="zh-CN" altLang="en-US" sz="1900" dirty="0">
                <a:latin typeface="微软雅黑" panose="020B0503020204020204" pitchFamily="34" charset="-122"/>
                <a:ea typeface="微软雅黑" panose="020B0503020204020204" pitchFamily="34" charset="-122"/>
              </a:rPr>
              <a:t>提交具体的信息，被侵权的知识产权细节，侵权包装，图片，文字等，侵权列表（侵权的</a:t>
            </a:r>
            <a:r>
              <a:rPr lang="en-US" altLang="zh-CN" sz="1900" dirty="0">
                <a:latin typeface="微软雅黑" panose="020B0503020204020204" pitchFamily="34" charset="-122"/>
                <a:ea typeface="微软雅黑" panose="020B0503020204020204" pitchFamily="34" charset="-122"/>
              </a:rPr>
              <a:t>ASIN,URL</a:t>
            </a:r>
            <a:r>
              <a:rPr lang="zh-CN" altLang="en-US" sz="1900" dirty="0">
                <a:latin typeface="微软雅黑" panose="020B0503020204020204" pitchFamily="34" charset="-122"/>
                <a:ea typeface="微软雅黑" panose="020B0503020204020204" pitchFamily="34" charset="-122"/>
              </a:rPr>
              <a:t>），自己的联系方式</a:t>
            </a:r>
            <a:endParaRPr lang="en-US" altLang="zh-CN" sz="19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500" fill="hold"/>
                                        <p:tgtEl>
                                          <p:spTgt spid="12291"/>
                                        </p:tgtEl>
                                        <p:attrNameLst>
                                          <p:attrName>ppt_w</p:attrName>
                                        </p:attrNameLst>
                                      </p:cBhvr>
                                      <p:tavLst>
                                        <p:tav tm="0">
                                          <p:val>
                                            <p:fltVal val="0"/>
                                          </p:val>
                                        </p:tav>
                                        <p:tav tm="100000">
                                          <p:val>
                                            <p:strVal val="#ppt_w"/>
                                          </p:val>
                                        </p:tav>
                                      </p:tavLst>
                                    </p:anim>
                                    <p:anim calcmode="lin" valueType="num">
                                      <p:cBhvr>
                                        <p:cTn id="8" dur="500" fill="hold"/>
                                        <p:tgtEl>
                                          <p:spTgt spid="12291"/>
                                        </p:tgtEl>
                                        <p:attrNameLst>
                                          <p:attrName>ppt_h</p:attrName>
                                        </p:attrNameLst>
                                      </p:cBhvr>
                                      <p:tavLst>
                                        <p:tav tm="0">
                                          <p:val>
                                            <p:fltVal val="0"/>
                                          </p:val>
                                        </p:tav>
                                        <p:tav tm="100000">
                                          <p:val>
                                            <p:strVal val="#ppt_h"/>
                                          </p:val>
                                        </p:tav>
                                      </p:tavLst>
                                    </p:anim>
                                    <p:animEffect filter="fade">
                                      <p:cBhvr>
                                        <p:cTn id="9" dur="5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bwMode="auto">
          <a:xfrm>
            <a:off x="635" y="5838825"/>
            <a:ext cx="12858115" cy="1393825"/>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635" y="5898515"/>
            <a:ext cx="12858115" cy="76200"/>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pic>
        <p:nvPicPr>
          <p:cNvPr id="9" name="图片 8"/>
          <p:cNvPicPr>
            <a:picLocks noChangeAspect="1"/>
          </p:cNvPicPr>
          <p:nvPr/>
        </p:nvPicPr>
        <p:blipFill>
          <a:blip r:embed="rId1"/>
          <a:stretch>
            <a:fillRect/>
          </a:stretch>
        </p:blipFill>
        <p:spPr>
          <a:xfrm>
            <a:off x="514350" y="381635"/>
            <a:ext cx="11697335" cy="3072130"/>
          </a:xfrm>
          <a:prstGeom prst="rect">
            <a:avLst/>
          </a:prstGeom>
        </p:spPr>
      </p:pic>
      <p:pic>
        <p:nvPicPr>
          <p:cNvPr id="3" name="图片 2"/>
          <p:cNvPicPr>
            <a:picLocks noChangeAspect="1"/>
          </p:cNvPicPr>
          <p:nvPr/>
        </p:nvPicPr>
        <p:blipFill>
          <a:blip r:embed="rId2"/>
          <a:stretch>
            <a:fillRect/>
          </a:stretch>
        </p:blipFill>
        <p:spPr>
          <a:xfrm>
            <a:off x="4123690" y="3549015"/>
            <a:ext cx="4997450" cy="19494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06 </a:t>
            </a:r>
            <a:r>
              <a:rPr lang="zh-CN" altLang="en-US" sz="3000" dirty="0">
                <a:latin typeface="黑体" panose="02010609060101010101" charset="-122"/>
                <a:ea typeface="微软雅黑" panose="020B0503020204020204" pitchFamily="34" charset="-122"/>
                <a:sym typeface="+mn-ea"/>
              </a:rPr>
              <a:t>如何投诉他人侵权</a:t>
            </a:r>
            <a:endParaRPr 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custDataLst>
              <p:tags r:id="rId3"/>
            </p:custDataLst>
          </p:nvPr>
        </p:nvPicPr>
        <p:blipFill>
          <a:blip r:embed="rId4"/>
          <a:stretch>
            <a:fillRect/>
          </a:stretch>
        </p:blipFill>
        <p:spPr>
          <a:xfrm>
            <a:off x="577215" y="1743710"/>
            <a:ext cx="11250295" cy="3963035"/>
          </a:xfrm>
          <a:prstGeom prst="rect">
            <a:avLst/>
          </a:prstGeom>
        </p:spPr>
      </p:pic>
      <p:sp>
        <p:nvSpPr>
          <p:cNvPr id="2" name="文本框 1"/>
          <p:cNvSpPr txBox="1"/>
          <p:nvPr/>
        </p:nvSpPr>
        <p:spPr>
          <a:xfrm>
            <a:off x="741045" y="1023620"/>
            <a:ext cx="4526280" cy="368300"/>
          </a:xfrm>
          <a:prstGeom prst="rect">
            <a:avLst/>
          </a:prstGeom>
          <a:noFill/>
        </p:spPr>
        <p:txBody>
          <a:bodyPr wrap="none" rtlCol="0">
            <a:spAutoFit/>
          </a:bodyPr>
          <a:p>
            <a:pPr algn="l"/>
            <a:r>
              <a:rPr lang="zh-CN" altLang="en-US">
                <a:latin typeface="微软雅黑" panose="020B0503020204020204" pitchFamily="34" charset="-122"/>
                <a:ea typeface="微软雅黑" panose="020B0503020204020204" pitchFamily="34" charset="-122"/>
              </a:rPr>
              <a:t>搜集证据，然后在品牌保护处举报违规行为</a:t>
            </a: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任意多边形 10"/>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Content Placeholder 2"/>
          <p:cNvSpPr txBox="1"/>
          <p:nvPr/>
        </p:nvSpPr>
        <p:spPr>
          <a:xfrm>
            <a:off x="733425" y="87630"/>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zh-CN" altLang="en-US" sz="3000">
                <a:latin typeface="微软雅黑" panose="020B0503020204020204" pitchFamily="34" charset="-122"/>
                <a:ea typeface="微软雅黑" panose="020B0503020204020204" pitchFamily="34" charset="-122"/>
                <a:sym typeface="+mn-ea"/>
              </a:rPr>
              <a:t>版权投诉示例</a:t>
            </a:r>
            <a:endParaRPr lang="en-US" sz="3000" b="1" dirty="0">
              <a:solidFill>
                <a:schemeClr val="accent1"/>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3"/>
          <a:stretch>
            <a:fillRect/>
          </a:stretch>
        </p:blipFill>
        <p:spPr>
          <a:xfrm>
            <a:off x="156210" y="1167765"/>
            <a:ext cx="12546330" cy="526605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7" name="矩形 2"/>
          <p:cNvSpPr/>
          <p:nvPr/>
        </p:nvSpPr>
        <p:spPr>
          <a:xfrm>
            <a:off x="596900" y="1240155"/>
            <a:ext cx="12087225" cy="333565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200000"/>
              </a:lnSpc>
              <a:spcBef>
                <a:spcPct val="0"/>
              </a:spcBef>
              <a:buFontTx/>
              <a:buNone/>
            </a:pPr>
            <a:r>
              <a:rPr lang="en-US" altLang="zh-CN" sz="2110" dirty="0">
                <a:solidFill>
                  <a:srgbClr val="000000"/>
                </a:solidFill>
                <a:latin typeface="微软雅黑" panose="020B0503020204020204" pitchFamily="34" charset="-122"/>
                <a:ea typeface="微软雅黑" panose="020B0503020204020204" pitchFamily="34" charset="-122"/>
              </a:rPr>
              <a:t>1. </a:t>
            </a:r>
            <a:r>
              <a:rPr lang="zh-CN" altLang="en-US" sz="2110" dirty="0">
                <a:solidFill>
                  <a:srgbClr val="000000"/>
                </a:solidFill>
                <a:latin typeface="微软雅黑" panose="020B0503020204020204" pitchFamily="34" charset="-122"/>
                <a:ea typeface="微软雅黑" panose="020B0503020204020204" pitchFamily="34" charset="-122"/>
              </a:rPr>
              <a:t>Test Buy：联系可靠的买家进行下单，如果给发警告信没有撤销跟卖，就继续发送警告信，包含下单的订单号，告诉他不撤销就要向投诉，开A-to-Z。不告诉对方订单号，直接以买家身份联系亚马逊客服投诉卖假货。</a:t>
            </a:r>
            <a:endParaRPr lang="zh-CN" altLang="en-US" sz="2110"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200000"/>
              </a:lnSpc>
              <a:spcBef>
                <a:spcPct val="0"/>
              </a:spcBef>
              <a:buFontTx/>
              <a:buNone/>
            </a:pPr>
            <a:r>
              <a:rPr lang="en-US" altLang="zh-CN" sz="2110" dirty="0">
                <a:solidFill>
                  <a:srgbClr val="000000"/>
                </a:solidFill>
                <a:latin typeface="微软雅黑" panose="020B0503020204020204" pitchFamily="34" charset="-122"/>
                <a:ea typeface="微软雅黑" panose="020B0503020204020204" pitchFamily="34" charset="-122"/>
              </a:rPr>
              <a:t>2</a:t>
            </a:r>
            <a:r>
              <a:rPr lang="zh-CN" altLang="en-US" sz="2110" dirty="0">
                <a:solidFill>
                  <a:srgbClr val="000000"/>
                </a:solidFill>
                <a:latin typeface="微软雅黑" panose="020B0503020204020204" pitchFamily="34" charset="-122"/>
                <a:ea typeface="微软雅黑" panose="020B0503020204020204" pitchFamily="34" charset="-122"/>
              </a:rPr>
              <a:t>.</a:t>
            </a:r>
            <a:r>
              <a:rPr lang="en-US" altLang="zh-CN" sz="2110" dirty="0">
                <a:solidFill>
                  <a:srgbClr val="000000"/>
                </a:solidFill>
                <a:latin typeface="微软雅黑" panose="020B0503020204020204" pitchFamily="34" charset="-122"/>
                <a:ea typeface="微软雅黑" panose="020B0503020204020204" pitchFamily="34" charset="-122"/>
              </a:rPr>
              <a:t> </a:t>
            </a:r>
            <a:r>
              <a:rPr lang="zh-CN" altLang="en-US" sz="2110" dirty="0">
                <a:solidFill>
                  <a:srgbClr val="000000"/>
                </a:solidFill>
                <a:latin typeface="微软雅黑" panose="020B0503020204020204" pitchFamily="34" charset="-122"/>
                <a:ea typeface="微软雅黑" panose="020B0503020204020204" pitchFamily="34" charset="-122"/>
              </a:rPr>
              <a:t>买空对方库存用买家账号买空跟卖者的库存，原理其实就是利用亚马逊的付款Pending机制，让订单Pending达到对方库存为0的效果，这样对方等于“自动下架了”。</a:t>
            </a:r>
            <a:endParaRPr lang="zh-CN" altLang="en-US" sz="2110" dirty="0">
              <a:solidFill>
                <a:srgbClr val="000000"/>
              </a:solidFill>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任意多边形 3"/>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5"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latin typeface="Arial" panose="020B0604020202020204" pitchFamily="34" charset="0"/>
                <a:ea typeface="微软雅黑" panose="020B0503020204020204" pitchFamily="34" charset="-122"/>
                <a:cs typeface="+mn-ea"/>
                <a:sym typeface="Arial" panose="020B0604020202020204" pitchFamily="34" charset="0"/>
              </a:rPr>
              <a:t>06 </a:t>
            </a:r>
            <a:r>
              <a:rPr lang="zh-CN" altLang="en-US" sz="3000" dirty="0">
                <a:latin typeface="Arial" panose="020B0604020202020204" pitchFamily="34" charset="0"/>
                <a:ea typeface="微软雅黑" panose="020B0503020204020204" pitchFamily="34" charset="-122"/>
                <a:cs typeface="+mn-ea"/>
                <a:sym typeface="Arial" panose="020B0604020202020204" pitchFamily="34" charset="0"/>
              </a:rPr>
              <a:t>跟卖的其他解决方案</a:t>
            </a:r>
            <a:endParaRPr lang="zh-CN" altLang="en-US" sz="30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ransition spd="med">
    <p:cover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1908482" y="2143395"/>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07</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76465" y="2832735"/>
            <a:ext cx="5582285" cy="768985"/>
          </a:xfrm>
          <a:prstGeom prst="rect">
            <a:avLst/>
          </a:prstGeom>
          <a:noFill/>
        </p:spPr>
        <p:txBody>
          <a:bodyPr wrap="square" lIns="0" tIns="0" rIns="0" bIns="0" rtlCol="0">
            <a:spAutoFit/>
          </a:bodyPr>
          <a:lstStyle/>
          <a:p>
            <a:pPr algn="ctr"/>
            <a:r>
              <a:rPr lang="zh-CN" altLang="en-US" sz="5000" dirty="0">
                <a:latin typeface="黑体" panose="02010609060101010101" charset="-122"/>
                <a:ea typeface="微软雅黑" panose="020B0503020204020204" pitchFamily="34" charset="-122"/>
                <a:sym typeface="+mn-ea"/>
              </a:rPr>
              <a:t>如何避免侵权</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07 </a:t>
            </a:r>
            <a:r>
              <a:rPr lang="zh-CN" altLang="en-US" sz="3000" dirty="0">
                <a:latin typeface="黑体" panose="02010609060101010101" charset="-122"/>
                <a:ea typeface="微软雅黑" panose="020B0503020204020204" pitchFamily="34" charset="-122"/>
                <a:sym typeface="+mn-ea"/>
              </a:rPr>
              <a:t>如何避免侵权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41045" y="1088390"/>
            <a:ext cx="11242675" cy="6092825"/>
          </a:xfrm>
          <a:prstGeom prst="rect">
            <a:avLst/>
          </a:prstGeom>
          <a:noFill/>
        </p:spPr>
        <p:txBody>
          <a:bodyPr wrap="square" rtlCol="0">
            <a:spAutoFit/>
          </a:bodyPr>
          <a:p>
            <a:pPr algn="l">
              <a:lnSpc>
                <a:spcPct val="150000"/>
              </a:lnSpc>
            </a:pPr>
            <a:r>
              <a:rPr lang="en-US" altLang="zh-CN" sz="2000">
                <a:latin typeface="+mn-ea"/>
                <a:ea typeface="+mn-ea"/>
                <a:cs typeface="+mn-ea"/>
              </a:rPr>
              <a:t>1</a:t>
            </a:r>
            <a:r>
              <a:rPr lang="zh-CN" altLang="en-US" sz="2000">
                <a:latin typeface="+mn-ea"/>
                <a:ea typeface="+mn-ea"/>
                <a:cs typeface="+mn-ea"/>
              </a:rPr>
              <a:t>.</a:t>
            </a:r>
            <a:r>
              <a:rPr lang="en-US" altLang="zh-CN" sz="2000">
                <a:latin typeface="+mn-ea"/>
                <a:ea typeface="+mn-ea"/>
                <a:cs typeface="+mn-ea"/>
              </a:rPr>
              <a:t> </a:t>
            </a:r>
            <a:r>
              <a:rPr lang="zh-CN" altLang="en-US" sz="2000" dirty="0">
                <a:solidFill>
                  <a:srgbClr val="000000"/>
                </a:solidFill>
                <a:latin typeface="微软雅黑" panose="020B0503020204020204" pitchFamily="34" charset="-122"/>
                <a:ea typeface="微软雅黑" panose="020B0503020204020204" pitchFamily="34" charset="-122"/>
                <a:sym typeface="+mn-ea"/>
              </a:rPr>
              <a:t>选品和发布产品过程中，</a:t>
            </a:r>
            <a:r>
              <a:rPr lang="en-US" altLang="zh-CN" sz="2000">
                <a:latin typeface="+mn-ea"/>
                <a:ea typeface="+mn-ea"/>
                <a:cs typeface="+mn-ea"/>
                <a:sym typeface="+mn-ea"/>
              </a:rPr>
              <a:t>不要碰有</a:t>
            </a:r>
            <a:r>
              <a:rPr lang="zh-CN" altLang="en-US" sz="2000">
                <a:latin typeface="+mn-ea"/>
                <a:ea typeface="+mn-ea"/>
                <a:cs typeface="+mn-ea"/>
                <a:sym typeface="+mn-ea"/>
              </a:rPr>
              <a:t>专利</a:t>
            </a:r>
            <a:r>
              <a:rPr lang="en-US" altLang="zh-CN" sz="2000">
                <a:latin typeface="+mn-ea"/>
                <a:ea typeface="+mn-ea"/>
                <a:cs typeface="+mn-ea"/>
                <a:sym typeface="+mn-ea"/>
              </a:rPr>
              <a:t>/版权的产品</a:t>
            </a:r>
            <a:r>
              <a:rPr lang="zh-CN" altLang="en-US" sz="2000">
                <a:latin typeface="+mn-ea"/>
                <a:ea typeface="+mn-ea"/>
                <a:cs typeface="+mn-ea"/>
                <a:sym typeface="+mn-ea"/>
              </a:rPr>
              <a:t>；</a:t>
            </a:r>
            <a:endParaRPr lang="zh-CN" altLang="en-US" sz="2000">
              <a:latin typeface="+mn-ea"/>
              <a:ea typeface="+mn-ea"/>
              <a:cs typeface="+mn-ea"/>
              <a:sym typeface="+mn-ea"/>
            </a:endParaRPr>
          </a:p>
          <a:p>
            <a:pPr algn="l">
              <a:lnSpc>
                <a:spcPct val="150000"/>
              </a:lnSpc>
            </a:pPr>
            <a:r>
              <a:rPr lang="en-US" altLang="zh-CN" sz="2000">
                <a:latin typeface="+mn-ea"/>
                <a:ea typeface="+mn-ea"/>
                <a:cs typeface="+mn-ea"/>
                <a:sym typeface="+mn-ea"/>
              </a:rPr>
              <a:t>2. </a:t>
            </a:r>
            <a:r>
              <a:rPr lang="zh-CN" altLang="en-US" sz="2000" dirty="0">
                <a:solidFill>
                  <a:srgbClr val="000000"/>
                </a:solidFill>
                <a:latin typeface="微软雅黑" panose="020B0503020204020204" pitchFamily="34" charset="-122"/>
                <a:ea typeface="微软雅黑" panose="020B0503020204020204" pitchFamily="34" charset="-122"/>
                <a:sym typeface="+mn-ea"/>
              </a:rPr>
              <a:t>通过多个渠道了解产品的相关信息，向供应商咨询是否有侵权风险，向有经验的同行卖家请教；</a:t>
            </a:r>
            <a:endParaRPr lang="zh-CN" altLang="en-US" sz="2000" dirty="0">
              <a:solidFill>
                <a:srgbClr val="000000"/>
              </a:solidFill>
              <a:latin typeface="微软雅黑" panose="020B0503020204020204" pitchFamily="34" charset="-122"/>
              <a:ea typeface="微软雅黑" panose="020B0503020204020204" pitchFamily="34" charset="-122"/>
            </a:endParaRPr>
          </a:p>
          <a:p>
            <a:pPr algn="l">
              <a:lnSpc>
                <a:spcPct val="150000"/>
              </a:lnSpc>
            </a:pPr>
            <a:r>
              <a:rPr lang="en-US" altLang="zh-CN" sz="2000">
                <a:latin typeface="+mn-ea"/>
                <a:ea typeface="+mn-ea"/>
                <a:cs typeface="+mn-ea"/>
                <a:sym typeface="+mn-ea"/>
              </a:rPr>
              <a:t>3. 编辑listing时要细心，遇到不太熟悉的单词或者词组时，到商标网站查询是否侵权。如果侵权，立刻删掉商标，申请恢复产品链接</a:t>
            </a:r>
            <a:r>
              <a:rPr lang="zh-CN" altLang="en-US" sz="2000">
                <a:latin typeface="+mn-ea"/>
                <a:ea typeface="+mn-ea"/>
                <a:cs typeface="+mn-ea"/>
                <a:sym typeface="+mn-ea"/>
              </a:rPr>
              <a:t>；</a:t>
            </a:r>
            <a:endParaRPr lang="en-US" altLang="zh-CN" sz="2000">
              <a:latin typeface="+mn-ea"/>
              <a:ea typeface="+mn-ea"/>
              <a:cs typeface="+mn-ea"/>
              <a:sym typeface="+mn-ea"/>
            </a:endParaRPr>
          </a:p>
          <a:p>
            <a:pPr algn="l">
              <a:lnSpc>
                <a:spcPct val="150000"/>
              </a:lnSpc>
            </a:pPr>
            <a:r>
              <a:rPr lang="en-US" altLang="zh-CN" sz="2000">
                <a:latin typeface="+mn-ea"/>
                <a:ea typeface="+mn-ea"/>
                <a:cs typeface="+mn-ea"/>
                <a:sym typeface="+mn-ea"/>
              </a:rPr>
              <a:t>4. 产品图片不能用别人的logo，不要直接用别人的图片</a:t>
            </a:r>
            <a:r>
              <a:rPr lang="zh-CN" altLang="en-US" sz="2000">
                <a:latin typeface="+mn-ea"/>
                <a:ea typeface="+mn-ea"/>
                <a:cs typeface="+mn-ea"/>
                <a:sym typeface="+mn-ea"/>
              </a:rPr>
              <a:t>；</a:t>
            </a:r>
            <a:endParaRPr lang="zh-CN" altLang="en-US" sz="2000">
              <a:latin typeface="+mn-ea"/>
              <a:ea typeface="+mn-ea"/>
              <a:cs typeface="+mn-ea"/>
              <a:sym typeface="+mn-ea"/>
            </a:endParaRPr>
          </a:p>
          <a:p>
            <a:pPr algn="l">
              <a:lnSpc>
                <a:spcPct val="150000"/>
              </a:lnSpc>
            </a:pPr>
            <a:r>
              <a:rPr lang="en-US" altLang="zh-CN" sz="2000">
                <a:latin typeface="+mn-ea"/>
                <a:ea typeface="+mn-ea"/>
                <a:cs typeface="+mn-ea"/>
                <a:sym typeface="+mn-ea"/>
              </a:rPr>
              <a:t>5. </a:t>
            </a:r>
            <a:r>
              <a:rPr lang="zh-CN" altLang="en-US" sz="2000">
                <a:latin typeface="+mn-ea"/>
                <a:ea typeface="+mn-ea"/>
                <a:cs typeface="+mn-ea"/>
                <a:sym typeface="+mn-ea"/>
              </a:rPr>
              <a:t>相关网站检索专利（见专利查询网址）：检索专利不能单纯检索一个关键词，专利和商标不同，商标只是一个品牌，只要检索有没有相同的或者近似的就可以了！而一个产品可能有七八种关键词可用来命名专利名称！所以在检索的时候大家一定要多去搜索几次再下结论。</a:t>
            </a:r>
            <a:r>
              <a:rPr lang="en-US" altLang="zh-CN" sz="2000">
                <a:latin typeface="+mn-ea"/>
                <a:ea typeface="+mn-ea"/>
                <a:cs typeface="+mn-ea"/>
                <a:sym typeface="+mn-ea"/>
              </a:rPr>
              <a:t>在亚马逊平台上那些卖的又好、卖家又少的爆款产品，绝大部分都是有外观设计专利的</a:t>
            </a:r>
            <a:r>
              <a:rPr lang="zh-CN" altLang="en-US" sz="2000">
                <a:latin typeface="+mn-ea"/>
                <a:ea typeface="+mn-ea"/>
                <a:cs typeface="+mn-ea"/>
                <a:sym typeface="+mn-ea"/>
              </a:rPr>
              <a:t>。</a:t>
            </a:r>
            <a:endParaRPr lang="zh-CN" altLang="en-US" sz="2000">
              <a:latin typeface="+mn-ea"/>
              <a:ea typeface="+mn-ea"/>
              <a:cs typeface="+mn-ea"/>
              <a:sym typeface="+mn-ea"/>
            </a:endParaRPr>
          </a:p>
          <a:p>
            <a:pPr algn="l">
              <a:lnSpc>
                <a:spcPct val="150000"/>
              </a:lnSpc>
            </a:pPr>
            <a:r>
              <a:rPr lang="en-US" altLang="zh-CN" sz="2000">
                <a:latin typeface="+mn-ea"/>
                <a:ea typeface="+mn-ea"/>
                <a:cs typeface="+mn-ea"/>
                <a:sym typeface="+mn-ea"/>
              </a:rPr>
              <a:t>6.</a:t>
            </a:r>
            <a:r>
              <a:rPr sz="2000">
                <a:latin typeface="+mn-ea"/>
                <a:ea typeface="+mn-ea"/>
                <a:cs typeface="+mn-ea"/>
                <a:sym typeface="+mn-ea"/>
              </a:rPr>
              <a:t> </a:t>
            </a:r>
            <a:r>
              <a:rPr lang="zh-CN" sz="2000">
                <a:latin typeface="+mn-ea"/>
                <a:ea typeface="+mn-ea"/>
                <a:cs typeface="+mn-ea"/>
                <a:sym typeface="+mn-ea"/>
              </a:rPr>
              <a:t>建立第三方网站，关于品牌的其他网站，在上传产品的同时同步到网站上面，以防止被其他人恶意投诉。</a:t>
            </a:r>
            <a:endParaRPr lang="zh-CN" sz="2000">
              <a:latin typeface="+mn-ea"/>
              <a:ea typeface="+mn-ea"/>
              <a:cs typeface="+mn-ea"/>
              <a:sym typeface="+mn-ea"/>
            </a:endParaRPr>
          </a:p>
          <a:p>
            <a:pPr algn="l">
              <a:lnSpc>
                <a:spcPct val="150000"/>
              </a:lnSpc>
            </a:pPr>
            <a:r>
              <a:rPr lang="en-US" altLang="zh-CN" sz="2000">
                <a:latin typeface="+mn-ea"/>
                <a:ea typeface="+mn-ea"/>
                <a:cs typeface="+mn-ea"/>
                <a:sym typeface="+mn-ea"/>
              </a:rPr>
              <a:t>7.</a:t>
            </a:r>
            <a:r>
              <a:rPr lang="zh-CN" altLang="en-US" sz="2000">
                <a:latin typeface="+mn-ea"/>
                <a:ea typeface="+mn-ea"/>
                <a:cs typeface="+mn-ea"/>
                <a:sym typeface="+mn-ea"/>
              </a:rPr>
              <a:t>对于卖的好的产品可以留下拍图的原文件。</a:t>
            </a:r>
            <a:endParaRPr lang="zh-CN" sz="2000">
              <a:latin typeface="+mn-ea"/>
              <a:ea typeface="+mn-ea"/>
              <a:cs typeface="+mn-ea"/>
            </a:endParaRPr>
          </a:p>
          <a:p>
            <a:pPr algn="l">
              <a:lnSpc>
                <a:spcPct val="150000"/>
              </a:lnSpc>
            </a:pPr>
            <a:endParaRPr lang="en-US" altLang="zh-CN" sz="2000">
              <a:latin typeface="+mn-ea"/>
              <a:ea typeface="+mn-ea"/>
              <a:cs typeface="+mn-ea"/>
              <a:sym typeface="+mn-ea"/>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0" name="矩形 16"/>
          <p:cNvSpPr/>
          <p:nvPr/>
        </p:nvSpPr>
        <p:spPr>
          <a:xfrm>
            <a:off x="956945" y="951865"/>
            <a:ext cx="11721465" cy="512699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官网查询世界知识产权组织: http://www.wipo.int/portal/en/</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美国: http://www.uspto. gov/patent</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欧盟: http://www.epo.org/</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日本: http://www.jpo.go.jp/</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韩国: http://www.kipo .go. kr/kpo/eng/</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中国: http://www.sipo.gov.cn/</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德国: http://www.dpma.de/</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欧洲内部市场协调局: https://oami.europa. eu/ohimportal/en/</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澳大利亚: http://www.ipaustralia.gov.au/</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加拿大: http://www.ic. gc. ca/eic/site/cipointernet internetopic.nsf/eng/home</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英国: https://www. gov.uk/government/organisations/intellectual-property-office</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香港: http://www.ipd.gov.hk/</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新西兰: http://www.iponz.govt.nz/cms</a:t>
            </a:r>
            <a:endParaRPr lang="zh-CN" altLang="en-US" sz="1800" dirty="0">
              <a:latin typeface="微软雅黑" panose="020B0503020204020204" pitchFamily="34" charset="-122"/>
              <a:ea typeface="微软雅黑" panose="020B0503020204020204" pitchFamily="34" charset="-122"/>
            </a:endParaRPr>
          </a:p>
          <a:p>
            <a:pPr marL="0" lvl="0" indent="0" algn="l" eaLnBrk="1" hangingPunct="1">
              <a:lnSpc>
                <a:spcPct val="130000"/>
              </a:lnSpc>
              <a:spcBef>
                <a:spcPct val="0"/>
              </a:spcBef>
              <a:buFontTx/>
              <a:buNone/>
            </a:pPr>
            <a:r>
              <a:rPr lang="zh-CN" altLang="en-US" sz="1800" dirty="0">
                <a:latin typeface="微软雅黑" panose="020B0503020204020204" pitchFamily="34" charset="-122"/>
                <a:ea typeface="微软雅黑" panose="020B0503020204020204" pitchFamily="34" charset="-122"/>
              </a:rPr>
              <a:t>谷歌专利搜索 https://patents.google.com/</a:t>
            </a:r>
            <a:endParaRPr lang="zh-CN" altLang="en-US" sz="1800" dirty="0">
              <a:latin typeface="微软雅黑" panose="020B0503020204020204" pitchFamily="34" charset="-122"/>
              <a:ea typeface="微软雅黑" panose="020B0503020204020204" pitchFamily="34" charset="-122"/>
            </a:endParaRPr>
          </a:p>
        </p:txBody>
      </p:sp>
      <p:sp>
        <p:nvSpPr>
          <p:cNvPr id="3" name="任意多边形 2"/>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任意多边形 1"/>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40970"/>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3000" b="1" dirty="0">
                <a:solidFill>
                  <a:srgbClr val="000000"/>
                </a:solidFill>
                <a:latin typeface="微软雅黑" panose="020B0503020204020204" pitchFamily="34" charset="-122"/>
                <a:ea typeface="微软雅黑" panose="020B0503020204020204" pitchFamily="34" charset="-122"/>
                <a:sym typeface="+mn-ea"/>
              </a:rPr>
              <a:t>专利查询网址</a:t>
            </a:r>
            <a:endParaRPr lang="zh-CN" altLang="en-US" sz="3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259"/>
          <p:cNvSpPr>
            <a:spLocks noChangeArrowheads="1"/>
          </p:cNvSpPr>
          <p:nvPr/>
        </p:nvSpPr>
        <p:spPr bwMode="auto">
          <a:xfrm>
            <a:off x="1908482" y="2143395"/>
            <a:ext cx="2196442"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1500" b="1" cap="all" spc="300" dirty="0">
                <a:solidFill>
                  <a:schemeClr val="accent1"/>
                </a:solidFill>
                <a:latin typeface="+mj-ea"/>
                <a:ea typeface="+mj-ea"/>
                <a:cs typeface="Arial" panose="020B0604020202020204" pitchFamily="34" charset="0"/>
              </a:rPr>
              <a:t>08</a:t>
            </a:r>
            <a:endParaRPr lang="en-US" altLang="zh-CN" sz="11500" b="1" cap="all" spc="300" dirty="0">
              <a:solidFill>
                <a:schemeClr val="accent1"/>
              </a:solidFill>
              <a:latin typeface="+mj-ea"/>
              <a:ea typeface="+mj-ea"/>
              <a:cs typeface="Arial" panose="020B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7276465" y="2832735"/>
            <a:ext cx="5582285" cy="768985"/>
          </a:xfrm>
          <a:prstGeom prst="rect">
            <a:avLst/>
          </a:prstGeom>
          <a:noFill/>
        </p:spPr>
        <p:txBody>
          <a:bodyPr wrap="square" lIns="0" tIns="0" rIns="0" bIns="0" rtlCol="0">
            <a:spAutoFit/>
          </a:bodyPr>
          <a:lstStyle/>
          <a:p>
            <a:pPr algn="ctr"/>
            <a:r>
              <a:rPr lang="zh-CN" altLang="en-US" sz="5000" dirty="0">
                <a:latin typeface="黑体" panose="02010609060101010101" charset="-122"/>
                <a:ea typeface="微软雅黑" panose="020B0503020204020204" pitchFamily="34" charset="-122"/>
                <a:sym typeface="+mn-ea"/>
              </a:rPr>
              <a:t>如何申诉侵权</a:t>
            </a:r>
            <a:endParaRPr lang="zh-CN" altLang="en-US" sz="5000" b="1" dirty="0">
              <a:solidFill>
                <a:schemeClr val="accent1"/>
              </a:solidFill>
              <a:latin typeface="黑体" panose="02010609060101010101"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如何申诉侵权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807720" y="951865"/>
            <a:ext cx="11242675" cy="5631180"/>
          </a:xfrm>
          <a:prstGeom prst="rect">
            <a:avLst/>
          </a:prstGeom>
          <a:noFill/>
        </p:spPr>
        <p:txBody>
          <a:bodyPr wrap="square" rtlCol="0">
            <a:spAutoFit/>
          </a:bodyPr>
          <a:p>
            <a:pPr algn="l">
              <a:lnSpc>
                <a:spcPct val="150000"/>
              </a:lnSpc>
            </a:pPr>
            <a:r>
              <a:rPr lang="zh-CN" altLang="en-US" sz="2000">
                <a:latin typeface="+mn-ea"/>
                <a:ea typeface="+mn-ea"/>
                <a:cs typeface="+mn-ea"/>
              </a:rPr>
              <a:t>1.</a:t>
            </a:r>
            <a:r>
              <a:rPr lang="en-US" altLang="zh-CN" sz="2000">
                <a:latin typeface="+mn-ea"/>
                <a:ea typeface="+mn-ea"/>
                <a:cs typeface="+mn-ea"/>
              </a:rPr>
              <a:t> </a:t>
            </a:r>
            <a:r>
              <a:rPr lang="zh-CN" altLang="en-US" sz="2000">
                <a:latin typeface="+mn-ea"/>
                <a:ea typeface="+mn-ea"/>
                <a:cs typeface="+mn-ea"/>
              </a:rPr>
              <a:t>确认侵权类型</a:t>
            </a:r>
            <a:endParaRPr lang="zh-CN" altLang="en-US" sz="2000">
              <a:latin typeface="+mn-ea"/>
              <a:ea typeface="+mn-ea"/>
              <a:cs typeface="+mn-ea"/>
            </a:endParaRPr>
          </a:p>
          <a:p>
            <a:pPr algn="l">
              <a:lnSpc>
                <a:spcPct val="150000"/>
              </a:lnSpc>
            </a:pPr>
            <a:r>
              <a:rPr lang="en-US" altLang="zh-CN" sz="2000">
                <a:latin typeface="+mn-ea"/>
                <a:ea typeface="+mn-ea"/>
                <a:cs typeface="+mn-ea"/>
              </a:rPr>
              <a:t>     </a:t>
            </a:r>
            <a:r>
              <a:rPr lang="zh-CN" altLang="en-US" sz="2000">
                <a:latin typeface="+mn-ea"/>
                <a:ea typeface="+mn-ea"/>
                <a:cs typeface="+mn-ea"/>
              </a:rPr>
              <a:t>投诉邮件中基本都会告知侵权原因， 例如， 已告知侵犯了对方的商标权，对方上商标名是XXX， 对方商标注册号是XXXX， 可以直接进入商标局官网进行查询核对是否真实存在此商标，对方注册商标类别是否符合被投诉的产品类别，如对方用一个25类（服装类）商标投诉你卖的电子产品， 那是不成立的， 商标是有分类保护的。如对方用中国商标投诉你在亚马逊美国站的销售，那也是不成立的，商标是地域性保护的。</a:t>
            </a:r>
            <a:endParaRPr lang="zh-CN" altLang="en-US" sz="2000">
              <a:latin typeface="+mn-ea"/>
              <a:ea typeface="+mn-ea"/>
              <a:cs typeface="+mn-ea"/>
            </a:endParaRPr>
          </a:p>
          <a:p>
            <a:pPr algn="l">
              <a:lnSpc>
                <a:spcPct val="150000"/>
              </a:lnSpc>
            </a:pPr>
            <a:r>
              <a:rPr lang="zh-CN" altLang="en-US" sz="2000">
                <a:latin typeface="+mn-ea"/>
                <a:ea typeface="+mn-ea"/>
                <a:cs typeface="+mn-ea"/>
              </a:rPr>
              <a:t>  </a:t>
            </a:r>
            <a:r>
              <a:rPr lang="en-US" altLang="zh-CN" sz="2000">
                <a:latin typeface="+mn-ea"/>
                <a:ea typeface="+mn-ea"/>
                <a:cs typeface="+mn-ea"/>
              </a:rPr>
              <a:t>   </a:t>
            </a:r>
            <a:r>
              <a:rPr lang="zh-CN" altLang="en-US" sz="2000">
                <a:latin typeface="+mn-ea"/>
                <a:ea typeface="+mn-ea"/>
                <a:cs typeface="+mn-ea"/>
              </a:rPr>
              <a:t>若投诉邮件中并无提及侵权具体原因，先自行初步做一个判断，自己是否真实侵权。首先，listing描述中是否含有其他人的商标？图片上的产品的商标和文字是否含有他人的商标？其次，若产品图为网上下载，该图片是否侵犯版权？此外，该产品是否拥有发明和外观专利保护？ 找亚马逊要侵权的版权号</a:t>
            </a:r>
            <a:r>
              <a:rPr lang="en-US" altLang="zh-CN" sz="2000">
                <a:latin typeface="+mn-ea"/>
                <a:ea typeface="+mn-ea"/>
                <a:cs typeface="+mn-ea"/>
              </a:rPr>
              <a:t>/</a:t>
            </a:r>
            <a:r>
              <a:rPr lang="zh-CN" altLang="en-US" sz="2000">
                <a:latin typeface="+mn-ea"/>
                <a:ea typeface="+mn-ea"/>
                <a:cs typeface="+mn-ea"/>
              </a:rPr>
              <a:t>专利号。</a:t>
            </a:r>
            <a:endParaRPr lang="zh-CN" altLang="en-US" sz="2000">
              <a:latin typeface="+mn-ea"/>
              <a:ea typeface="+mn-ea"/>
              <a:cs typeface="+mn-ea"/>
            </a:endParaRPr>
          </a:p>
          <a:p>
            <a:pPr algn="l">
              <a:lnSpc>
                <a:spcPct val="150000"/>
              </a:lnSpc>
            </a:pPr>
            <a:endParaRPr lang="zh-CN" altLang="en-US" sz="2000">
              <a:latin typeface="+mn-ea"/>
              <a:ea typeface="+mn-ea"/>
              <a:cs typeface="+mn-ea"/>
            </a:endParaRPr>
          </a:p>
          <a:p>
            <a:pPr algn="l">
              <a:lnSpc>
                <a:spcPct val="150000"/>
              </a:lnSpc>
            </a:pPr>
            <a:endParaRPr lang="en-US" altLang="zh-CN" sz="2000">
              <a:latin typeface="+mn-ea"/>
              <a:ea typeface="+mn-ea"/>
              <a:cs typeface="+mn-ea"/>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53264" name="矩形 6"/>
          <p:cNvSpPr/>
          <p:nvPr/>
        </p:nvSpPr>
        <p:spPr>
          <a:xfrm>
            <a:off x="2447833" y="6247497"/>
            <a:ext cx="2255180" cy="5778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zh-CN" altLang="en-US" sz="211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沿墙面逃生等</a:t>
            </a:r>
            <a:endPar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如何申诉侵权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807720" y="1527810"/>
            <a:ext cx="11242675" cy="2861310"/>
          </a:xfrm>
          <a:prstGeom prst="rect">
            <a:avLst/>
          </a:prstGeom>
          <a:noFill/>
        </p:spPr>
        <p:txBody>
          <a:bodyPr wrap="square" rtlCol="0">
            <a:spAutoFit/>
          </a:bodyPr>
          <a:p>
            <a:pPr algn="l">
              <a:lnSpc>
                <a:spcPct val="150000"/>
              </a:lnSpc>
            </a:pPr>
            <a:r>
              <a:rPr lang="en-US" altLang="zh-CN" sz="2000">
                <a:latin typeface="+mn-ea"/>
                <a:ea typeface="+mn-ea"/>
                <a:cs typeface="+mn-ea"/>
              </a:rPr>
              <a:t>2. 分析是否</a:t>
            </a:r>
            <a:r>
              <a:rPr lang="zh-CN" altLang="en-US" sz="2000">
                <a:latin typeface="+mn-ea"/>
                <a:ea typeface="+mn-ea"/>
                <a:cs typeface="+mn-ea"/>
              </a:rPr>
              <a:t>真实</a:t>
            </a:r>
            <a:r>
              <a:rPr lang="en-US" altLang="zh-CN" sz="2000">
                <a:latin typeface="+mn-ea"/>
                <a:ea typeface="+mn-ea"/>
                <a:cs typeface="+mn-ea"/>
              </a:rPr>
              <a:t>侵权</a:t>
            </a:r>
            <a:endParaRPr lang="en-US" altLang="zh-CN" sz="2000">
              <a:latin typeface="+mn-ea"/>
              <a:ea typeface="+mn-ea"/>
              <a:cs typeface="+mn-ea"/>
            </a:endParaRPr>
          </a:p>
          <a:p>
            <a:pPr algn="l">
              <a:lnSpc>
                <a:spcPct val="150000"/>
              </a:lnSpc>
            </a:pPr>
            <a:r>
              <a:rPr lang="en-US" altLang="zh-CN" sz="2000">
                <a:latin typeface="+mn-ea"/>
                <a:ea typeface="+mn-ea"/>
                <a:cs typeface="+mn-ea"/>
              </a:rPr>
              <a:t>     不要因为对方说侵权了</a:t>
            </a:r>
            <a:r>
              <a:rPr lang="zh-CN" altLang="en-US" sz="2000">
                <a:latin typeface="+mn-ea"/>
                <a:ea typeface="+mn-ea"/>
                <a:cs typeface="+mn-ea"/>
              </a:rPr>
              <a:t>，</a:t>
            </a:r>
            <a:r>
              <a:rPr lang="en-US" altLang="zh-CN" sz="2000">
                <a:latin typeface="+mn-ea"/>
                <a:ea typeface="+mn-ea"/>
                <a:cs typeface="+mn-ea"/>
              </a:rPr>
              <a:t>就认为自己必定是侵权了</a:t>
            </a:r>
            <a:r>
              <a:rPr lang="zh-CN" altLang="en-US" sz="2000">
                <a:latin typeface="+mn-ea"/>
                <a:ea typeface="+mn-ea"/>
                <a:cs typeface="+mn-ea"/>
              </a:rPr>
              <a:t>，</a:t>
            </a:r>
            <a:r>
              <a:rPr lang="en-US" altLang="zh-CN" sz="2000">
                <a:latin typeface="+mn-ea"/>
                <a:ea typeface="+mn-ea"/>
                <a:cs typeface="+mn-ea"/>
              </a:rPr>
              <a:t> 有许多的恶意竞争对手会恶意投诉！自己</a:t>
            </a:r>
            <a:r>
              <a:rPr lang="zh-CN" altLang="en-US" sz="2000">
                <a:latin typeface="+mn-ea"/>
                <a:ea typeface="+mn-ea"/>
                <a:cs typeface="+mn-ea"/>
              </a:rPr>
              <a:t>要</a:t>
            </a:r>
            <a:r>
              <a:rPr lang="en-US" altLang="zh-CN" sz="2000">
                <a:latin typeface="+mn-ea"/>
                <a:ea typeface="+mn-ea"/>
                <a:cs typeface="+mn-ea"/>
              </a:rPr>
              <a:t>有一个分析， 重新审视一下自己的产品</a:t>
            </a:r>
            <a:r>
              <a:rPr lang="zh-CN" altLang="en-US" sz="2000">
                <a:latin typeface="+mn-ea"/>
                <a:ea typeface="+mn-ea"/>
                <a:cs typeface="+mn-ea"/>
              </a:rPr>
              <a:t>和</a:t>
            </a:r>
            <a:r>
              <a:rPr lang="en-US" altLang="zh-CN" sz="2000">
                <a:latin typeface="+mn-ea"/>
                <a:ea typeface="+mn-ea"/>
                <a:cs typeface="+mn-ea"/>
              </a:rPr>
              <a:t>Listing是否有侵权行为。</a:t>
            </a:r>
            <a:endParaRPr lang="en-US" altLang="zh-CN" sz="2000">
              <a:latin typeface="+mn-ea"/>
              <a:ea typeface="+mn-ea"/>
              <a:cs typeface="+mn-ea"/>
            </a:endParaRPr>
          </a:p>
          <a:p>
            <a:pPr algn="l">
              <a:lnSpc>
                <a:spcPct val="150000"/>
              </a:lnSpc>
            </a:pPr>
            <a:r>
              <a:rPr lang="en-US" altLang="zh-CN" sz="2000">
                <a:latin typeface="+mn-ea"/>
                <a:ea typeface="+mn-ea"/>
                <a:cs typeface="+mn-ea"/>
              </a:rPr>
              <a:t>   </a:t>
            </a:r>
            <a:r>
              <a:rPr lang="zh-CN" altLang="en-US" sz="2000">
                <a:latin typeface="+mn-ea"/>
                <a:ea typeface="+mn-ea"/>
                <a:cs typeface="+mn-ea"/>
              </a:rPr>
              <a:t>如果是专利侵权</a:t>
            </a:r>
            <a:r>
              <a:rPr lang="zh-CN" altLang="en-US" sz="2000">
                <a:latin typeface="+mn-ea"/>
                <a:ea typeface="+mn-ea"/>
                <a:cs typeface="+mn-ea"/>
                <a:sym typeface="+mn-ea"/>
              </a:rPr>
              <a:t>到官网去查找专利证书，去对比和我们产品是不是一模一样。如果一样，就得看下注册时间是什么时候，是否在我们上架链接之前，如果在上架链接之后，投诉是无效的。</a:t>
            </a:r>
            <a:endParaRPr lang="zh-CN" altLang="en-US" sz="2000">
              <a:latin typeface="+mn-ea"/>
              <a:ea typeface="+mn-ea"/>
              <a:cs typeface="+mn-ea"/>
            </a:endParaRPr>
          </a:p>
          <a:p>
            <a:pPr algn="l">
              <a:lnSpc>
                <a:spcPct val="150000"/>
              </a:lnSpc>
            </a:pPr>
            <a:endParaRPr lang="en-US" altLang="zh-CN" sz="2000">
              <a:latin typeface="+mn-ea"/>
              <a:ea typeface="+mn-ea"/>
              <a:cs typeface="+mn-ea"/>
            </a:endParaRPr>
          </a:p>
        </p:txBody>
      </p:sp>
      <p:sp>
        <p:nvSpPr>
          <p:cNvPr id="6" name="等腰三角形 5"/>
          <p:cNvSpPr/>
          <p:nvPr/>
        </p:nvSpPr>
        <p:spPr>
          <a:xfrm>
            <a:off x="885190" y="3112135"/>
            <a:ext cx="144145" cy="216535"/>
          </a:xfrm>
          <a:prstGeom prst="triangle">
            <a:avLst/>
          </a:prstGeom>
          <a:solidFill>
            <a:srgbClr val="FF0000"/>
          </a:solidFill>
          <a:ln w="9525" cap="flat" cmpd="sng" algn="ctr">
            <a:solidFill>
              <a:schemeClr val="tx2">
                <a:lumMod val="60000"/>
                <a:lumOff val="40000"/>
              </a:schemeClr>
            </a:solidFill>
            <a:prstDash val="solid"/>
            <a:round/>
            <a:headEnd type="none" w="med" len="med"/>
            <a:tailEnd type="none" w="med" len="med"/>
          </a:ln>
        </p:spPr>
        <p:txBody>
          <a:bodyPr vert="horz" wrap="square" lIns="179705" tIns="71755" rIns="179705" bIns="71755" numCol="1" rtlCol="0" anchor="ctr" anchorCtr="0" compatLnSpc="1">
            <a:spAutoFit/>
          </a:bodyPr>
          <a:p>
            <a:pPr algn="just" eaLnBrk="1" latinLnBrk="0" hangingPunct="1">
              <a:lnSpc>
                <a:spcPct val="150000"/>
              </a:lnSpc>
              <a:spcBef>
                <a:spcPts val="0"/>
              </a:spcBef>
              <a:spcAft>
                <a:spcPts val="0"/>
              </a:spcAft>
            </a:pPr>
            <a:endParaRPr lang="zh-CN" altLang="en-US" sz="1800" spc="100">
              <a:solidFill>
                <a:srgbClr val="FF0000"/>
              </a:solidFill>
              <a:uFillTx/>
              <a:latin typeface="微软雅黑" panose="020B0503020204020204" pitchFamily="34" charset="-122"/>
              <a:ea typeface="微软雅黑" panose="020B0503020204020204" pitchFamily="34" charset="-122"/>
              <a:cs typeface="+mn-ea"/>
              <a:sym typeface="微软雅黑 Light" panose="020B0502040204020203" pitchFamily="34" charset="-12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53264" name="矩形 6"/>
          <p:cNvSpPr/>
          <p:nvPr/>
        </p:nvSpPr>
        <p:spPr>
          <a:xfrm>
            <a:off x="2447833" y="6247497"/>
            <a:ext cx="2255180" cy="5778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zh-CN" altLang="en-US" sz="211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沿墙面逃生等</a:t>
            </a:r>
            <a:endPar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如何申诉侵权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41045" y="1383665"/>
            <a:ext cx="11242675" cy="2399665"/>
          </a:xfrm>
          <a:prstGeom prst="rect">
            <a:avLst/>
          </a:prstGeom>
          <a:noFill/>
        </p:spPr>
        <p:txBody>
          <a:bodyPr wrap="square" rtlCol="0">
            <a:spAutoFit/>
          </a:bodyPr>
          <a:p>
            <a:pPr algn="l">
              <a:lnSpc>
                <a:spcPct val="150000"/>
              </a:lnSpc>
            </a:pPr>
            <a:r>
              <a:rPr lang="en-US" altLang="zh-CN" sz="2000">
                <a:latin typeface="+mn-ea"/>
                <a:ea typeface="+mn-ea"/>
                <a:cs typeface="+mn-ea"/>
              </a:rPr>
              <a:t>3. </a:t>
            </a:r>
            <a:r>
              <a:rPr lang="zh-CN" altLang="en-US" sz="2000">
                <a:latin typeface="+mn-ea"/>
                <a:ea typeface="+mn-ea"/>
                <a:cs typeface="+mn-ea"/>
              </a:rPr>
              <a:t>未侵权</a:t>
            </a:r>
            <a:endParaRPr lang="en-US" altLang="zh-CN" sz="2000">
              <a:latin typeface="+mn-ea"/>
              <a:ea typeface="+mn-ea"/>
              <a:cs typeface="+mn-ea"/>
            </a:endParaRPr>
          </a:p>
          <a:p>
            <a:pPr algn="l">
              <a:lnSpc>
                <a:spcPct val="150000"/>
              </a:lnSpc>
            </a:pPr>
            <a:r>
              <a:rPr lang="en-US" altLang="zh-CN" sz="2000">
                <a:latin typeface="+mn-ea"/>
                <a:ea typeface="+mn-ea"/>
                <a:cs typeface="+mn-ea"/>
              </a:rPr>
              <a:t>      </a:t>
            </a:r>
            <a:r>
              <a:rPr sz="2000">
                <a:latin typeface="+mn-ea"/>
                <a:ea typeface="+mn-ea"/>
                <a:cs typeface="+mn-ea"/>
              </a:rPr>
              <a:t>通过分析对方的投诉邮件，投诉原因， 分析我们并不侵权的证据</a:t>
            </a:r>
            <a:r>
              <a:rPr lang="zh-CN" sz="2000">
                <a:latin typeface="+mn-ea"/>
                <a:ea typeface="+mn-ea"/>
                <a:cs typeface="+mn-ea"/>
              </a:rPr>
              <a:t>，</a:t>
            </a:r>
            <a:r>
              <a:rPr sz="2000">
                <a:latin typeface="+mn-ea"/>
                <a:ea typeface="+mn-ea"/>
                <a:cs typeface="+mn-ea"/>
              </a:rPr>
              <a:t>提交给Amazon官方，态度可以强硬一点，但是不要过多的专业术语，Amazon毕竟不是专业的知识产权审判机构，过多的专业术语会让Amazon无法理解， 并且让你继续和投诉方联系。</a:t>
            </a:r>
            <a:endParaRPr sz="2000">
              <a:latin typeface="+mn-ea"/>
              <a:ea typeface="+mn-ea"/>
              <a:cs typeface="+mn-ea"/>
            </a:endParaRPr>
          </a:p>
          <a:p>
            <a:pPr algn="l">
              <a:lnSpc>
                <a:spcPct val="150000"/>
              </a:lnSpc>
            </a:pPr>
            <a:endParaRPr lang="zh-CN" sz="2000">
              <a:latin typeface="+mn-ea"/>
              <a:ea typeface="+mn-ea"/>
              <a:cs typeface="+mn-ea"/>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如何申诉侵权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33425" y="1031875"/>
            <a:ext cx="11242675" cy="3322955"/>
          </a:xfrm>
          <a:prstGeom prst="rect">
            <a:avLst/>
          </a:prstGeom>
          <a:noFill/>
        </p:spPr>
        <p:txBody>
          <a:bodyPr wrap="square" rtlCol="0">
            <a:spAutoFit/>
          </a:bodyPr>
          <a:p>
            <a:pPr algn="l">
              <a:lnSpc>
                <a:spcPct val="150000"/>
              </a:lnSpc>
            </a:pPr>
            <a:r>
              <a:rPr lang="en-US" altLang="zh-CN" sz="2000">
                <a:latin typeface="+mn-ea"/>
                <a:ea typeface="+mn-ea"/>
                <a:cs typeface="+mn-ea"/>
              </a:rPr>
              <a:t>4. </a:t>
            </a:r>
            <a:r>
              <a:rPr lang="zh-CN" altLang="en-US" sz="2000">
                <a:latin typeface="+mn-ea"/>
                <a:ea typeface="+mn-ea"/>
                <a:cs typeface="+mn-ea"/>
              </a:rPr>
              <a:t>确认侵权</a:t>
            </a:r>
            <a:endParaRPr lang="zh-CN" altLang="en-US" sz="2000">
              <a:latin typeface="+mn-ea"/>
              <a:ea typeface="+mn-ea"/>
              <a:cs typeface="+mn-ea"/>
            </a:endParaRPr>
          </a:p>
          <a:p>
            <a:pPr algn="l">
              <a:lnSpc>
                <a:spcPct val="150000"/>
              </a:lnSpc>
            </a:pPr>
            <a:endParaRPr lang="zh-CN" altLang="en-US" sz="2000">
              <a:latin typeface="+mn-ea"/>
              <a:ea typeface="+mn-ea"/>
              <a:cs typeface="+mn-ea"/>
            </a:endParaRPr>
          </a:p>
          <a:p>
            <a:pPr algn="l">
              <a:lnSpc>
                <a:spcPct val="150000"/>
              </a:lnSpc>
            </a:pPr>
            <a:r>
              <a:rPr lang="en-US" altLang="zh-CN" sz="2000">
                <a:latin typeface="+mn-ea"/>
                <a:ea typeface="+mn-ea"/>
                <a:cs typeface="+mn-ea"/>
              </a:rPr>
              <a:t>1. </a:t>
            </a:r>
            <a:r>
              <a:rPr lang="zh-CN" altLang="en-US" sz="2000">
                <a:latin typeface="+mn-ea"/>
                <a:ea typeface="+mn-ea"/>
                <a:cs typeface="+mn-ea"/>
              </a:rPr>
              <a:t>商标</a:t>
            </a:r>
            <a:r>
              <a:rPr lang="en-US" altLang="zh-CN" sz="2000">
                <a:latin typeface="+mn-ea"/>
                <a:ea typeface="+mn-ea"/>
                <a:cs typeface="+mn-ea"/>
              </a:rPr>
              <a:t>/</a:t>
            </a:r>
            <a:r>
              <a:rPr lang="zh-CN" altLang="en-US" sz="2000">
                <a:latin typeface="+mn-ea"/>
                <a:ea typeface="+mn-ea"/>
                <a:cs typeface="+mn-ea"/>
              </a:rPr>
              <a:t>图片侵权</a:t>
            </a:r>
            <a:endParaRPr lang="zh-CN" altLang="en-US" sz="2000">
              <a:latin typeface="+mn-ea"/>
              <a:ea typeface="+mn-ea"/>
              <a:cs typeface="+mn-ea"/>
            </a:endParaRPr>
          </a:p>
          <a:p>
            <a:pPr algn="l">
              <a:lnSpc>
                <a:spcPct val="150000"/>
              </a:lnSpc>
            </a:pPr>
            <a:r>
              <a:rPr lang="zh-CN" altLang="en-US" sz="2000">
                <a:latin typeface="+mn-ea"/>
                <a:ea typeface="+mn-ea"/>
                <a:cs typeface="+mn-ea"/>
              </a:rPr>
              <a:t> </a:t>
            </a:r>
            <a:r>
              <a:rPr lang="en-US" altLang="zh-CN" sz="2000">
                <a:latin typeface="+mn-ea"/>
                <a:ea typeface="+mn-ea"/>
                <a:cs typeface="+mn-ea"/>
              </a:rPr>
              <a:t>     </a:t>
            </a:r>
            <a:r>
              <a:rPr lang="zh-CN" altLang="en-US" sz="2000">
                <a:latin typeface="+mn-ea"/>
                <a:ea typeface="+mn-ea"/>
                <a:cs typeface="+mn-ea"/>
              </a:rPr>
              <a:t>修改</a:t>
            </a:r>
            <a:r>
              <a:rPr lang="en-US" altLang="zh-CN" sz="2000">
                <a:latin typeface="+mn-ea"/>
                <a:ea typeface="+mn-ea"/>
                <a:cs typeface="+mn-ea"/>
              </a:rPr>
              <a:t>listing</a:t>
            </a:r>
            <a:r>
              <a:rPr lang="zh-CN" altLang="en-US" sz="2000">
                <a:latin typeface="+mn-ea"/>
                <a:ea typeface="+mn-ea"/>
                <a:cs typeface="+mn-ea"/>
              </a:rPr>
              <a:t>内容，删除侵权商标与图片后，向亚马逊提交申诉，申诉信需态度诚恳，告知已采取的措施；</a:t>
            </a:r>
            <a:endParaRPr lang="en-US" altLang="zh-CN" sz="2000">
              <a:latin typeface="+mn-ea"/>
              <a:ea typeface="+mn-ea"/>
              <a:cs typeface="+mn-ea"/>
            </a:endParaRPr>
          </a:p>
          <a:p>
            <a:pPr algn="l">
              <a:lnSpc>
                <a:spcPct val="150000"/>
              </a:lnSpc>
            </a:pPr>
            <a:endParaRPr lang="en-US" altLang="zh-CN" sz="2000">
              <a:latin typeface="+mn-ea"/>
              <a:ea typeface="+mn-ea"/>
              <a:cs typeface="+mn-ea"/>
            </a:endParaRPr>
          </a:p>
          <a:p>
            <a:pPr algn="l">
              <a:lnSpc>
                <a:spcPct val="150000"/>
              </a:lnSpc>
            </a:pPr>
            <a:endParaRPr lang="en-US" altLang="zh-CN" sz="2000">
              <a:latin typeface="+mn-ea"/>
              <a:ea typeface="+mn-ea"/>
              <a:cs typeface="+mn-ea"/>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如何申诉侵权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33425" y="1311910"/>
            <a:ext cx="11242675" cy="3784600"/>
          </a:xfrm>
          <a:prstGeom prst="rect">
            <a:avLst/>
          </a:prstGeom>
          <a:noFill/>
        </p:spPr>
        <p:txBody>
          <a:bodyPr wrap="square" rtlCol="0">
            <a:spAutoFit/>
          </a:bodyPr>
          <a:p>
            <a:pPr algn="l">
              <a:lnSpc>
                <a:spcPct val="150000"/>
              </a:lnSpc>
            </a:pPr>
            <a:r>
              <a:rPr lang="en-US" altLang="zh-CN" sz="2000">
                <a:latin typeface="+mn-ea"/>
                <a:ea typeface="+mn-ea"/>
                <a:cs typeface="+mn-ea"/>
              </a:rPr>
              <a:t>2.  </a:t>
            </a:r>
            <a:r>
              <a:rPr lang="zh-CN" altLang="en-US" sz="2000">
                <a:latin typeface="+mn-ea"/>
                <a:ea typeface="+mn-ea"/>
                <a:cs typeface="+mn-ea"/>
              </a:rPr>
              <a:t>版权</a:t>
            </a:r>
            <a:r>
              <a:rPr lang="en-US" altLang="zh-CN" sz="2000">
                <a:latin typeface="+mn-ea"/>
                <a:ea typeface="+mn-ea"/>
                <a:cs typeface="+mn-ea"/>
              </a:rPr>
              <a:t>/</a:t>
            </a:r>
            <a:r>
              <a:rPr lang="zh-CN" altLang="en-US" sz="2000">
                <a:latin typeface="+mn-ea"/>
                <a:ea typeface="+mn-ea"/>
                <a:cs typeface="+mn-ea"/>
              </a:rPr>
              <a:t>专利侵权</a:t>
            </a:r>
            <a:endParaRPr lang="zh-CN" altLang="en-US" sz="2000">
              <a:latin typeface="+mn-ea"/>
              <a:ea typeface="+mn-ea"/>
              <a:cs typeface="+mn-ea"/>
            </a:endParaRPr>
          </a:p>
          <a:p>
            <a:pPr algn="l">
              <a:lnSpc>
                <a:spcPct val="150000"/>
              </a:lnSpc>
            </a:pPr>
            <a:endParaRPr lang="en-US" altLang="zh-CN" sz="2000">
              <a:latin typeface="+mn-ea"/>
              <a:ea typeface="+mn-ea"/>
              <a:cs typeface="+mn-ea"/>
            </a:endParaRPr>
          </a:p>
          <a:p>
            <a:pPr algn="l">
              <a:lnSpc>
                <a:spcPct val="150000"/>
              </a:lnSpc>
            </a:pPr>
            <a:r>
              <a:rPr lang="en-US" altLang="zh-CN" sz="2000">
                <a:ea typeface="+mn-ea"/>
                <a:cs typeface="+mn-ea"/>
              </a:rPr>
              <a:t>① </a:t>
            </a:r>
            <a:r>
              <a:rPr lang="en-US" altLang="zh-CN" sz="2000">
                <a:latin typeface="+mn-ea"/>
                <a:ea typeface="+mn-ea"/>
                <a:cs typeface="+mn-ea"/>
              </a:rPr>
              <a:t> </a:t>
            </a:r>
            <a:r>
              <a:rPr lang="zh-CN" altLang="en-US" sz="2000">
                <a:latin typeface="+mn-ea"/>
                <a:ea typeface="+mn-ea"/>
                <a:cs typeface="+mn-ea"/>
              </a:rPr>
              <a:t>与投诉方协商撤诉</a:t>
            </a:r>
            <a:r>
              <a:rPr lang="en-US" altLang="zh-CN" sz="2000">
                <a:latin typeface="+mn-ea"/>
                <a:ea typeface="+mn-ea"/>
                <a:cs typeface="+mn-ea"/>
              </a:rPr>
              <a:t>/</a:t>
            </a:r>
            <a:r>
              <a:rPr lang="zh-CN" altLang="en-US" sz="2000">
                <a:latin typeface="+mn-ea"/>
                <a:ea typeface="+mn-ea"/>
                <a:cs typeface="+mn-ea"/>
              </a:rPr>
              <a:t>授权；</a:t>
            </a:r>
            <a:endParaRPr lang="zh-CN" altLang="en-US" sz="2000">
              <a:latin typeface="+mn-ea"/>
              <a:ea typeface="+mn-ea"/>
              <a:cs typeface="+mn-ea"/>
            </a:endParaRPr>
          </a:p>
          <a:p>
            <a:pPr algn="l">
              <a:lnSpc>
                <a:spcPct val="150000"/>
              </a:lnSpc>
            </a:pPr>
            <a:r>
              <a:rPr lang="en-US" altLang="zh-CN" sz="2000">
                <a:ea typeface="+mn-ea"/>
                <a:cs typeface="+mn-ea"/>
              </a:rPr>
              <a:t>②</a:t>
            </a:r>
            <a:r>
              <a:rPr lang="en-US" altLang="zh-CN" sz="2000">
                <a:latin typeface="+mn-ea"/>
                <a:ea typeface="+mn-ea"/>
                <a:cs typeface="+mn-ea"/>
              </a:rPr>
              <a:t>  </a:t>
            </a:r>
            <a:r>
              <a:rPr lang="zh-CN" altLang="en-US" sz="2000">
                <a:latin typeface="+mn-ea"/>
                <a:ea typeface="+mn-ea"/>
                <a:cs typeface="+mn-ea"/>
                <a:sym typeface="+mn-ea"/>
              </a:rPr>
              <a:t>找供应商：问清楚产品的相关事宜，告知被投诉，问有没有解决方法，可能是供应商认识的卖家投诉的；要采购发票；</a:t>
            </a:r>
            <a:endParaRPr lang="en-US" altLang="zh-CN" sz="2000">
              <a:latin typeface="+mn-ea"/>
              <a:ea typeface="+mn-ea"/>
              <a:cs typeface="+mn-ea"/>
            </a:endParaRPr>
          </a:p>
          <a:p>
            <a:pPr algn="l">
              <a:lnSpc>
                <a:spcPct val="150000"/>
              </a:lnSpc>
            </a:pPr>
            <a:r>
              <a:rPr lang="en-US" altLang="zh-CN" sz="2000">
                <a:ea typeface="+mn-ea"/>
                <a:cs typeface="+mn-ea"/>
                <a:sym typeface="+mn-ea"/>
              </a:rPr>
              <a:t>③</a:t>
            </a:r>
            <a:r>
              <a:rPr lang="en-US" altLang="zh-CN" sz="2000">
                <a:latin typeface="+mn-ea"/>
                <a:ea typeface="+mn-ea"/>
                <a:cs typeface="+mn-ea"/>
                <a:sym typeface="+mn-ea"/>
              </a:rPr>
              <a:t>  </a:t>
            </a:r>
            <a:r>
              <a:rPr lang="zh-CN" altLang="en-US" sz="2000">
                <a:latin typeface="+mn-ea"/>
                <a:ea typeface="+mn-ea"/>
                <a:cs typeface="+mn-ea"/>
                <a:sym typeface="+mn-ea"/>
              </a:rPr>
              <a:t>协商无果后：找出版权</a:t>
            </a:r>
            <a:r>
              <a:rPr lang="en-US" altLang="zh-CN" sz="2000">
                <a:latin typeface="+mn-ea"/>
                <a:ea typeface="+mn-ea"/>
                <a:cs typeface="+mn-ea"/>
                <a:sym typeface="+mn-ea"/>
              </a:rPr>
              <a:t>/</a:t>
            </a:r>
            <a:r>
              <a:rPr lang="zh-CN" altLang="en-US" sz="2000">
                <a:latin typeface="+mn-ea"/>
                <a:ea typeface="+mn-ea"/>
                <a:cs typeface="+mn-ea"/>
                <a:sym typeface="+mn-ea"/>
              </a:rPr>
              <a:t>专利所有者的名字，国籍，联系方式，公司名称，地址，做授权书（能取得真实的授权书是最好的，毕竟造假违法）；</a:t>
            </a:r>
            <a:endParaRPr lang="zh-CN" altLang="en-US" sz="2000">
              <a:latin typeface="+mn-ea"/>
              <a:ea typeface="+mn-ea"/>
              <a:cs typeface="+mn-ea"/>
              <a:sym typeface="+mn-ea"/>
            </a:endParaRPr>
          </a:p>
          <a:p>
            <a:pPr algn="l">
              <a:lnSpc>
                <a:spcPct val="150000"/>
              </a:lnSpc>
            </a:pPr>
            <a:endParaRPr lang="en-US" altLang="zh-CN" sz="2000">
              <a:latin typeface="+mn-ea"/>
              <a:ea typeface="+mn-ea"/>
              <a:cs typeface="+mn-ea"/>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矩形 1"/>
          <p:cNvSpPr/>
          <p:nvPr/>
        </p:nvSpPr>
        <p:spPr>
          <a:xfrm>
            <a:off x="186690" y="2155825"/>
            <a:ext cx="10272395" cy="41402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sz="1400" b="1" dirty="0">
                <a:solidFill>
                  <a:schemeClr val="bg1"/>
                </a:solidFill>
                <a:latin typeface="微软雅黑" panose="020B0503020204020204" pitchFamily="34" charset="-122"/>
                <a:ea typeface="微软雅黑" panose="020B0503020204020204" pitchFamily="34" charset="-122"/>
              </a:rPr>
              <a:t>先找亚马逊要侵权的专利号，到官网去查找专利证书，去对比和我们产品是不是一模一样。</a:t>
            </a:r>
            <a:endParaRPr sz="1400" b="1" dirty="0">
              <a:solidFill>
                <a:schemeClr val="bg1"/>
              </a:solidFill>
              <a:latin typeface="微软雅黑" panose="020B0503020204020204" pitchFamily="34" charset="-122"/>
              <a:ea typeface="微软雅黑" panose="020B0503020204020204" pitchFamily="34" charset="-122"/>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如何申诉侵权</a:t>
            </a:r>
            <a:endParaRPr lang="zh-CN" altLang="en-US" sz="30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33425" y="1240155"/>
            <a:ext cx="11242675" cy="3784600"/>
          </a:xfrm>
          <a:prstGeom prst="rect">
            <a:avLst/>
          </a:prstGeom>
          <a:noFill/>
        </p:spPr>
        <p:txBody>
          <a:bodyPr wrap="square" rtlCol="0">
            <a:spAutoFit/>
          </a:bodyPr>
          <a:p>
            <a:pPr algn="l">
              <a:lnSpc>
                <a:spcPct val="150000"/>
              </a:lnSpc>
            </a:pPr>
            <a:r>
              <a:rPr lang="zh-CN" altLang="en-US" sz="2000">
                <a:latin typeface="+mn-ea"/>
                <a:ea typeface="+mn-ea"/>
                <a:cs typeface="+mn-ea"/>
                <a:sym typeface="+mn-ea"/>
              </a:rPr>
              <a:t>申诉：认真仔细看好邮件中提到的每一个关键：</a:t>
            </a:r>
            <a:endParaRPr lang="zh-CN" altLang="en-US" sz="2000">
              <a:latin typeface="+mn-ea"/>
              <a:ea typeface="+mn-ea"/>
              <a:cs typeface="+mn-ea"/>
              <a:sym typeface="+mn-ea"/>
            </a:endParaRPr>
          </a:p>
          <a:p>
            <a:pPr algn="l">
              <a:lnSpc>
                <a:spcPct val="150000"/>
              </a:lnSpc>
            </a:pPr>
            <a:r>
              <a:rPr lang="zh-CN" altLang="en-US" sz="2000">
                <a:latin typeface="+mn-ea"/>
                <a:ea typeface="+mn-ea"/>
                <a:cs typeface="+mn-ea"/>
                <a:sym typeface="+mn-ea"/>
              </a:rPr>
              <a:t>A. ASIN号    B.投诉原因    C.投诉方邮箱    D. 官方意见</a:t>
            </a:r>
            <a:endParaRPr lang="zh-CN" altLang="en-US" sz="2000">
              <a:latin typeface="+mn-ea"/>
              <a:ea typeface="+mn-ea"/>
              <a:cs typeface="+mn-ea"/>
              <a:sym typeface="+mn-ea"/>
            </a:endParaRPr>
          </a:p>
          <a:p>
            <a:pPr algn="l">
              <a:lnSpc>
                <a:spcPct val="150000"/>
              </a:lnSpc>
            </a:pPr>
            <a:endParaRPr lang="zh-CN" altLang="en-US" sz="2000">
              <a:latin typeface="+mn-ea"/>
              <a:ea typeface="+mn-ea"/>
              <a:cs typeface="+mn-ea"/>
              <a:sym typeface="+mn-ea"/>
            </a:endParaRPr>
          </a:p>
          <a:p>
            <a:pPr algn="l">
              <a:lnSpc>
                <a:spcPct val="150000"/>
              </a:lnSpc>
            </a:pPr>
            <a:r>
              <a:rPr lang="zh-CN" altLang="en-US" sz="2000">
                <a:latin typeface="+mn-ea"/>
                <a:ea typeface="+mn-ea"/>
                <a:cs typeface="+mn-ea"/>
                <a:sym typeface="+mn-ea"/>
              </a:rPr>
              <a:t>大多数情况下， 官方给的意见都是 Please work directly with the rights owner to resolve this matter， 让我们自行联系投诉方解决这件投诉案件。</a:t>
            </a:r>
            <a:endParaRPr lang="zh-CN" altLang="en-US" sz="2000">
              <a:latin typeface="+mn-ea"/>
              <a:ea typeface="+mn-ea"/>
              <a:cs typeface="+mn-ea"/>
              <a:sym typeface="+mn-ea"/>
            </a:endParaRPr>
          </a:p>
          <a:p>
            <a:pPr algn="l">
              <a:lnSpc>
                <a:spcPct val="150000"/>
              </a:lnSpc>
            </a:pPr>
            <a:endParaRPr lang="zh-CN" altLang="en-US" sz="2000">
              <a:latin typeface="+mn-ea"/>
              <a:ea typeface="+mn-ea"/>
              <a:cs typeface="+mn-ea"/>
              <a:sym typeface="+mn-ea"/>
            </a:endParaRPr>
          </a:p>
          <a:p>
            <a:pPr algn="l">
              <a:lnSpc>
                <a:spcPct val="150000"/>
              </a:lnSpc>
            </a:pPr>
            <a:r>
              <a:rPr lang="zh-CN" altLang="en-US" sz="2000">
                <a:latin typeface="+mn-ea"/>
                <a:ea typeface="+mn-ea"/>
                <a:cs typeface="+mn-ea"/>
                <a:sym typeface="+mn-ea"/>
              </a:rPr>
              <a:t>注意：申诉次数尽量少，第一次申诉比较重要，一次不过基本上就难通过了，如果不会申诉，可以找专业团队协助。</a:t>
            </a:r>
            <a:endParaRPr lang="en-US" altLang="zh-CN" sz="2000">
              <a:latin typeface="+mn-ea"/>
              <a:ea typeface="+mn-ea"/>
              <a:cs typeface="+mn-ea"/>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4" name="矩形 6"/>
          <p:cNvSpPr/>
          <p:nvPr/>
        </p:nvSpPr>
        <p:spPr>
          <a:xfrm>
            <a:off x="2447833" y="6247497"/>
            <a:ext cx="2255180" cy="5778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zh-CN" altLang="en-US" sz="211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沿墙面逃生等</a:t>
            </a:r>
            <a:endPar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如何判断是否侵犯外观专利权</a:t>
            </a:r>
            <a:endParaRPr lang="zh-CN" altLang="en-US" sz="3000" dirty="0">
              <a:latin typeface="黑体" panose="02010609060101010101" charset="-122"/>
              <a:ea typeface="微软雅黑" panose="020B0503020204020204" pitchFamily="34" charset="-122"/>
              <a:sym typeface="+mn-ea"/>
            </a:endParaRPr>
          </a:p>
        </p:txBody>
      </p:sp>
      <p:sp>
        <p:nvSpPr>
          <p:cNvPr id="5" name="文本框 4"/>
          <p:cNvSpPr txBox="1"/>
          <p:nvPr/>
        </p:nvSpPr>
        <p:spPr>
          <a:xfrm>
            <a:off x="741045" y="880110"/>
            <a:ext cx="11242675" cy="6554470"/>
          </a:xfrm>
          <a:prstGeom prst="rect">
            <a:avLst/>
          </a:prstGeom>
          <a:noFill/>
        </p:spPr>
        <p:txBody>
          <a:bodyPr wrap="square" rtlCol="0">
            <a:spAutoFit/>
          </a:bodyPr>
          <a:p>
            <a:pPr algn="l">
              <a:lnSpc>
                <a:spcPct val="150000"/>
              </a:lnSpc>
            </a:pPr>
            <a:r>
              <a:rPr lang="zh-CN" altLang="en-US" sz="2000">
                <a:latin typeface="+mn-ea"/>
                <a:ea typeface="+mn-ea"/>
                <a:cs typeface="+mn-ea"/>
              </a:rPr>
              <a:t>①</a:t>
            </a:r>
            <a:r>
              <a:rPr lang="en-US" altLang="zh-CN" sz="2000">
                <a:latin typeface="+mn-ea"/>
                <a:ea typeface="+mn-ea"/>
                <a:cs typeface="+mn-ea"/>
              </a:rPr>
              <a:t> </a:t>
            </a:r>
            <a:r>
              <a:rPr lang="zh-CN" altLang="en-US" sz="2000">
                <a:latin typeface="+mn-ea"/>
                <a:ea typeface="+mn-ea"/>
                <a:cs typeface="+mn-ea"/>
              </a:rPr>
              <a:t>明确原告是否为专利权人</a:t>
            </a:r>
            <a:endParaRPr lang="zh-CN" altLang="en-US" sz="2000">
              <a:latin typeface="+mn-ea"/>
              <a:ea typeface="+mn-ea"/>
              <a:cs typeface="+mn-ea"/>
            </a:endParaRPr>
          </a:p>
          <a:p>
            <a:pPr algn="l">
              <a:lnSpc>
                <a:spcPct val="150000"/>
              </a:lnSpc>
            </a:pPr>
            <a:r>
              <a:rPr lang="zh-CN" altLang="en-US" sz="2000">
                <a:latin typeface="+mn-ea"/>
                <a:ea typeface="+mn-ea"/>
                <a:cs typeface="+mn-ea"/>
              </a:rPr>
              <a:t>如果你因为专利侵权收到了小红旗，亚马逊会发邮件告知你对方的专利号，你可以通过专利证书等文件对专利权的主体予以确认，以明确原告是否为合格的专利权人。</a:t>
            </a:r>
            <a:endParaRPr lang="zh-CN" altLang="en-US" sz="2000">
              <a:latin typeface="+mn-ea"/>
              <a:ea typeface="+mn-ea"/>
              <a:cs typeface="+mn-ea"/>
            </a:endParaRPr>
          </a:p>
          <a:p>
            <a:pPr algn="l">
              <a:lnSpc>
                <a:spcPct val="150000"/>
              </a:lnSpc>
            </a:pPr>
            <a:r>
              <a:rPr lang="zh-CN" altLang="en-US" sz="2000">
                <a:latin typeface="+mn-ea"/>
                <a:ea typeface="+mn-ea"/>
                <a:cs typeface="+mn-ea"/>
              </a:rPr>
              <a:t>②</a:t>
            </a:r>
            <a:r>
              <a:rPr lang="en-US" altLang="zh-CN" sz="2000">
                <a:latin typeface="+mn-ea"/>
                <a:ea typeface="+mn-ea"/>
                <a:cs typeface="+mn-ea"/>
              </a:rPr>
              <a:t> </a:t>
            </a:r>
            <a:r>
              <a:rPr lang="zh-CN" altLang="en-US" sz="2000">
                <a:latin typeface="+mn-ea"/>
                <a:ea typeface="+mn-ea"/>
                <a:cs typeface="+mn-ea"/>
              </a:rPr>
              <a:t>确认专利权是否有效</a:t>
            </a:r>
            <a:endParaRPr lang="zh-CN" altLang="en-US" sz="2000">
              <a:latin typeface="+mn-ea"/>
              <a:ea typeface="+mn-ea"/>
              <a:cs typeface="+mn-ea"/>
            </a:endParaRPr>
          </a:p>
          <a:p>
            <a:pPr algn="l">
              <a:lnSpc>
                <a:spcPct val="150000"/>
              </a:lnSpc>
            </a:pPr>
            <a:r>
              <a:rPr lang="zh-CN" altLang="en-US" sz="2000">
                <a:latin typeface="+mn-ea"/>
                <a:ea typeface="+mn-ea"/>
                <a:cs typeface="+mn-ea"/>
              </a:rPr>
              <a:t>为了避免出现对方拿无效的专利忽悠你的乌龙，你需要查看原告的专利权是否处在有效期内。如果是，再进行侵权判断。</a:t>
            </a:r>
            <a:endParaRPr lang="zh-CN" altLang="en-US" sz="2000">
              <a:latin typeface="+mn-ea"/>
              <a:ea typeface="+mn-ea"/>
              <a:cs typeface="+mn-ea"/>
            </a:endParaRPr>
          </a:p>
          <a:p>
            <a:pPr algn="l">
              <a:lnSpc>
                <a:spcPct val="150000"/>
              </a:lnSpc>
            </a:pPr>
            <a:r>
              <a:rPr lang="zh-CN" altLang="en-US" sz="2000">
                <a:latin typeface="+mn-ea"/>
                <a:ea typeface="+mn-ea"/>
                <a:cs typeface="+mn-ea"/>
              </a:rPr>
              <a:t>③</a:t>
            </a:r>
            <a:r>
              <a:rPr lang="en-US" altLang="zh-CN" sz="2000">
                <a:latin typeface="+mn-ea"/>
                <a:ea typeface="+mn-ea"/>
                <a:cs typeface="+mn-ea"/>
              </a:rPr>
              <a:t> </a:t>
            </a:r>
            <a:r>
              <a:rPr lang="zh-CN" altLang="en-US" sz="2000">
                <a:latin typeface="+mn-ea"/>
                <a:ea typeface="+mn-ea"/>
                <a:cs typeface="+mn-ea"/>
              </a:rPr>
              <a:t>判断与专利产品是否属于同类产品</a:t>
            </a:r>
            <a:endParaRPr lang="zh-CN" altLang="en-US" sz="2000">
              <a:latin typeface="+mn-ea"/>
              <a:ea typeface="+mn-ea"/>
              <a:cs typeface="+mn-ea"/>
            </a:endParaRPr>
          </a:p>
          <a:p>
            <a:pPr algn="l">
              <a:lnSpc>
                <a:spcPct val="150000"/>
              </a:lnSpc>
            </a:pPr>
            <a:r>
              <a:rPr lang="zh-CN" altLang="en-US" sz="2000">
                <a:latin typeface="+mn-ea"/>
                <a:ea typeface="+mn-ea"/>
                <a:cs typeface="+mn-ea"/>
              </a:rPr>
              <a:t>审查外观设计专利产品与侵权产品是否属于同类产品，应当参照外观设计分类表，并考虑商品销售的客观实际情况，对是否属于同类产品作出认定。如果两个产品在功能、用途上不相同，可以认定二者既不是相同商品，也不是类似商品，到此就可以结束侵权判定步骤，认定专利侵权不成立。如玩具汽车和汽车、塑料花和真花、芭比娃娃和橱柜展示模特等。同类产品是外观设计专利侵权判定的前提，但不排除在特殊情况下，类似产品之间的外观设计亦可进行侵权判定。例如毛巾和枕巾，用途有交叉，外观设计可以进行侵权判定。</a:t>
            </a:r>
            <a:endParaRPr lang="zh-CN" altLang="en-US" sz="2000">
              <a:latin typeface="+mn-ea"/>
              <a:ea typeface="+mn-ea"/>
              <a:cs typeface="+mn-ea"/>
            </a:endParaRPr>
          </a:p>
          <a:p>
            <a:pPr algn="l">
              <a:lnSpc>
                <a:spcPct val="150000"/>
              </a:lnSpc>
            </a:pPr>
            <a:endParaRPr lang="zh-CN" altLang="en-US" sz="2000">
              <a:latin typeface="+mn-ea"/>
              <a:ea typeface="+mn-ea"/>
              <a:cs typeface="+mn-ea"/>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4" name="矩形 6"/>
          <p:cNvSpPr/>
          <p:nvPr/>
        </p:nvSpPr>
        <p:spPr>
          <a:xfrm>
            <a:off x="2447833" y="6247497"/>
            <a:ext cx="2255180" cy="5778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b="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50000"/>
              </a:lnSpc>
              <a:spcBef>
                <a:spcPct val="0"/>
              </a:spcBef>
              <a:buFontTx/>
              <a:buNone/>
            </a:pPr>
            <a:r>
              <a:rPr lang="zh-CN" altLang="en-US" sz="211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沿墙面逃生等</a:t>
            </a:r>
            <a:endParaRPr lang="zh-CN" altLang="en-US" sz="211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任意多边形 1"/>
          <p:cNvSpPr/>
          <p:nvPr>
            <p:custDataLst>
              <p:tags r:id="rId1"/>
            </p:custDataLst>
          </p:nvPr>
        </p:nvSpPr>
        <p:spPr>
          <a:xfrm>
            <a:off x="0" y="140970"/>
            <a:ext cx="577215" cy="536575"/>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任意多边形 2"/>
          <p:cNvSpPr/>
          <p:nvPr>
            <p:custDataLst>
              <p:tags r:id="rId2"/>
            </p:custDataLst>
          </p:nvPr>
        </p:nvSpPr>
        <p:spPr>
          <a:xfrm>
            <a:off x="733425" y="646430"/>
            <a:ext cx="1212532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 name="Content Placeholder 2"/>
          <p:cNvSpPr txBox="1"/>
          <p:nvPr/>
        </p:nvSpPr>
        <p:spPr>
          <a:xfrm>
            <a:off x="577215" y="112395"/>
            <a:ext cx="8253095" cy="461645"/>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a:r>
              <a:rPr lang="en-US" sz="3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sz="30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08 </a:t>
            </a:r>
            <a:r>
              <a:rPr lang="zh-CN" altLang="en-US" sz="3000" dirty="0">
                <a:latin typeface="黑体" panose="02010609060101010101" charset="-122"/>
                <a:ea typeface="微软雅黑" panose="020B0503020204020204" pitchFamily="34" charset="-122"/>
                <a:sym typeface="+mn-ea"/>
              </a:rPr>
              <a:t>如何判断是否侵犯外观专利权</a:t>
            </a:r>
            <a:endParaRPr lang="zh-CN" altLang="en-US" sz="3000" dirty="0">
              <a:latin typeface="黑体" panose="02010609060101010101" charset="-122"/>
              <a:ea typeface="微软雅黑" panose="020B0503020204020204" pitchFamily="34" charset="-122"/>
              <a:sym typeface="+mn-ea"/>
            </a:endParaRPr>
          </a:p>
        </p:txBody>
      </p:sp>
      <p:sp>
        <p:nvSpPr>
          <p:cNvPr id="5" name="文本框 4"/>
          <p:cNvSpPr txBox="1"/>
          <p:nvPr/>
        </p:nvSpPr>
        <p:spPr>
          <a:xfrm>
            <a:off x="741045" y="880110"/>
            <a:ext cx="11242675" cy="2399665"/>
          </a:xfrm>
          <a:prstGeom prst="rect">
            <a:avLst/>
          </a:prstGeom>
          <a:noFill/>
        </p:spPr>
        <p:txBody>
          <a:bodyPr wrap="square" rtlCol="0">
            <a:spAutoFit/>
          </a:bodyPr>
          <a:p>
            <a:pPr algn="l">
              <a:lnSpc>
                <a:spcPct val="150000"/>
              </a:lnSpc>
            </a:pPr>
            <a:r>
              <a:rPr lang="zh-CN" altLang="en-US" sz="2000">
                <a:latin typeface="+mn-ea"/>
                <a:ea typeface="+mn-ea"/>
                <a:cs typeface="+mn-ea"/>
              </a:rPr>
              <a:t>④</a:t>
            </a:r>
            <a:r>
              <a:rPr lang="en-US" altLang="zh-CN" sz="2000">
                <a:latin typeface="+mn-ea"/>
                <a:ea typeface="+mn-ea"/>
                <a:cs typeface="+mn-ea"/>
              </a:rPr>
              <a:t> </a:t>
            </a:r>
            <a:r>
              <a:rPr lang="zh-CN" altLang="en-US" sz="2000">
                <a:latin typeface="+mn-ea"/>
                <a:ea typeface="+mn-ea"/>
                <a:cs typeface="+mn-ea"/>
              </a:rPr>
              <a:t>以消费者的眼光和认知水平为判断尺度，整体观察、综合判断</a:t>
            </a:r>
            <a:endParaRPr lang="zh-CN" altLang="en-US" sz="2000">
              <a:latin typeface="+mn-ea"/>
              <a:ea typeface="+mn-ea"/>
              <a:cs typeface="+mn-ea"/>
            </a:endParaRPr>
          </a:p>
          <a:p>
            <a:pPr algn="l">
              <a:lnSpc>
                <a:spcPct val="150000"/>
              </a:lnSpc>
            </a:pPr>
            <a:r>
              <a:rPr lang="zh-CN" altLang="en-US" sz="2000">
                <a:latin typeface="+mn-ea"/>
                <a:ea typeface="+mn-ea"/>
                <a:cs typeface="+mn-ea"/>
              </a:rPr>
              <a:t>普通的消费者会注意到商品的外观设计在形状、图案以及色彩上的区别，但局部微观的不一致不作相似性对比。也就是说，如果两样商品整体的形状、视觉效果一样，但是细微处不一样，消费者会将被比设计与在先设计误认，则二者的差别对于该产品外观设计的整体视觉效果就不具有显著的影响。</a:t>
            </a:r>
            <a:endParaRPr lang="zh-CN" altLang="en-US" sz="2000">
              <a:latin typeface="+mn-ea"/>
              <a:ea typeface="+mn-ea"/>
              <a:cs typeface="+mn-ea"/>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4" name="TextBox 48"/>
          <p:cNvSpPr txBox="1"/>
          <p:nvPr/>
        </p:nvSpPr>
        <p:spPr>
          <a:xfrm>
            <a:off x="3909060" y="663575"/>
            <a:ext cx="4545965" cy="3323590"/>
          </a:xfrm>
          <a:prstGeom prst="rect">
            <a:avLst/>
          </a:prstGeom>
          <a:noFill/>
        </p:spPr>
        <p:txBody>
          <a:bodyPr wrap="square" lIns="0" tIns="0" rIns="0" bIns="0" rtlCol="0">
            <a:spAutoFit/>
          </a:bodyPr>
          <a:lstStyle/>
          <a:p>
            <a:pPr algn="dist">
              <a:lnSpc>
                <a:spcPct val="150000"/>
              </a:lnSpc>
            </a:pPr>
            <a:r>
              <a:rPr lang="zh-CN" altLang="en-US" sz="7200" b="1" dirty="0">
                <a:solidFill>
                  <a:schemeClr val="accent1"/>
                </a:solidFill>
                <a:effectLst>
                  <a:outerShdw blurRad="38100" dist="25400" dir="5400000" algn="ctr" rotWithShape="0">
                    <a:srgbClr val="6E747A">
                      <a:alpha val="43000"/>
                    </a:srgbClr>
                  </a:outerShdw>
                </a:effectLst>
                <a:latin typeface="黑体" panose="02010609060101010101" charset="-122"/>
                <a:ea typeface="微软雅黑" panose="020B0503020204020204" pitchFamily="34" charset="-122"/>
                <a:cs typeface="微软雅黑" panose="020B0503020204020204" pitchFamily="34" charset="-122"/>
                <a:sym typeface="+mn-ea"/>
              </a:rPr>
              <a:t>合规经营</a:t>
            </a:r>
            <a:endParaRPr lang="zh-CN" altLang="en-US" sz="7200" b="1" dirty="0">
              <a:solidFill>
                <a:schemeClr val="accent1"/>
              </a:solidFill>
              <a:effectLst>
                <a:outerShdw blurRad="38100" dist="25400" dir="5400000" algn="ctr" rotWithShape="0">
                  <a:srgbClr val="6E747A">
                    <a:alpha val="43000"/>
                  </a:srgbClr>
                </a:outerShdw>
              </a:effectLst>
              <a:latin typeface="黑体" panose="02010609060101010101" charset="-122"/>
              <a:ea typeface="微软雅黑" panose="020B0503020204020204" pitchFamily="34" charset="-122"/>
              <a:cs typeface="微软雅黑" panose="020B0503020204020204" pitchFamily="34" charset="-122"/>
              <a:sym typeface="+mn-ea"/>
            </a:endParaRPr>
          </a:p>
          <a:p>
            <a:pPr algn="dist">
              <a:lnSpc>
                <a:spcPct val="150000"/>
              </a:lnSpc>
            </a:pPr>
            <a:r>
              <a:rPr lang="zh-CN" altLang="en-US" sz="7200" b="1" dirty="0">
                <a:solidFill>
                  <a:schemeClr val="accent1"/>
                </a:solidFill>
                <a:effectLst>
                  <a:outerShdw blurRad="38100" dist="25400" dir="5400000" algn="ctr" rotWithShape="0">
                    <a:srgbClr val="6E747A">
                      <a:alpha val="43000"/>
                    </a:srgbClr>
                  </a:outerShdw>
                </a:effectLst>
                <a:latin typeface="黑体" panose="02010609060101010101" charset="-122"/>
                <a:ea typeface="微软雅黑" panose="020B0503020204020204" pitchFamily="34" charset="-122"/>
                <a:cs typeface="微软雅黑" panose="020B0503020204020204" pitchFamily="34" charset="-122"/>
                <a:sym typeface="+mn-ea"/>
              </a:rPr>
              <a:t>店铺大卖</a:t>
            </a:r>
            <a:endParaRPr lang="zh-CN" altLang="en-US" sz="7200" b="1" dirty="0">
              <a:solidFill>
                <a:schemeClr val="accent1"/>
              </a:solidFill>
              <a:effectLst>
                <a:outerShdw blurRad="38100" dist="25400" dir="5400000" algn="ctr" rotWithShape="0">
                  <a:srgbClr val="6E747A">
                    <a:alpha val="43000"/>
                  </a:srgbClr>
                </a:outerShdw>
              </a:effectLst>
              <a:latin typeface="黑体" panose="02010609060101010101"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MH" val="20160830110547"/>
  <p:tag name="MH_LIBRARY" val="CONTENTS"/>
  <p:tag name="MH_TYPE" val="OTHERS"/>
  <p:tag name="ID" val="545840"/>
</p:tagLst>
</file>

<file path=ppt/tags/tag7.xml><?xml version="1.0" encoding="utf-8"?>
<p:tagLst xmlns:p="http://schemas.openxmlformats.org/presentationml/2006/main">
  <p:tag name="MH" val="20160830110547"/>
  <p:tag name="MH_LIBRARY" val="CONTENTS"/>
  <p:tag name="MH_TYPE" val="OTHERS"/>
  <p:tag name="ID" val="545840"/>
</p:tagLst>
</file>

<file path=ppt/tags/tag8.xml><?xml version="1.0" encoding="utf-8"?>
<p:tagLst xmlns:p="http://schemas.openxmlformats.org/presentationml/2006/main">
  <p:tag name="MH" val="20160830110547"/>
  <p:tag name="MH_LIBRARY" val="CONTENTS"/>
  <p:tag name="MH_TYPE" val="OTHERS"/>
  <p:tag name="ID" val="545840"/>
</p:tagLst>
</file>

<file path=ppt/tags/tag9.xml><?xml version="1.0" encoding="utf-8"?>
<p:tagLst xmlns:p="http://schemas.openxmlformats.org/presentationml/2006/main">
  <p:tag name="MH" val="20160830110547"/>
  <p:tag name="MH_LIBRARY" val="CONTENTS"/>
  <p:tag name="MH_TYPE" val="OTHERS"/>
  <p:tag name="ID" val="545840"/>
</p:tagLst>
</file>

<file path=ppt/tags/tag10.xml><?xml version="1.0" encoding="utf-8"?>
<p:tagLst xmlns:p="http://schemas.openxmlformats.org/presentationml/2006/main">
  <p:tag name="MH" val="20160830110547"/>
  <p:tag name="MH_LIBRARY" val="CONTENTS"/>
  <p:tag name="MH_TYPE" val="OTHERS"/>
  <p:tag name="ID" val="545840"/>
</p:tagLst>
</file>

<file path=ppt/tags/tag11.xml><?xml version="1.0" encoding="utf-8"?>
<p:tagLst xmlns:p="http://schemas.openxmlformats.org/presentationml/2006/main">
  <p:tag name="MH" val="20160830110547"/>
  <p:tag name="MH_LIBRARY" val="CONTENTS"/>
  <p:tag name="MH_TYPE" val="OTHERS"/>
  <p:tag name="ID" val="545840"/>
</p:tagLst>
</file>

<file path=ppt/tags/tag12.xml><?xml version="1.0" encoding="utf-8"?>
<p:tagLst xmlns:p="http://schemas.openxmlformats.org/presentationml/2006/main">
  <p:tag name="MH" val="20160830110547"/>
  <p:tag name="MH_LIBRARY" val="CONTENTS"/>
  <p:tag name="MH_TYPE" val="OTHERS"/>
  <p:tag name="ID" val="545840"/>
</p:tagLst>
</file>

<file path=ppt/tags/tag13.xml><?xml version="1.0" encoding="utf-8"?>
<p:tagLst xmlns:p="http://schemas.openxmlformats.org/presentationml/2006/main">
  <p:tag name="MH" val="20160830110547"/>
  <p:tag name="MH_LIBRARY" val="CONTENTS"/>
  <p:tag name="MH_TYPE" val="OTHERS"/>
  <p:tag name="ID" val="545840"/>
</p:tagLst>
</file>

<file path=ppt/tags/tag14.xml><?xml version="1.0" encoding="utf-8"?>
<p:tagLst xmlns:p="http://schemas.openxmlformats.org/presentationml/2006/main">
  <p:tag name="MH" val="20160830110547"/>
  <p:tag name="MH_LIBRARY" val="CONTENTS"/>
  <p:tag name="MH_TYPE" val="OTHERS"/>
  <p:tag name="ID" val="545840"/>
</p:tagLst>
</file>

<file path=ppt/tags/tag15.xml><?xml version="1.0" encoding="utf-8"?>
<p:tagLst xmlns:p="http://schemas.openxmlformats.org/presentationml/2006/main">
  <p:tag name="MH" val="20160830110547"/>
  <p:tag name="MH_LIBRARY" val="CONTENTS"/>
  <p:tag name="MH_TYPE" val="OTHERS"/>
  <p:tag name="ID" val="545840"/>
</p:tagLst>
</file>

<file path=ppt/tags/tag16.xml><?xml version="1.0" encoding="utf-8"?>
<p:tagLst xmlns:p="http://schemas.openxmlformats.org/presentationml/2006/main">
  <p:tag name="MH" val="20160830110547"/>
  <p:tag name="MH_LIBRARY" val="CONTENTS"/>
  <p:tag name="MH_TYPE" val="OTHERS"/>
  <p:tag name="ID" val="545840"/>
</p:tagLst>
</file>

<file path=ppt/tags/tag17.xml><?xml version="1.0" encoding="utf-8"?>
<p:tagLst xmlns:p="http://schemas.openxmlformats.org/presentationml/2006/main">
  <p:tag name="MH" val="20160830110547"/>
  <p:tag name="MH_LIBRARY" val="CONTENTS"/>
  <p:tag name="MH_TYPE" val="OTHERS"/>
  <p:tag name="ID" val="545840"/>
</p:tagLst>
</file>

<file path=ppt/tags/tag18.xml><?xml version="1.0" encoding="utf-8"?>
<p:tagLst xmlns:p="http://schemas.openxmlformats.org/presentationml/2006/main">
  <p:tag name="MH" val="20160830110547"/>
  <p:tag name="MH_LIBRARY" val="CONTENTS"/>
  <p:tag name="MH_TYPE" val="OTHERS"/>
  <p:tag name="ID" val="545840"/>
</p:tagLst>
</file>

<file path=ppt/tags/tag19.xml><?xml version="1.0" encoding="utf-8"?>
<p:tagLst xmlns:p="http://schemas.openxmlformats.org/presentationml/2006/main">
  <p:tag name="MH" val="20160830110547"/>
  <p:tag name="MH_LIBRARY" val="CONTENTS"/>
  <p:tag name="MH_TYPE" val="OTHERS"/>
  <p:tag name="ID" val="545840"/>
</p:tagLst>
</file>

<file path=ppt/tags/tag20.xml><?xml version="1.0" encoding="utf-8"?>
<p:tagLst xmlns:p="http://schemas.openxmlformats.org/presentationml/2006/main">
  <p:tag name="MH" val="20160830110547"/>
  <p:tag name="MH_LIBRARY" val="CONTENTS"/>
  <p:tag name="MH_TYPE" val="OTHERS"/>
  <p:tag name="ID" val="545840"/>
</p:tagLst>
</file>

<file path=ppt/tags/tag21.xml><?xml version="1.0" encoding="utf-8"?>
<p:tagLst xmlns:p="http://schemas.openxmlformats.org/presentationml/2006/main">
  <p:tag name="MH" val="20160830110547"/>
  <p:tag name="MH_LIBRARY" val="CONTENTS"/>
  <p:tag name="MH_TYPE" val="OTHERS"/>
  <p:tag name="ID" val="545840"/>
</p:tagLst>
</file>

<file path=ppt/tags/tag22.xml><?xml version="1.0" encoding="utf-8"?>
<p:tagLst xmlns:p="http://schemas.openxmlformats.org/presentationml/2006/main">
  <p:tag name="MH" val="20160830110547"/>
  <p:tag name="MH_LIBRARY" val="CONTENTS"/>
  <p:tag name="MH_TYPE" val="OTHERS"/>
  <p:tag name="ID" val="545840"/>
</p:tagLst>
</file>

<file path=ppt/tags/tag23.xml><?xml version="1.0" encoding="utf-8"?>
<p:tagLst xmlns:p="http://schemas.openxmlformats.org/presentationml/2006/main">
  <p:tag name="MH" val="20160830110547"/>
  <p:tag name="MH_LIBRARY" val="CONTENTS"/>
  <p:tag name="MH_TYPE" val="OTHERS"/>
  <p:tag name="ID" val="545840"/>
</p:tagLst>
</file>

<file path=ppt/tags/tag24.xml><?xml version="1.0" encoding="utf-8"?>
<p:tagLst xmlns:p="http://schemas.openxmlformats.org/presentationml/2006/main">
  <p:tag name="MH" val="20160830110547"/>
  <p:tag name="MH_LIBRARY" val="CONTENTS"/>
  <p:tag name="MH_TYPE" val="OTHERS"/>
  <p:tag name="ID" val="545840"/>
</p:tagLst>
</file>

<file path=ppt/tags/tag25.xml><?xml version="1.0" encoding="utf-8"?>
<p:tagLst xmlns:p="http://schemas.openxmlformats.org/presentationml/2006/main">
  <p:tag name="MH" val="20160830110547"/>
  <p:tag name="MH_LIBRARY" val="CONTENTS"/>
  <p:tag name="MH_TYPE" val="OTHERS"/>
  <p:tag name="ID" val="545840"/>
</p:tagLst>
</file>

<file path=ppt/tags/tag26.xml><?xml version="1.0" encoding="utf-8"?>
<p:tagLst xmlns:p="http://schemas.openxmlformats.org/presentationml/2006/main">
  <p:tag name="MH" val="20160830110547"/>
  <p:tag name="MH_LIBRARY" val="CONTENTS"/>
  <p:tag name="MH_TYPE" val="OTHERS"/>
  <p:tag name="ID" val="545840"/>
</p:tagLst>
</file>

<file path=ppt/tags/tag27.xml><?xml version="1.0" encoding="utf-8"?>
<p:tagLst xmlns:p="http://schemas.openxmlformats.org/presentationml/2006/main">
  <p:tag name="MH" val="20160830110547"/>
  <p:tag name="MH_LIBRARY" val="CONTENTS"/>
  <p:tag name="MH_TYPE" val="OTHERS"/>
  <p:tag name="ID" val="545840"/>
</p:tagLst>
</file>

<file path=ppt/tags/tag28.xml><?xml version="1.0" encoding="utf-8"?>
<p:tagLst xmlns:p="http://schemas.openxmlformats.org/presentationml/2006/main">
  <p:tag name="MH" val="20160830110547"/>
  <p:tag name="MH_LIBRARY" val="CONTENTS"/>
  <p:tag name="MH_TYPE" val="OTHERS"/>
  <p:tag name="ID" val="545840"/>
</p:tagLst>
</file>

<file path=ppt/tags/tag29.xml><?xml version="1.0" encoding="utf-8"?>
<p:tagLst xmlns:p="http://schemas.openxmlformats.org/presentationml/2006/main">
  <p:tag name="MH" val="20160830110547"/>
  <p:tag name="MH_LIBRARY" val="CONTENTS"/>
  <p:tag name="MH_TYPE" val="OTHERS"/>
  <p:tag name="ID" val="545840"/>
</p:tagLst>
</file>

<file path=ppt/tags/tag30.xml><?xml version="1.0" encoding="utf-8"?>
<p:tagLst xmlns:p="http://schemas.openxmlformats.org/presentationml/2006/main">
  <p:tag name="MH" val="20160830110547"/>
  <p:tag name="MH_LIBRARY" val="CONTENTS"/>
  <p:tag name="MH_TYPE" val="OTHERS"/>
  <p:tag name="ID" val="545840"/>
</p:tagLst>
</file>

<file path=ppt/tags/tag31.xml><?xml version="1.0" encoding="utf-8"?>
<p:tagLst xmlns:p="http://schemas.openxmlformats.org/presentationml/2006/main">
  <p:tag name="MH" val="20160830110547"/>
  <p:tag name="MH_LIBRARY" val="CONTENTS"/>
  <p:tag name="MH_TYPE" val="OTHERS"/>
  <p:tag name="ID" val="545840"/>
</p:tagLst>
</file>

<file path=ppt/tags/tag32.xml><?xml version="1.0" encoding="utf-8"?>
<p:tagLst xmlns:p="http://schemas.openxmlformats.org/presentationml/2006/main">
  <p:tag name="MH" val="20160830110547"/>
  <p:tag name="MH_LIBRARY" val="CONTENTS"/>
  <p:tag name="MH_TYPE" val="OTHERS"/>
  <p:tag name="ID" val="545840"/>
</p:tagLst>
</file>

<file path=ppt/tags/tag33.xml><?xml version="1.0" encoding="utf-8"?>
<p:tagLst xmlns:p="http://schemas.openxmlformats.org/presentationml/2006/main">
  <p:tag name="MH" val="20160830110547"/>
  <p:tag name="MH_LIBRARY" val="CONTENTS"/>
  <p:tag name="MH_TYPE" val="OTHERS"/>
  <p:tag name="ID" val="545840"/>
</p:tagLst>
</file>

<file path=ppt/tags/tag34.xml><?xml version="1.0" encoding="utf-8"?>
<p:tagLst xmlns:p="http://schemas.openxmlformats.org/presentationml/2006/main">
  <p:tag name="MH" val="20160830110547"/>
  <p:tag name="MH_LIBRARY" val="CONTENTS"/>
  <p:tag name="MH_TYPE" val="OTHERS"/>
  <p:tag name="ID" val="545840"/>
</p:tagLst>
</file>

<file path=ppt/tags/tag35.xml><?xml version="1.0" encoding="utf-8"?>
<p:tagLst xmlns:p="http://schemas.openxmlformats.org/presentationml/2006/main">
  <p:tag name="MH" val="20160830110547"/>
  <p:tag name="MH_LIBRARY" val="CONTENTS"/>
  <p:tag name="MH_TYPE" val="OTHERS"/>
  <p:tag name="ID" val="545840"/>
</p:tagLst>
</file>

<file path=ppt/tags/tag36.xml><?xml version="1.0" encoding="utf-8"?>
<p:tagLst xmlns:p="http://schemas.openxmlformats.org/presentationml/2006/main">
  <p:tag name="MH" val="20160830110547"/>
  <p:tag name="MH_LIBRARY" val="CONTENTS"/>
  <p:tag name="MH_TYPE" val="OTHERS"/>
  <p:tag name="ID" val="545840"/>
</p:tagLst>
</file>

<file path=ppt/tags/tag37.xml><?xml version="1.0" encoding="utf-8"?>
<p:tagLst xmlns:p="http://schemas.openxmlformats.org/presentationml/2006/main">
  <p:tag name="MH" val="20160830110547"/>
  <p:tag name="MH_LIBRARY" val="CONTENTS"/>
  <p:tag name="MH_TYPE" val="OTHERS"/>
  <p:tag name="ID" val="545840"/>
</p:tagLst>
</file>

<file path=ppt/tags/tag38.xml><?xml version="1.0" encoding="utf-8"?>
<p:tagLst xmlns:p="http://schemas.openxmlformats.org/presentationml/2006/main">
  <p:tag name="MH" val="20160830110547"/>
  <p:tag name="MH_LIBRARY" val="CONTENTS"/>
  <p:tag name="MH_TYPE" val="OTHERS"/>
  <p:tag name="ID" val="545840"/>
</p:tagLst>
</file>

<file path=ppt/tags/tag39.xml><?xml version="1.0" encoding="utf-8"?>
<p:tagLst xmlns:p="http://schemas.openxmlformats.org/presentationml/2006/main">
  <p:tag name="MH" val="20160830110547"/>
  <p:tag name="MH_LIBRARY" val="CONTENTS"/>
  <p:tag name="MH_TYPE" val="OTHERS"/>
  <p:tag name="ID" val="545840"/>
</p:tagLst>
</file>

<file path=ppt/tags/tag40.xml><?xml version="1.0" encoding="utf-8"?>
<p:tagLst xmlns:p="http://schemas.openxmlformats.org/presentationml/2006/main">
  <p:tag name="MH" val="20160830110547"/>
  <p:tag name="MH_LIBRARY" val="CONTENTS"/>
  <p:tag name="MH_TYPE" val="OTHERS"/>
  <p:tag name="ID" val="545840"/>
</p:tagLst>
</file>

<file path=ppt/tags/tag41.xml><?xml version="1.0" encoding="utf-8"?>
<p:tagLst xmlns:p="http://schemas.openxmlformats.org/presentationml/2006/main">
  <p:tag name="MH" val="20160830110547"/>
  <p:tag name="MH_LIBRARY" val="CONTENTS"/>
  <p:tag name="MH_TYPE" val="OTHERS"/>
  <p:tag name="ID" val="545840"/>
</p:tagLst>
</file>

<file path=ppt/tags/tag42.xml><?xml version="1.0" encoding="utf-8"?>
<p:tagLst xmlns:p="http://schemas.openxmlformats.org/presentationml/2006/main">
  <p:tag name="MH" val="20160830110547"/>
  <p:tag name="MH_LIBRARY" val="CONTENTS"/>
  <p:tag name="MH_TYPE" val="OTHERS"/>
  <p:tag name="ID" val="545840"/>
</p:tagLst>
</file>

<file path=ppt/tags/tag43.xml><?xml version="1.0" encoding="utf-8"?>
<p:tagLst xmlns:p="http://schemas.openxmlformats.org/presentationml/2006/main">
  <p:tag name="MH" val="20160830110547"/>
  <p:tag name="MH_LIBRARY" val="CONTENTS"/>
  <p:tag name="MH_TYPE" val="OTHERS"/>
  <p:tag name="ID" val="545840"/>
</p:tagLst>
</file>

<file path=ppt/tags/tag44.xml><?xml version="1.0" encoding="utf-8"?>
<p:tagLst xmlns:p="http://schemas.openxmlformats.org/presentationml/2006/main">
  <p:tag name="MH" val="20160830110547"/>
  <p:tag name="MH_LIBRARY" val="CONTENTS"/>
  <p:tag name="MH_TYPE" val="OTHERS"/>
  <p:tag name="ID" val="545840"/>
</p:tagLst>
</file>

<file path=ppt/tags/tag45.xml><?xml version="1.0" encoding="utf-8"?>
<p:tagLst xmlns:p="http://schemas.openxmlformats.org/presentationml/2006/main">
  <p:tag name="MH" val="20160830110547"/>
  <p:tag name="MH_LIBRARY" val="CONTENTS"/>
  <p:tag name="MH_TYPE" val="OTHERS"/>
  <p:tag name="ID" val="545840"/>
</p:tagLst>
</file>

<file path=ppt/tags/tag46.xml><?xml version="1.0" encoding="utf-8"?>
<p:tagLst xmlns:p="http://schemas.openxmlformats.org/presentationml/2006/main">
  <p:tag name="MH" val="20160830110547"/>
  <p:tag name="MH_LIBRARY" val="CONTENTS"/>
  <p:tag name="MH_TYPE" val="OTHERS"/>
  <p:tag name="ID" val="545840"/>
</p:tagLst>
</file>

<file path=ppt/tags/tag47.xml><?xml version="1.0" encoding="utf-8"?>
<p:tagLst xmlns:p="http://schemas.openxmlformats.org/presentationml/2006/main">
  <p:tag name="MH" val="20160830110547"/>
  <p:tag name="MH_LIBRARY" val="CONTENTS"/>
  <p:tag name="MH_TYPE" val="OTHERS"/>
  <p:tag name="ID" val="545840"/>
</p:tagLst>
</file>

<file path=ppt/tags/tag48.xml><?xml version="1.0" encoding="utf-8"?>
<p:tagLst xmlns:p="http://schemas.openxmlformats.org/presentationml/2006/main">
  <p:tag name="MH" val="20160830110547"/>
  <p:tag name="MH_LIBRARY" val="CONTENTS"/>
  <p:tag name="MH_TYPE" val="OTHERS"/>
  <p:tag name="ID" val="545840"/>
</p:tagLst>
</file>

<file path=ppt/tags/tag49.xml><?xml version="1.0" encoding="utf-8"?>
<p:tagLst xmlns:p="http://schemas.openxmlformats.org/presentationml/2006/main">
  <p:tag name="MH" val="20160830110547"/>
  <p:tag name="MH_LIBRARY" val="CONTENTS"/>
  <p:tag name="MH_TYPE" val="OTHERS"/>
  <p:tag name="ID" val="545840"/>
</p:tagLst>
</file>

<file path=ppt/tags/tag50.xml><?xml version="1.0" encoding="utf-8"?>
<p:tagLst xmlns:p="http://schemas.openxmlformats.org/presentationml/2006/main">
  <p:tag name="MH" val="20160830110547"/>
  <p:tag name="MH_LIBRARY" val="CONTENTS"/>
  <p:tag name="MH_TYPE" val="OTHERS"/>
  <p:tag name="ID" val="545840"/>
</p:tagLst>
</file>

<file path=ppt/tags/tag51.xml><?xml version="1.0" encoding="utf-8"?>
<p:tagLst xmlns:p="http://schemas.openxmlformats.org/presentationml/2006/main">
  <p:tag name="MH" val="20160830110547"/>
  <p:tag name="MH_LIBRARY" val="CONTENTS"/>
  <p:tag name="MH_TYPE" val="OTHERS"/>
  <p:tag name="ID" val="545840"/>
</p:tagLst>
</file>

<file path=ppt/tags/tag52.xml><?xml version="1.0" encoding="utf-8"?>
<p:tagLst xmlns:p="http://schemas.openxmlformats.org/presentationml/2006/main">
  <p:tag name="MH" val="20160830110547"/>
  <p:tag name="MH_LIBRARY" val="CONTENTS"/>
  <p:tag name="MH_TYPE" val="OTHERS"/>
  <p:tag name="ID" val="545840"/>
</p:tagLst>
</file>

<file path=ppt/tags/tag53.xml><?xml version="1.0" encoding="utf-8"?>
<p:tagLst xmlns:p="http://schemas.openxmlformats.org/presentationml/2006/main">
  <p:tag name="MH" val="20160830110547"/>
  <p:tag name="MH_LIBRARY" val="CONTENTS"/>
  <p:tag name="MH_TYPE" val="OTHERS"/>
  <p:tag name="ID" val="545840"/>
</p:tagLst>
</file>

<file path=ppt/tags/tag54.xml><?xml version="1.0" encoding="utf-8"?>
<p:tagLst xmlns:p="http://schemas.openxmlformats.org/presentationml/2006/main">
  <p:tag name="MH" val="20160830110547"/>
  <p:tag name="MH_LIBRARY" val="CONTENTS"/>
  <p:tag name="MH_TYPE" val="OTHERS"/>
  <p:tag name="ID" val="545840"/>
</p:tagLst>
</file>

<file path=ppt/tags/tag55.xml><?xml version="1.0" encoding="utf-8"?>
<p:tagLst xmlns:p="http://schemas.openxmlformats.org/presentationml/2006/main">
  <p:tag name="MH" val="20160830110547"/>
  <p:tag name="MH_LIBRARY" val="CONTENTS"/>
  <p:tag name="MH_TYPE" val="OTHERS"/>
  <p:tag name="ID" val="545840"/>
</p:tagLst>
</file>

<file path=ppt/tags/tag56.xml><?xml version="1.0" encoding="utf-8"?>
<p:tagLst xmlns:p="http://schemas.openxmlformats.org/presentationml/2006/main">
  <p:tag name="MH" val="20160830110547"/>
  <p:tag name="MH_LIBRARY" val="CONTENTS"/>
  <p:tag name="MH_TYPE" val="OTHERS"/>
  <p:tag name="ID" val="545840"/>
</p:tagLst>
</file>

<file path=ppt/tags/tag57.xml><?xml version="1.0" encoding="utf-8"?>
<p:tagLst xmlns:p="http://schemas.openxmlformats.org/presentationml/2006/main">
  <p:tag name="MH" val="20160830110547"/>
  <p:tag name="MH_LIBRARY" val="CONTENTS"/>
  <p:tag name="MH_TYPE" val="OTHERS"/>
  <p:tag name="ID" val="545840"/>
</p:tagLst>
</file>

<file path=ppt/tags/tag58.xml><?xml version="1.0" encoding="utf-8"?>
<p:tagLst xmlns:p="http://schemas.openxmlformats.org/presentationml/2006/main">
  <p:tag name="MH" val="20160830110547"/>
  <p:tag name="MH_LIBRARY" val="CONTENTS"/>
  <p:tag name="MH_TYPE" val="OTHERS"/>
  <p:tag name="ID" val="545840"/>
</p:tagLst>
</file>

<file path=ppt/tags/tag59.xml><?xml version="1.0" encoding="utf-8"?>
<p:tagLst xmlns:p="http://schemas.openxmlformats.org/presentationml/2006/main">
  <p:tag name="MH" val="20160830110547"/>
  <p:tag name="MH_LIBRARY" val="CONTENTS"/>
  <p:tag name="MH_TYPE" val="OTHERS"/>
  <p:tag name="ID" val="545840"/>
</p:tagLst>
</file>

<file path=ppt/tags/tag60.xml><?xml version="1.0" encoding="utf-8"?>
<p:tagLst xmlns:p="http://schemas.openxmlformats.org/presentationml/2006/main">
  <p:tag name="MH" val="20160830110547"/>
  <p:tag name="MH_LIBRARY" val="CONTENTS"/>
  <p:tag name="MH_TYPE" val="OTHERS"/>
  <p:tag name="ID" val="545840"/>
</p:tagLst>
</file>

<file path=ppt/tags/tag61.xml><?xml version="1.0" encoding="utf-8"?>
<p:tagLst xmlns:p="http://schemas.openxmlformats.org/presentationml/2006/main">
  <p:tag name="MH" val="20160830110547"/>
  <p:tag name="MH_LIBRARY" val="CONTENTS"/>
  <p:tag name="MH_TYPE" val="OTHERS"/>
  <p:tag name="ID" val="545840"/>
</p:tagLst>
</file>

<file path=ppt/tags/tag62.xml><?xml version="1.0" encoding="utf-8"?>
<p:tagLst xmlns:p="http://schemas.openxmlformats.org/presentationml/2006/main">
  <p:tag name="MH" val="20160830110547"/>
  <p:tag name="MH_LIBRARY" val="CONTENTS"/>
  <p:tag name="MH_TYPE" val="OTHERS"/>
  <p:tag name="ID" val="545840"/>
</p:tagLst>
</file>

<file path=ppt/tags/tag63.xml><?xml version="1.0" encoding="utf-8"?>
<p:tagLst xmlns:p="http://schemas.openxmlformats.org/presentationml/2006/main">
  <p:tag name="MH" val="20160830110547"/>
  <p:tag name="MH_LIBRARY" val="CONTENTS"/>
  <p:tag name="MH_TYPE" val="OTHERS"/>
  <p:tag name="ID" val="545840"/>
</p:tagLst>
</file>

<file path=ppt/tags/tag64.xml><?xml version="1.0" encoding="utf-8"?>
<p:tagLst xmlns:p="http://schemas.openxmlformats.org/presentationml/2006/main">
  <p:tag name="MH" val="20160830110547"/>
  <p:tag name="MH_LIBRARY" val="CONTENTS"/>
  <p:tag name="MH_TYPE" val="OTHERS"/>
  <p:tag name="ID" val="545840"/>
</p:tagLst>
</file>

<file path=ppt/tags/tag65.xml><?xml version="1.0" encoding="utf-8"?>
<p:tagLst xmlns:p="http://schemas.openxmlformats.org/presentationml/2006/main">
  <p:tag name="MH" val="20160830110547"/>
  <p:tag name="MH_LIBRARY" val="CONTENTS"/>
  <p:tag name="MH_TYPE" val="OTHERS"/>
  <p:tag name="ID" val="545840"/>
</p:tagLst>
</file>

<file path=ppt/tags/tag66.xml><?xml version="1.0" encoding="utf-8"?>
<p:tagLst xmlns:p="http://schemas.openxmlformats.org/presentationml/2006/main">
  <p:tag name="KSO_WM_UNIT_PLACING_PICTURE_USER_VIEWPORT" val="{&quot;height&quot;:8475,&quot;width&quot;:24060}"/>
</p:tagLst>
</file>

<file path=ppt/tags/tag67.xml><?xml version="1.0" encoding="utf-8"?>
<p:tagLst xmlns:p="http://schemas.openxmlformats.org/presentationml/2006/main">
  <p:tag name="MH" val="20160830110547"/>
  <p:tag name="MH_LIBRARY" val="CONTENTS"/>
  <p:tag name="MH_TYPE" val="OTHERS"/>
  <p:tag name="ID" val="545840"/>
</p:tagLst>
</file>

<file path=ppt/tags/tag68.xml><?xml version="1.0" encoding="utf-8"?>
<p:tagLst xmlns:p="http://schemas.openxmlformats.org/presentationml/2006/main">
  <p:tag name="MH" val="20160830110547"/>
  <p:tag name="MH_LIBRARY" val="CONTENTS"/>
  <p:tag name="MH_TYPE" val="OTHERS"/>
  <p:tag name="ID" val="545840"/>
</p:tagLst>
</file>

<file path=ppt/tags/tag69.xml><?xml version="1.0" encoding="utf-8"?>
<p:tagLst xmlns:p="http://schemas.openxmlformats.org/presentationml/2006/main">
  <p:tag name="MH" val="20160830110547"/>
  <p:tag name="MH_LIBRARY" val="CONTENTS"/>
  <p:tag name="MH_TYPE" val="OTHERS"/>
  <p:tag name="ID" val="545840"/>
</p:tagLst>
</file>

<file path=ppt/tags/tag70.xml><?xml version="1.0" encoding="utf-8"?>
<p:tagLst xmlns:p="http://schemas.openxmlformats.org/presentationml/2006/main">
  <p:tag name="MH" val="20160830110547"/>
  <p:tag name="MH_LIBRARY" val="CONTENTS"/>
  <p:tag name="MH_TYPE" val="OTHERS"/>
  <p:tag name="ID" val="545840"/>
</p:tagLst>
</file>

<file path=ppt/tags/tag71.xml><?xml version="1.0" encoding="utf-8"?>
<p:tagLst xmlns:p="http://schemas.openxmlformats.org/presentationml/2006/main">
  <p:tag name="MH" val="20160830110547"/>
  <p:tag name="MH_LIBRARY" val="CONTENTS"/>
  <p:tag name="MH_TYPE" val="OTHERS"/>
  <p:tag name="ID" val="545840"/>
</p:tagLst>
</file>

<file path=ppt/tags/tag72.xml><?xml version="1.0" encoding="utf-8"?>
<p:tagLst xmlns:p="http://schemas.openxmlformats.org/presentationml/2006/main">
  <p:tag name="MH" val="20160830110547"/>
  <p:tag name="MH_LIBRARY" val="CONTENTS"/>
  <p:tag name="MH_TYPE" val="OTHERS"/>
  <p:tag name="ID" val="545840"/>
</p:tagLst>
</file>

<file path=ppt/tags/tag73.xml><?xml version="1.0" encoding="utf-8"?>
<p:tagLst xmlns:p="http://schemas.openxmlformats.org/presentationml/2006/main">
  <p:tag name="MH" val="20160830110547"/>
  <p:tag name="MH_LIBRARY" val="CONTENTS"/>
  <p:tag name="MH_TYPE" val="OTHERS"/>
  <p:tag name="ID" val="545840"/>
</p:tagLst>
</file>

<file path=ppt/tags/tag74.xml><?xml version="1.0" encoding="utf-8"?>
<p:tagLst xmlns:p="http://schemas.openxmlformats.org/presentationml/2006/main">
  <p:tag name="MH" val="20160830110547"/>
  <p:tag name="MH_LIBRARY" val="CONTENTS"/>
  <p:tag name="MH_TYPE" val="OTHERS"/>
  <p:tag name="ID" val="545840"/>
</p:tagLst>
</file>

<file path=ppt/tags/tag75.xml><?xml version="1.0" encoding="utf-8"?>
<p:tagLst xmlns:p="http://schemas.openxmlformats.org/presentationml/2006/main">
  <p:tag name="MH" val="20160830110547"/>
  <p:tag name="MH_LIBRARY" val="CONTENTS"/>
  <p:tag name="MH_TYPE" val="OTHERS"/>
  <p:tag name="ID" val="545840"/>
</p:tagLst>
</file>

<file path=ppt/tags/tag76.xml><?xml version="1.0" encoding="utf-8"?>
<p:tagLst xmlns:p="http://schemas.openxmlformats.org/presentationml/2006/main">
  <p:tag name="MH" val="20160830110547"/>
  <p:tag name="MH_LIBRARY" val="CONTENTS"/>
  <p:tag name="MH_TYPE" val="OTHERS"/>
  <p:tag name="ID" val="545840"/>
</p:tagLst>
</file>

<file path=ppt/tags/tag77.xml><?xml version="1.0" encoding="utf-8"?>
<p:tagLst xmlns:p="http://schemas.openxmlformats.org/presentationml/2006/main">
  <p:tag name="MH" val="20160830110547"/>
  <p:tag name="MH_LIBRARY" val="CONTENTS"/>
  <p:tag name="MH_TYPE" val="OTHERS"/>
  <p:tag name="ID" val="545840"/>
</p:tagLst>
</file>

<file path=ppt/tags/tag78.xml><?xml version="1.0" encoding="utf-8"?>
<p:tagLst xmlns:p="http://schemas.openxmlformats.org/presentationml/2006/main">
  <p:tag name="MH" val="20160830110547"/>
  <p:tag name="MH_LIBRARY" val="CONTENTS"/>
  <p:tag name="MH_TYPE" val="OTHERS"/>
  <p:tag name="ID" val="545840"/>
</p:tagLst>
</file>

<file path=ppt/tags/tag79.xml><?xml version="1.0" encoding="utf-8"?>
<p:tagLst xmlns:p="http://schemas.openxmlformats.org/presentationml/2006/main">
  <p:tag name="MH" val="20160830110547"/>
  <p:tag name="MH_LIBRARY" val="CONTENTS"/>
  <p:tag name="MH_TYPE" val="OTHERS"/>
  <p:tag name="ID" val="545840"/>
</p:tagLst>
</file>

<file path=ppt/tags/tag80.xml><?xml version="1.0" encoding="utf-8"?>
<p:tagLst xmlns:p="http://schemas.openxmlformats.org/presentationml/2006/main">
  <p:tag name="MH" val="20160830110547"/>
  <p:tag name="MH_LIBRARY" val="CONTENTS"/>
  <p:tag name="MH_TYPE" val="OTHERS"/>
  <p:tag name="ID" val="545840"/>
</p:tagLst>
</file>

<file path=ppt/tags/tag81.xml><?xml version="1.0" encoding="utf-8"?>
<p:tagLst xmlns:p="http://schemas.openxmlformats.org/presentationml/2006/main">
  <p:tag name="MH" val="20160830110547"/>
  <p:tag name="MH_LIBRARY" val="CONTENTS"/>
  <p:tag name="MH_TYPE" val="OTHERS"/>
  <p:tag name="ID" val="545840"/>
</p:tagLst>
</file>

<file path=ppt/tags/tag82.xml><?xml version="1.0" encoding="utf-8"?>
<p:tagLst xmlns:p="http://schemas.openxmlformats.org/presentationml/2006/main">
  <p:tag name="MH" val="20160830110547"/>
  <p:tag name="MH_LIBRARY" val="CONTENTS"/>
  <p:tag name="MH_TYPE" val="OTHERS"/>
  <p:tag name="ID" val="545840"/>
</p:tagLst>
</file>

<file path=ppt/tags/tag83.xml><?xml version="1.0" encoding="utf-8"?>
<p:tagLst xmlns:p="http://schemas.openxmlformats.org/presentationml/2006/main">
  <p:tag name="MH" val="20160830110547"/>
  <p:tag name="MH_LIBRARY" val="CONTENTS"/>
  <p:tag name="MH_TYPE" val="OTHERS"/>
  <p:tag name="ID" val="545840"/>
</p:tagLst>
</file>

<file path=ppt/tags/tag84.xml><?xml version="1.0" encoding="utf-8"?>
<p:tagLst xmlns:p="http://schemas.openxmlformats.org/presentationml/2006/main">
  <p:tag name="MH" val="20160830110547"/>
  <p:tag name="MH_LIBRARY" val="CONTENTS"/>
  <p:tag name="MH_TYPE" val="OTHERS"/>
  <p:tag name="ID" val="545840"/>
</p:tagLst>
</file>

<file path=ppt/tags/tag85.xml><?xml version="1.0" encoding="utf-8"?>
<p:tagLst xmlns:p="http://schemas.openxmlformats.org/presentationml/2006/main">
  <p:tag name="MH" val="20160830110547"/>
  <p:tag name="MH_LIBRARY" val="CONTENTS"/>
  <p:tag name="MH_TYPE" val="OTHERS"/>
  <p:tag name="ID" val="545840"/>
</p:tagLst>
</file>

<file path=ppt/tags/tag86.xml><?xml version="1.0" encoding="utf-8"?>
<p:tagLst xmlns:p="http://schemas.openxmlformats.org/presentationml/2006/main">
  <p:tag name="MH" val="20160830110547"/>
  <p:tag name="MH_LIBRARY" val="CONTENTS"/>
  <p:tag name="MH_TYPE" val="OTHERS"/>
  <p:tag name="ID" val="545840"/>
</p:tagLst>
</file>

<file path=ppt/tags/tag87.xml><?xml version="1.0" encoding="utf-8"?>
<p:tagLst xmlns:p="http://schemas.openxmlformats.org/presentationml/2006/main">
  <p:tag name="MH" val="20160830110547"/>
  <p:tag name="MH_LIBRARY" val="CONTENTS"/>
  <p:tag name="MH_TYPE" val="OTHERS"/>
  <p:tag name="ID" val="545840"/>
</p:tagLst>
</file>

<file path=ppt/tags/tag88.xml><?xml version="1.0" encoding="utf-8"?>
<p:tagLst xmlns:p="http://schemas.openxmlformats.org/presentationml/2006/main">
  <p:tag name="MH" val="20160830110547"/>
  <p:tag name="MH_LIBRARY" val="CONTENTS"/>
  <p:tag name="MH_TYPE" val="OTHERS"/>
  <p:tag name="ID" val="545840"/>
</p:tagLst>
</file>

<file path=ppt/tags/tag89.xml><?xml version="1.0" encoding="utf-8"?>
<p:tagLst xmlns:p="http://schemas.openxmlformats.org/presentationml/2006/main">
  <p:tag name="MH" val="20160830110547"/>
  <p:tag name="MH_LIBRARY" val="CONTENTS"/>
  <p:tag name="MH_TYPE" val="OTHERS"/>
  <p:tag name="ID" val="545840"/>
</p:tagLst>
</file>

<file path=ppt/tags/tag90.xml><?xml version="1.0" encoding="utf-8"?>
<p:tagLst xmlns:p="http://schemas.openxmlformats.org/presentationml/2006/main">
  <p:tag name="MH" val="20160830110547"/>
  <p:tag name="MH_LIBRARY" val="CONTENTS"/>
  <p:tag name="MH_TYPE" val="OTHERS"/>
  <p:tag name="ID" val="545840"/>
</p:tagLst>
</file>

<file path=ppt/tags/tag91.xml><?xml version="1.0" encoding="utf-8"?>
<p:tagLst xmlns:p="http://schemas.openxmlformats.org/presentationml/2006/main">
  <p:tag name="KSO_WPP_MARK_KEY" val="87d68a98-99b2-4c91-abf5-c680da3b9fbc"/>
  <p:tag name="COMMONDATA" val="eyJjb3VudCI6MSwiaGRpZCI6Ijg1YmNiZDI1NzRmM2UxMDM2ZjBhZGVlYmJjZGFlNzQyIiwidXNlckNvdW50IjoxfQ=="/>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95000"/>
          </a:schemeClr>
        </a:solidFill>
        <a:ln w="9525" cap="flat" cmpd="sng" algn="ctr">
          <a:solidFill>
            <a:schemeClr val="tx2">
              <a:lumMod val="60000"/>
              <a:lumOff val="40000"/>
            </a:schemeClr>
          </a:solidFill>
          <a:prstDash val="solid"/>
          <a:round/>
          <a:headEnd type="none" w="med" len="med"/>
          <a:tailEnd type="none" w="med" len="med"/>
        </a:ln>
      </a:spPr>
      <a:bodyPr vert="horz" wrap="square" lIns="179705" tIns="71755" rIns="179705" bIns="71755" numCol="1" rtlCol="0" anchor="ctr" anchorCtr="0" compatLnSpc="1">
        <a:spAutoFit/>
      </a:bodyPr>
      <a:lstStyle>
        <a:defPPr algn="just" eaLnBrk="1" latinLnBrk="0" hangingPunct="1">
          <a:lnSpc>
            <a:spcPct val="150000"/>
          </a:lnSpc>
          <a:spcBef>
            <a:spcPts val="0"/>
          </a:spcBef>
          <a:spcAft>
            <a:spcPts val="0"/>
          </a:spcAft>
          <a:defRPr sz="1800" spc="100">
            <a:solidFill>
              <a:srgbClr val="FF0000"/>
            </a:solidFill>
            <a:uFillTx/>
            <a:latin typeface="微软雅黑" panose="020B0503020204020204" pitchFamily="34" charset="-122"/>
            <a:ea typeface="微软雅黑" panose="020B0503020204020204" pitchFamily="34" charset="-122"/>
            <a:cs typeface="+mn-ea"/>
            <a:sym typeface="微软雅黑 Light" panose="020B0502040204020203" pitchFamily="34" charset="-122"/>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7051</Words>
  <Application>WPS 演示</Application>
  <PresentationFormat>自定义</PresentationFormat>
  <Paragraphs>501</Paragraphs>
  <Slides>54</Slides>
  <Notes>4</Notes>
  <HiddenSlides>0</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54</vt:i4>
      </vt:variant>
    </vt:vector>
  </HeadingPairs>
  <TitlesOfParts>
    <vt:vector size="67" baseType="lpstr">
      <vt:lpstr>Arial</vt:lpstr>
      <vt:lpstr>宋体</vt:lpstr>
      <vt:lpstr>Wingdings</vt:lpstr>
      <vt:lpstr>Calibri</vt:lpstr>
      <vt:lpstr>微软雅黑</vt:lpstr>
      <vt:lpstr>微软雅黑 Light</vt:lpstr>
      <vt:lpstr>黑体</vt:lpstr>
      <vt:lpstr>Wingdings</vt:lpstr>
      <vt:lpstr>方正姚体</vt:lpstr>
      <vt:lpstr>Arial</vt:lpstr>
      <vt:lpstr>Arial Unicode MS</vt:lpstr>
      <vt:lpstr>Webdings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如何注册</vt:lpstr>
      <vt:lpstr>PowerPoint 演示文稿</vt:lpstr>
      <vt:lpstr>PowerPoint 演示文稿</vt:lpstr>
      <vt:lpstr>PowerPoint 演示文稿</vt:lpstr>
      <vt:lpstr>PowerPoint 演示文稿</vt:lpstr>
      <vt:lpstr>PowerPoint 演示文稿</vt:lpstr>
      <vt:lpstr>如何注册</vt:lpstr>
      <vt:lpstr>PowerPoint 演示文稿</vt:lpstr>
      <vt:lpstr>2、商标类型：TM和R标</vt:lpstr>
      <vt:lpstr>商标类型：TM和R标 </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橙紫</cp:lastModifiedBy>
  <cp:revision>2</cp:revision>
  <dcterms:created xsi:type="dcterms:W3CDTF">2022-03-10T09:24:00Z</dcterms:created>
  <dcterms:modified xsi:type="dcterms:W3CDTF">2023-04-28T03:12:09Z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KSOTemplateUUID">
    <vt:lpwstr>v1.0_mb_HA5ZPLE9FrdARYdJ2UyGnA==</vt:lpwstr>
  </property>
  <property fmtid="{D5CDD505-2E9C-101B-9397-08002B2CF9AE}" pid="4" name="ICV">
    <vt:lpwstr>3313F9BA5F654D7C9827456672C9AD18</vt:lpwstr>
  </property>
</Properties>
</file>
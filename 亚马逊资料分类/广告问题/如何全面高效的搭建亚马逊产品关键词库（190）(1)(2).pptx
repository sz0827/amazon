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</p:sldMasterIdLst>
  <p:notesMasterIdLst>
    <p:notesMasterId r:id="rId35"/>
  </p:notesMasterIdLst>
  <p:sldIdLst>
    <p:sldId id="256" r:id="rId34"/>
    <p:sldId id="257" r:id="rId36"/>
    <p:sldId id="258" r:id="rId37"/>
    <p:sldId id="281" r:id="rId38"/>
    <p:sldId id="261" r:id="rId39"/>
    <p:sldId id="307" r:id="rId40"/>
    <p:sldId id="306" r:id="rId41"/>
    <p:sldId id="304" r:id="rId42"/>
    <p:sldId id="308" r:id="rId43"/>
    <p:sldId id="309" r:id="rId44"/>
    <p:sldId id="305" r:id="rId45"/>
    <p:sldId id="260" r:id="rId46"/>
    <p:sldId id="262" r:id="rId47"/>
    <p:sldId id="265" r:id="rId48"/>
    <p:sldId id="325" r:id="rId49"/>
    <p:sldId id="310" r:id="rId50"/>
    <p:sldId id="311" r:id="rId51"/>
    <p:sldId id="401" r:id="rId52"/>
    <p:sldId id="312" r:id="rId53"/>
    <p:sldId id="313" r:id="rId54"/>
    <p:sldId id="333" r:id="rId55"/>
    <p:sldId id="314" r:id="rId56"/>
    <p:sldId id="326" r:id="rId57"/>
    <p:sldId id="317" r:id="rId58"/>
    <p:sldId id="318" r:id="rId59"/>
    <p:sldId id="319" r:id="rId60"/>
    <p:sldId id="320" r:id="rId61"/>
    <p:sldId id="321" r:id="rId62"/>
    <p:sldId id="404" r:id="rId63"/>
    <p:sldId id="410" r:id="rId64"/>
    <p:sldId id="334" r:id="rId65"/>
    <p:sldId id="335" r:id="rId66"/>
    <p:sldId id="322" r:id="rId67"/>
    <p:sldId id="409" r:id="rId68"/>
    <p:sldId id="332" r:id="rId69"/>
    <p:sldId id="323" r:id="rId70"/>
    <p:sldId id="324" r:id="rId71"/>
    <p:sldId id="327" r:id="rId72"/>
    <p:sldId id="328" r:id="rId73"/>
    <p:sldId id="266" r:id="rId74"/>
    <p:sldId id="330" r:id="rId75"/>
    <p:sldId id="426" r:id="rId76"/>
    <p:sldId id="279" r:id="rId77"/>
  </p:sldIdLst>
  <p:sldSz cx="12192000" cy="6858000"/>
  <p:notesSz cx="6858000" cy="9144000"/>
  <p:embeddedFontLst>
    <p:embeddedFont>
      <p:font typeface="等线" panose="02010600030101010101" charset="-122"/>
      <p:regular r:id="rId81"/>
    </p:embeddedFont>
    <p:embeddedFont>
      <p:font typeface="Calibri" panose="020F0502020204030204" charset="0"/>
      <p:regular r:id="rId82"/>
      <p:bold r:id="rId83"/>
      <p:italic r:id="rId84"/>
      <p:boldItalic r:id="rId85"/>
    </p:embeddedFont>
  </p:embeddedFontLst>
  <p:custDataLst>
    <p:tags r:id="rId8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6" Type="http://schemas.openxmlformats.org/officeDocument/2006/relationships/tags" Target="tags/tag36.xml"/><Relationship Id="rId85" Type="http://schemas.openxmlformats.org/officeDocument/2006/relationships/font" Target="fonts/font5.fntdata"/><Relationship Id="rId84" Type="http://schemas.openxmlformats.org/officeDocument/2006/relationships/font" Target="fonts/font4.fntdata"/><Relationship Id="rId83" Type="http://schemas.openxmlformats.org/officeDocument/2006/relationships/font" Target="fonts/font3.fntdata"/><Relationship Id="rId82" Type="http://schemas.openxmlformats.org/officeDocument/2006/relationships/font" Target="fonts/font2.fntdata"/><Relationship Id="rId81" Type="http://schemas.openxmlformats.org/officeDocument/2006/relationships/font" Target="fonts/font1.fntdata"/><Relationship Id="rId80" Type="http://schemas.openxmlformats.org/officeDocument/2006/relationships/tableStyles" Target="tableStyles.xml"/><Relationship Id="rId8" Type="http://schemas.openxmlformats.org/officeDocument/2006/relationships/slideMaster" Target="slideMasters/slideMaster7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slide" Target="slides/slide43.xml"/><Relationship Id="rId76" Type="http://schemas.openxmlformats.org/officeDocument/2006/relationships/slide" Target="slides/slide42.xml"/><Relationship Id="rId75" Type="http://schemas.openxmlformats.org/officeDocument/2006/relationships/slide" Target="slides/slide41.xml"/><Relationship Id="rId74" Type="http://schemas.openxmlformats.org/officeDocument/2006/relationships/slide" Target="slides/slide40.xml"/><Relationship Id="rId73" Type="http://schemas.openxmlformats.org/officeDocument/2006/relationships/slide" Target="slides/slide39.xml"/><Relationship Id="rId72" Type="http://schemas.openxmlformats.org/officeDocument/2006/relationships/slide" Target="slides/slide38.xml"/><Relationship Id="rId71" Type="http://schemas.openxmlformats.org/officeDocument/2006/relationships/slide" Target="slides/slide37.xml"/><Relationship Id="rId70" Type="http://schemas.openxmlformats.org/officeDocument/2006/relationships/slide" Target="slides/slide36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35.xml"/><Relationship Id="rId68" Type="http://schemas.openxmlformats.org/officeDocument/2006/relationships/slide" Target="slides/slide34.xml"/><Relationship Id="rId67" Type="http://schemas.openxmlformats.org/officeDocument/2006/relationships/slide" Target="slides/slide33.xml"/><Relationship Id="rId66" Type="http://schemas.openxmlformats.org/officeDocument/2006/relationships/slide" Target="slides/slide32.xml"/><Relationship Id="rId65" Type="http://schemas.openxmlformats.org/officeDocument/2006/relationships/slide" Target="slides/slide31.xml"/><Relationship Id="rId64" Type="http://schemas.openxmlformats.org/officeDocument/2006/relationships/slide" Target="slides/slide30.xml"/><Relationship Id="rId63" Type="http://schemas.openxmlformats.org/officeDocument/2006/relationships/slide" Target="slides/slide29.xml"/><Relationship Id="rId62" Type="http://schemas.openxmlformats.org/officeDocument/2006/relationships/slide" Target="slides/slide28.xml"/><Relationship Id="rId61" Type="http://schemas.openxmlformats.org/officeDocument/2006/relationships/slide" Target="slides/slide27.xml"/><Relationship Id="rId60" Type="http://schemas.openxmlformats.org/officeDocument/2006/relationships/slide" Target="slides/slide26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5.xml"/><Relationship Id="rId58" Type="http://schemas.openxmlformats.org/officeDocument/2006/relationships/slide" Target="slides/slide24.xml"/><Relationship Id="rId57" Type="http://schemas.openxmlformats.org/officeDocument/2006/relationships/slide" Target="slides/slide23.xml"/><Relationship Id="rId56" Type="http://schemas.openxmlformats.org/officeDocument/2006/relationships/slide" Target="slides/slide22.xml"/><Relationship Id="rId55" Type="http://schemas.openxmlformats.org/officeDocument/2006/relationships/slide" Target="slides/slide21.xml"/><Relationship Id="rId54" Type="http://schemas.openxmlformats.org/officeDocument/2006/relationships/slide" Target="slides/slide20.xml"/><Relationship Id="rId53" Type="http://schemas.openxmlformats.org/officeDocument/2006/relationships/slide" Target="slides/slide19.xml"/><Relationship Id="rId52" Type="http://schemas.openxmlformats.org/officeDocument/2006/relationships/slide" Target="slides/slide18.xml"/><Relationship Id="rId51" Type="http://schemas.openxmlformats.org/officeDocument/2006/relationships/slide" Target="slides/slide17.xml"/><Relationship Id="rId50" Type="http://schemas.openxmlformats.org/officeDocument/2006/relationships/slide" Target="slides/slide1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5.xml"/><Relationship Id="rId48" Type="http://schemas.openxmlformats.org/officeDocument/2006/relationships/slide" Target="slides/slide14.xml"/><Relationship Id="rId47" Type="http://schemas.openxmlformats.org/officeDocument/2006/relationships/slide" Target="slides/slide13.xml"/><Relationship Id="rId46" Type="http://schemas.openxmlformats.org/officeDocument/2006/relationships/slide" Target="slides/slide12.xml"/><Relationship Id="rId45" Type="http://schemas.openxmlformats.org/officeDocument/2006/relationships/slide" Target="slides/slide11.xml"/><Relationship Id="rId44" Type="http://schemas.openxmlformats.org/officeDocument/2006/relationships/slide" Target="slides/slide10.xml"/><Relationship Id="rId43" Type="http://schemas.openxmlformats.org/officeDocument/2006/relationships/slide" Target="slides/slide9.xml"/><Relationship Id="rId42" Type="http://schemas.openxmlformats.org/officeDocument/2006/relationships/slide" Target="slides/slide8.xml"/><Relationship Id="rId41" Type="http://schemas.openxmlformats.org/officeDocument/2006/relationships/slide" Target="slides/slide7.xml"/><Relationship Id="rId40" Type="http://schemas.openxmlformats.org/officeDocument/2006/relationships/slide" Target="slides/slide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5.xml"/><Relationship Id="rId38" Type="http://schemas.openxmlformats.org/officeDocument/2006/relationships/slide" Target="slides/slide4.xml"/><Relationship Id="rId37" Type="http://schemas.openxmlformats.org/officeDocument/2006/relationships/slide" Target="slides/slide3.xml"/><Relationship Id="rId36" Type="http://schemas.openxmlformats.org/officeDocument/2006/relationships/slide" Target="slides/slide2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1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标题建议可以改成：如何快速搭建全面、精准、动态的关键词</a:t>
            </a:r>
            <a:r>
              <a:rPr lang="zh-CN" altLang="en-US"/>
              <a:t>库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建议把要点提炼成大纲，有些话得你自己说，不能</a:t>
            </a:r>
            <a:r>
              <a:rPr lang="zh-CN" altLang="en-US"/>
              <a:t>照着念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同样的，只需要三个大纲就行了，衔接的内容要自己</a:t>
            </a:r>
            <a:r>
              <a:rPr lang="zh-CN" altLang="en-US"/>
              <a:t>发挥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/>
    <p:bodyStyle/>
    <p:otherStyle/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/>
    <p:bodyStyle/>
    <p:otherStyle/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/>
    <p:bodyStyle/>
    <p:otherStyle/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/>
    <p:bodyStyle/>
    <p:otherStyle/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/>
    <p:bodyStyle/>
    <p:otherStyle/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/>
    <p:bodyStyle/>
    <p:otherStyle/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/>
    <p:bodyStyle/>
    <p:otherStyle/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/>
    <p:bodyStyle/>
    <p:otherStyle/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/>
    <p:bodyStyle/>
    <p:otherStyle/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/>
    <p:bodyStyle/>
    <p:otherStyle/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/>
    <p:bodyStyle/>
    <p:otherStyle/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/>
    <p:bodyStyle/>
    <p:otherStyle/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/>
    <p:bodyStyle/>
    <p:otherStyle/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/>
    <p:bodyStyle/>
    <p:otherStyle/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7.png"/><Relationship Id="rId1" Type="http://schemas.openxmlformats.org/officeDocument/2006/relationships/tags" Target="../tags/tag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8.png"/><Relationship Id="rId1" Type="http://schemas.openxmlformats.org/officeDocument/2006/relationships/tags" Target="../tags/tag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9.png"/><Relationship Id="rId1" Type="http://schemas.openxmlformats.org/officeDocument/2006/relationships/tags" Target="../tags/tag30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1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8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ags" Target="../tags/tag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60961" y="60962"/>
            <a:ext cx="6858002" cy="673608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6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7442947" y="1401026"/>
            <a:ext cx="4749054" cy="4733074"/>
            <a:chOff x="7442947" y="1401026"/>
            <a:chExt cx="4749054" cy="4733074"/>
          </a:xfrm>
        </p:grpSpPr>
        <p:sp>
          <p:nvSpPr>
            <p:cNvPr id="4" name="标题 1"/>
            <p:cNvSpPr txBox="1"/>
            <p:nvPr/>
          </p:nvSpPr>
          <p:spPr>
            <a:xfrm rot="13528726">
              <a:off x="9204001" y="2056966"/>
              <a:ext cx="1824375" cy="4028692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0"/>
                  </a:schemeClr>
                </a:gs>
                <a:gs pos="72000">
                  <a:schemeClr val="accent1"/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标题 1"/>
            <p:cNvSpPr txBox="1"/>
            <p:nvPr/>
          </p:nvSpPr>
          <p:spPr>
            <a:xfrm rot="13528726" flipH="1" flipV="1">
              <a:off x="8606571" y="1449468"/>
              <a:ext cx="1824375" cy="4028692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75000"/>
                  </a:schemeClr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6" name="标题 1"/>
          <p:cNvSpPr txBox="1"/>
          <p:nvPr/>
        </p:nvSpPr>
        <p:spPr>
          <a:xfrm>
            <a:off x="9714914" y="4380914"/>
            <a:ext cx="4954172" cy="4954172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rgbClr val="5BD1D7">
                  <a:alpha val="62000"/>
                </a:srgbClr>
              </a:gs>
              <a:gs pos="39000">
                <a:srgbClr val="5BD1D7">
                  <a:alpha val="28000"/>
                </a:srgb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0399" y="2670850"/>
            <a:ext cx="7200000" cy="18464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53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如何全面高效的搭建亚马逊产品关键词库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400" y="5138420"/>
            <a:ext cx="3104515" cy="3530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zh-CN" altLang="en-US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鹿高社群</a:t>
            </a:r>
            <a:r>
              <a:rPr kumimoji="1" lang="en-US" altLang="zh-CN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1</a:t>
            </a:r>
            <a:r>
              <a:rPr kumimoji="1" lang="zh-CN" altLang="en-US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群</a:t>
            </a:r>
            <a:r>
              <a:rPr kumimoji="1" lang="en-US" altLang="zh-CN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190</a:t>
            </a:r>
            <a:r>
              <a:rPr kumimoji="1" lang="zh-CN" altLang="en-US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号</a:t>
            </a:r>
            <a:r>
              <a:rPr kumimoji="1" lang="en-US" altLang="zh-CN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：</a:t>
            </a:r>
            <a:r>
              <a:rPr kumimoji="1" lang="zh-CN" altLang="en-US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叶文坚</a:t>
            </a:r>
            <a:endParaRPr kumimoji="1" lang="zh-CN" altLang="en-US" sz="1800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1170325" y="6070996"/>
            <a:ext cx="348575" cy="126207"/>
            <a:chOff x="11170325" y="6070996"/>
            <a:chExt cx="348575" cy="126207"/>
          </a:xfrm>
        </p:grpSpPr>
        <p:sp>
          <p:nvSpPr>
            <p:cNvPr id="11" name="标题 1"/>
            <p:cNvSpPr txBox="1"/>
            <p:nvPr/>
          </p:nvSpPr>
          <p:spPr>
            <a:xfrm rot="5400000">
              <a:off x="11295293" y="5986272"/>
              <a:ext cx="45719" cy="295656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rot="5400000">
              <a:off x="11401397" y="6079700"/>
              <a:ext cx="126207" cy="108799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标题 1"/>
          <p:cNvSpPr txBox="1"/>
          <p:nvPr/>
        </p:nvSpPr>
        <p:spPr>
          <a:xfrm>
            <a:off x="11380958" y="842498"/>
            <a:ext cx="137942" cy="13794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1109628" y="842498"/>
            <a:ext cx="137942" cy="1379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0838298" y="842498"/>
            <a:ext cx="137942" cy="1379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60400" y="5640539"/>
            <a:ext cx="360680" cy="4572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660400" y="5980966"/>
            <a:ext cx="890676" cy="254734"/>
            <a:chOff x="660400" y="5980966"/>
            <a:chExt cx="890676" cy="254734"/>
          </a:xfrm>
        </p:grpSpPr>
        <p:sp>
          <p:nvSpPr>
            <p:cNvPr id="19" name="标题 1"/>
            <p:cNvSpPr txBox="1"/>
            <p:nvPr/>
          </p:nvSpPr>
          <p:spPr>
            <a:xfrm>
              <a:off x="660400" y="5980966"/>
              <a:ext cx="263227" cy="254734"/>
            </a:xfrm>
            <a:custGeom>
              <a:avLst/>
              <a:gdLst>
                <a:gd name="connsiteX0" fmla="*/ 311954 w 744004"/>
                <a:gd name="connsiteY0" fmla="*/ 337123 h 720001"/>
                <a:gd name="connsiteX1" fmla="*/ 168770 w 744004"/>
                <a:gd name="connsiteY1" fmla="*/ 337123 h 720001"/>
                <a:gd name="connsiteX2" fmla="*/ 49673 w 744004"/>
                <a:gd name="connsiteY2" fmla="*/ 287618 h 720001"/>
                <a:gd name="connsiteX3" fmla="*/ 167 w 744004"/>
                <a:gd name="connsiteY3" fmla="*/ 168520 h 720001"/>
                <a:gd name="connsiteX4" fmla="*/ 49590 w 744004"/>
                <a:gd name="connsiteY4" fmla="*/ 49507 h 720001"/>
                <a:gd name="connsiteX5" fmla="*/ 168687 w 744004"/>
                <a:gd name="connsiteY5" fmla="*/ 0 h 720001"/>
                <a:gd name="connsiteX6" fmla="*/ 287784 w 744004"/>
                <a:gd name="connsiteY6" fmla="*/ 49507 h 720001"/>
                <a:gd name="connsiteX7" fmla="*/ 337290 w 744004"/>
                <a:gd name="connsiteY7" fmla="*/ 168604 h 720001"/>
                <a:gd name="connsiteX8" fmla="*/ 337290 w 744004"/>
                <a:gd name="connsiteY8" fmla="*/ 311787 h 720001"/>
                <a:gd name="connsiteX9" fmla="*/ 311954 w 744004"/>
                <a:gd name="connsiteY9" fmla="*/ 337123 h 720001"/>
                <a:gd name="connsiteX10" fmla="*/ 575401 w 744004"/>
                <a:gd name="connsiteY10" fmla="*/ 337207 h 720001"/>
                <a:gd name="connsiteX11" fmla="*/ 432218 w 744004"/>
                <a:gd name="connsiteY11" fmla="*/ 337207 h 720001"/>
                <a:gd name="connsiteX12" fmla="*/ 406882 w 744004"/>
                <a:gd name="connsiteY12" fmla="*/ 311870 h 720001"/>
                <a:gd name="connsiteX13" fmla="*/ 406882 w 744004"/>
                <a:gd name="connsiteY13" fmla="*/ 168687 h 720001"/>
                <a:gd name="connsiteX14" fmla="*/ 456387 w 744004"/>
                <a:gd name="connsiteY14" fmla="*/ 49590 h 720001"/>
                <a:gd name="connsiteX15" fmla="*/ 575401 w 744004"/>
                <a:gd name="connsiteY15" fmla="*/ 0 h 720001"/>
                <a:gd name="connsiteX16" fmla="*/ 694498 w 744004"/>
                <a:gd name="connsiteY16" fmla="*/ 49507 h 720001"/>
                <a:gd name="connsiteX17" fmla="*/ 744004 w 744004"/>
                <a:gd name="connsiteY17" fmla="*/ 168604 h 720001"/>
                <a:gd name="connsiteX18" fmla="*/ 694498 w 744004"/>
                <a:gd name="connsiteY18" fmla="*/ 287701 h 720001"/>
                <a:gd name="connsiteX19" fmla="*/ 575401 w 744004"/>
                <a:gd name="connsiteY19" fmla="*/ 337207 h 720001"/>
                <a:gd name="connsiteX20" fmla="*/ 168604 w 744004"/>
                <a:gd name="connsiteY20" fmla="*/ 720001 h 720001"/>
                <a:gd name="connsiteX21" fmla="*/ 49507 w 744004"/>
                <a:gd name="connsiteY21" fmla="*/ 670495 h 720001"/>
                <a:gd name="connsiteX22" fmla="*/ 0 w 744004"/>
                <a:gd name="connsiteY22" fmla="*/ 551398 h 720001"/>
                <a:gd name="connsiteX23" fmla="*/ 49507 w 744004"/>
                <a:gd name="connsiteY23" fmla="*/ 432301 h 720001"/>
                <a:gd name="connsiteX24" fmla="*/ 168687 w 744004"/>
                <a:gd name="connsiteY24" fmla="*/ 382879 h 720001"/>
                <a:gd name="connsiteX25" fmla="*/ 311871 w 744004"/>
                <a:gd name="connsiteY25" fmla="*/ 382879 h 720001"/>
                <a:gd name="connsiteX26" fmla="*/ 337207 w 744004"/>
                <a:gd name="connsiteY26" fmla="*/ 408215 h 720001"/>
                <a:gd name="connsiteX27" fmla="*/ 337207 w 744004"/>
                <a:gd name="connsiteY27" fmla="*/ 551398 h 720001"/>
                <a:gd name="connsiteX28" fmla="*/ 287701 w 744004"/>
                <a:gd name="connsiteY28" fmla="*/ 670495 h 720001"/>
                <a:gd name="connsiteX29" fmla="*/ 168604 w 744004"/>
                <a:gd name="connsiteY29" fmla="*/ 720001 h 720001"/>
                <a:gd name="connsiteX30" fmla="*/ 575401 w 744004"/>
                <a:gd name="connsiteY30" fmla="*/ 720001 h 720001"/>
                <a:gd name="connsiteX31" fmla="*/ 456304 w 744004"/>
                <a:gd name="connsiteY31" fmla="*/ 670495 h 720001"/>
                <a:gd name="connsiteX32" fmla="*/ 406798 w 744004"/>
                <a:gd name="connsiteY32" fmla="*/ 551398 h 720001"/>
                <a:gd name="connsiteX33" fmla="*/ 406798 w 744004"/>
                <a:gd name="connsiteY33" fmla="*/ 408215 h 720001"/>
                <a:gd name="connsiteX34" fmla="*/ 432218 w 744004"/>
                <a:gd name="connsiteY34" fmla="*/ 382879 h 720001"/>
                <a:gd name="connsiteX35" fmla="*/ 575401 w 744004"/>
                <a:gd name="connsiteY35" fmla="*/ 382879 h 720001"/>
                <a:gd name="connsiteX36" fmla="*/ 694498 w 744004"/>
                <a:gd name="connsiteY36" fmla="*/ 432385 h 720001"/>
                <a:gd name="connsiteX37" fmla="*/ 744004 w 744004"/>
                <a:gd name="connsiteY37" fmla="*/ 551398 h 720001"/>
                <a:gd name="connsiteX38" fmla="*/ 694498 w 744004"/>
                <a:gd name="connsiteY38" fmla="*/ 670495 h 720001"/>
                <a:gd name="connsiteX39" fmla="*/ 575401 w 744004"/>
                <a:gd name="connsiteY39" fmla="*/ 720001 h 720001"/>
              </a:gdLst>
              <a:ahLst/>
              <a:cxnLst/>
              <a:rect l="l" t="t" r="r" b="b"/>
              <a:pathLst>
                <a:path w="744004" h="720001">
                  <a:moveTo>
                    <a:pt x="311954" y="337123"/>
                  </a:moveTo>
                  <a:lnTo>
                    <a:pt x="168770" y="337123"/>
                  </a:lnTo>
                  <a:cubicBezTo>
                    <a:pt x="123932" y="337123"/>
                    <a:pt x="81594" y="319538"/>
                    <a:pt x="49673" y="287618"/>
                  </a:cubicBezTo>
                  <a:cubicBezTo>
                    <a:pt x="17753" y="255697"/>
                    <a:pt x="167" y="213442"/>
                    <a:pt x="167" y="168520"/>
                  </a:cubicBezTo>
                  <a:cubicBezTo>
                    <a:pt x="167" y="123598"/>
                    <a:pt x="17669" y="81427"/>
                    <a:pt x="49590" y="49507"/>
                  </a:cubicBezTo>
                  <a:cubicBezTo>
                    <a:pt x="81510" y="17586"/>
                    <a:pt x="123848" y="0"/>
                    <a:pt x="168687" y="0"/>
                  </a:cubicBezTo>
                  <a:cubicBezTo>
                    <a:pt x="213526" y="0"/>
                    <a:pt x="255864" y="17586"/>
                    <a:pt x="287784" y="49507"/>
                  </a:cubicBezTo>
                  <a:cubicBezTo>
                    <a:pt x="319705" y="81427"/>
                    <a:pt x="337290" y="123682"/>
                    <a:pt x="337290" y="168604"/>
                  </a:cubicBezTo>
                  <a:lnTo>
                    <a:pt x="337290" y="311787"/>
                  </a:lnTo>
                  <a:cubicBezTo>
                    <a:pt x="337290" y="325789"/>
                    <a:pt x="325956" y="337123"/>
                    <a:pt x="311954" y="337123"/>
                  </a:cubicBezTo>
                  <a:close/>
                  <a:moveTo>
                    <a:pt x="575401" y="337207"/>
                  </a:moveTo>
                  <a:lnTo>
                    <a:pt x="432218" y="337207"/>
                  </a:lnTo>
                  <a:cubicBezTo>
                    <a:pt x="418216" y="337207"/>
                    <a:pt x="406882" y="325872"/>
                    <a:pt x="406882" y="311870"/>
                  </a:cubicBezTo>
                  <a:lnTo>
                    <a:pt x="406882" y="168687"/>
                  </a:lnTo>
                  <a:cubicBezTo>
                    <a:pt x="406882" y="123849"/>
                    <a:pt x="424467" y="81510"/>
                    <a:pt x="456387" y="49590"/>
                  </a:cubicBezTo>
                  <a:cubicBezTo>
                    <a:pt x="488308" y="17669"/>
                    <a:pt x="530563" y="0"/>
                    <a:pt x="575401" y="0"/>
                  </a:cubicBezTo>
                  <a:cubicBezTo>
                    <a:pt x="620240" y="0"/>
                    <a:pt x="662578" y="17586"/>
                    <a:pt x="694498" y="49507"/>
                  </a:cubicBezTo>
                  <a:cubicBezTo>
                    <a:pt x="726419" y="81427"/>
                    <a:pt x="744004" y="123765"/>
                    <a:pt x="744004" y="168604"/>
                  </a:cubicBezTo>
                  <a:cubicBezTo>
                    <a:pt x="744004" y="213442"/>
                    <a:pt x="726419" y="255780"/>
                    <a:pt x="694498" y="287701"/>
                  </a:cubicBezTo>
                  <a:cubicBezTo>
                    <a:pt x="662578" y="319621"/>
                    <a:pt x="620323" y="337207"/>
                    <a:pt x="575401" y="337207"/>
                  </a:cubicBezTo>
                  <a:close/>
                  <a:moveTo>
                    <a:pt x="168604" y="720001"/>
                  </a:moveTo>
                  <a:cubicBezTo>
                    <a:pt x="123682" y="720001"/>
                    <a:pt x="81427" y="702416"/>
                    <a:pt x="49507" y="670495"/>
                  </a:cubicBezTo>
                  <a:cubicBezTo>
                    <a:pt x="17586" y="638575"/>
                    <a:pt x="0" y="596320"/>
                    <a:pt x="0" y="551398"/>
                  </a:cubicBezTo>
                  <a:cubicBezTo>
                    <a:pt x="0" y="506476"/>
                    <a:pt x="17586" y="464221"/>
                    <a:pt x="49507" y="432301"/>
                  </a:cubicBezTo>
                  <a:cubicBezTo>
                    <a:pt x="81510" y="400464"/>
                    <a:pt x="123848" y="382879"/>
                    <a:pt x="168687" y="382879"/>
                  </a:cubicBezTo>
                  <a:lnTo>
                    <a:pt x="311871" y="382879"/>
                  </a:lnTo>
                  <a:cubicBezTo>
                    <a:pt x="325872" y="382879"/>
                    <a:pt x="337207" y="394297"/>
                    <a:pt x="337207" y="408215"/>
                  </a:cubicBezTo>
                  <a:lnTo>
                    <a:pt x="337207" y="551398"/>
                  </a:lnTo>
                  <a:cubicBezTo>
                    <a:pt x="337207" y="596237"/>
                    <a:pt x="319621" y="638575"/>
                    <a:pt x="287701" y="670495"/>
                  </a:cubicBezTo>
                  <a:cubicBezTo>
                    <a:pt x="255781" y="702416"/>
                    <a:pt x="213526" y="720001"/>
                    <a:pt x="168604" y="720001"/>
                  </a:cubicBezTo>
                  <a:close/>
                  <a:moveTo>
                    <a:pt x="575401" y="720001"/>
                  </a:moveTo>
                  <a:cubicBezTo>
                    <a:pt x="530563" y="720001"/>
                    <a:pt x="488224" y="702416"/>
                    <a:pt x="456304" y="670495"/>
                  </a:cubicBezTo>
                  <a:cubicBezTo>
                    <a:pt x="424383" y="638575"/>
                    <a:pt x="406798" y="596320"/>
                    <a:pt x="406798" y="551398"/>
                  </a:cubicBezTo>
                  <a:lnTo>
                    <a:pt x="406798" y="408215"/>
                  </a:lnTo>
                  <a:cubicBezTo>
                    <a:pt x="406882" y="394213"/>
                    <a:pt x="418216" y="382879"/>
                    <a:pt x="432218" y="382879"/>
                  </a:cubicBezTo>
                  <a:lnTo>
                    <a:pt x="575401" y="382879"/>
                  </a:lnTo>
                  <a:cubicBezTo>
                    <a:pt x="620240" y="382879"/>
                    <a:pt x="662578" y="400464"/>
                    <a:pt x="694498" y="432385"/>
                  </a:cubicBezTo>
                  <a:cubicBezTo>
                    <a:pt x="726419" y="464305"/>
                    <a:pt x="744004" y="506560"/>
                    <a:pt x="744004" y="551398"/>
                  </a:cubicBezTo>
                  <a:cubicBezTo>
                    <a:pt x="744004" y="596237"/>
                    <a:pt x="726419" y="638575"/>
                    <a:pt x="694498" y="670495"/>
                  </a:cubicBezTo>
                  <a:cubicBezTo>
                    <a:pt x="662578" y="702416"/>
                    <a:pt x="620323" y="720001"/>
                    <a:pt x="575401" y="720001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>
              <a:off x="1319298" y="5987827"/>
              <a:ext cx="231778" cy="241011"/>
            </a:xfrm>
            <a:custGeom>
              <a:avLst/>
              <a:gdLst>
                <a:gd name="connsiteX0" fmla="*/ 198153 w 692417"/>
                <a:gd name="connsiteY0" fmla="*/ 663680 h 720001"/>
                <a:gd name="connsiteX1" fmla="*/ 239787 w 692417"/>
                <a:gd name="connsiteY1" fmla="*/ 663680 h 720001"/>
                <a:gd name="connsiteX2" fmla="*/ 295235 w 692417"/>
                <a:gd name="connsiteY2" fmla="*/ 663680 h 720001"/>
                <a:gd name="connsiteX3" fmla="*/ 397182 w 692417"/>
                <a:gd name="connsiteY3" fmla="*/ 663680 h 720001"/>
                <a:gd name="connsiteX4" fmla="*/ 452630 w 692417"/>
                <a:gd name="connsiteY4" fmla="*/ 663680 h 720001"/>
                <a:gd name="connsiteX5" fmla="*/ 494264 w 692417"/>
                <a:gd name="connsiteY5" fmla="*/ 663680 h 720001"/>
                <a:gd name="connsiteX6" fmla="*/ 522425 w 692417"/>
                <a:gd name="connsiteY6" fmla="*/ 691841 h 720001"/>
                <a:gd name="connsiteX7" fmla="*/ 494264 w 692417"/>
                <a:gd name="connsiteY7" fmla="*/ 720001 h 720001"/>
                <a:gd name="connsiteX8" fmla="*/ 452630 w 692417"/>
                <a:gd name="connsiteY8" fmla="*/ 720001 h 720001"/>
                <a:gd name="connsiteX9" fmla="*/ 397182 w 692417"/>
                <a:gd name="connsiteY9" fmla="*/ 720001 h 720001"/>
                <a:gd name="connsiteX10" fmla="*/ 295235 w 692417"/>
                <a:gd name="connsiteY10" fmla="*/ 720001 h 720001"/>
                <a:gd name="connsiteX11" fmla="*/ 239787 w 692417"/>
                <a:gd name="connsiteY11" fmla="*/ 720001 h 720001"/>
                <a:gd name="connsiteX12" fmla="*/ 198153 w 692417"/>
                <a:gd name="connsiteY12" fmla="*/ 720001 h 720001"/>
                <a:gd name="connsiteX13" fmla="*/ 169992 w 692417"/>
                <a:gd name="connsiteY13" fmla="*/ 691841 h 720001"/>
                <a:gd name="connsiteX14" fmla="*/ 198153 w 692417"/>
                <a:gd name="connsiteY14" fmla="*/ 663680 h 720001"/>
                <a:gd name="connsiteX15" fmla="*/ 154400 w 692417"/>
                <a:gd name="connsiteY15" fmla="*/ 572143 h 720001"/>
                <a:gd name="connsiteX16" fmla="*/ 154241 w 692417"/>
                <a:gd name="connsiteY16" fmla="*/ 572597 h 720001"/>
                <a:gd name="connsiteX17" fmla="*/ 160423 w 692417"/>
                <a:gd name="connsiteY17" fmla="*/ 572597 h 720001"/>
                <a:gd name="connsiteX18" fmla="*/ 346215 w 692417"/>
                <a:gd name="connsiteY18" fmla="*/ 0 h 720001"/>
                <a:gd name="connsiteX19" fmla="*/ 456041 w 692417"/>
                <a:gd name="connsiteY19" fmla="*/ 22341 h 720001"/>
                <a:gd name="connsiteX20" fmla="*/ 545873 w 692417"/>
                <a:gd name="connsiteY20" fmla="*/ 82980 h 720001"/>
                <a:gd name="connsiteX21" fmla="*/ 606513 w 692417"/>
                <a:gd name="connsiteY21" fmla="*/ 172812 h 720001"/>
                <a:gd name="connsiteX22" fmla="*/ 628853 w 692417"/>
                <a:gd name="connsiteY22" fmla="*/ 282638 h 720001"/>
                <a:gd name="connsiteX23" fmla="*/ 628853 w 692417"/>
                <a:gd name="connsiteY23" fmla="*/ 493091 h 720001"/>
                <a:gd name="connsiteX24" fmla="*/ 687990 w 692417"/>
                <a:gd name="connsiteY24" fmla="*/ 585551 h 720001"/>
                <a:gd name="connsiteX25" fmla="*/ 688929 w 692417"/>
                <a:gd name="connsiteY25" fmla="*/ 614275 h 720001"/>
                <a:gd name="connsiteX26" fmla="*/ 664336 w 692417"/>
                <a:gd name="connsiteY26" fmla="*/ 628918 h 720001"/>
                <a:gd name="connsiteX27" fmla="*/ 28189 w 692417"/>
                <a:gd name="connsiteY27" fmla="*/ 628918 h 720001"/>
                <a:gd name="connsiteX28" fmla="*/ 3596 w 692417"/>
                <a:gd name="connsiteY28" fmla="*/ 614462 h 720001"/>
                <a:gd name="connsiteX29" fmla="*/ 4159 w 692417"/>
                <a:gd name="connsiteY29" fmla="*/ 585927 h 720001"/>
                <a:gd name="connsiteX30" fmla="*/ 63578 w 692417"/>
                <a:gd name="connsiteY30" fmla="*/ 489336 h 720001"/>
                <a:gd name="connsiteX31" fmla="*/ 63578 w 692417"/>
                <a:gd name="connsiteY31" fmla="*/ 282638 h 720001"/>
                <a:gd name="connsiteX32" fmla="*/ 85919 w 692417"/>
                <a:gd name="connsiteY32" fmla="*/ 172812 h 720001"/>
                <a:gd name="connsiteX33" fmla="*/ 146558 w 692417"/>
                <a:gd name="connsiteY33" fmla="*/ 82980 h 720001"/>
                <a:gd name="connsiteX34" fmla="*/ 236389 w 692417"/>
                <a:gd name="connsiteY34" fmla="*/ 22341 h 720001"/>
                <a:gd name="connsiteX35" fmla="*/ 346215 w 692417"/>
                <a:gd name="connsiteY35" fmla="*/ 0 h 720001"/>
              </a:gdLst>
              <a:ahLst/>
              <a:cxnLst/>
              <a:rect l="l" t="t" r="r" b="b"/>
              <a:pathLst>
                <a:path w="692417" h="720001">
                  <a:moveTo>
                    <a:pt x="198153" y="663680"/>
                  </a:moveTo>
                  <a:lnTo>
                    <a:pt x="239787" y="663680"/>
                  </a:lnTo>
                  <a:lnTo>
                    <a:pt x="295235" y="663680"/>
                  </a:lnTo>
                  <a:lnTo>
                    <a:pt x="397182" y="663680"/>
                  </a:lnTo>
                  <a:lnTo>
                    <a:pt x="452630" y="663680"/>
                  </a:lnTo>
                  <a:lnTo>
                    <a:pt x="494264" y="663680"/>
                  </a:lnTo>
                  <a:cubicBezTo>
                    <a:pt x="509847" y="663680"/>
                    <a:pt x="522425" y="676259"/>
                    <a:pt x="522425" y="691841"/>
                  </a:cubicBezTo>
                  <a:cubicBezTo>
                    <a:pt x="522425" y="707423"/>
                    <a:pt x="509753" y="720001"/>
                    <a:pt x="494264" y="720001"/>
                  </a:cubicBezTo>
                  <a:lnTo>
                    <a:pt x="452630" y="720001"/>
                  </a:lnTo>
                  <a:lnTo>
                    <a:pt x="397182" y="720001"/>
                  </a:lnTo>
                  <a:lnTo>
                    <a:pt x="295235" y="720001"/>
                  </a:lnTo>
                  <a:lnTo>
                    <a:pt x="239787" y="720001"/>
                  </a:lnTo>
                  <a:lnTo>
                    <a:pt x="198153" y="720001"/>
                  </a:lnTo>
                  <a:cubicBezTo>
                    <a:pt x="182571" y="720001"/>
                    <a:pt x="169992" y="707423"/>
                    <a:pt x="169992" y="691841"/>
                  </a:cubicBezTo>
                  <a:cubicBezTo>
                    <a:pt x="169992" y="676259"/>
                    <a:pt x="182571" y="663680"/>
                    <a:pt x="198153" y="663680"/>
                  </a:cubicBezTo>
                  <a:close/>
                  <a:moveTo>
                    <a:pt x="154400" y="572143"/>
                  </a:moveTo>
                  <a:lnTo>
                    <a:pt x="154241" y="572597"/>
                  </a:lnTo>
                  <a:lnTo>
                    <a:pt x="160423" y="572597"/>
                  </a:lnTo>
                  <a:close/>
                  <a:moveTo>
                    <a:pt x="346215" y="0"/>
                  </a:moveTo>
                  <a:cubicBezTo>
                    <a:pt x="384232" y="0"/>
                    <a:pt x="421122" y="7510"/>
                    <a:pt x="456041" y="22341"/>
                  </a:cubicBezTo>
                  <a:cubicBezTo>
                    <a:pt x="489646" y="36609"/>
                    <a:pt x="519872" y="57072"/>
                    <a:pt x="545873" y="82980"/>
                  </a:cubicBezTo>
                  <a:cubicBezTo>
                    <a:pt x="571875" y="108981"/>
                    <a:pt x="592245" y="139207"/>
                    <a:pt x="606513" y="172812"/>
                  </a:cubicBezTo>
                  <a:cubicBezTo>
                    <a:pt x="621344" y="207637"/>
                    <a:pt x="628853" y="244621"/>
                    <a:pt x="628853" y="282638"/>
                  </a:cubicBezTo>
                  <a:lnTo>
                    <a:pt x="628853" y="493091"/>
                  </a:lnTo>
                  <a:lnTo>
                    <a:pt x="687990" y="585551"/>
                  </a:lnTo>
                  <a:cubicBezTo>
                    <a:pt x="693528" y="594187"/>
                    <a:pt x="693904" y="605263"/>
                    <a:pt x="688929" y="614275"/>
                  </a:cubicBezTo>
                  <a:cubicBezTo>
                    <a:pt x="684048" y="623286"/>
                    <a:pt x="674567" y="628918"/>
                    <a:pt x="664336" y="628918"/>
                  </a:cubicBezTo>
                  <a:lnTo>
                    <a:pt x="28189" y="628918"/>
                  </a:lnTo>
                  <a:cubicBezTo>
                    <a:pt x="17958" y="628918"/>
                    <a:pt x="8571" y="623380"/>
                    <a:pt x="3596" y="614462"/>
                  </a:cubicBezTo>
                  <a:cubicBezTo>
                    <a:pt x="-1380" y="605545"/>
                    <a:pt x="-1192" y="594656"/>
                    <a:pt x="4159" y="585927"/>
                  </a:cubicBezTo>
                  <a:lnTo>
                    <a:pt x="63578" y="489336"/>
                  </a:lnTo>
                  <a:lnTo>
                    <a:pt x="63578" y="282638"/>
                  </a:lnTo>
                  <a:cubicBezTo>
                    <a:pt x="63578" y="244621"/>
                    <a:pt x="71087" y="207731"/>
                    <a:pt x="85919" y="172812"/>
                  </a:cubicBezTo>
                  <a:cubicBezTo>
                    <a:pt x="100186" y="139207"/>
                    <a:pt x="120650" y="108981"/>
                    <a:pt x="146558" y="82980"/>
                  </a:cubicBezTo>
                  <a:cubicBezTo>
                    <a:pt x="172465" y="56978"/>
                    <a:pt x="202785" y="36609"/>
                    <a:pt x="236389" y="22341"/>
                  </a:cubicBezTo>
                  <a:cubicBezTo>
                    <a:pt x="271214" y="7510"/>
                    <a:pt x="308199" y="0"/>
                    <a:pt x="346215" y="0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1001433" y="5983117"/>
              <a:ext cx="224335" cy="243008"/>
            </a:xfrm>
            <a:custGeom>
              <a:avLst/>
              <a:gdLst>
                <a:gd name="connsiteX0" fmla="*/ 332293 w 664672"/>
                <a:gd name="connsiteY0" fmla="*/ 387672 h 720001"/>
                <a:gd name="connsiteX1" fmla="*/ 660804 w 664672"/>
                <a:gd name="connsiteY1" fmla="*/ 598902 h 720001"/>
                <a:gd name="connsiteX2" fmla="*/ 563560 w 664672"/>
                <a:gd name="connsiteY2" fmla="*/ 720001 h 720001"/>
                <a:gd name="connsiteX3" fmla="*/ 101112 w 664672"/>
                <a:gd name="connsiteY3" fmla="*/ 720001 h 720001"/>
                <a:gd name="connsiteX4" fmla="*/ 3868 w 664672"/>
                <a:gd name="connsiteY4" fmla="*/ 598902 h 720001"/>
                <a:gd name="connsiteX5" fmla="*/ 332293 w 664672"/>
                <a:gd name="connsiteY5" fmla="*/ 387672 h 720001"/>
                <a:gd name="connsiteX6" fmla="*/ 332293 w 664672"/>
                <a:gd name="connsiteY6" fmla="*/ 0 h 720001"/>
                <a:gd name="connsiteX7" fmla="*/ 509517 w 664672"/>
                <a:gd name="connsiteY7" fmla="*/ 177224 h 720001"/>
                <a:gd name="connsiteX8" fmla="*/ 332293 w 664672"/>
                <a:gd name="connsiteY8" fmla="*/ 354448 h 720001"/>
                <a:gd name="connsiteX9" fmla="*/ 155069 w 664672"/>
                <a:gd name="connsiteY9" fmla="*/ 177224 h 720001"/>
                <a:gd name="connsiteX10" fmla="*/ 332293 w 664672"/>
                <a:gd name="connsiteY10" fmla="*/ 0 h 720001"/>
              </a:gdLst>
              <a:ahLst/>
              <a:cxnLst/>
              <a:rect l="l" t="t" r="r" b="b"/>
              <a:pathLst>
                <a:path w="664672" h="720001">
                  <a:moveTo>
                    <a:pt x="332293" y="387672"/>
                  </a:moveTo>
                  <a:cubicBezTo>
                    <a:pt x="550549" y="387672"/>
                    <a:pt x="628448" y="491162"/>
                    <a:pt x="660804" y="598902"/>
                  </a:cubicBezTo>
                  <a:cubicBezTo>
                    <a:pt x="679021" y="659624"/>
                    <a:pt x="630616" y="720001"/>
                    <a:pt x="563560" y="720001"/>
                  </a:cubicBezTo>
                  <a:lnTo>
                    <a:pt x="101112" y="720001"/>
                  </a:lnTo>
                  <a:cubicBezTo>
                    <a:pt x="34057" y="720001"/>
                    <a:pt x="-14348" y="659624"/>
                    <a:pt x="3868" y="598902"/>
                  </a:cubicBezTo>
                  <a:cubicBezTo>
                    <a:pt x="36138" y="491162"/>
                    <a:pt x="114037" y="387672"/>
                    <a:pt x="332293" y="387672"/>
                  </a:cubicBezTo>
                  <a:close/>
                  <a:moveTo>
                    <a:pt x="332293" y="0"/>
                  </a:moveTo>
                  <a:cubicBezTo>
                    <a:pt x="430230" y="0"/>
                    <a:pt x="509604" y="79287"/>
                    <a:pt x="509517" y="177224"/>
                  </a:cubicBezTo>
                  <a:cubicBezTo>
                    <a:pt x="509517" y="275074"/>
                    <a:pt x="430144" y="354448"/>
                    <a:pt x="332293" y="354448"/>
                  </a:cubicBezTo>
                  <a:cubicBezTo>
                    <a:pt x="234442" y="354448"/>
                    <a:pt x="155069" y="275074"/>
                    <a:pt x="155069" y="177224"/>
                  </a:cubicBezTo>
                  <a:cubicBezTo>
                    <a:pt x="155069" y="79287"/>
                    <a:pt x="234442" y="0"/>
                    <a:pt x="332293" y="0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28955" y="-655955"/>
            <a:ext cx="2901950" cy="22752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37800" y="176530"/>
            <a:ext cx="1707515" cy="3092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60961" y="60961"/>
            <a:ext cx="6858002" cy="673608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6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>
            <p:custDataLst>
              <p:tags r:id="rId1"/>
            </p:custDataLst>
          </p:nvPr>
        </p:nvSpPr>
        <p:spPr>
          <a:xfrm>
            <a:off x="8328428" y="2620780"/>
            <a:ext cx="3240000" cy="9108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chemeClr val="accent1"/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关键词库</a:t>
            </a:r>
            <a:r>
              <a:rPr kumimoji="1" lang="zh-CN" altLang="en-US" sz="2400">
                <a:ln w="12700">
                  <a:noFill/>
                </a:ln>
                <a:solidFill>
                  <a:schemeClr val="accent1"/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的结构</a:t>
            </a:r>
            <a:endParaRPr kumimoji="1" lang="en-US" altLang="zh-CN" sz="2400">
              <a:ln w="12700">
                <a:noFill/>
              </a:ln>
              <a:solidFill>
                <a:schemeClr val="accent1"/>
              </a:solidFill>
              <a:latin typeface="OPPOSans H" panose="00020600040101010101" charset="-122"/>
              <a:ea typeface="OPPOSans H" panose="00020600040101010101" charset="-122"/>
              <a:cs typeface="OPPOSans H" panose="00020600040101010101" charset="-122"/>
            </a:endParaRPr>
          </a:p>
        </p:txBody>
      </p:sp>
      <p:sp>
        <p:nvSpPr>
          <p:cNvPr id="4" name="标题 1"/>
          <p:cNvSpPr txBox="1"/>
          <p:nvPr>
            <p:custDataLst>
              <p:tags r:id="rId2"/>
            </p:custDataLst>
          </p:nvPr>
        </p:nvSpPr>
        <p:spPr>
          <a:xfrm>
            <a:off x="8328428" y="1989084"/>
            <a:ext cx="3240000" cy="5883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40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03.</a:t>
            </a:r>
            <a:endParaRPr kumimoji="1" lang="zh-CN" altLang="en-US"/>
          </a:p>
        </p:txBody>
      </p:sp>
      <p:sp>
        <p:nvSpPr>
          <p:cNvPr id="5" name="标题 1"/>
          <p:cNvSpPr txBox="1"/>
          <p:nvPr>
            <p:custDataLst>
              <p:tags r:id="rId3"/>
            </p:custDataLst>
          </p:nvPr>
        </p:nvSpPr>
        <p:spPr>
          <a:xfrm>
            <a:off x="8328428" y="3574940"/>
            <a:ext cx="3240000" cy="72000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  <a:effectLst>
            <a:outerShdw blurRad="254000" dist="127000" dir="5400000" algn="ctr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>
            <p:custDataLst>
              <p:tags r:id="rId4"/>
            </p:custDataLst>
          </p:nvPr>
        </p:nvSpPr>
        <p:spPr>
          <a:xfrm>
            <a:off x="709929" y="2620780"/>
            <a:ext cx="3240000" cy="9108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chemeClr val="accent1"/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关键词库搭建</a:t>
            </a:r>
            <a:r>
              <a:rPr kumimoji="1" lang="zh-CN" altLang="en-US" sz="2400">
                <a:ln w="12700">
                  <a:noFill/>
                </a:ln>
                <a:solidFill>
                  <a:schemeClr val="accent1"/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目的</a:t>
            </a:r>
            <a:endParaRPr kumimoji="1" lang="zh-CN" altLang="en-US" sz="2400">
              <a:ln w="12700">
                <a:noFill/>
              </a:ln>
              <a:solidFill>
                <a:schemeClr val="accent1"/>
              </a:solidFill>
              <a:latin typeface="OPPOSans H" panose="00020600040101010101" charset="-122"/>
              <a:ea typeface="OPPOSans H" panose="00020600040101010101" charset="-122"/>
              <a:cs typeface="OPPOSans H" panose="00020600040101010101" charset="-122"/>
            </a:endParaRPr>
          </a:p>
        </p:txBody>
      </p:sp>
      <p:sp>
        <p:nvSpPr>
          <p:cNvPr id="7" name="标题 1"/>
          <p:cNvSpPr txBox="1"/>
          <p:nvPr>
            <p:custDataLst>
              <p:tags r:id="rId5"/>
            </p:custDataLst>
          </p:nvPr>
        </p:nvSpPr>
        <p:spPr>
          <a:xfrm>
            <a:off x="709929" y="1989084"/>
            <a:ext cx="3240000" cy="5883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40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01.</a:t>
            </a:r>
            <a:endParaRPr kumimoji="1" lang="zh-CN" altLang="en-US"/>
          </a:p>
        </p:txBody>
      </p:sp>
      <p:sp>
        <p:nvSpPr>
          <p:cNvPr id="8" name="标题 1"/>
          <p:cNvSpPr txBox="1"/>
          <p:nvPr>
            <p:custDataLst>
              <p:tags r:id="rId6"/>
            </p:custDataLst>
          </p:nvPr>
        </p:nvSpPr>
        <p:spPr>
          <a:xfrm>
            <a:off x="709929" y="3574940"/>
            <a:ext cx="3240000" cy="72000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  <a:effectLst>
            <a:outerShdw blurRad="254000" dist="127000" dir="5400000" algn="ctr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>
            <p:custDataLst>
              <p:tags r:id="rId7"/>
            </p:custDataLst>
          </p:nvPr>
        </p:nvSpPr>
        <p:spPr>
          <a:xfrm>
            <a:off x="4519180" y="2620780"/>
            <a:ext cx="3240000" cy="9108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chemeClr val="accent1"/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关键词</a:t>
            </a:r>
            <a:r>
              <a:rPr kumimoji="1" lang="zh-CN" altLang="en-US" sz="2400">
                <a:ln w="12700">
                  <a:noFill/>
                </a:ln>
                <a:solidFill>
                  <a:schemeClr val="accent1"/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搭建的指导原则</a:t>
            </a:r>
            <a:endParaRPr kumimoji="1" lang="zh-CN" altLang="en-US" sz="2400">
              <a:ln w="12700">
                <a:noFill/>
              </a:ln>
              <a:solidFill>
                <a:schemeClr val="accent1"/>
              </a:solidFill>
              <a:latin typeface="OPPOSans H" panose="00020600040101010101" charset="-122"/>
              <a:ea typeface="OPPOSans H" panose="00020600040101010101" charset="-122"/>
              <a:cs typeface="OPPOSans H" panose="00020600040101010101" charset="-122"/>
            </a:endParaRPr>
          </a:p>
        </p:txBody>
      </p:sp>
      <p:sp>
        <p:nvSpPr>
          <p:cNvPr id="10" name="标题 1"/>
          <p:cNvSpPr txBox="1"/>
          <p:nvPr>
            <p:custDataLst>
              <p:tags r:id="rId8"/>
            </p:custDataLst>
          </p:nvPr>
        </p:nvSpPr>
        <p:spPr>
          <a:xfrm>
            <a:off x="4519180" y="1989084"/>
            <a:ext cx="3240000" cy="5883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40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02.</a:t>
            </a:r>
            <a:endParaRPr kumimoji="1" lang="zh-CN" altLang="en-US"/>
          </a:p>
        </p:txBody>
      </p:sp>
      <p:sp>
        <p:nvSpPr>
          <p:cNvPr id="11" name="标题 1"/>
          <p:cNvSpPr txBox="1"/>
          <p:nvPr>
            <p:custDataLst>
              <p:tags r:id="rId9"/>
            </p:custDataLst>
          </p:nvPr>
        </p:nvSpPr>
        <p:spPr>
          <a:xfrm>
            <a:off x="4519180" y="3574940"/>
            <a:ext cx="3240000" cy="72000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  <a:effectLst>
            <a:outerShdw blurRad="254000" dist="127000" dir="5400000" algn="ctr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60400" y="806958"/>
            <a:ext cx="6433059" cy="83099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800">
                <a:ln w="12700">
                  <a:noFill/>
                </a:ln>
                <a:solidFill>
                  <a:schemeClr val="accent1"/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目录</a:t>
            </a:r>
            <a:r>
              <a:rPr kumimoji="1" lang="en-US" altLang="zh-CN" sz="5400">
                <a:ln w="12700">
                  <a:noFill/>
                </a:ln>
                <a:solidFill>
                  <a:schemeClr val="accent1"/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 </a:t>
            </a:r>
            <a:r>
              <a:rPr kumimoji="1" lang="en-US" altLang="zh-CN" sz="5400">
                <a:ln w="12700">
                  <a:noFill/>
                </a:ln>
                <a:solidFill>
                  <a:schemeClr val="accent1"/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- </a:t>
            </a:r>
            <a:r>
              <a:rPr kumimoji="1" lang="en-US" altLang="zh-CN" sz="4400">
                <a:ln w="12700">
                  <a:noFill/>
                </a:ln>
                <a:solidFill>
                  <a:schemeClr val="accent1"/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CONTENTS</a:t>
            </a:r>
            <a:endParaRPr kumimoji="1" lang="zh-CN" altLang="en-US"/>
          </a:p>
        </p:txBody>
      </p:sp>
      <p:sp>
        <p:nvSpPr>
          <p:cNvPr id="13" name="标题 1"/>
          <p:cNvSpPr txBox="1"/>
          <p:nvPr>
            <p:custDataLst>
              <p:tags r:id="rId10"/>
            </p:custDataLst>
          </p:nvPr>
        </p:nvSpPr>
        <p:spPr>
          <a:xfrm>
            <a:off x="836929" y="5013460"/>
            <a:ext cx="3240000" cy="9108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chemeClr val="accent1"/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关键词库搭建</a:t>
            </a:r>
            <a:r>
              <a:rPr kumimoji="1" lang="zh-CN" altLang="en-US" sz="2400">
                <a:ln w="12700">
                  <a:noFill/>
                </a:ln>
                <a:solidFill>
                  <a:schemeClr val="accent1"/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实操</a:t>
            </a:r>
            <a:r>
              <a:rPr kumimoji="1" lang="zh-CN" altLang="en-US" sz="2400">
                <a:ln w="12700">
                  <a:noFill/>
                </a:ln>
                <a:solidFill>
                  <a:schemeClr val="accent1"/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演示</a:t>
            </a:r>
            <a:endParaRPr kumimoji="1" lang="zh-CN" altLang="en-US" sz="2400">
              <a:ln w="12700">
                <a:noFill/>
              </a:ln>
              <a:solidFill>
                <a:schemeClr val="accent1"/>
              </a:solidFill>
              <a:latin typeface="OPPOSans H" panose="00020600040101010101" charset="-122"/>
              <a:ea typeface="OPPOSans H" panose="00020600040101010101" charset="-122"/>
              <a:cs typeface="OPPOSans H" panose="00020600040101010101" charset="-122"/>
            </a:endParaRPr>
          </a:p>
        </p:txBody>
      </p:sp>
      <p:sp>
        <p:nvSpPr>
          <p:cNvPr id="14" name="标题 1"/>
          <p:cNvSpPr txBox="1"/>
          <p:nvPr>
            <p:custDataLst>
              <p:tags r:id="rId11"/>
            </p:custDataLst>
          </p:nvPr>
        </p:nvSpPr>
        <p:spPr>
          <a:xfrm>
            <a:off x="836929" y="4381764"/>
            <a:ext cx="3240000" cy="5883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p>
            <a:pPr algn="l"/>
            <a:r>
              <a:rPr kumimoji="1" lang="en-US" altLang="zh-CN" sz="40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04.</a:t>
            </a: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12"/>
            </p:custDataLst>
          </p:nvPr>
        </p:nvSpPr>
        <p:spPr>
          <a:xfrm>
            <a:off x="836929" y="5967620"/>
            <a:ext cx="3240000" cy="72000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  <a:effectLst>
            <a:outerShdw blurRad="254000" dist="127000" dir="5400000" algn="ctr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13"/>
            </p:custDataLst>
          </p:nvPr>
        </p:nvSpPr>
        <p:spPr>
          <a:xfrm>
            <a:off x="4646180" y="5013460"/>
            <a:ext cx="3240000" cy="9108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chemeClr val="accent1"/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关键词</a:t>
            </a:r>
            <a:r>
              <a:rPr kumimoji="1" lang="zh-CN" altLang="en-US" sz="2400">
                <a:ln w="12700">
                  <a:noFill/>
                </a:ln>
                <a:solidFill>
                  <a:schemeClr val="accent1"/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库的管理与维护</a:t>
            </a:r>
            <a:endParaRPr kumimoji="1" lang="zh-CN" altLang="en-US" sz="2400">
              <a:ln w="12700">
                <a:noFill/>
              </a:ln>
              <a:solidFill>
                <a:schemeClr val="accent1"/>
              </a:solidFill>
              <a:latin typeface="OPPOSans H" panose="00020600040101010101" charset="-122"/>
              <a:ea typeface="OPPOSans H" panose="00020600040101010101" charset="-122"/>
              <a:cs typeface="OPPOSans H" panose="00020600040101010101" charset="-122"/>
            </a:endParaRPr>
          </a:p>
        </p:txBody>
      </p:sp>
      <p:sp>
        <p:nvSpPr>
          <p:cNvPr id="17" name="标题 1"/>
          <p:cNvSpPr txBox="1"/>
          <p:nvPr>
            <p:custDataLst>
              <p:tags r:id="rId14"/>
            </p:custDataLst>
          </p:nvPr>
        </p:nvSpPr>
        <p:spPr>
          <a:xfrm>
            <a:off x="4646180" y="4381764"/>
            <a:ext cx="3240000" cy="5883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p>
            <a:pPr algn="l"/>
            <a:r>
              <a:rPr kumimoji="1" lang="en-US" altLang="zh-CN" sz="40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05.</a:t>
            </a:r>
            <a:endParaRPr kumimoji="1" lang="zh-CN" altLang="en-US"/>
          </a:p>
        </p:txBody>
      </p:sp>
      <p:sp>
        <p:nvSpPr>
          <p:cNvPr id="18" name="标题 1"/>
          <p:cNvSpPr txBox="1"/>
          <p:nvPr>
            <p:custDataLst>
              <p:tags r:id="rId15"/>
            </p:custDataLst>
          </p:nvPr>
        </p:nvSpPr>
        <p:spPr>
          <a:xfrm>
            <a:off x="4646180" y="5967620"/>
            <a:ext cx="3240000" cy="72000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  <a:effectLst>
            <a:outerShdw blurRad="254000" dist="127000" dir="5400000" algn="ctr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60961" y="60961"/>
            <a:ext cx="6858002" cy="673608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6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9714914" y="4380914"/>
            <a:ext cx="4954172" cy="4954172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rgbClr val="5BD1D7">
                  <a:alpha val="62000"/>
                </a:srgbClr>
              </a:gs>
              <a:gs pos="39000">
                <a:srgbClr val="5BD1D7">
                  <a:alpha val="28000"/>
                </a:srgb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380958" y="842498"/>
            <a:ext cx="137942" cy="13794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09628" y="842498"/>
            <a:ext cx="137942" cy="1379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838298" y="842498"/>
            <a:ext cx="137942" cy="1379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524854" y="3146971"/>
            <a:ext cx="610040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关键词库搭建</a:t>
            </a:r>
            <a:r>
              <a:rPr kumimoji="1" lang="zh-CN" altLang="en-US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目的</a:t>
            </a:r>
            <a:endParaRPr kumimoji="1" lang="zh-CN" altLang="en-US" sz="4705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3008571" y="3065949"/>
            <a:ext cx="168245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075">
                <a:ln w="12700">
                  <a:noFill/>
                </a:ln>
                <a:solidFill>
                  <a:schemeClr val="accent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01</a:t>
            </a:r>
            <a:endParaRPr kumimoji="1"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-1327535" y="1157978"/>
            <a:ext cx="5257931" cy="5103228"/>
            <a:chOff x="-1327535" y="1157978"/>
            <a:chExt cx="5257931" cy="5103228"/>
          </a:xfrm>
        </p:grpSpPr>
        <p:sp>
          <p:nvSpPr>
            <p:cNvPr id="11" name="标题 1"/>
            <p:cNvSpPr txBox="1"/>
            <p:nvPr/>
          </p:nvSpPr>
          <p:spPr>
            <a:xfrm rot="12891944">
              <a:off x="1480553" y="1204082"/>
              <a:ext cx="1426351" cy="4028691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0"/>
                  </a:schemeClr>
                </a:gs>
                <a:gs pos="72000">
                  <a:schemeClr val="accent1"/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rot="12891944" flipH="1" flipV="1">
              <a:off x="-339767" y="2072646"/>
              <a:ext cx="1824377" cy="4028690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75000"/>
                  </a:schemeClr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7670" y="980440"/>
            <a:ext cx="11358245" cy="4902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2400"/>
              <a:t>第一个问题：在产品上架之前有专门花时间搭建词库的老铁，举个手看看。</a:t>
            </a:r>
            <a:endParaRPr lang="zh-CN" altLang="en-US" sz="2400"/>
          </a:p>
          <a:p>
            <a:pPr algn="l"/>
            <a:endParaRPr lang="zh-CN" altLang="en-US" sz="2400"/>
          </a:p>
          <a:p>
            <a:pPr algn="l"/>
            <a:endParaRPr lang="zh-CN" altLang="en-US" sz="2400"/>
          </a:p>
          <a:p>
            <a:pPr algn="l"/>
            <a:r>
              <a:rPr lang="zh-CN" altLang="en-US" sz="2400">
                <a:sym typeface="+mn-ea"/>
              </a:rPr>
              <a:t>（互动）</a:t>
            </a:r>
            <a:endParaRPr lang="zh-CN" altLang="en-US" sz="2400">
              <a:sym typeface="+mn-ea"/>
            </a:endParaRPr>
          </a:p>
          <a:p>
            <a:pPr algn="l"/>
            <a:endParaRPr lang="zh-CN" altLang="en-US" sz="2400">
              <a:sym typeface="+mn-ea"/>
            </a:endParaRPr>
          </a:p>
          <a:p>
            <a:pPr algn="l"/>
            <a:endParaRPr lang="zh-CN" altLang="en-US" sz="2400">
              <a:sym typeface="+mn-ea"/>
            </a:endParaRPr>
          </a:p>
          <a:p>
            <a:pPr algn="l"/>
            <a:r>
              <a:rPr lang="zh-CN" altLang="en-US" sz="2400">
                <a:sym typeface="+mn-ea"/>
              </a:rPr>
              <a:t>第二个问题：</a:t>
            </a:r>
            <a:r>
              <a:rPr lang="zh-CN" altLang="en-US" sz="2400">
                <a:sym typeface="+mn-ea"/>
              </a:rPr>
              <a:t>你为什么要做词库？</a:t>
            </a:r>
            <a:endParaRPr lang="zh-CN" altLang="en-US" sz="2400">
              <a:sym typeface="+mn-ea"/>
            </a:endParaRPr>
          </a:p>
          <a:p>
            <a:pPr algn="l"/>
            <a:endParaRPr lang="zh-CN" altLang="en-US" sz="2400"/>
          </a:p>
          <a:p>
            <a:pPr algn="l"/>
            <a:endParaRPr lang="zh-CN" altLang="en-US" sz="2400"/>
          </a:p>
          <a:p>
            <a:pPr algn="l"/>
            <a:r>
              <a:rPr lang="zh-CN" altLang="en-US" sz="2400">
                <a:sym typeface="+mn-ea"/>
              </a:rPr>
              <a:t>（互动）</a:t>
            </a:r>
            <a:endParaRPr lang="zh-CN" altLang="en-US" sz="2400">
              <a:sym typeface="+mn-ea"/>
            </a:endParaRPr>
          </a:p>
          <a:p>
            <a:pPr algn="l"/>
            <a:endParaRPr lang="zh-CN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搭建目的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94945" y="836295"/>
            <a:ext cx="11802110" cy="4669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400" b="1"/>
              <a:t>关键词库搭建的主要目的是</a:t>
            </a:r>
            <a:r>
              <a:rPr lang="zh-CN" altLang="en-US" sz="2400" b="1">
                <a:solidFill>
                  <a:srgbClr val="FF0000"/>
                </a:solidFill>
              </a:rPr>
              <a:t>为了提高产品在亚马逊平台上的搜索可见性和转化率，从而增加销量和市场份额</a:t>
            </a:r>
            <a:r>
              <a:rPr lang="zh-CN" altLang="en-US" sz="2400" b="1"/>
              <a:t>。通过建立一个精准且有效的关键词库，卖家可以更好地理解和覆盖消费者的需求，优化产品列表（Listing），并提高广告投放的效果。</a:t>
            </a:r>
            <a:endParaRPr lang="zh-CN" altLang="en-US" sz="2400" b="1"/>
          </a:p>
          <a:p>
            <a:pPr>
              <a:lnSpc>
                <a:spcPct val="150000"/>
              </a:lnSpc>
            </a:pPr>
            <a:endParaRPr lang="zh-CN" altLang="en-US" sz="2800" b="1"/>
          </a:p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tx1"/>
                </a:solidFill>
                <a:sym typeface="+mn-ea"/>
              </a:rPr>
              <a:t>关键词是消费者具体需求的一种主动表达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240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关键词集也就是消费者需求的集合。</a:t>
            </a:r>
            <a:endParaRPr lang="zh-CN" altLang="en-US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50000"/>
              </a:lnSpc>
            </a:pPr>
            <a:endParaRPr lang="zh-CN" altLang="en-US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60961" y="60961"/>
            <a:ext cx="6858002" cy="673608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6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131763" y="2240857"/>
            <a:ext cx="3808375" cy="3154281"/>
            <a:chOff x="1131763" y="2240857"/>
            <a:chExt cx="3808375" cy="3154281"/>
          </a:xfrm>
        </p:grpSpPr>
        <p:sp>
          <p:nvSpPr>
            <p:cNvPr id="4" name="标题 1"/>
            <p:cNvSpPr txBox="1"/>
            <p:nvPr/>
          </p:nvSpPr>
          <p:spPr>
            <a:xfrm flipV="1">
              <a:off x="1154913" y="5189882"/>
              <a:ext cx="3785225" cy="205256"/>
            </a:xfrm>
            <a:prstGeom prst="ellipse">
              <a:avLst/>
            </a:prstGeom>
            <a:gradFill>
              <a:gsLst>
                <a:gs pos="0">
                  <a:schemeClr val="tx1"/>
                </a:gs>
                <a:gs pos="100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sq">
              <a:noFill/>
              <a:miter/>
            </a:ln>
            <a:effectLst/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>
              <a:alphaModFix amt="100000"/>
            </a:blip>
            <a:srcRect/>
            <a:stretch>
              <a:fillRect/>
            </a:stretch>
          </p:blipFill>
          <p:spPr>
            <a:xfrm>
              <a:off x="1131763" y="2240857"/>
              <a:ext cx="3801475" cy="30639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1260372" y="2364516"/>
            <a:ext cx="3558589" cy="2039018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7024150" y="2222376"/>
            <a:ext cx="4023387" cy="11930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精准关键词能够提高产品曝光度
相关搜索词能够吸引潜在顾客
高转化率的关键词能够提升销售业绩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024150" y="1563173"/>
            <a:ext cx="3134917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chemeClr val="accent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关键词与产品销售的关系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0325538" y="1584696"/>
            <a:ext cx="721999" cy="2154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/>
            <a:r>
              <a:rPr kumimoji="1" lang="en-US" altLang="zh-CN" sz="1800">
                <a:ln w="12700">
                  <a:noFill/>
                </a:ln>
                <a:solidFill>
                  <a:schemeClr val="accent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80%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995991" y="1921718"/>
            <a:ext cx="4051546" cy="7442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998861" y="1921718"/>
            <a:ext cx="3160206" cy="74428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127000" dist="635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2875424" y="3632051"/>
            <a:ext cx="3120880" cy="1796061"/>
            <a:chOff x="2875424" y="3632051"/>
            <a:chExt cx="3120880" cy="1796061"/>
          </a:xfrm>
        </p:grpSpPr>
        <p:sp>
          <p:nvSpPr>
            <p:cNvPr id="13" name="标题 1"/>
            <p:cNvSpPr txBox="1"/>
            <p:nvPr/>
          </p:nvSpPr>
          <p:spPr>
            <a:xfrm>
              <a:off x="3275017" y="3748527"/>
              <a:ext cx="2345131" cy="1483687"/>
            </a:xfrm>
            <a:prstGeom prst="rect">
              <a:avLst/>
            </a:prstGeom>
            <a:solidFill>
              <a:srgbClr val="EDF1F4">
                <a:alpha val="100000"/>
              </a:srgbClr>
            </a:solidFill>
            <a:ln cap="sq">
              <a:noFill/>
            </a:ln>
          </p:spPr>
          <p:txBody>
            <a:bodyPr vert="horz" wrap="square" lIns="91440" tIns="45720" rIns="91440" bIns="45720" rtlCol="0" anchor="t"/>
            <a:lstStyle/>
            <a:p>
              <a:pPr algn="l"/>
              <a:endParaRPr kumimoji="1" lang="zh-CN" altLang="en-US"/>
            </a:p>
          </p:txBody>
        </p:sp>
        <p:sp>
          <p:nvSpPr>
            <p:cNvPr id="14" name="标题 1"/>
            <p:cNvSpPr txBox="1"/>
            <p:nvPr/>
          </p:nvSpPr>
          <p:spPr>
            <a:xfrm>
              <a:off x="2875424" y="5358758"/>
              <a:ext cx="1571999" cy="69354"/>
            </a:xfrm>
            <a:custGeom>
              <a:avLst/>
              <a:gdLst>
                <a:gd name="T0" fmla="*/ 0 w 885"/>
                <a:gd name="T1" fmla="*/ 16 h 39"/>
                <a:gd name="T2" fmla="*/ 78 w 885"/>
                <a:gd name="T3" fmla="*/ 39 h 39"/>
                <a:gd name="T4" fmla="*/ 885 w 885"/>
                <a:gd name="T5" fmla="*/ 39 h 39"/>
                <a:gd name="T6" fmla="*/ 885 w 885"/>
                <a:gd name="T7" fmla="*/ 0 h 39"/>
                <a:gd name="T8" fmla="*/ 0 w 885"/>
                <a:gd name="T9" fmla="*/ 0 h 39"/>
                <a:gd name="T10" fmla="*/ 0 w 885"/>
                <a:gd name="T11" fmla="*/ 16 h 39"/>
              </a:gdLst>
              <a:ahLst/>
              <a:cxnLst/>
              <a:rect l="0" t="0" r="r" b="b"/>
              <a:pathLst>
                <a:path w="885" h="39">
                  <a:moveTo>
                    <a:pt x="0" y="16"/>
                  </a:moveTo>
                  <a:cubicBezTo>
                    <a:pt x="0" y="23"/>
                    <a:pt x="30" y="39"/>
                    <a:pt x="78" y="39"/>
                  </a:cubicBezTo>
                  <a:cubicBezTo>
                    <a:pt x="126" y="39"/>
                    <a:pt x="885" y="39"/>
                    <a:pt x="885" y="39"/>
                  </a:cubicBezTo>
                  <a:cubicBezTo>
                    <a:pt x="885" y="0"/>
                    <a:pt x="885" y="0"/>
                    <a:pt x="88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B3B4B5">
                <a:alpha val="100000"/>
              </a:srgbClr>
            </a:solidFill>
            <a:ln cap="sq">
              <a:noFill/>
            </a:ln>
          </p:spPr>
          <p:txBody>
            <a:bodyPr vert="horz" wrap="square" lIns="91440" tIns="45720" rIns="91440" bIns="45720" rtlCol="0" anchor="t"/>
            <a:lstStyle/>
            <a:p>
              <a:pPr algn="l"/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>
              <a:off x="4424305" y="5358758"/>
              <a:ext cx="1571999" cy="69354"/>
            </a:xfrm>
            <a:custGeom>
              <a:avLst/>
              <a:gdLst>
                <a:gd name="T0" fmla="*/ 884 w 884"/>
                <a:gd name="T1" fmla="*/ 16 h 39"/>
                <a:gd name="T2" fmla="*/ 806 w 884"/>
                <a:gd name="T3" fmla="*/ 39 h 39"/>
                <a:gd name="T4" fmla="*/ 0 w 884"/>
                <a:gd name="T5" fmla="*/ 39 h 39"/>
                <a:gd name="T6" fmla="*/ 0 w 884"/>
                <a:gd name="T7" fmla="*/ 0 h 39"/>
                <a:gd name="T8" fmla="*/ 884 w 884"/>
                <a:gd name="T9" fmla="*/ 0 h 39"/>
                <a:gd name="T10" fmla="*/ 884 w 884"/>
                <a:gd name="T11" fmla="*/ 16 h 39"/>
              </a:gdLst>
              <a:ahLst/>
              <a:cxnLst/>
              <a:rect l="0" t="0" r="r" b="b"/>
              <a:pathLst>
                <a:path w="884" h="39">
                  <a:moveTo>
                    <a:pt x="884" y="16"/>
                  </a:moveTo>
                  <a:cubicBezTo>
                    <a:pt x="884" y="23"/>
                    <a:pt x="854" y="39"/>
                    <a:pt x="806" y="39"/>
                  </a:cubicBezTo>
                  <a:cubicBezTo>
                    <a:pt x="758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84" y="0"/>
                    <a:pt x="884" y="0"/>
                    <a:pt x="884" y="0"/>
                  </a:cubicBezTo>
                  <a:lnTo>
                    <a:pt x="884" y="16"/>
                  </a:lnTo>
                  <a:close/>
                </a:path>
              </a:pathLst>
            </a:custGeom>
            <a:solidFill>
              <a:srgbClr val="B3B4B5">
                <a:alpha val="100000"/>
              </a:srgbClr>
            </a:solidFill>
            <a:ln cap="sq">
              <a:noFill/>
            </a:ln>
          </p:spPr>
          <p:txBody>
            <a:bodyPr vert="horz" wrap="square" lIns="91440" tIns="45720" rIns="91440" bIns="45720" rtlCol="0" anchor="t"/>
            <a:lstStyle/>
            <a:p>
              <a:pPr algn="l"/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3183066" y="3632051"/>
              <a:ext cx="2528713" cy="1732043"/>
            </a:xfrm>
            <a:custGeom>
              <a:avLst/>
              <a:gdLst>
                <a:gd name="connsiteX0" fmla="*/ 207445 w 5672813"/>
                <a:gd name="connsiteY0" fmla="*/ 263295 h 3885597"/>
                <a:gd name="connsiteX1" fmla="*/ 207445 w 5672813"/>
                <a:gd name="connsiteY1" fmla="*/ 3586400 h 3885597"/>
                <a:gd name="connsiteX2" fmla="*/ 5469359 w 5672813"/>
                <a:gd name="connsiteY2" fmla="*/ 3586400 h 3885597"/>
                <a:gd name="connsiteX3" fmla="*/ 5469359 w 5672813"/>
                <a:gd name="connsiteY3" fmla="*/ 263295 h 3885597"/>
                <a:gd name="connsiteX4" fmla="*/ 179393 w 5672813"/>
                <a:gd name="connsiteY4" fmla="*/ 0 h 3885597"/>
                <a:gd name="connsiteX5" fmla="*/ 5493420 w 5672813"/>
                <a:gd name="connsiteY5" fmla="*/ 0 h 3885597"/>
                <a:gd name="connsiteX6" fmla="*/ 5672813 w 5672813"/>
                <a:gd name="connsiteY6" fmla="*/ 179520 h 3885597"/>
                <a:gd name="connsiteX7" fmla="*/ 5672813 w 5672813"/>
                <a:gd name="connsiteY7" fmla="*/ 3706078 h 3885597"/>
                <a:gd name="connsiteX8" fmla="*/ 5493420 w 5672813"/>
                <a:gd name="connsiteY8" fmla="*/ 3885597 h 3885597"/>
                <a:gd name="connsiteX9" fmla="*/ 179393 w 5672813"/>
                <a:gd name="connsiteY9" fmla="*/ 3885597 h 3885597"/>
                <a:gd name="connsiteX10" fmla="*/ 0 w 5672813"/>
                <a:gd name="connsiteY10" fmla="*/ 3706078 h 3885597"/>
                <a:gd name="connsiteX11" fmla="*/ 0 w 5672813"/>
                <a:gd name="connsiteY11" fmla="*/ 869672 h 3885597"/>
                <a:gd name="connsiteX12" fmla="*/ 0 w 5672813"/>
                <a:gd name="connsiteY12" fmla="*/ 179520 h 3885597"/>
                <a:gd name="connsiteX13" fmla="*/ 179393 w 5672813"/>
                <a:gd name="connsiteY13" fmla="*/ 0 h 3885597"/>
              </a:gdLst>
              <a:ahLst/>
              <a:cxnLst/>
              <a:rect l="l" t="t" r="r" b="b"/>
              <a:pathLst>
                <a:path w="5672813" h="3885597">
                  <a:moveTo>
                    <a:pt x="207445" y="263295"/>
                  </a:moveTo>
                  <a:lnTo>
                    <a:pt x="207445" y="3586400"/>
                  </a:lnTo>
                  <a:lnTo>
                    <a:pt x="5469359" y="3586400"/>
                  </a:lnTo>
                  <a:lnTo>
                    <a:pt x="5469359" y="263295"/>
                  </a:lnTo>
                  <a:close/>
                  <a:moveTo>
                    <a:pt x="179393" y="0"/>
                  </a:moveTo>
                  <a:cubicBezTo>
                    <a:pt x="179393" y="0"/>
                    <a:pt x="179393" y="0"/>
                    <a:pt x="5493420" y="0"/>
                  </a:cubicBezTo>
                  <a:cubicBezTo>
                    <a:pt x="5593082" y="0"/>
                    <a:pt x="5672813" y="79787"/>
                    <a:pt x="5672813" y="179520"/>
                  </a:cubicBezTo>
                  <a:cubicBezTo>
                    <a:pt x="5672813" y="179520"/>
                    <a:pt x="5672813" y="179520"/>
                    <a:pt x="5672813" y="3706078"/>
                  </a:cubicBezTo>
                  <a:cubicBezTo>
                    <a:pt x="5672813" y="3805811"/>
                    <a:pt x="5593082" y="3885597"/>
                    <a:pt x="5493420" y="3885597"/>
                  </a:cubicBezTo>
                  <a:cubicBezTo>
                    <a:pt x="5493420" y="3885597"/>
                    <a:pt x="5493420" y="3885597"/>
                    <a:pt x="179393" y="3885597"/>
                  </a:cubicBezTo>
                  <a:cubicBezTo>
                    <a:pt x="79731" y="3885597"/>
                    <a:pt x="0" y="3805811"/>
                    <a:pt x="0" y="3706078"/>
                  </a:cubicBezTo>
                  <a:cubicBezTo>
                    <a:pt x="0" y="3706078"/>
                    <a:pt x="0" y="3706078"/>
                    <a:pt x="0" y="869672"/>
                  </a:cubicBezTo>
                  <a:cubicBezTo>
                    <a:pt x="0" y="869672"/>
                    <a:pt x="0" y="869672"/>
                    <a:pt x="0" y="179520"/>
                  </a:cubicBezTo>
                  <a:cubicBezTo>
                    <a:pt x="0" y="79787"/>
                    <a:pt x="79731" y="0"/>
                    <a:pt x="179393" y="0"/>
                  </a:cubicBezTo>
                  <a:close/>
                </a:path>
              </a:pathLst>
            </a:custGeom>
            <a:solidFill>
              <a:srgbClr val="D2D3D5">
                <a:alpha val="100000"/>
              </a:srgbClr>
            </a:solidFill>
            <a:ln cap="sq">
              <a:noFill/>
            </a:ln>
          </p:spPr>
          <p:txBody>
            <a:bodyPr vert="horz" wrap="square" lIns="91440" tIns="45720" rIns="91440" bIns="45720" rtlCol="0" anchor="t"/>
            <a:lstStyle/>
            <a:p>
              <a:pPr algn="l"/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>
              <a:off x="3191958" y="5282293"/>
              <a:ext cx="2512709" cy="72910"/>
            </a:xfrm>
            <a:custGeom>
              <a:avLst/>
              <a:gdLst>
                <a:gd name="T0" fmla="*/ 1414 w 1414"/>
                <a:gd name="T1" fmla="*/ 0 h 41"/>
                <a:gd name="T2" fmla="*/ 1396 w 1414"/>
                <a:gd name="T3" fmla="*/ 9 h 41"/>
                <a:gd name="T4" fmla="*/ 18 w 1414"/>
                <a:gd name="T5" fmla="*/ 9 h 41"/>
                <a:gd name="T6" fmla="*/ 0 w 1414"/>
                <a:gd name="T7" fmla="*/ 0 h 41"/>
                <a:gd name="T8" fmla="*/ 0 w 1414"/>
                <a:gd name="T9" fmla="*/ 1 h 41"/>
                <a:gd name="T10" fmla="*/ 40 w 1414"/>
                <a:gd name="T11" fmla="*/ 41 h 41"/>
                <a:gd name="T12" fmla="*/ 1373 w 1414"/>
                <a:gd name="T13" fmla="*/ 41 h 41"/>
                <a:gd name="T14" fmla="*/ 1414 w 1414"/>
                <a:gd name="T15" fmla="*/ 1 h 41"/>
                <a:gd name="T16" fmla="*/ 1414 w 1414"/>
                <a:gd name="T17" fmla="*/ 0 h 41"/>
              </a:gdLst>
              <a:ahLst/>
              <a:cxnLst/>
              <a:rect l="0" t="0" r="r" b="b"/>
              <a:pathLst>
                <a:path w="1414" h="41">
                  <a:moveTo>
                    <a:pt x="1414" y="0"/>
                  </a:moveTo>
                  <a:cubicBezTo>
                    <a:pt x="1409" y="6"/>
                    <a:pt x="1403" y="9"/>
                    <a:pt x="1396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0" y="9"/>
                    <a:pt x="4" y="6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3"/>
                    <a:pt x="18" y="41"/>
                    <a:pt x="40" y="41"/>
                  </a:cubicBezTo>
                  <a:cubicBezTo>
                    <a:pt x="1373" y="41"/>
                    <a:pt x="1373" y="41"/>
                    <a:pt x="1373" y="41"/>
                  </a:cubicBezTo>
                  <a:cubicBezTo>
                    <a:pt x="1396" y="41"/>
                    <a:pt x="1414" y="23"/>
                    <a:pt x="1414" y="1"/>
                  </a:cubicBezTo>
                  <a:lnTo>
                    <a:pt x="1414" y="0"/>
                  </a:lnTo>
                  <a:close/>
                </a:path>
              </a:pathLst>
            </a:custGeom>
            <a:solidFill>
              <a:srgbClr val="0C0D11">
                <a:alpha val="100000"/>
              </a:srgbClr>
            </a:solidFill>
            <a:ln cap="sq">
              <a:noFill/>
            </a:ln>
          </p:spPr>
          <p:txBody>
            <a:bodyPr vert="horz" wrap="square" lIns="91440" tIns="45720" rIns="91440" bIns="45720" rtlCol="0" anchor="t"/>
            <a:lstStyle/>
            <a:p>
              <a:pPr algn="l"/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>
              <a:off x="4445644" y="3696069"/>
              <a:ext cx="1779" cy="3557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2 h 2"/>
                <a:gd name="T4" fmla="*/ 0 w 1"/>
                <a:gd name="T5" fmla="*/ 1 h 2"/>
                <a:gd name="T6" fmla="*/ 1 w 1"/>
                <a:gd name="T7" fmla="*/ 0 h 2"/>
                <a:gd name="T8" fmla="*/ 1 w 1"/>
                <a:gd name="T9" fmla="*/ 1 h 2"/>
              </a:gdLst>
              <a:ahLst/>
              <a:cxnLst/>
              <a:rect l="0" t="0" r="r" b="b"/>
              <a:pathLst>
                <a:path w="1" h="2">
                  <a:moveTo>
                    <a:pt x="1" y="1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sq">
              <a:noFill/>
            </a:ln>
          </p:spPr>
          <p:txBody>
            <a:bodyPr vert="horz" wrap="square" lIns="91440" tIns="45720" rIns="91440" bIns="45720" rtlCol="0" anchor="t"/>
            <a:lstStyle/>
            <a:p>
              <a:pPr algn="l"/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>
              <a:off x="3191958" y="3640942"/>
              <a:ext cx="2512709" cy="1714260"/>
            </a:xfrm>
            <a:custGeom>
              <a:avLst/>
              <a:gdLst>
                <a:gd name="connsiteX0" fmla="*/ 187497 w 5636911"/>
                <a:gd name="connsiteY0" fmla="*/ 243350 h 3845704"/>
                <a:gd name="connsiteX1" fmla="*/ 187497 w 5636911"/>
                <a:gd name="connsiteY1" fmla="*/ 3566455 h 3845704"/>
                <a:gd name="connsiteX2" fmla="*/ 5449411 w 5636911"/>
                <a:gd name="connsiteY2" fmla="*/ 3566455 h 3845704"/>
                <a:gd name="connsiteX3" fmla="*/ 5449411 w 5636911"/>
                <a:gd name="connsiteY3" fmla="*/ 243350 h 3845704"/>
                <a:gd name="connsiteX4" fmla="*/ 159460 w 5636911"/>
                <a:gd name="connsiteY4" fmla="*/ 0 h 3845704"/>
                <a:gd name="connsiteX5" fmla="*/ 5473464 w 5636911"/>
                <a:gd name="connsiteY5" fmla="*/ 0 h 3845704"/>
                <a:gd name="connsiteX6" fmla="*/ 5636911 w 5636911"/>
                <a:gd name="connsiteY6" fmla="*/ 159573 h 3845704"/>
                <a:gd name="connsiteX7" fmla="*/ 5636911 w 5636911"/>
                <a:gd name="connsiteY7" fmla="*/ 3686131 h 3845704"/>
                <a:gd name="connsiteX8" fmla="*/ 5473464 w 5636911"/>
                <a:gd name="connsiteY8" fmla="*/ 3845704 h 3845704"/>
                <a:gd name="connsiteX9" fmla="*/ 159460 w 5636911"/>
                <a:gd name="connsiteY9" fmla="*/ 3845704 h 3845704"/>
                <a:gd name="connsiteX10" fmla="*/ 0 w 5636911"/>
                <a:gd name="connsiteY10" fmla="*/ 3686131 h 3845704"/>
                <a:gd name="connsiteX11" fmla="*/ 0 w 5636911"/>
                <a:gd name="connsiteY11" fmla="*/ 159573 h 3845704"/>
                <a:gd name="connsiteX12" fmla="*/ 159460 w 5636911"/>
                <a:gd name="connsiteY12" fmla="*/ 0 h 3845704"/>
              </a:gdLst>
              <a:ahLst/>
              <a:cxnLst/>
              <a:rect l="l" t="t" r="r" b="b"/>
              <a:pathLst>
                <a:path w="5636911" h="3845704">
                  <a:moveTo>
                    <a:pt x="187497" y="243350"/>
                  </a:moveTo>
                  <a:lnTo>
                    <a:pt x="187497" y="3566455"/>
                  </a:lnTo>
                  <a:lnTo>
                    <a:pt x="5449411" y="3566455"/>
                  </a:lnTo>
                  <a:lnTo>
                    <a:pt x="5449411" y="243350"/>
                  </a:lnTo>
                  <a:close/>
                  <a:moveTo>
                    <a:pt x="159460" y="0"/>
                  </a:moveTo>
                  <a:cubicBezTo>
                    <a:pt x="5473464" y="0"/>
                    <a:pt x="5473464" y="0"/>
                    <a:pt x="5473464" y="0"/>
                  </a:cubicBezTo>
                  <a:cubicBezTo>
                    <a:pt x="5565154" y="0"/>
                    <a:pt x="5636911" y="71808"/>
                    <a:pt x="5636911" y="159573"/>
                  </a:cubicBezTo>
                  <a:cubicBezTo>
                    <a:pt x="5636911" y="3686131"/>
                    <a:pt x="5636911" y="3686131"/>
                    <a:pt x="5636911" y="3686131"/>
                  </a:cubicBezTo>
                  <a:cubicBezTo>
                    <a:pt x="5636911" y="3773896"/>
                    <a:pt x="5565154" y="3845704"/>
                    <a:pt x="5473464" y="3845704"/>
                  </a:cubicBezTo>
                  <a:lnTo>
                    <a:pt x="159460" y="3845704"/>
                  </a:lnTo>
                  <a:cubicBezTo>
                    <a:pt x="71757" y="3845704"/>
                    <a:pt x="0" y="3773896"/>
                    <a:pt x="0" y="3686131"/>
                  </a:cubicBezTo>
                  <a:cubicBezTo>
                    <a:pt x="0" y="159573"/>
                    <a:pt x="0" y="159573"/>
                    <a:pt x="0" y="159573"/>
                  </a:cubicBezTo>
                  <a:cubicBezTo>
                    <a:pt x="0" y="71808"/>
                    <a:pt x="71757" y="0"/>
                    <a:pt x="159460" y="0"/>
                  </a:cubicBezTo>
                  <a:close/>
                </a:path>
              </a:pathLst>
            </a:custGeom>
            <a:solidFill>
              <a:srgbClr val="181818">
                <a:alpha val="100000"/>
              </a:srgbClr>
            </a:solidFill>
            <a:ln cap="sq">
              <a:noFill/>
            </a:ln>
          </p:spPr>
          <p:txBody>
            <a:bodyPr vert="horz" wrap="square" lIns="91440" tIns="45720" rIns="91440" bIns="45720" rtlCol="0" anchor="t"/>
            <a:lstStyle/>
            <a:p>
              <a:pPr algn="l"/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>
              <a:off x="2875424" y="5330306"/>
              <a:ext cx="3120880" cy="56905"/>
            </a:xfrm>
            <a:prstGeom prst="rect">
              <a:avLst/>
            </a:prstGeom>
            <a:solidFill>
              <a:srgbClr val="D2D6D7">
                <a:alpha val="100000"/>
              </a:srgbClr>
            </a:solidFill>
            <a:ln cap="sq">
              <a:noFill/>
            </a:ln>
          </p:spPr>
          <p:txBody>
            <a:bodyPr vert="horz" wrap="square" lIns="91440" tIns="45720" rIns="91440" bIns="45720" rtlCol="0" anchor="t"/>
            <a:lstStyle/>
            <a:p>
              <a:pPr algn="l"/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4210911" y="5330306"/>
              <a:ext cx="448126" cy="32009"/>
            </a:xfrm>
            <a:custGeom>
              <a:avLst/>
              <a:gdLst>
                <a:gd name="T0" fmla="*/ 0 w 252"/>
                <a:gd name="T1" fmla="*/ 0 h 18"/>
                <a:gd name="T2" fmla="*/ 22 w 252"/>
                <a:gd name="T3" fmla="*/ 18 h 18"/>
                <a:gd name="T4" fmla="*/ 230 w 252"/>
                <a:gd name="T5" fmla="*/ 18 h 18"/>
                <a:gd name="T6" fmla="*/ 252 w 252"/>
                <a:gd name="T7" fmla="*/ 0 h 18"/>
                <a:gd name="T8" fmla="*/ 0 w 252"/>
                <a:gd name="T9" fmla="*/ 0 h 18"/>
              </a:gdLst>
              <a:ahLst/>
              <a:cxnLst/>
              <a:rect l="0" t="0" r="r" b="b"/>
              <a:pathLst>
                <a:path w="252" h="18">
                  <a:moveTo>
                    <a:pt x="0" y="0"/>
                  </a:moveTo>
                  <a:cubicBezTo>
                    <a:pt x="2" y="10"/>
                    <a:pt x="11" y="18"/>
                    <a:pt x="22" y="18"/>
                  </a:cubicBezTo>
                  <a:cubicBezTo>
                    <a:pt x="230" y="18"/>
                    <a:pt x="230" y="18"/>
                    <a:pt x="230" y="18"/>
                  </a:cubicBezTo>
                  <a:cubicBezTo>
                    <a:pt x="241" y="18"/>
                    <a:pt x="250" y="10"/>
                    <a:pt x="2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B4B5">
                <a:alpha val="100000"/>
              </a:srgbClr>
            </a:solidFill>
            <a:ln cap="sq">
              <a:noFill/>
            </a:ln>
          </p:spPr>
          <p:txBody>
            <a:bodyPr vert="horz" wrap="square" lIns="91440" tIns="45720" rIns="91440" bIns="45720" rtlCol="0" anchor="t"/>
            <a:lstStyle/>
            <a:p>
              <a:pPr algn="l"/>
              <a:endParaRPr kumimoji="1"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4433196" y="3685400"/>
              <a:ext cx="26675" cy="28452"/>
              <a:chOff x="4433196" y="3685400"/>
              <a:chExt cx="26675" cy="28452"/>
            </a:xfrm>
          </p:grpSpPr>
          <p:sp>
            <p:nvSpPr>
              <p:cNvPr id="23" name="标题 1"/>
              <p:cNvSpPr txBox="1"/>
              <p:nvPr/>
            </p:nvSpPr>
            <p:spPr>
              <a:xfrm>
                <a:off x="4433196" y="3687177"/>
                <a:ext cx="26675" cy="26675"/>
              </a:xfrm>
              <a:prstGeom prst="ellipse">
                <a:avLst/>
              </a:prstGeom>
              <a:solidFill>
                <a:srgbClr val="2C2C2C">
                  <a:alpha val="100000"/>
                </a:srgbClr>
              </a:solidFill>
              <a:ln cap="sq">
                <a:noFill/>
              </a:ln>
            </p:spPr>
            <p:txBody>
              <a:bodyPr vert="horz" wrap="square" lIns="91440" tIns="45720" rIns="91440" bIns="45720" rtlCol="0" anchor="t"/>
              <a:lstStyle/>
              <a:p>
                <a:pPr algn="l"/>
                <a:endParaRPr kumimoji="1" lang="zh-CN" altLang="en-US"/>
              </a:p>
            </p:txBody>
          </p:sp>
          <p:sp>
            <p:nvSpPr>
              <p:cNvPr id="24" name="标题 1"/>
              <p:cNvSpPr txBox="1"/>
              <p:nvPr/>
            </p:nvSpPr>
            <p:spPr>
              <a:xfrm>
                <a:off x="4433196" y="3685400"/>
                <a:ext cx="26675" cy="24896"/>
              </a:xfrm>
              <a:prstGeom prst="ellipse">
                <a:avLst/>
              </a:prstGeom>
              <a:solidFill>
                <a:srgbClr val="0A0A0A">
                  <a:alpha val="100000"/>
                </a:srgbClr>
              </a:solidFill>
              <a:ln cap="sq">
                <a:noFill/>
              </a:ln>
            </p:spPr>
            <p:txBody>
              <a:bodyPr vert="horz" wrap="square" lIns="91440" tIns="45720" rIns="91440" bIns="45720" rtlCol="0" anchor="t"/>
              <a:lstStyle/>
              <a:p>
                <a:pPr algn="l"/>
                <a:endParaRPr kumimoji="1" lang="zh-CN" altLang="en-US"/>
              </a:p>
            </p:txBody>
          </p:sp>
          <p:sp>
            <p:nvSpPr>
              <p:cNvPr id="25" name="标题 1"/>
              <p:cNvSpPr txBox="1"/>
              <p:nvPr/>
            </p:nvSpPr>
            <p:spPr>
              <a:xfrm>
                <a:off x="4438531" y="3688956"/>
                <a:ext cx="16005" cy="17783"/>
              </a:xfrm>
              <a:prstGeom prst="ellipse">
                <a:avLst/>
              </a:prstGeom>
              <a:solidFill>
                <a:srgbClr val="000000">
                  <a:alpha val="100000"/>
                </a:srgbClr>
              </a:solidFill>
              <a:ln cap="sq">
                <a:noFill/>
              </a:ln>
            </p:spPr>
            <p:txBody>
              <a:bodyPr vert="horz" wrap="square" lIns="91440" tIns="45720" rIns="91440" bIns="45720" rtlCol="0" anchor="t"/>
              <a:lstStyle/>
              <a:p>
                <a:pPr algn="l"/>
                <a:endParaRPr kumimoji="1" lang="zh-CN" altLang="en-US"/>
              </a:p>
            </p:txBody>
          </p:sp>
          <p:sp>
            <p:nvSpPr>
              <p:cNvPr id="26" name="标题 1"/>
              <p:cNvSpPr txBox="1"/>
              <p:nvPr/>
            </p:nvSpPr>
            <p:spPr>
              <a:xfrm>
                <a:off x="4442087" y="3694290"/>
                <a:ext cx="8892" cy="8892"/>
              </a:xfrm>
              <a:prstGeom prst="ellipse">
                <a:avLst/>
              </a:prstGeom>
              <a:solidFill>
                <a:srgbClr val="2C99B4">
                  <a:alpha val="100000"/>
                </a:srgbClr>
              </a:solidFill>
              <a:ln cap="sq">
                <a:noFill/>
              </a:ln>
            </p:spPr>
            <p:txBody>
              <a:bodyPr vert="horz" wrap="square" lIns="91440" tIns="45720" rIns="91440" bIns="45720" rtlCol="0" anchor="t"/>
              <a:lstStyle/>
              <a:p>
                <a:pPr algn="l"/>
                <a:endParaRPr kumimoji="1" lang="zh-CN" altLang="en-US"/>
              </a:p>
            </p:txBody>
          </p:sp>
        </p:grpSp>
      </p:grpSp>
      <p:sp>
        <p:nvSpPr>
          <p:cNvPr id="27" name="标题 1"/>
          <p:cNvSpPr txBox="1"/>
          <p:nvPr/>
        </p:nvSpPr>
        <p:spPr>
          <a:xfrm>
            <a:off x="6401843" y="1744114"/>
            <a:ext cx="455836" cy="429636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  <a:effectLst>
            <a:outerShdw blurRad="127000" dist="635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>
            <a:alphaModFix amt="100000"/>
          </a:blip>
          <a:srcRect l="73" t="22327" r="-73" b="38923"/>
          <a:stretch>
            <a:fillRect/>
          </a:stretch>
        </p:blipFill>
        <p:spPr>
          <a:xfrm>
            <a:off x="3275350" y="3747981"/>
            <a:ext cx="2350144" cy="1483687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标题 1"/>
          <p:cNvSpPr txBox="1"/>
          <p:nvPr/>
        </p:nvSpPr>
        <p:spPr>
          <a:xfrm>
            <a:off x="7024150" y="4508164"/>
            <a:ext cx="4023387" cy="11930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关键词分析帮助市场定位
关键词研究指导产品优化
关键词数据支持商业决策</a:t>
            </a: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7024150" y="3848960"/>
            <a:ext cx="3134917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chemeClr val="accent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关键词研究的商业价值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10325538" y="3870484"/>
            <a:ext cx="721999" cy="2154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/>
            <a:r>
              <a:rPr kumimoji="1" lang="en-US" altLang="zh-CN" sz="1800">
                <a:ln w="12700">
                  <a:noFill/>
                </a:ln>
                <a:solidFill>
                  <a:schemeClr val="accent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45%</a:t>
            </a: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6995991" y="4207506"/>
            <a:ext cx="4051546" cy="7442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6998861" y="4207506"/>
            <a:ext cx="1800000" cy="74428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127000" dist="635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6414975" y="4029902"/>
            <a:ext cx="429573" cy="429636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  <a:effectLst>
            <a:outerShdw blurRad="127000" dist="635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135234" y="45175"/>
            <a:ext cx="11544300" cy="523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关键词的重要性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60961" y="60961"/>
            <a:ext cx="6858002" cy="673608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6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9714914" y="4380914"/>
            <a:ext cx="4954172" cy="4954172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rgbClr val="5BD1D7">
                  <a:alpha val="62000"/>
                </a:srgbClr>
              </a:gs>
              <a:gs pos="39000">
                <a:srgbClr val="5BD1D7">
                  <a:alpha val="28000"/>
                </a:srgb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380958" y="842498"/>
            <a:ext cx="137942" cy="13794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09628" y="842498"/>
            <a:ext cx="137942" cy="1379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838298" y="842498"/>
            <a:ext cx="137942" cy="1379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439920" y="3140710"/>
            <a:ext cx="6584315" cy="11544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</a:t>
            </a:r>
            <a:r>
              <a:rPr kumimoji="1" lang="zh-CN" altLang="en-US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库</a:t>
            </a:r>
            <a:r>
              <a:rPr kumimoji="1" lang="zh-CN" altLang="en-US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搭建的指导</a:t>
            </a:r>
            <a:r>
              <a:rPr kumimoji="1" lang="zh-CN" altLang="en-US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原则</a:t>
            </a:r>
            <a:endParaRPr kumimoji="1" lang="zh-CN" altLang="en-US" sz="4705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3008571" y="3065949"/>
            <a:ext cx="168245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075">
                <a:ln w="12700">
                  <a:noFill/>
                </a:ln>
                <a:solidFill>
                  <a:schemeClr val="accent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02</a:t>
            </a:r>
            <a:endParaRPr kumimoji="1"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-1327535" y="1157978"/>
            <a:ext cx="5257931" cy="5103228"/>
            <a:chOff x="-1327535" y="1157978"/>
            <a:chExt cx="5257931" cy="5103228"/>
          </a:xfrm>
        </p:grpSpPr>
        <p:sp>
          <p:nvSpPr>
            <p:cNvPr id="11" name="标题 1"/>
            <p:cNvSpPr txBox="1"/>
            <p:nvPr/>
          </p:nvSpPr>
          <p:spPr>
            <a:xfrm rot="12891944">
              <a:off x="1480553" y="1204082"/>
              <a:ext cx="1426351" cy="4028691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0"/>
                  </a:schemeClr>
                </a:gs>
                <a:gs pos="72000">
                  <a:schemeClr val="accent1"/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rot="12891944" flipH="1" flipV="1">
              <a:off x="-339767" y="2072646"/>
              <a:ext cx="1824377" cy="4028690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75000"/>
                  </a:schemeClr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关键词库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搭建的指导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原则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6865" y="1049655"/>
            <a:ext cx="11160125" cy="840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zh-CN" altLang="en-US" sz="2400">
                <a:sym typeface="+mn-ea"/>
              </a:rPr>
              <a:t>关键词库搭建的指导原则是：全面性、相关性、动态</a:t>
            </a:r>
            <a:r>
              <a:rPr kumimoji="1" lang="zh-CN" altLang="en-US" sz="2400">
                <a:sym typeface="+mn-ea"/>
              </a:rPr>
              <a:t>性，为什么是这样呢？</a:t>
            </a:r>
            <a:endParaRPr kumimoji="1" lang="zh-CN" altLang="en-US" sz="2400">
              <a:sym typeface="+mn-ea"/>
            </a:endParaRPr>
          </a:p>
          <a:p>
            <a:pPr algn="l"/>
            <a:endParaRPr kumimoji="1" lang="zh-CN" altLang="en-US" sz="24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280" y="1917065"/>
            <a:ext cx="1086231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kumimoji="1" lang="zh-CN" altLang="en-US"/>
          </a:p>
          <a:p>
            <a:pPr algn="l"/>
            <a:r>
              <a:rPr kumimoji="1" lang="zh-CN" altLang="en-US" sz="2400" b="1">
                <a:solidFill>
                  <a:srgbClr val="FF0000"/>
                </a:solidFill>
                <a:sym typeface="+mn-ea"/>
              </a:rPr>
              <a:t>全面性</a:t>
            </a:r>
            <a:r>
              <a:rPr kumimoji="1" lang="zh-CN" altLang="en-US" sz="2400">
                <a:sym typeface="+mn-ea"/>
              </a:rPr>
              <a:t>：只要是我的产品与消费者的需求匹配的关键词，都应该被囊括进来，这些词的集合代表的市场，就是我的产品的全部潜在市场。</a:t>
            </a:r>
            <a:endParaRPr kumimoji="1" lang="zh-CN" altLang="en-US" sz="2400"/>
          </a:p>
          <a:p>
            <a:pPr algn="l"/>
            <a:endParaRPr kumimoji="1" lang="zh-CN" altLang="en-US" sz="2400"/>
          </a:p>
          <a:p>
            <a:pPr algn="l"/>
            <a:r>
              <a:rPr kumimoji="1" lang="zh-CN" altLang="en-US" sz="2400" b="1">
                <a:solidFill>
                  <a:srgbClr val="FF0000"/>
                </a:solidFill>
                <a:sym typeface="+mn-ea"/>
              </a:rPr>
              <a:t>相关性</a:t>
            </a:r>
            <a:r>
              <a:rPr kumimoji="1" lang="zh-CN" altLang="en-US" sz="2400">
                <a:sym typeface="+mn-ea"/>
              </a:rPr>
              <a:t>：每个词表达的需求可能具体，也可能比较宽泛，与我产品卖点之间的相关度肯定就有高中低的区别；当然还有一些完全不相关的词也要关注，因为它们可以用来在广告中否定。</a:t>
            </a:r>
            <a:endParaRPr kumimoji="1" lang="zh-CN" altLang="en-US" sz="2400"/>
          </a:p>
          <a:p>
            <a:pPr algn="l"/>
            <a:endParaRPr kumimoji="1" lang="zh-CN" altLang="en-US" sz="2400"/>
          </a:p>
          <a:p>
            <a:pPr algn="l"/>
            <a:r>
              <a:rPr kumimoji="1" lang="zh-CN" altLang="en-US" sz="2400" b="1">
                <a:solidFill>
                  <a:srgbClr val="FF0000"/>
                </a:solidFill>
                <a:sym typeface="+mn-ea"/>
              </a:rPr>
              <a:t>动态性</a:t>
            </a:r>
            <a:r>
              <a:rPr kumimoji="1" lang="zh-CN" altLang="en-US" sz="2400">
                <a:sym typeface="+mn-ea"/>
              </a:rPr>
              <a:t>：需求不是一成不变的，所以需求还需要关注动态性。词库并不是一次做完了就一劳永逸，而是要根据市场需求的变化高效的动态更新。</a:t>
            </a:r>
            <a:endParaRPr kumimoji="1" lang="zh-CN" altLang="en-US" sz="2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60961" y="60961"/>
            <a:ext cx="6858002" cy="673608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6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9714914" y="4380914"/>
            <a:ext cx="4954172" cy="4954172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rgbClr val="5BD1D7">
                  <a:alpha val="62000"/>
                </a:srgbClr>
              </a:gs>
              <a:gs pos="39000">
                <a:srgbClr val="5BD1D7">
                  <a:alpha val="28000"/>
                </a:srgb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380958" y="842498"/>
            <a:ext cx="137942" cy="13794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09628" y="842498"/>
            <a:ext cx="137942" cy="1379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838298" y="842498"/>
            <a:ext cx="137942" cy="1379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525010" y="3147060"/>
            <a:ext cx="6584315" cy="11544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</a:t>
            </a:r>
            <a:r>
              <a:rPr kumimoji="1" lang="zh-CN" altLang="en-US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库的</a:t>
            </a:r>
            <a:r>
              <a:rPr kumimoji="1" lang="zh-CN" altLang="en-US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结构</a:t>
            </a:r>
            <a:endParaRPr kumimoji="1" lang="zh-CN" altLang="en-US" sz="4705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3008571" y="3065949"/>
            <a:ext cx="168245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075">
                <a:ln w="12700">
                  <a:noFill/>
                </a:ln>
                <a:solidFill>
                  <a:schemeClr val="accent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03</a:t>
            </a:r>
            <a:endParaRPr kumimoji="1"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-1327535" y="1157978"/>
            <a:ext cx="5257931" cy="5103228"/>
            <a:chOff x="-1327535" y="1157978"/>
            <a:chExt cx="5257931" cy="5103228"/>
          </a:xfrm>
        </p:grpSpPr>
        <p:sp>
          <p:nvSpPr>
            <p:cNvPr id="11" name="标题 1"/>
            <p:cNvSpPr txBox="1"/>
            <p:nvPr/>
          </p:nvSpPr>
          <p:spPr>
            <a:xfrm rot="12891944">
              <a:off x="1480553" y="1204082"/>
              <a:ext cx="1426351" cy="4028691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0"/>
                  </a:schemeClr>
                </a:gs>
                <a:gs pos="72000">
                  <a:schemeClr val="accent1"/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rot="12891944" flipH="1" flipV="1">
              <a:off x="-339767" y="2072646"/>
              <a:ext cx="1824377" cy="4028690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75000"/>
                  </a:schemeClr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60961" y="60961"/>
            <a:ext cx="6858002" cy="673608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6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>
            <p:custDataLst>
              <p:tags r:id="rId1"/>
            </p:custDataLst>
          </p:nvPr>
        </p:nvSpPr>
        <p:spPr>
          <a:xfrm>
            <a:off x="2635259" y="1586262"/>
            <a:ext cx="1675682" cy="1823386"/>
          </a:xfrm>
          <a:custGeom>
            <a:avLst/>
            <a:gdLst>
              <a:gd name="connsiteX0" fmla="*/ 1319463 w 2638926"/>
              <a:gd name="connsiteY0" fmla="*/ 0 h 2871536"/>
              <a:gd name="connsiteX1" fmla="*/ 2638926 w 2638926"/>
              <a:gd name="connsiteY1" fmla="*/ 1319463 h 2871536"/>
              <a:gd name="connsiteX2" fmla="*/ 1454371 w 2638926"/>
              <a:gd name="connsiteY2" fmla="*/ 2632114 h 2871536"/>
              <a:gd name="connsiteX3" fmla="*/ 1438781 w 2638926"/>
              <a:gd name="connsiteY3" fmla="*/ 2632901 h 2871536"/>
              <a:gd name="connsiteX4" fmla="*/ 1319463 w 2638926"/>
              <a:gd name="connsiteY4" fmla="*/ 2871536 h 2871536"/>
              <a:gd name="connsiteX5" fmla="*/ 1200146 w 2638926"/>
              <a:gd name="connsiteY5" fmla="*/ 2632901 h 2871536"/>
              <a:gd name="connsiteX6" fmla="*/ 1184556 w 2638926"/>
              <a:gd name="connsiteY6" fmla="*/ 2632114 h 2871536"/>
              <a:gd name="connsiteX7" fmla="*/ 0 w 2638926"/>
              <a:gd name="connsiteY7" fmla="*/ 1319463 h 2871536"/>
              <a:gd name="connsiteX8" fmla="*/ 1319463 w 2638926"/>
              <a:gd name="connsiteY8" fmla="*/ 0 h 2871536"/>
            </a:gdLst>
            <a:ahLst/>
            <a:cxnLst/>
            <a:rect l="l" t="t" r="r" b="b"/>
            <a:pathLst>
              <a:path w="2638926" h="2871536">
                <a:moveTo>
                  <a:pt x="1319463" y="0"/>
                </a:moveTo>
                <a:cubicBezTo>
                  <a:pt x="2048182" y="0"/>
                  <a:pt x="2638926" y="590744"/>
                  <a:pt x="2638926" y="1319463"/>
                </a:cubicBezTo>
                <a:cubicBezTo>
                  <a:pt x="2638926" y="2002637"/>
                  <a:pt x="2119718" y="2564544"/>
                  <a:pt x="1454371" y="2632114"/>
                </a:cubicBezTo>
                <a:lnTo>
                  <a:pt x="1438781" y="2632901"/>
                </a:lnTo>
                <a:lnTo>
                  <a:pt x="1319463" y="2871536"/>
                </a:lnTo>
                <a:lnTo>
                  <a:pt x="1200146" y="2632901"/>
                </a:lnTo>
                <a:lnTo>
                  <a:pt x="1184556" y="2632114"/>
                </a:lnTo>
                <a:cubicBezTo>
                  <a:pt x="519208" y="2564544"/>
                  <a:pt x="0" y="2002637"/>
                  <a:pt x="0" y="1319463"/>
                </a:cubicBezTo>
                <a:cubicBezTo>
                  <a:pt x="0" y="590744"/>
                  <a:pt x="590744" y="0"/>
                  <a:pt x="1319463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>
            <p:custDataLst>
              <p:tags r:id="rId2"/>
            </p:custDataLst>
          </p:nvPr>
        </p:nvSpPr>
        <p:spPr>
          <a:xfrm>
            <a:off x="2711657" y="1663990"/>
            <a:ext cx="1522886" cy="1522884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694305" y="4336415"/>
            <a:ext cx="1741805" cy="7981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由Sif来完成</a:t>
            </a:r>
            <a:endParaRPr kumimoji="1" lang="en-US" altLang="zh-CN" sz="2400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  <a:p>
            <a:pPr algn="l"/>
            <a:endParaRPr kumimoji="1" lang="en-US" altLang="zh-CN" sz="1200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  <a:p>
            <a:pPr algn="l"/>
            <a:r>
              <a:rPr kumimoji="1" lang="en-US" altLang="zh-CN" sz="14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
</a:t>
            </a:r>
            <a:endParaRPr kumimoji="1" lang="en-US" altLang="zh-CN" sz="1400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6" name="标题 1"/>
          <p:cNvSpPr txBox="1"/>
          <p:nvPr>
            <p:custDataLst>
              <p:tags r:id="rId3"/>
            </p:custDataLst>
          </p:nvPr>
        </p:nvSpPr>
        <p:spPr>
          <a:xfrm>
            <a:off x="2553317" y="1638590"/>
            <a:ext cx="534930" cy="53493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>
            <p:custDataLst>
              <p:tags r:id="rId4"/>
            </p:custDataLst>
          </p:nvPr>
        </p:nvSpPr>
        <p:spPr>
          <a:xfrm>
            <a:off x="2694349" y="1779622"/>
            <a:ext cx="252864" cy="252864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>
            <p:custDataLst>
              <p:tags r:id="rId5"/>
            </p:custDataLst>
          </p:nvPr>
        </p:nvSpPr>
        <p:spPr>
          <a:xfrm>
            <a:off x="3018784" y="2044301"/>
            <a:ext cx="908632" cy="88926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4400">
                <a:ln w="12700">
                  <a:noFill/>
                </a:ln>
                <a:solidFill>
                  <a:schemeClr val="accent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01</a:t>
            </a:r>
            <a:endParaRPr kumimoji="1" lang="zh-CN" altLang="en-US"/>
          </a:p>
        </p:txBody>
      </p:sp>
      <p:sp>
        <p:nvSpPr>
          <p:cNvPr id="9" name="标题 1"/>
          <p:cNvSpPr txBox="1"/>
          <p:nvPr>
            <p:custDataLst>
              <p:tags r:id="rId6"/>
            </p:custDataLst>
          </p:nvPr>
        </p:nvSpPr>
        <p:spPr>
          <a:xfrm>
            <a:off x="1916430" y="3567261"/>
            <a:ext cx="29972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/>
            <a:r>
              <a:rPr kumimoji="1" lang="zh-CN" altLang="en-US" sz="2800" b="1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基础维度</a:t>
            </a:r>
            <a:endParaRPr kumimoji="1" lang="zh-CN" altLang="en-US" sz="2800" b="1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10" name="标题 1"/>
          <p:cNvSpPr txBox="1"/>
          <p:nvPr>
            <p:custDataLst>
              <p:tags r:id="rId7"/>
            </p:custDataLst>
          </p:nvPr>
        </p:nvSpPr>
        <p:spPr>
          <a:xfrm>
            <a:off x="7403189" y="1480852"/>
            <a:ext cx="1675682" cy="1823386"/>
          </a:xfrm>
          <a:custGeom>
            <a:avLst/>
            <a:gdLst>
              <a:gd name="connsiteX0" fmla="*/ 1319463 w 2638926"/>
              <a:gd name="connsiteY0" fmla="*/ 0 h 2871536"/>
              <a:gd name="connsiteX1" fmla="*/ 2638926 w 2638926"/>
              <a:gd name="connsiteY1" fmla="*/ 1319463 h 2871536"/>
              <a:gd name="connsiteX2" fmla="*/ 1454371 w 2638926"/>
              <a:gd name="connsiteY2" fmla="*/ 2632114 h 2871536"/>
              <a:gd name="connsiteX3" fmla="*/ 1438781 w 2638926"/>
              <a:gd name="connsiteY3" fmla="*/ 2632901 h 2871536"/>
              <a:gd name="connsiteX4" fmla="*/ 1319463 w 2638926"/>
              <a:gd name="connsiteY4" fmla="*/ 2871536 h 2871536"/>
              <a:gd name="connsiteX5" fmla="*/ 1200146 w 2638926"/>
              <a:gd name="connsiteY5" fmla="*/ 2632901 h 2871536"/>
              <a:gd name="connsiteX6" fmla="*/ 1184556 w 2638926"/>
              <a:gd name="connsiteY6" fmla="*/ 2632114 h 2871536"/>
              <a:gd name="connsiteX7" fmla="*/ 0 w 2638926"/>
              <a:gd name="connsiteY7" fmla="*/ 1319463 h 2871536"/>
              <a:gd name="connsiteX8" fmla="*/ 1319463 w 2638926"/>
              <a:gd name="connsiteY8" fmla="*/ 0 h 2871536"/>
            </a:gdLst>
            <a:ahLst/>
            <a:cxnLst/>
            <a:rect l="l" t="t" r="r" b="b"/>
            <a:pathLst>
              <a:path w="2638926" h="2871536">
                <a:moveTo>
                  <a:pt x="1319463" y="0"/>
                </a:moveTo>
                <a:cubicBezTo>
                  <a:pt x="2048182" y="0"/>
                  <a:pt x="2638926" y="590744"/>
                  <a:pt x="2638926" y="1319463"/>
                </a:cubicBezTo>
                <a:cubicBezTo>
                  <a:pt x="2638926" y="2002637"/>
                  <a:pt x="2119718" y="2564544"/>
                  <a:pt x="1454371" y="2632114"/>
                </a:cubicBezTo>
                <a:lnTo>
                  <a:pt x="1438781" y="2632901"/>
                </a:lnTo>
                <a:lnTo>
                  <a:pt x="1319463" y="2871536"/>
                </a:lnTo>
                <a:lnTo>
                  <a:pt x="1200146" y="2632901"/>
                </a:lnTo>
                <a:lnTo>
                  <a:pt x="1184556" y="2632114"/>
                </a:lnTo>
                <a:cubicBezTo>
                  <a:pt x="519208" y="2564544"/>
                  <a:pt x="0" y="2002637"/>
                  <a:pt x="0" y="1319463"/>
                </a:cubicBezTo>
                <a:cubicBezTo>
                  <a:pt x="0" y="590744"/>
                  <a:pt x="590744" y="0"/>
                  <a:pt x="1319463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>
            <p:custDataLst>
              <p:tags r:id="rId8"/>
            </p:custDataLst>
          </p:nvPr>
        </p:nvSpPr>
        <p:spPr>
          <a:xfrm>
            <a:off x="7479587" y="1558580"/>
            <a:ext cx="1522886" cy="1522884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>
            <p:custDataLst>
              <p:tags r:id="rId9"/>
            </p:custDataLst>
          </p:nvPr>
        </p:nvSpPr>
        <p:spPr>
          <a:xfrm>
            <a:off x="7321247" y="1533180"/>
            <a:ext cx="534930" cy="53493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>
            <p:custDataLst>
              <p:tags r:id="rId10"/>
            </p:custDataLst>
          </p:nvPr>
        </p:nvSpPr>
        <p:spPr>
          <a:xfrm>
            <a:off x="7462279" y="1683686"/>
            <a:ext cx="252864" cy="233917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11"/>
            </p:custDataLst>
          </p:nvPr>
        </p:nvSpPr>
        <p:spPr>
          <a:xfrm>
            <a:off x="7786714" y="1938891"/>
            <a:ext cx="908632" cy="88926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4400">
                <a:ln w="12700">
                  <a:noFill/>
                </a:ln>
                <a:solidFill>
                  <a:schemeClr val="accent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02</a:t>
            </a: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12"/>
            </p:custDataLst>
          </p:nvPr>
        </p:nvSpPr>
        <p:spPr>
          <a:xfrm>
            <a:off x="6744050" y="3550751"/>
            <a:ext cx="29972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/>
            <a:r>
              <a:rPr kumimoji="1" lang="zh-CN" altLang="en-US" sz="2800" b="1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附加维度</a:t>
            </a:r>
            <a:endParaRPr kumimoji="1" lang="zh-CN" altLang="en-US" sz="2800" b="1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7104380" y="4163695"/>
            <a:ext cx="2873375" cy="22288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kumimoji="1" lang="zh-CN" altLang="en-US" sz="24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这部分数据需要参考一些其它工具或者亚马逊官方后台的数据。</a:t>
            </a:r>
            <a:endParaRPr kumimoji="1" lang="zh-CN" altLang="en-US" sz="2400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库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结构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词库的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基础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维度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47665" y="692785"/>
            <a:ext cx="6348730" cy="6017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</a:pPr>
            <a:r>
              <a:rPr lang="zh-CN" altLang="en-US" sz="2400" b="1"/>
              <a:t>最终做出来的词库的</a:t>
            </a:r>
            <a:r>
              <a:rPr lang="zh-CN" altLang="en-US" sz="2400" b="1">
                <a:solidFill>
                  <a:srgbClr val="FF0000"/>
                </a:solidFill>
              </a:rPr>
              <a:t>基础维度</a:t>
            </a:r>
            <a:r>
              <a:rPr lang="zh-CN" altLang="en-US" sz="2400" b="1"/>
              <a:t>会包含以下内容：</a:t>
            </a:r>
            <a:endParaRPr lang="zh-CN" altLang="en-US" sz="2400" b="1"/>
          </a:p>
          <a:p>
            <a:pPr>
              <a:lnSpc>
                <a:spcPct val="100000"/>
              </a:lnSpc>
            </a:pPr>
            <a:endParaRPr lang="zh-CN" altLang="en-US" sz="2400"/>
          </a:p>
          <a:p>
            <a:pPr>
              <a:lnSpc>
                <a:spcPct val="100000"/>
              </a:lnSpc>
            </a:pPr>
            <a:r>
              <a:rPr lang="zh-CN" altLang="en-US" sz="2400"/>
              <a:t>1. 周搜索量</a:t>
            </a:r>
            <a:r>
              <a:rPr lang="zh-CN" altLang="en-US" sz="2400" b="1"/>
              <a:t>(ABA) 排名</a:t>
            </a:r>
            <a:r>
              <a:rPr lang="zh-CN" altLang="en-US" sz="2400"/>
              <a:t>和周</a:t>
            </a:r>
            <a:r>
              <a:rPr lang="zh-CN" altLang="en-US" sz="2400" b="1"/>
              <a:t>搜索量</a:t>
            </a:r>
            <a:r>
              <a:rPr lang="en-US" altLang="zh-CN" sz="2400">
                <a:sym typeface="+mn-ea"/>
              </a:rPr>
              <a:t>:</a:t>
            </a:r>
            <a:r>
              <a:rPr lang="zh-CN" altLang="en-US" sz="2400"/>
              <a:t>评估关键词的市场需求大小。</a:t>
            </a:r>
            <a:endParaRPr lang="zh-CN" altLang="en-US" sz="2400"/>
          </a:p>
          <a:p>
            <a:pPr>
              <a:lnSpc>
                <a:spcPct val="100000"/>
              </a:lnSpc>
            </a:pPr>
            <a:endParaRPr lang="zh-CN" altLang="en-US" sz="2400"/>
          </a:p>
          <a:p>
            <a:pPr>
              <a:lnSpc>
                <a:spcPct val="100000"/>
              </a:lnSpc>
            </a:pPr>
            <a:r>
              <a:rPr lang="zh-CN" altLang="en-US" sz="2400"/>
              <a:t>2. </a:t>
            </a:r>
            <a:r>
              <a:rPr lang="zh-CN" altLang="en-US" sz="2400" b="1"/>
              <a:t>关键</a:t>
            </a:r>
            <a:r>
              <a:rPr lang="zh-CN" altLang="en-US" sz="2400" b="1"/>
              <a:t>词相关性归类</a:t>
            </a:r>
            <a:r>
              <a:rPr lang="en-US" altLang="zh-CN" sz="2400">
                <a:sym typeface="+mn-ea"/>
              </a:rPr>
              <a:t>:</a:t>
            </a:r>
            <a:r>
              <a:rPr lang="zh-CN" altLang="en-US" sz="2400"/>
              <a:t>将关键词按照相关性高中低进行分类，优先考虑相关性高的关键词。</a:t>
            </a:r>
            <a:endParaRPr lang="zh-CN" altLang="en-US" sz="2400"/>
          </a:p>
          <a:p>
            <a:pPr>
              <a:lnSpc>
                <a:spcPct val="100000"/>
              </a:lnSpc>
            </a:pPr>
            <a:endParaRPr lang="zh-CN" altLang="en-US" sz="2400"/>
          </a:p>
          <a:p>
            <a:pPr>
              <a:lnSpc>
                <a:spcPct val="100000"/>
              </a:lnSpc>
            </a:pPr>
            <a:r>
              <a:rPr lang="zh-CN" altLang="en-US" sz="2400"/>
              <a:t>3. </a:t>
            </a:r>
            <a:r>
              <a:rPr lang="zh-CN" altLang="en-US" sz="2400" b="1"/>
              <a:t>关键词大小归类</a:t>
            </a:r>
            <a:r>
              <a:rPr lang="en-US" altLang="zh-CN" sz="2400">
                <a:sym typeface="+mn-ea"/>
              </a:rPr>
              <a:t>:</a:t>
            </a:r>
            <a:r>
              <a:rPr lang="zh-CN" altLang="en-US" sz="2400"/>
              <a:t>将关键词分为核心大词、中词、长尾词等不同类型，平衡曝光与转化。</a:t>
            </a:r>
            <a:endParaRPr lang="zh-CN" altLang="en-US" sz="2400"/>
          </a:p>
          <a:p>
            <a:pPr>
              <a:lnSpc>
                <a:spcPct val="100000"/>
              </a:lnSpc>
            </a:pPr>
            <a:endParaRPr lang="zh-CN" altLang="en-US" sz="2400"/>
          </a:p>
          <a:p>
            <a:pPr>
              <a:lnSpc>
                <a:spcPct val="100000"/>
              </a:lnSpc>
            </a:pPr>
            <a:r>
              <a:rPr lang="en-US" altLang="zh-CN" sz="2400"/>
              <a:t>4</a:t>
            </a:r>
            <a:r>
              <a:rPr lang="zh-CN" altLang="en-US" sz="2400">
                <a:sym typeface="+mn-ea"/>
              </a:rPr>
              <a:t>. </a:t>
            </a:r>
            <a:r>
              <a:rPr lang="zh-CN" altLang="en-US" sz="2400" b="1"/>
              <a:t>关键词属性归类</a:t>
            </a:r>
            <a:r>
              <a:rPr lang="en-US" altLang="zh-CN" sz="2400"/>
              <a:t>:</a:t>
            </a:r>
            <a:r>
              <a:rPr lang="zh-CN" altLang="en-US" sz="2400"/>
              <a:t>将关键词分为</a:t>
            </a:r>
            <a:r>
              <a:rPr lang="zh-CN" altLang="en-US" sz="2400">
                <a:solidFill>
                  <a:schemeClr val="tx1"/>
                </a:solidFill>
              </a:rPr>
              <a:t>共性关键词以及属性关键词。</a:t>
            </a:r>
            <a:endParaRPr lang="zh-CN" altLang="en-US" sz="2400"/>
          </a:p>
          <a:p>
            <a:pPr>
              <a:lnSpc>
                <a:spcPct val="100000"/>
              </a:lnSpc>
            </a:pPr>
            <a:endParaRPr lang="zh-CN" altLang="en-US" sz="2400"/>
          </a:p>
          <a:p>
            <a:pPr>
              <a:lnSpc>
                <a:spcPct val="100000"/>
              </a:lnSpc>
            </a:pPr>
            <a:r>
              <a:rPr lang="zh-CN" altLang="en-US" sz="2400"/>
              <a:t>第</a:t>
            </a:r>
            <a:r>
              <a:rPr lang="en-US" altLang="zh-CN" sz="2400"/>
              <a:t>3</a:t>
            </a:r>
            <a:r>
              <a:rPr lang="zh-CN" altLang="en-US" sz="2400"/>
              <a:t>和第</a:t>
            </a:r>
            <a:r>
              <a:rPr lang="en-US" altLang="zh-CN" sz="2400"/>
              <a:t>4</a:t>
            </a:r>
            <a:r>
              <a:rPr lang="zh-CN" altLang="en-US" sz="2400"/>
              <a:t>点的数据是由第</a:t>
            </a:r>
            <a:r>
              <a:rPr lang="en-US" altLang="zh-CN" sz="2400"/>
              <a:t>1</a:t>
            </a:r>
            <a:r>
              <a:rPr lang="zh-CN" altLang="en-US" sz="2400"/>
              <a:t>和第</a:t>
            </a:r>
            <a:r>
              <a:rPr lang="en-US" altLang="zh-CN" sz="2400"/>
              <a:t>2</a:t>
            </a:r>
            <a:r>
              <a:rPr lang="zh-CN" altLang="en-US" sz="2400"/>
              <a:t>点的数据二次手动加工得出。</a:t>
            </a: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" y="759460"/>
            <a:ext cx="5202555" cy="5721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的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附加维度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82715" y="764540"/>
            <a:ext cx="5484495" cy="5803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</a:pPr>
            <a:r>
              <a:rPr lang="zh-CN" altLang="en-US" sz="2000" b="1">
                <a:sym typeface="+mn-ea"/>
              </a:rPr>
              <a:t>最终做出来的词库的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附加维度</a:t>
            </a:r>
            <a:r>
              <a:rPr lang="zh-CN" altLang="en-US" sz="2000" b="1">
                <a:sym typeface="+mn-ea"/>
              </a:rPr>
              <a:t>会包含以下内容：</a:t>
            </a:r>
            <a:endParaRPr lang="zh-CN" altLang="en-US" sz="2000" b="1">
              <a:sym typeface="+mn-ea"/>
            </a:endParaRPr>
          </a:p>
          <a:p>
            <a:pPr>
              <a:lnSpc>
                <a:spcPct val="100000"/>
              </a:lnSpc>
            </a:pPr>
            <a:endParaRPr lang="zh-CN" altLang="en-US" sz="2000" b="1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sz="2000"/>
              <a:t>1. </a:t>
            </a:r>
            <a:r>
              <a:rPr lang="en-US" sz="2000" b="1"/>
              <a:t>点击集中度</a:t>
            </a:r>
            <a:r>
              <a:rPr lang="en-US" sz="2000"/>
              <a:t>：判断关键词是否容易集中吸引潜在买家的点击。</a:t>
            </a:r>
            <a:endParaRPr lang="en-US" sz="2000"/>
          </a:p>
          <a:p>
            <a:pPr>
              <a:lnSpc>
                <a:spcPct val="100000"/>
              </a:lnSpc>
            </a:pPr>
            <a:endParaRPr lang="en-US" sz="2000"/>
          </a:p>
          <a:p>
            <a:pPr>
              <a:lnSpc>
                <a:spcPct val="100000"/>
              </a:lnSpc>
            </a:pPr>
            <a:r>
              <a:rPr lang="en-US" sz="2000"/>
              <a:t>2. </a:t>
            </a:r>
            <a:r>
              <a:rPr lang="en-US" sz="2000" b="1"/>
              <a:t>前三ASIN转化总占比</a:t>
            </a:r>
            <a:r>
              <a:rPr lang="en-US" sz="2000"/>
              <a:t>：分析TOP产品对于某关键词的转化效果。</a:t>
            </a:r>
            <a:endParaRPr lang="en-US" sz="2000"/>
          </a:p>
          <a:p>
            <a:pPr>
              <a:lnSpc>
                <a:spcPct val="100000"/>
              </a:lnSpc>
            </a:pPr>
            <a:endParaRPr lang="en-US" sz="2000"/>
          </a:p>
          <a:p>
            <a:pPr>
              <a:lnSpc>
                <a:spcPct val="100000"/>
              </a:lnSpc>
            </a:pPr>
            <a:r>
              <a:rPr lang="en-US" sz="2000"/>
              <a:t>3</a:t>
            </a:r>
            <a:r>
              <a:rPr sz="2000"/>
              <a:t>. </a:t>
            </a:r>
            <a:r>
              <a:rPr sz="2000" b="1"/>
              <a:t>CPC竞价</a:t>
            </a:r>
            <a:r>
              <a:rPr sz="2000"/>
              <a:t>：了解关键词的竞价成本，评估广告预算分配。</a:t>
            </a:r>
            <a:endParaRPr sz="2000"/>
          </a:p>
          <a:p>
            <a:pPr>
              <a:lnSpc>
                <a:spcPct val="100000"/>
              </a:lnSpc>
            </a:pPr>
            <a:r>
              <a:rPr lang="en-US" sz="2000"/>
              <a:t>4</a:t>
            </a:r>
            <a:r>
              <a:rPr sz="2000"/>
              <a:t>. </a:t>
            </a:r>
            <a:r>
              <a:rPr sz="2000" b="1"/>
              <a:t>CVR（转化率）</a:t>
            </a:r>
            <a:r>
              <a:rPr sz="2000"/>
              <a:t>：评估通过该关键词带来的流量的转化效率。</a:t>
            </a:r>
            <a:endParaRPr sz="2000"/>
          </a:p>
          <a:p>
            <a:pPr>
              <a:lnSpc>
                <a:spcPct val="100000"/>
              </a:lnSpc>
            </a:pPr>
            <a:endParaRPr sz="2000"/>
          </a:p>
          <a:p>
            <a:pPr>
              <a:lnSpc>
                <a:spcPct val="100000"/>
              </a:lnSpc>
            </a:pPr>
            <a:r>
              <a:rPr lang="en-US" sz="2000"/>
              <a:t>5</a:t>
            </a:r>
            <a:r>
              <a:rPr sz="2000"/>
              <a:t>. </a:t>
            </a:r>
            <a:r>
              <a:rPr sz="2000" b="1"/>
              <a:t>产品平均客单价</a:t>
            </a:r>
            <a:r>
              <a:rPr sz="2000"/>
              <a:t>：分析市场价格分布，定位产品价格策略。</a:t>
            </a:r>
            <a:endParaRPr sz="2000"/>
          </a:p>
          <a:p>
            <a:pPr>
              <a:lnSpc>
                <a:spcPct val="100000"/>
              </a:lnSpc>
            </a:pPr>
            <a:endParaRPr sz="2000"/>
          </a:p>
          <a:p>
            <a:pPr>
              <a:lnSpc>
                <a:spcPct val="100000"/>
              </a:lnSpc>
            </a:pPr>
            <a:r>
              <a:rPr lang="en-US" sz="2000"/>
              <a:t>6</a:t>
            </a:r>
            <a:r>
              <a:rPr sz="2000"/>
              <a:t>. </a:t>
            </a:r>
            <a:r>
              <a:rPr sz="2000" b="1"/>
              <a:t>ACOS（广告花费占销售额比率）</a:t>
            </a:r>
            <a:r>
              <a:rPr sz="2000"/>
              <a:t>：衡量通过该关键词投放广告的成本效益。</a:t>
            </a:r>
            <a:endParaRPr sz="2000"/>
          </a:p>
          <a:p>
            <a:pPr>
              <a:lnSpc>
                <a:spcPct val="150000"/>
              </a:lnSpc>
            </a:pP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790575"/>
            <a:ext cx="6274435" cy="55156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60961" y="60961"/>
            <a:ext cx="6858002" cy="673608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6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9714914" y="4380914"/>
            <a:ext cx="4954172" cy="4954172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rgbClr val="5BD1D7">
                  <a:alpha val="62000"/>
                </a:srgbClr>
              </a:gs>
              <a:gs pos="39000">
                <a:srgbClr val="5BD1D7">
                  <a:alpha val="28000"/>
                </a:srgb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380958" y="842498"/>
            <a:ext cx="137942" cy="13794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09628" y="842498"/>
            <a:ext cx="137942" cy="1379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838298" y="842498"/>
            <a:ext cx="137942" cy="1379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524854" y="3146971"/>
            <a:ext cx="610040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</a:t>
            </a:r>
            <a:r>
              <a:rPr kumimoji="1" lang="zh-CN" altLang="en-US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库搭建实操</a:t>
            </a:r>
            <a:r>
              <a:rPr kumimoji="1" lang="zh-CN" altLang="en-US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演示</a:t>
            </a:r>
            <a:endParaRPr kumimoji="1" lang="zh-CN" altLang="en-US" sz="4705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3008571" y="3065949"/>
            <a:ext cx="168245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075">
                <a:ln w="12700">
                  <a:noFill/>
                </a:ln>
                <a:solidFill>
                  <a:schemeClr val="accent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04</a:t>
            </a:r>
            <a:endParaRPr kumimoji="1"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-1327535" y="1157978"/>
            <a:ext cx="5257931" cy="5103228"/>
            <a:chOff x="-1327535" y="1157978"/>
            <a:chExt cx="5257931" cy="5103228"/>
          </a:xfrm>
        </p:grpSpPr>
        <p:sp>
          <p:nvSpPr>
            <p:cNvPr id="11" name="标题 1"/>
            <p:cNvSpPr txBox="1"/>
            <p:nvPr/>
          </p:nvSpPr>
          <p:spPr>
            <a:xfrm rot="12891944">
              <a:off x="1480553" y="1204082"/>
              <a:ext cx="1426351" cy="4028691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0"/>
                  </a:schemeClr>
                </a:gs>
                <a:gs pos="72000">
                  <a:schemeClr val="accent1"/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rot="12891944" flipH="1" flipV="1">
              <a:off x="-339767" y="2072646"/>
              <a:ext cx="1824377" cy="4028690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75000"/>
                  </a:schemeClr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如何提升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效率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91135" y="836930"/>
            <a:ext cx="11593195" cy="1182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400"/>
              <a:t>我们在上边提到了词库搭建的三个指导原则：</a:t>
            </a:r>
            <a:r>
              <a:rPr lang="zh-CN" altLang="en-US" sz="2400" b="1"/>
              <a:t>全面性、相关性和动态性</a:t>
            </a:r>
            <a:r>
              <a:rPr lang="zh-CN" altLang="en-US" sz="2400"/>
              <a:t>，那有没有办法</a:t>
            </a:r>
            <a:r>
              <a:rPr lang="zh-CN" altLang="en-US" sz="2400"/>
              <a:t>能够帮助大家极大地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提升效率</a:t>
            </a:r>
            <a:r>
              <a:rPr lang="zh-CN" altLang="en-US" sz="2400"/>
              <a:t>？</a:t>
            </a:r>
            <a:endParaRPr lang="zh-CN" altLang="en-US" sz="2400"/>
          </a:p>
          <a:p>
            <a:pPr>
              <a:lnSpc>
                <a:spcPct val="150000"/>
              </a:lnSpc>
            </a:pPr>
            <a:endParaRPr lang="zh-CN" altLang="en-US" sz="2400"/>
          </a:p>
          <a:p>
            <a:endParaRPr lang="zh-CN" altLang="en-US" sz="2400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96545" y="2226945"/>
            <a:ext cx="11487785" cy="625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sym typeface="+mn-ea"/>
              </a:rPr>
              <a:t>把能自动化的先自动化，然后把能批量化的批量化，最后再手动</a:t>
            </a:r>
            <a:r>
              <a:rPr lang="zh-CN" altLang="en-US" sz="2400">
                <a:sym typeface="+mn-ea"/>
              </a:rPr>
              <a:t>。</a:t>
            </a:r>
            <a:endParaRPr lang="zh-CN" altLang="en-US" sz="2400"/>
          </a:p>
          <a:p>
            <a:pPr>
              <a:lnSpc>
                <a:spcPct val="150000"/>
              </a:lnSpc>
            </a:pPr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80365" y="3056255"/>
            <a:ext cx="1125982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ym typeface="+mn-ea"/>
              </a:rPr>
              <a:t>自动化的部分指的是通过多竞品拓词，然后自动筛查相关性</a:t>
            </a:r>
            <a:r>
              <a:rPr lang="zh-CN" altLang="en-US" sz="2400">
                <a:sym typeface="+mn-ea"/>
              </a:rPr>
              <a:t>。这一步大家原来如果是自己做的话，基本都是去亚马逊前台数相似产品的数量，或者用工具看自然流量前10的产品，无论哪种方法，耗时都是非常久的，但Sif能够实现自动化的标记。这也是我们为什么先用这个方法的原因，因为大部分的词通过自动化就能完成相关性标记。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60961" y="60961"/>
            <a:ext cx="6858002" cy="673608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6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9714914" y="4380914"/>
            <a:ext cx="4954172" cy="4954172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rgbClr val="5BD1D7">
                  <a:alpha val="62000"/>
                </a:srgbClr>
              </a:gs>
              <a:gs pos="39000">
                <a:srgbClr val="5BD1D7">
                  <a:alpha val="28000"/>
                </a:srgb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380958" y="842498"/>
            <a:ext cx="137942" cy="13794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09628" y="842498"/>
            <a:ext cx="137942" cy="1379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838298" y="842498"/>
            <a:ext cx="137942" cy="1379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524854" y="3146971"/>
            <a:ext cx="610040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</a:t>
            </a:r>
            <a:r>
              <a:rPr kumimoji="1" lang="zh-CN" altLang="en-US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库数据</a:t>
            </a:r>
            <a:r>
              <a:rPr kumimoji="1" lang="zh-CN" altLang="en-US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收集</a:t>
            </a:r>
            <a:endParaRPr kumimoji="1" lang="zh-CN" altLang="en-US" sz="4705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3008571" y="3065949"/>
            <a:ext cx="168245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075">
                <a:ln w="12700">
                  <a:noFill/>
                </a:ln>
                <a:solidFill>
                  <a:schemeClr val="accent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04.1</a:t>
            </a:r>
            <a:endParaRPr kumimoji="1"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-1327535" y="1157978"/>
            <a:ext cx="5257931" cy="5103228"/>
            <a:chOff x="-1327535" y="1157978"/>
            <a:chExt cx="5257931" cy="5103228"/>
          </a:xfrm>
        </p:grpSpPr>
        <p:sp>
          <p:nvSpPr>
            <p:cNvPr id="11" name="标题 1"/>
            <p:cNvSpPr txBox="1"/>
            <p:nvPr/>
          </p:nvSpPr>
          <p:spPr>
            <a:xfrm rot="12891944">
              <a:off x="1480553" y="1204082"/>
              <a:ext cx="1426351" cy="4028691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0"/>
                  </a:schemeClr>
                </a:gs>
                <a:gs pos="72000">
                  <a:schemeClr val="accent1"/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rot="12891944" flipH="1" flipV="1">
              <a:off x="-339767" y="2072646"/>
              <a:ext cx="1824377" cy="4028690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75000"/>
                  </a:schemeClr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SIF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多竞品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拓词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1770" y="793750"/>
            <a:ext cx="105613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第1步：进行多竞品拓词，并将拓词创建一个产品词库：单录行车记录仪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2354" r="23393" b="26930"/>
          <a:stretch>
            <a:fillRect/>
          </a:stretch>
        </p:blipFill>
        <p:spPr>
          <a:xfrm>
            <a:off x="263525" y="1196975"/>
            <a:ext cx="10989945" cy="53384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13523" t="7833" r="10212" b="10237"/>
          <a:stretch>
            <a:fillRect/>
          </a:stretch>
        </p:blipFill>
        <p:spPr>
          <a:xfrm>
            <a:off x="2567305" y="4406265"/>
            <a:ext cx="3958590" cy="2425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kumimoji="1" lang="en-US" altLang="zh-CN" sz="280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SIF</a:t>
            </a:r>
            <a:r>
              <a:rPr kumimoji="1" lang="zh-CN" altLang="en-US" sz="280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多竞品拓词</a:t>
            </a:r>
            <a:endParaRPr kumimoji="1" lang="zh-CN" altLang="en-US" sz="280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9425" y="765175"/>
            <a:ext cx="105613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这里可以设置关键词跟产品的相关性，不清楚的先按系统默认。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1778" r="26674" b="38268"/>
          <a:stretch>
            <a:fillRect/>
          </a:stretch>
        </p:blipFill>
        <p:spPr>
          <a:xfrm>
            <a:off x="479425" y="1196975"/>
            <a:ext cx="11262360" cy="5568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kumimoji="1" lang="en-US" altLang="zh-CN" sz="280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SIF</a:t>
            </a:r>
            <a:r>
              <a:rPr kumimoji="1" lang="zh-CN" altLang="en-US" sz="280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多竞品拓词</a:t>
            </a:r>
            <a:endParaRPr kumimoji="1" lang="zh-CN" altLang="en-US" sz="280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7670" y="779145"/>
            <a:ext cx="105613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这里可以将筛选的</a:t>
            </a:r>
            <a:r>
              <a:rPr lang="en-US" altLang="zh-CN" sz="2000"/>
              <a:t>ASIN</a:t>
            </a:r>
            <a:r>
              <a:rPr lang="zh-CN" altLang="en-US" sz="2000"/>
              <a:t>创建一个产品的对标竞品</a:t>
            </a:r>
            <a:r>
              <a:rPr lang="zh-CN" altLang="en-US" sz="2000"/>
              <a:t>库。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6876" t="1400" r="29182" b="34222"/>
          <a:stretch>
            <a:fillRect/>
          </a:stretch>
        </p:blipFill>
        <p:spPr>
          <a:xfrm>
            <a:off x="479425" y="1197610"/>
            <a:ext cx="10737215" cy="53365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kumimoji="1" lang="en-US" altLang="zh-CN" sz="280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SIF</a:t>
            </a:r>
            <a:r>
              <a:rPr kumimoji="1" lang="zh-CN" altLang="en-US" sz="280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词</a:t>
            </a:r>
            <a:r>
              <a:rPr kumimoji="1" lang="zh-CN" altLang="en-US" sz="280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根拓词</a:t>
            </a:r>
            <a:endParaRPr kumimoji="1" lang="zh-CN" altLang="en-US" sz="280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915" y="759460"/>
            <a:ext cx="11786235" cy="683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10000"/>
              </a:lnSpc>
            </a:pPr>
            <a:r>
              <a:rPr lang="zh-CN" altLang="en-US"/>
              <a:t>如果产品</a:t>
            </a:r>
            <a:r>
              <a:rPr lang="en-US" altLang="zh-CN"/>
              <a:t>ASIN</a:t>
            </a:r>
            <a:r>
              <a:rPr lang="zh-CN" altLang="en-US"/>
              <a:t>选择的数量不够多，可能关键词就没办法拓展全面，我们还可以通过以词根拓词和品类拓词</a:t>
            </a:r>
            <a:r>
              <a:rPr lang="zh-CN" altLang="en-US"/>
              <a:t>进行补充。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zh-CN" altLang="en-US">
                <a:sym typeface="+mn-ea"/>
              </a:rPr>
              <a:t>第2步：以词根拓词，做二次收集，</a:t>
            </a:r>
            <a:r>
              <a:rPr lang="en-US" altLang="zh-CN">
                <a:sym typeface="+mn-ea"/>
              </a:rPr>
              <a:t>SIF</a:t>
            </a:r>
            <a:r>
              <a:rPr lang="zh-CN" altLang="en-US">
                <a:sym typeface="+mn-ea"/>
              </a:rPr>
              <a:t>会自动将之前已经在词库的词进行去重。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8926" r="5366" b="16615"/>
          <a:stretch>
            <a:fillRect/>
          </a:stretch>
        </p:blipFill>
        <p:spPr>
          <a:xfrm>
            <a:off x="446405" y="1442720"/>
            <a:ext cx="11233150" cy="53943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19359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kumimoji="1" lang="en-US" altLang="zh-CN" sz="280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SIF</a:t>
            </a:r>
            <a:r>
              <a:rPr kumimoji="1" lang="zh-CN" altLang="en-US" sz="280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细分</a:t>
            </a:r>
            <a:r>
              <a:rPr kumimoji="1" lang="zh-CN" altLang="en-US" sz="280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品类拓词</a:t>
            </a:r>
            <a:endParaRPr kumimoji="1" lang="zh-CN" altLang="en-US" sz="280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5280" y="83693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第3步：以细分品类进行拓词，补充词库的完整性</a:t>
            </a:r>
            <a:endParaRPr lang="zh-CN" altLang="en-US" sz="20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2272" r="28585" b="39717"/>
          <a:stretch>
            <a:fillRect/>
          </a:stretch>
        </p:blipFill>
        <p:spPr>
          <a:xfrm>
            <a:off x="335280" y="1341120"/>
            <a:ext cx="11410315" cy="49047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总结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1180" y="908685"/>
            <a:ext cx="10887710" cy="52374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2400"/>
              <a:t>大家已经看到了，越是后边的方法，操作起来就越慢，能拓展的关键词也越少，所以我们建议大家先用多竞品拓词并自动筛查，这样大部分词很快就可以标记完成，只有少量词需要批量和手动来完成。</a:t>
            </a:r>
            <a:endParaRPr lang="zh-CN" altLang="en-US" sz="2400"/>
          </a:p>
          <a:p>
            <a:pPr>
              <a:lnSpc>
                <a:spcPct val="150000"/>
              </a:lnSpc>
            </a:pP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再回顾</a:t>
            </a:r>
            <a:r>
              <a:rPr lang="zh-CN" altLang="en-US" sz="2400"/>
              <a:t>下：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 b="1"/>
              <a:t>通过多竞品拓词、词根拓词、品类拓词</a:t>
            </a:r>
            <a:r>
              <a:rPr lang="zh-CN" altLang="en-US" sz="2400" b="1">
                <a:solidFill>
                  <a:srgbClr val="FF0000"/>
                </a:solidFill>
              </a:rPr>
              <a:t>实现全面性；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 b="1"/>
              <a:t>通过自动或手动标记相关性</a:t>
            </a:r>
            <a:r>
              <a:rPr lang="zh-CN" altLang="en-US" sz="2400" b="1">
                <a:solidFill>
                  <a:srgbClr val="FF0000"/>
                </a:solidFill>
              </a:rPr>
              <a:t>实现相关性；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 b="1"/>
              <a:t>通过增量更新</a:t>
            </a:r>
            <a:r>
              <a:rPr lang="zh-CN" altLang="en-US" sz="2400" b="1">
                <a:solidFill>
                  <a:srgbClr val="FF0000"/>
                </a:solidFill>
              </a:rPr>
              <a:t>实现动态性</a:t>
            </a:r>
            <a:r>
              <a:rPr lang="zh-CN" altLang="en-US" sz="2400"/>
              <a:t>。</a:t>
            </a:r>
            <a:endParaRPr lang="zh-CN" alt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kumimoji="1" lang="en-US" altLang="zh-CN" sz="280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SIF</a:t>
            </a:r>
            <a:r>
              <a:rPr kumimoji="1" lang="zh-CN" altLang="en-US" sz="280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词库</a:t>
            </a:r>
            <a:r>
              <a:rPr kumimoji="1" lang="zh-CN" altLang="en-US" sz="280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下载</a:t>
            </a:r>
            <a:endParaRPr kumimoji="1" lang="zh-CN" altLang="en-US" sz="280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5325" y="756920"/>
            <a:ext cx="76974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到这一步，我们基础的数据库就已经完成了数据收集，进行数据下载。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1124585"/>
            <a:ext cx="10714355" cy="52882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60961" y="60961"/>
            <a:ext cx="6858002" cy="673608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6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9714914" y="4380914"/>
            <a:ext cx="4954172" cy="4954172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rgbClr val="5BD1D7">
                  <a:alpha val="62000"/>
                </a:srgbClr>
              </a:gs>
              <a:gs pos="39000">
                <a:srgbClr val="5BD1D7">
                  <a:alpha val="28000"/>
                </a:srgb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380958" y="842498"/>
            <a:ext cx="137942" cy="13794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09628" y="842498"/>
            <a:ext cx="137942" cy="1379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838298" y="842498"/>
            <a:ext cx="137942" cy="1379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524854" y="3146971"/>
            <a:ext cx="610040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</a:t>
            </a:r>
            <a:r>
              <a:rPr kumimoji="1" lang="zh-CN" altLang="en-US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库数二次</a:t>
            </a:r>
            <a:r>
              <a:rPr kumimoji="1" lang="zh-CN" altLang="en-US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加工</a:t>
            </a:r>
            <a:endParaRPr kumimoji="1" lang="zh-CN" altLang="en-US" sz="4705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3008571" y="3065949"/>
            <a:ext cx="168245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075">
                <a:ln w="12700">
                  <a:noFill/>
                </a:ln>
                <a:solidFill>
                  <a:schemeClr val="accent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04.2</a:t>
            </a:r>
            <a:endParaRPr kumimoji="1"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-1327535" y="1157978"/>
            <a:ext cx="5257931" cy="5103228"/>
            <a:chOff x="-1327535" y="1157978"/>
            <a:chExt cx="5257931" cy="5103228"/>
          </a:xfrm>
        </p:grpSpPr>
        <p:sp>
          <p:nvSpPr>
            <p:cNvPr id="11" name="标题 1"/>
            <p:cNvSpPr txBox="1"/>
            <p:nvPr/>
          </p:nvSpPr>
          <p:spPr>
            <a:xfrm rot="12891944">
              <a:off x="1480553" y="1204082"/>
              <a:ext cx="1426351" cy="4028691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0"/>
                  </a:schemeClr>
                </a:gs>
                <a:gs pos="72000">
                  <a:schemeClr val="accent1"/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rot="12891944" flipH="1" flipV="1">
              <a:off x="-339767" y="2072646"/>
              <a:ext cx="1824377" cy="4028690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75000"/>
                  </a:schemeClr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数据二次加工</a:t>
            </a:r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 </a:t>
            </a:r>
            <a:r>
              <a:rPr lang="zh-CN" altLang="en-US" sz="2800">
                <a:sym typeface="+mn-ea"/>
              </a:rPr>
              <a:t>我们先看下载完成的表格是什么样的</a:t>
            </a:r>
            <a:endParaRPr kumimoji="1" lang="en-US" altLang="zh-CN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836930"/>
            <a:ext cx="9330690" cy="58312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数据二次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加工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" y="764540"/>
            <a:ext cx="5867400" cy="59347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463665" y="1052830"/>
            <a:ext cx="4928870" cy="37858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400"/>
              <a:t>第1步-筛选出相关性高的词</a:t>
            </a:r>
            <a:endParaRPr lang="zh-CN" altLang="en-US" sz="2400"/>
          </a:p>
          <a:p>
            <a:pPr>
              <a:lnSpc>
                <a:spcPct val="150000"/>
              </a:lnSpc>
            </a:pP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1、将ABA排名进行升序排列，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 </a:t>
            </a:r>
            <a:r>
              <a:rPr lang="en-US" altLang="zh-CN" sz="2400"/>
              <a:t>    </a:t>
            </a:r>
            <a:r>
              <a:rPr lang="zh-CN" altLang="en-US" sz="2400"/>
              <a:t>筛选掉没有排名的关键词；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2、筛选高、中相关的关键词；</a:t>
            </a:r>
            <a:endParaRPr lang="zh-CN" altLang="en-US" sz="2400"/>
          </a:p>
          <a:p>
            <a:pPr>
              <a:lnSpc>
                <a:spcPct val="150000"/>
              </a:lnSpc>
            </a:pPr>
            <a:endParaRPr lang="zh-CN" altLang="en-US"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数据二次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加工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80100" y="836930"/>
            <a:ext cx="6153150" cy="5523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</a:pPr>
            <a:r>
              <a:rPr lang="zh-CN" altLang="en-US" sz="2200"/>
              <a:t>第2步-找出产品共性关键词</a:t>
            </a:r>
            <a:endParaRPr lang="zh-CN" altLang="en-US" sz="2200"/>
          </a:p>
          <a:p>
            <a:pPr>
              <a:lnSpc>
                <a:spcPct val="100000"/>
              </a:lnSpc>
            </a:pPr>
            <a:endParaRPr lang="zh-CN" altLang="en-US" sz="2200"/>
          </a:p>
          <a:p>
            <a:pPr>
              <a:lnSpc>
                <a:spcPct val="100000"/>
              </a:lnSpc>
            </a:pPr>
            <a:r>
              <a:rPr lang="zh-CN" altLang="en-US" sz="2200" b="1">
                <a:solidFill>
                  <a:srgbClr val="FF0000"/>
                </a:solidFill>
              </a:rPr>
              <a:t>产品关键词的组成是由</a:t>
            </a:r>
            <a:r>
              <a:rPr lang="en-US" altLang="zh-CN" sz="2200" b="1">
                <a:solidFill>
                  <a:srgbClr val="FF0000"/>
                </a:solidFill>
              </a:rPr>
              <a:t>:</a:t>
            </a:r>
            <a:r>
              <a:rPr lang="zh-CN" altLang="en-US" sz="2200" b="1">
                <a:solidFill>
                  <a:srgbClr val="FF0000"/>
                </a:solidFill>
              </a:rPr>
              <a:t>共性关键词+属性关键词</a:t>
            </a:r>
            <a:endParaRPr lang="zh-CN" altLang="en-US" sz="2200"/>
          </a:p>
          <a:p>
            <a:pPr>
              <a:lnSpc>
                <a:spcPct val="100000"/>
              </a:lnSpc>
            </a:pPr>
            <a:endParaRPr lang="zh-CN" altLang="en-US" sz="2200"/>
          </a:p>
          <a:p>
            <a:pPr>
              <a:lnSpc>
                <a:spcPct val="100000"/>
              </a:lnSpc>
            </a:pPr>
            <a:r>
              <a:rPr lang="zh-CN" altLang="en-US" sz="2200" b="1"/>
              <a:t>什么是共性关键词</a:t>
            </a:r>
            <a:r>
              <a:rPr lang="en-US" altLang="zh-CN" sz="2200"/>
              <a:t>:</a:t>
            </a:r>
            <a:r>
              <a:rPr lang="zh-CN" altLang="en-US" sz="2200"/>
              <a:t>能代表某一类产品的关键词，比如：行车记录仪 dash cam</a:t>
            </a:r>
            <a:endParaRPr lang="zh-CN" altLang="en-US" sz="2200"/>
          </a:p>
          <a:p>
            <a:pPr>
              <a:lnSpc>
                <a:spcPct val="100000"/>
              </a:lnSpc>
            </a:pPr>
            <a:endParaRPr lang="zh-CN" altLang="en-US" sz="2200"/>
          </a:p>
          <a:p>
            <a:pPr>
              <a:lnSpc>
                <a:spcPct val="100000"/>
              </a:lnSpc>
            </a:pPr>
            <a:r>
              <a:rPr lang="zh-CN" altLang="en-US" sz="2200" b="1"/>
              <a:t>什么是属性关键词</a:t>
            </a:r>
            <a:r>
              <a:rPr lang="en-US" altLang="zh-CN" sz="2200"/>
              <a:t>:</a:t>
            </a:r>
            <a:r>
              <a:rPr lang="zh-CN" altLang="en-US" sz="2200"/>
              <a:t>它是共性关键词的修饰词，可以前置也可以后置，比如：前置行车记录仪，front dash cam</a:t>
            </a:r>
            <a:r>
              <a:rPr lang="en-US" altLang="zh-CN" sz="2200"/>
              <a:t>  </a:t>
            </a:r>
            <a:r>
              <a:rPr lang="zh-CN" altLang="en-US" sz="2200"/>
              <a:t>行车记录仪前置  Dash cam front。</a:t>
            </a:r>
            <a:endParaRPr lang="zh-CN" altLang="en-US" sz="2200"/>
          </a:p>
          <a:p>
            <a:pPr>
              <a:lnSpc>
                <a:spcPct val="100000"/>
              </a:lnSpc>
            </a:pPr>
            <a:endParaRPr lang="zh-CN" altLang="en-US" sz="2200"/>
          </a:p>
          <a:p>
            <a:pPr>
              <a:lnSpc>
                <a:spcPct val="100000"/>
              </a:lnSpc>
            </a:pPr>
            <a:r>
              <a:rPr lang="zh-CN" altLang="en-US" sz="2200" b="1"/>
              <a:t>通过产品的共性关键词找到共性关键词根，通过产品的属性关键词，找出产品核心卖点及功能、使用场景、适用</a:t>
            </a:r>
            <a:r>
              <a:rPr lang="zh-CN" altLang="en-US" sz="2200" b="1">
                <a:sym typeface="+mn-ea"/>
              </a:rPr>
              <a:t>对象</a:t>
            </a:r>
            <a:r>
              <a:rPr lang="zh-CN" altLang="en-US" sz="2200" b="1"/>
              <a:t>，这对于后面写产品</a:t>
            </a:r>
            <a:r>
              <a:rPr lang="en-US" altLang="zh-CN" sz="2200" b="1"/>
              <a:t>Liting</a:t>
            </a:r>
            <a:r>
              <a:rPr lang="zh-CN" altLang="en-US" sz="2200" b="1"/>
              <a:t>，以及产品广告选词都有非常大的帮助。</a:t>
            </a:r>
            <a:endParaRPr lang="zh-CN" altLang="en-US" sz="2200" b="1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990" y="764540"/>
            <a:ext cx="5753100" cy="606234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数据二次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加工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91200" y="908685"/>
            <a:ext cx="6281420" cy="55454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</a:pPr>
            <a:r>
              <a:rPr lang="zh-CN" altLang="en-US" sz="2200"/>
              <a:t>第3步完善基础词库</a:t>
            </a:r>
            <a:r>
              <a:rPr lang="en-US" altLang="zh-CN" sz="2200"/>
              <a:t>-</a:t>
            </a:r>
            <a:r>
              <a:rPr lang="zh-CN" altLang="en-US" sz="2200"/>
              <a:t>关键词再归类</a:t>
            </a:r>
            <a:endParaRPr lang="zh-CN" altLang="en-US" sz="2200"/>
          </a:p>
          <a:p>
            <a:pPr>
              <a:lnSpc>
                <a:spcPct val="100000"/>
              </a:lnSpc>
            </a:pPr>
            <a:endParaRPr lang="zh-CN" altLang="en-US" sz="2200"/>
          </a:p>
          <a:p>
            <a:pPr>
              <a:lnSpc>
                <a:spcPct val="100000"/>
              </a:lnSpc>
            </a:pPr>
            <a:r>
              <a:rPr lang="zh-CN" altLang="en-US" sz="2200"/>
              <a:t>1. 增加关键词词根归类：从</a:t>
            </a:r>
            <a:r>
              <a:rPr lang="zh-CN" altLang="en-US" sz="2200">
                <a:sym typeface="+mn-ea"/>
              </a:rPr>
              <a:t>SIF</a:t>
            </a:r>
            <a:r>
              <a:rPr lang="zh-CN" altLang="en-US" sz="2200"/>
              <a:t>词频统计可以找出产品的关键词根；</a:t>
            </a:r>
            <a:endParaRPr lang="zh-CN" altLang="en-US" sz="2200"/>
          </a:p>
          <a:p>
            <a:pPr>
              <a:lnSpc>
                <a:spcPct val="100000"/>
              </a:lnSpc>
            </a:pPr>
            <a:endParaRPr lang="zh-CN" altLang="en-US" sz="2200"/>
          </a:p>
          <a:p>
            <a:pPr>
              <a:lnSpc>
                <a:spcPct val="100000"/>
              </a:lnSpc>
            </a:pPr>
            <a:r>
              <a:rPr lang="zh-CN" altLang="en-US" sz="2200"/>
              <a:t>2. 增加关键词大小归类：</a:t>
            </a:r>
            <a:r>
              <a:rPr sz="2200"/>
              <a:t>按照ABA排名来做划分,</a:t>
            </a:r>
            <a:endParaRPr sz="2200"/>
          </a:p>
          <a:p>
            <a:pPr>
              <a:lnSpc>
                <a:spcPct val="100000"/>
              </a:lnSpc>
            </a:pPr>
            <a:endParaRPr sz="2200"/>
          </a:p>
          <a:p>
            <a:pPr indent="0">
              <a:lnSpc>
                <a:spcPct val="100000"/>
              </a:lnSpc>
              <a:buNone/>
            </a:pPr>
            <a:r>
              <a:rPr sz="2200"/>
              <a:t>ABA10万名以内划分为</a:t>
            </a:r>
            <a:r>
              <a:rPr sz="2200" b="1"/>
              <a:t>大词</a:t>
            </a:r>
            <a:endParaRPr sz="2200"/>
          </a:p>
          <a:p>
            <a:pPr indent="0">
              <a:lnSpc>
                <a:spcPct val="100000"/>
              </a:lnSpc>
              <a:buNone/>
            </a:pPr>
            <a:r>
              <a:rPr sz="2200"/>
              <a:t>ABA10万-50万名划分为</a:t>
            </a:r>
            <a:r>
              <a:rPr sz="2200" b="1"/>
              <a:t>中词</a:t>
            </a:r>
            <a:endParaRPr sz="2200" b="1"/>
          </a:p>
          <a:p>
            <a:pPr indent="0">
              <a:lnSpc>
                <a:spcPct val="100000"/>
              </a:lnSpc>
              <a:buNone/>
            </a:pPr>
            <a:r>
              <a:rPr sz="2200"/>
              <a:t>ABA50万-100万名的关键词划分为</a:t>
            </a:r>
            <a:r>
              <a:rPr sz="2200" b="1"/>
              <a:t>长尾词</a:t>
            </a:r>
            <a:endParaRPr sz="2200"/>
          </a:p>
          <a:p>
            <a:pPr indent="0">
              <a:lnSpc>
                <a:spcPct val="100000"/>
              </a:lnSpc>
              <a:buNone/>
            </a:pPr>
            <a:endParaRPr lang="zh-CN" sz="2200"/>
          </a:p>
          <a:p>
            <a:pPr>
              <a:lnSpc>
                <a:spcPct val="100000"/>
              </a:lnSpc>
            </a:pPr>
            <a:r>
              <a:rPr sz="2200"/>
              <a:t>这个划分的颗粒度，可以根据自身的运营习惯来划分</a:t>
            </a:r>
            <a:endParaRPr sz="2200"/>
          </a:p>
          <a:p>
            <a:pPr>
              <a:lnSpc>
                <a:spcPct val="100000"/>
              </a:lnSpc>
            </a:pPr>
            <a:endParaRPr sz="2200"/>
          </a:p>
          <a:p>
            <a:pPr>
              <a:lnSpc>
                <a:spcPct val="100000"/>
              </a:lnSpc>
            </a:pPr>
            <a:r>
              <a:rPr lang="zh-CN" sz="2200"/>
              <a:t>到这里，词库的基础维度就建立完成了。</a:t>
            </a:r>
            <a:endParaRPr lang="zh-CN" sz="220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990" y="759460"/>
            <a:ext cx="5610860" cy="60928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数据二次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加工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59600" y="1052830"/>
            <a:ext cx="5016500" cy="5143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</a:pPr>
            <a:r>
              <a:rPr lang="zh-CN" altLang="en-US" sz="2400"/>
              <a:t>第</a:t>
            </a:r>
            <a:r>
              <a:rPr lang="en-US" altLang="zh-CN" sz="2400"/>
              <a:t>4</a:t>
            </a:r>
            <a:r>
              <a:rPr lang="zh-CN" altLang="en-US" sz="2400"/>
              <a:t>步完善词库附件维度需要的指标</a:t>
            </a:r>
            <a:endParaRPr lang="zh-CN" altLang="en-US" sz="2400"/>
          </a:p>
          <a:p>
            <a:pPr>
              <a:lnSpc>
                <a:spcPct val="100000"/>
              </a:lnSpc>
            </a:pPr>
            <a:endParaRPr lang="zh-CN" altLang="en-US" sz="2400"/>
          </a:p>
          <a:p>
            <a:pPr>
              <a:lnSpc>
                <a:spcPct val="100000"/>
              </a:lnSpc>
            </a:pPr>
            <a:r>
              <a:rPr lang="en-US" sz="2400">
                <a:sym typeface="+mn-ea"/>
              </a:rPr>
              <a:t>1. 点击集中度</a:t>
            </a:r>
            <a:endParaRPr lang="en-US" sz="240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sz="2400">
                <a:sym typeface="+mn-ea"/>
              </a:rPr>
              <a:t>2. 前三ASIN转化总占比</a:t>
            </a:r>
            <a:endParaRPr lang="en-US" sz="240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sz="2400">
                <a:sym typeface="+mn-ea"/>
              </a:rPr>
              <a:t>3</a:t>
            </a:r>
            <a:r>
              <a:rPr sz="2400">
                <a:sym typeface="+mn-ea"/>
              </a:rPr>
              <a:t>. CPC竞价</a:t>
            </a:r>
            <a:endParaRPr sz="240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sz="2400">
                <a:sym typeface="+mn-ea"/>
              </a:rPr>
              <a:t>4</a:t>
            </a:r>
            <a:r>
              <a:rPr sz="2400">
                <a:sym typeface="+mn-ea"/>
              </a:rPr>
              <a:t>. CVR（转化率）</a:t>
            </a:r>
            <a:endParaRPr sz="240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sz="2400">
                <a:sym typeface="+mn-ea"/>
              </a:rPr>
              <a:t>5</a:t>
            </a:r>
            <a:r>
              <a:rPr sz="2400">
                <a:sym typeface="+mn-ea"/>
              </a:rPr>
              <a:t>. 产品平均客单价</a:t>
            </a:r>
            <a:endParaRPr sz="240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sz="2400">
                <a:sym typeface="+mn-ea"/>
              </a:rPr>
              <a:t>6</a:t>
            </a:r>
            <a:r>
              <a:rPr sz="2400">
                <a:sym typeface="+mn-ea"/>
              </a:rPr>
              <a:t>. ACOS（广告花费占销售额比率）</a:t>
            </a:r>
            <a:endParaRPr sz="2400">
              <a:sym typeface="+mn-ea"/>
            </a:endParaRPr>
          </a:p>
          <a:p>
            <a:pPr>
              <a:lnSpc>
                <a:spcPct val="150000"/>
              </a:lnSpc>
            </a:pPr>
            <a:endParaRPr lang="en-US" sz="1600"/>
          </a:p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</a:rPr>
              <a:t>通过这些维度的数据能为后续的广告运营提供指导，</a:t>
            </a:r>
            <a:r>
              <a:rPr lang="zh-CN" altLang="en-US" sz="2400" b="1">
                <a:solidFill>
                  <a:srgbClr val="FF0000"/>
                </a:solidFill>
              </a:rPr>
              <a:t>降低无效的广告支出。</a:t>
            </a:r>
            <a:endParaRPr lang="zh-CN" altLang="en-US" sz="2400" b="1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990" y="799465"/>
            <a:ext cx="6736715" cy="60007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23570" y="1484630"/>
            <a:ext cx="88436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/>
              <a:t>第三个问题：知道如何快速获去这些数据的老铁，举个手看看。</a:t>
            </a:r>
            <a:endParaRPr lang="zh-CN" altLang="en-US" sz="2400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79425" y="2420620"/>
            <a:ext cx="1042479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（互动</a:t>
            </a:r>
            <a:r>
              <a:rPr lang="zh-CN" altLang="en-US"/>
              <a:t>）</a:t>
            </a:r>
            <a:endParaRPr lang="zh-CN" altLang="en-US"/>
          </a:p>
          <a:p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629285" y="3429000"/>
            <a:ext cx="930275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/>
              <a:t>第四个问题：知道如何快速将这些数据跟关键词</a:t>
            </a:r>
            <a:r>
              <a:rPr lang="zh-CN" altLang="en-US" sz="2400"/>
              <a:t>库进行整合的老铁，举个手看看。</a:t>
            </a:r>
            <a:endParaRPr lang="zh-CN" altLang="en-US" sz="2400"/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479425" y="4653280"/>
            <a:ext cx="10424795" cy="1176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/>
              <a:t>（互动）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15415" y="1268730"/>
            <a:ext cx="9182735" cy="3427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400"/>
              <a:t>1. 点击集中度、前三ASIN转化总占比：来自卖家精灵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2. CPC建议竞价、CVR(点击转化率)：来自极目数据；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2. 客单价：从竞品的平均值代入；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3. ACOS=CPC/CVR/客单价，用公式。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4、导出数据整体复制进入词库，可以按来源+日期命名，用函数公式VLookUP,将表格数据进行自动匹配。</a:t>
            </a:r>
            <a:endParaRPr lang="zh-CN" altLang="en-US"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数据：前三个ASIN转化总占比、点击集中度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、产品平均客单价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2306955"/>
            <a:ext cx="7545070" cy="45510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t="6908" r="41816" b="-9884"/>
          <a:stretch>
            <a:fillRect/>
          </a:stretch>
        </p:blipFill>
        <p:spPr>
          <a:xfrm>
            <a:off x="0" y="764540"/>
            <a:ext cx="5120005" cy="42976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r="12986" b="1401"/>
          <a:stretch>
            <a:fillRect/>
          </a:stretch>
        </p:blipFill>
        <p:spPr>
          <a:xfrm>
            <a:off x="7241540" y="764540"/>
            <a:ext cx="4893310" cy="445960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数据：CPC建议竞价、CVR(点击转化率)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" y="764540"/>
            <a:ext cx="7947660" cy="39179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765" y="2493010"/>
            <a:ext cx="6844665" cy="42354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最终完成的关键词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库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" y="908050"/>
            <a:ext cx="12134215" cy="53943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95325" y="1844675"/>
            <a:ext cx="788606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完成到上面的程度，大概是完成了词库搭建的</a:t>
            </a:r>
            <a:r>
              <a:rPr lang="en-US" altLang="zh-CN" sz="2400"/>
              <a:t>80%</a:t>
            </a:r>
            <a:endParaRPr lang="en-US" altLang="zh-CN" sz="2400"/>
          </a:p>
          <a:p>
            <a:endParaRPr lang="zh-CN" altLang="en-US" sz="2400"/>
          </a:p>
          <a:p>
            <a:r>
              <a:rPr lang="zh-CN" altLang="en-US" sz="2400"/>
              <a:t>还有</a:t>
            </a:r>
            <a:r>
              <a:rPr lang="en-US" altLang="zh-CN" sz="2400"/>
              <a:t>20%</a:t>
            </a:r>
            <a:r>
              <a:rPr lang="zh-CN" altLang="en-US" sz="2400"/>
              <a:t>是：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10%</a:t>
            </a:r>
            <a:r>
              <a:rPr lang="zh-CN" altLang="en-US" sz="2400"/>
              <a:t>：关键词否定词库、竞品</a:t>
            </a:r>
            <a:r>
              <a:rPr lang="en-US" altLang="zh-CN" sz="2400"/>
              <a:t>ASIN</a:t>
            </a:r>
            <a:r>
              <a:rPr lang="zh-CN" altLang="en-US" sz="2400"/>
              <a:t>库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10%</a:t>
            </a:r>
            <a:r>
              <a:rPr lang="zh-CN" altLang="en-US" sz="2400"/>
              <a:t>：词库管理与维护</a:t>
            </a:r>
            <a:endParaRPr lang="zh-CN" altLang="en-US"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60961" y="60961"/>
            <a:ext cx="6858002" cy="673608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6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9714914" y="4380914"/>
            <a:ext cx="4954172" cy="4954172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rgbClr val="5BD1D7">
                  <a:alpha val="62000"/>
                </a:srgbClr>
              </a:gs>
              <a:gs pos="39000">
                <a:srgbClr val="5BD1D7">
                  <a:alpha val="28000"/>
                </a:srgb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380958" y="842498"/>
            <a:ext cx="137942" cy="13794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09628" y="842498"/>
            <a:ext cx="137942" cy="1379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838298" y="842498"/>
            <a:ext cx="137942" cy="1379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375910" y="3284855"/>
            <a:ext cx="5871845" cy="11544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zh-CN" altLang="en-US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否定词库</a:t>
            </a:r>
            <a:r>
              <a:rPr kumimoji="1" lang="en-US" altLang="zh-CN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+</a:t>
            </a:r>
            <a:r>
              <a:rPr kumimoji="1" lang="zh-CN" altLang="en-US" sz="470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竞品库</a:t>
            </a:r>
            <a:endParaRPr kumimoji="1" lang="zh-CN" altLang="en-US" sz="4705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3008571" y="3065949"/>
            <a:ext cx="168245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075">
                <a:ln w="12700">
                  <a:noFill/>
                </a:ln>
                <a:solidFill>
                  <a:schemeClr val="accent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04.3</a:t>
            </a:r>
            <a:endParaRPr kumimoji="1"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-1327535" y="1157978"/>
            <a:ext cx="5257931" cy="5103228"/>
            <a:chOff x="-1327535" y="1157978"/>
            <a:chExt cx="5257931" cy="5103228"/>
          </a:xfrm>
        </p:grpSpPr>
        <p:sp>
          <p:nvSpPr>
            <p:cNvPr id="11" name="标题 1"/>
            <p:cNvSpPr txBox="1"/>
            <p:nvPr/>
          </p:nvSpPr>
          <p:spPr>
            <a:xfrm rot="12891944">
              <a:off x="1480553" y="1204082"/>
              <a:ext cx="1426351" cy="4028691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0"/>
                  </a:schemeClr>
                </a:gs>
                <a:gs pos="72000">
                  <a:schemeClr val="accent1"/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rot="12891944" flipH="1" flipV="1">
              <a:off x="-339767" y="2072646"/>
              <a:ext cx="1824377" cy="4028690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75000"/>
                  </a:schemeClr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关键词否定词库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0235" y="759460"/>
            <a:ext cx="10380980" cy="3130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我们回到</a:t>
            </a:r>
            <a:r>
              <a:rPr lang="en-US" altLang="zh-CN"/>
              <a:t>SIF</a:t>
            </a:r>
            <a:r>
              <a:rPr lang="zh-CN" altLang="en-US"/>
              <a:t>的关键词库，在我们添加关键词的时候，已经通过大数据筛选了一部分产品不相关词到否定词库中，我们可以直接下载，当然如果后续发现它归类错误，也可以重新进行</a:t>
            </a:r>
            <a:r>
              <a:rPr lang="zh-CN" altLang="en-US"/>
              <a:t>标记。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1412875"/>
            <a:ext cx="10684510" cy="526605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5234" y="45175"/>
            <a:ext cx="11544300" cy="9531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关键词否定词库</a:t>
            </a:r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 </a:t>
            </a:r>
            <a:r>
              <a:rPr lang="zh-CN" altLang="en-US" sz="2800">
                <a:sym typeface="+mn-ea"/>
              </a:rPr>
              <a:t>将否定关键词合并到词库中</a:t>
            </a:r>
            <a:endParaRPr lang="zh-CN" altLang="en-US" sz="2800"/>
          </a:p>
          <a:p>
            <a:pPr algn="l"/>
            <a:endParaRPr kumimoji="1" lang="en-US" altLang="zh-CN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270" y="836930"/>
            <a:ext cx="9184640" cy="58324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竞品</a:t>
            </a:r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ASIN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库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165" y="836295"/>
            <a:ext cx="11155045" cy="6610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回到</a:t>
            </a:r>
            <a:r>
              <a:rPr lang="en-US" altLang="zh-CN"/>
              <a:t>SIF</a:t>
            </a:r>
            <a:r>
              <a:rPr lang="zh-CN" altLang="en-US"/>
              <a:t>的产品库中</a:t>
            </a:r>
            <a:r>
              <a:rPr lang="zh-CN"/>
              <a:t>，找到之前建立好的产品竞品库</a:t>
            </a:r>
            <a:r>
              <a:rPr lang="zh-CN"/>
              <a:t>下载。</a:t>
            </a:r>
            <a:endParaRPr 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15" y="1196340"/>
            <a:ext cx="11026775" cy="54432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5234" y="45175"/>
            <a:ext cx="11544300" cy="9531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数据二次加工</a:t>
            </a:r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    </a:t>
            </a:r>
            <a:r>
              <a:rPr lang="zh-CN" altLang="en-US" sz="2800">
                <a:sym typeface="+mn-ea"/>
              </a:rPr>
              <a:t>将竞品</a:t>
            </a:r>
            <a:r>
              <a:rPr lang="en-US" altLang="zh-CN" sz="2800">
                <a:sym typeface="+mn-ea"/>
              </a:rPr>
              <a:t>ASIN</a:t>
            </a:r>
            <a:r>
              <a:rPr lang="zh-CN" altLang="en-US" sz="2800">
                <a:sym typeface="+mn-ea"/>
              </a:rPr>
              <a:t>库合并到词库中</a:t>
            </a:r>
            <a:endParaRPr lang="zh-CN" altLang="en-US" sz="2800"/>
          </a:p>
          <a:p>
            <a:pPr algn="l"/>
            <a:endParaRPr kumimoji="1" lang="en-US" altLang="zh-CN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515" y="765175"/>
            <a:ext cx="9519285" cy="594233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60961" y="60961"/>
            <a:ext cx="6858002" cy="673608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6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9714914" y="4380914"/>
            <a:ext cx="4954172" cy="4954172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rgbClr val="5BD1D7">
                  <a:alpha val="62000"/>
                </a:srgbClr>
              </a:gs>
              <a:gs pos="39000">
                <a:srgbClr val="5BD1D7">
                  <a:alpha val="28000"/>
                </a:srgb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380958" y="842498"/>
            <a:ext cx="137942" cy="13794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09628" y="842498"/>
            <a:ext cx="137942" cy="1379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838298" y="842498"/>
            <a:ext cx="137942" cy="1379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524854" y="3146971"/>
            <a:ext cx="610040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935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关键词库的管理与维护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008571" y="3065949"/>
            <a:ext cx="1682458" cy="1154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075">
                <a:ln w="12700">
                  <a:noFill/>
                </a:ln>
                <a:solidFill>
                  <a:schemeClr val="accent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05</a:t>
            </a:r>
            <a:endParaRPr kumimoji="1"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-1327535" y="1157978"/>
            <a:ext cx="5257931" cy="5103228"/>
            <a:chOff x="-1327535" y="1157978"/>
            <a:chExt cx="5257931" cy="5103228"/>
          </a:xfrm>
        </p:grpSpPr>
        <p:sp>
          <p:nvSpPr>
            <p:cNvPr id="11" name="标题 1"/>
            <p:cNvSpPr txBox="1"/>
            <p:nvPr/>
          </p:nvSpPr>
          <p:spPr>
            <a:xfrm rot="12891944">
              <a:off x="1480553" y="1204082"/>
              <a:ext cx="1426351" cy="4028691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0"/>
                  </a:schemeClr>
                </a:gs>
                <a:gs pos="72000">
                  <a:schemeClr val="accent1"/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rot="12891944" flipH="1" flipV="1">
              <a:off x="-339767" y="2072646"/>
              <a:ext cx="1824377" cy="4028690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75000"/>
                  </a:schemeClr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2192000" cy="759630"/>
          </a:xfrm>
          <a:custGeom>
            <a:avLst/>
            <a:gdLst>
              <a:gd name="connsiteX0" fmla="*/ 12192000 w 12192000"/>
              <a:gd name="connsiteY0" fmla="*/ 0 h 759630"/>
              <a:gd name="connsiteX1" fmla="*/ 12056766 w 12192000"/>
              <a:gd name="connsiteY1" fmla="*/ 0 h 759630"/>
              <a:gd name="connsiteX2" fmla="*/ 135234 w 12192000"/>
              <a:gd name="connsiteY2" fmla="*/ 0 h 759630"/>
              <a:gd name="connsiteX3" fmla="*/ 0 w 12192000"/>
              <a:gd name="connsiteY3" fmla="*/ 0 h 759630"/>
              <a:gd name="connsiteX4" fmla="*/ 0 w 12192000"/>
              <a:gd name="connsiteY4" fmla="*/ 759630 h 759630"/>
              <a:gd name="connsiteX5" fmla="*/ 846022 w 12192000"/>
              <a:gd name="connsiteY5" fmla="*/ 759630 h 759630"/>
              <a:gd name="connsiteX6" fmla="*/ 11345978 w 12192000"/>
              <a:gd name="connsiteY6" fmla="*/ 759630 h 759630"/>
              <a:gd name="connsiteX7" fmla="*/ 12192000 w 12192000"/>
              <a:gd name="connsiteY7" fmla="*/ 759630 h 759630"/>
            </a:gdLst>
            <a:ahLst/>
            <a:cxnLst/>
            <a:rect l="l" t="t" r="r" b="b"/>
            <a:pathLst>
              <a:path w="12192000" h="759630">
                <a:moveTo>
                  <a:pt x="12192000" y="0"/>
                </a:moveTo>
                <a:lnTo>
                  <a:pt x="12056766" y="0"/>
                </a:lnTo>
                <a:lnTo>
                  <a:pt x="135234" y="0"/>
                </a:lnTo>
                <a:lnTo>
                  <a:pt x="0" y="0"/>
                </a:lnTo>
                <a:lnTo>
                  <a:pt x="0" y="759630"/>
                </a:lnTo>
                <a:lnTo>
                  <a:pt x="846022" y="759630"/>
                </a:lnTo>
                <a:lnTo>
                  <a:pt x="11345978" y="759630"/>
                </a:lnTo>
                <a:lnTo>
                  <a:pt x="12192000" y="75963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0" y="0"/>
            <a:ext cx="12192000" cy="659981"/>
          </a:xfrm>
          <a:custGeom>
            <a:avLst/>
            <a:gdLst>
              <a:gd name="connsiteX0" fmla="*/ 12192000 w 12192000"/>
              <a:gd name="connsiteY0" fmla="*/ 0 h 659981"/>
              <a:gd name="connsiteX1" fmla="*/ 0 w 12192000"/>
              <a:gd name="connsiteY1" fmla="*/ 0 h 659981"/>
              <a:gd name="connsiteX2" fmla="*/ 0 w 12192000"/>
              <a:gd name="connsiteY2" fmla="*/ 193039 h 659981"/>
              <a:gd name="connsiteX3" fmla="*/ 0 w 12192000"/>
              <a:gd name="connsiteY3" fmla="*/ 659981 h 659981"/>
              <a:gd name="connsiteX4" fmla="*/ 466948 w 12192000"/>
              <a:gd name="connsiteY4" fmla="*/ 659981 h 659981"/>
              <a:gd name="connsiteX5" fmla="*/ 11725052 w 12192000"/>
              <a:gd name="connsiteY5" fmla="*/ 659981 h 659981"/>
              <a:gd name="connsiteX6" fmla="*/ 12192000 w 12192000"/>
              <a:gd name="connsiteY6" fmla="*/ 659981 h 659981"/>
              <a:gd name="connsiteX7" fmla="*/ 12192000 w 12192000"/>
              <a:gd name="connsiteY7" fmla="*/ 193039 h 659981"/>
            </a:gdLst>
            <a:ahLst/>
            <a:cxnLst/>
            <a:rect l="l" t="t" r="r" b="b"/>
            <a:pathLst>
              <a:path w="12192000" h="659981">
                <a:moveTo>
                  <a:pt x="12192000" y="0"/>
                </a:moveTo>
                <a:lnTo>
                  <a:pt x="0" y="0"/>
                </a:lnTo>
                <a:lnTo>
                  <a:pt x="0" y="193039"/>
                </a:lnTo>
                <a:lnTo>
                  <a:pt x="0" y="659981"/>
                </a:lnTo>
                <a:lnTo>
                  <a:pt x="466948" y="659981"/>
                </a:lnTo>
                <a:lnTo>
                  <a:pt x="11725052" y="659981"/>
                </a:lnTo>
                <a:lnTo>
                  <a:pt x="12192000" y="659981"/>
                </a:lnTo>
                <a:lnTo>
                  <a:pt x="12192000" y="193039"/>
                </a:ln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5234" y="45175"/>
            <a:ext cx="11544300" cy="521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关键词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的管理与</a:t>
            </a:r>
            <a:r>
              <a:rPr kumimoji="1" lang="zh-CN" altLang="en-US" sz="2800">
                <a:ln w="12700">
                  <a:noFill/>
                </a:ln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维护</a:t>
            </a:r>
            <a:endParaRPr kumimoji="1" lang="zh-CN" altLang="en-US" sz="2800">
              <a:ln w="12700">
                <a:noFill/>
              </a:ln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44156"/>
          <a:stretch>
            <a:fillRect/>
          </a:stretch>
        </p:blipFill>
        <p:spPr>
          <a:xfrm>
            <a:off x="407670" y="3132455"/>
            <a:ext cx="9943465" cy="27374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91135" y="908685"/>
            <a:ext cx="10534650" cy="15449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sym typeface="+mn-ea"/>
              </a:rPr>
              <a:t>搭建亚马逊产品的关键词库需要投入很多时间和精力，通过多途径收集关键词，进行筛选和整理。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我们需要定期回顾和更新关键词库，以适应市场变化和消费者搜索习惯的演进，从而提升产品的竞争力。</a:t>
            </a:r>
            <a:r>
              <a:rPr lang="zh-CN" altLang="en-US" sz="2000">
                <a:sym typeface="+mn-ea"/>
              </a:rPr>
              <a:t>当你的产品跑了一段时间广告后，可以下载广告报告数据，导入到</a:t>
            </a:r>
            <a:r>
              <a:rPr lang="en-US" altLang="zh-CN" sz="2000">
                <a:sym typeface="+mn-ea"/>
              </a:rPr>
              <a:t>SIF</a:t>
            </a:r>
            <a:r>
              <a:rPr lang="zh-CN" altLang="en-US" sz="2000">
                <a:sym typeface="+mn-ea"/>
              </a:rPr>
              <a:t>词库进行检查完善你的产品词库。</a:t>
            </a:r>
            <a:endParaRPr lang="zh-CN" altLang="en-US" sz="20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/>
              <a:t> </a:t>
            </a:r>
            <a:endParaRPr lang="zh-CN" altLang="en-US"/>
          </a:p>
          <a:p>
            <a:pPr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41066"/>
          <a:stretch>
            <a:fillRect/>
          </a:stretch>
        </p:blipFill>
        <p:spPr>
          <a:xfrm>
            <a:off x="1343660" y="-15875"/>
            <a:ext cx="8554085" cy="687768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60961" y="60962"/>
            <a:ext cx="6858002" cy="673608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6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7442947" y="1401026"/>
            <a:ext cx="4749054" cy="4733074"/>
            <a:chOff x="7442947" y="1401026"/>
            <a:chExt cx="4749054" cy="4733074"/>
          </a:xfrm>
        </p:grpSpPr>
        <p:sp>
          <p:nvSpPr>
            <p:cNvPr id="4" name="标题 1"/>
            <p:cNvSpPr txBox="1"/>
            <p:nvPr/>
          </p:nvSpPr>
          <p:spPr>
            <a:xfrm rot="13528726">
              <a:off x="9204001" y="2056966"/>
              <a:ext cx="1824375" cy="4028692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0"/>
                  </a:schemeClr>
                </a:gs>
                <a:gs pos="72000">
                  <a:schemeClr val="accent1"/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标题 1"/>
            <p:cNvSpPr txBox="1"/>
            <p:nvPr/>
          </p:nvSpPr>
          <p:spPr>
            <a:xfrm rot="13528726" flipH="1" flipV="1">
              <a:off x="8606571" y="1449468"/>
              <a:ext cx="1824375" cy="4028692"/>
            </a:xfrm>
            <a:custGeom>
              <a:avLst/>
              <a:gdLst>
                <a:gd name="connsiteX0" fmla="*/ 1053297 w 2106594"/>
                <a:gd name="connsiteY0" fmla="*/ 0 h 4629873"/>
                <a:gd name="connsiteX1" fmla="*/ 2106594 w 2106594"/>
                <a:gd name="connsiteY1" fmla="*/ 1053297 h 4629873"/>
                <a:gd name="connsiteX2" fmla="*/ 2101156 w 2106594"/>
                <a:gd name="connsiteY2" fmla="*/ 1160991 h 4629873"/>
                <a:gd name="connsiteX3" fmla="*/ 2095018 w 2106594"/>
                <a:gd name="connsiteY3" fmla="*/ 1201208 h 4629873"/>
                <a:gd name="connsiteX4" fmla="*/ 2095018 w 2106594"/>
                <a:gd name="connsiteY4" fmla="*/ 4629873 h 4629873"/>
                <a:gd name="connsiteX5" fmla="*/ 0 w 2106594"/>
                <a:gd name="connsiteY5" fmla="*/ 4629873 h 4629873"/>
                <a:gd name="connsiteX6" fmla="*/ 0 w 2106594"/>
                <a:gd name="connsiteY6" fmla="*/ 1053297 h 4629873"/>
                <a:gd name="connsiteX7" fmla="*/ 0 w 2106594"/>
                <a:gd name="connsiteY7" fmla="*/ 995423 h 4629873"/>
                <a:gd name="connsiteX8" fmla="*/ 2923 w 2106594"/>
                <a:gd name="connsiteY8" fmla="*/ 995423 h 4629873"/>
                <a:gd name="connsiteX9" fmla="*/ 5438 w 2106594"/>
                <a:gd name="connsiteY9" fmla="*/ 945604 h 4629873"/>
                <a:gd name="connsiteX10" fmla="*/ 1053297 w 2106594"/>
                <a:gd name="connsiteY10" fmla="*/ 0 h 4629873"/>
              </a:gdLst>
              <a:ahLst/>
              <a:cxnLst/>
              <a:rect l="l" t="t" r="r" b="b"/>
              <a:pathLst>
                <a:path w="2106594" h="4629873">
                  <a:moveTo>
                    <a:pt x="1053297" y="0"/>
                  </a:moveTo>
                  <a:cubicBezTo>
                    <a:pt x="1635017" y="0"/>
                    <a:pt x="2106594" y="471577"/>
                    <a:pt x="2106594" y="1053297"/>
                  </a:cubicBezTo>
                  <a:cubicBezTo>
                    <a:pt x="2106594" y="1089655"/>
                    <a:pt x="2104752" y="1125582"/>
                    <a:pt x="2101156" y="1160991"/>
                  </a:cubicBezTo>
                  <a:lnTo>
                    <a:pt x="2095018" y="1201208"/>
                  </a:lnTo>
                  <a:lnTo>
                    <a:pt x="2095018" y="4629873"/>
                  </a:lnTo>
                  <a:lnTo>
                    <a:pt x="0" y="4629873"/>
                  </a:lnTo>
                  <a:lnTo>
                    <a:pt x="0" y="1053297"/>
                  </a:lnTo>
                  <a:lnTo>
                    <a:pt x="0" y="995423"/>
                  </a:lnTo>
                  <a:lnTo>
                    <a:pt x="2923" y="995423"/>
                  </a:lnTo>
                  <a:lnTo>
                    <a:pt x="5438" y="945604"/>
                  </a:lnTo>
                  <a:cubicBezTo>
                    <a:pt x="59378" y="414472"/>
                    <a:pt x="507935" y="0"/>
                    <a:pt x="1053297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75000"/>
                  </a:schemeClr>
                </a:gs>
              </a:gsLst>
              <a:lin ang="162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6" name="标题 1"/>
          <p:cNvSpPr txBox="1"/>
          <p:nvPr/>
        </p:nvSpPr>
        <p:spPr>
          <a:xfrm>
            <a:off x="9714914" y="4380914"/>
            <a:ext cx="4954172" cy="4954172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rgbClr val="5BD1D7">
                  <a:alpha val="62000"/>
                </a:srgbClr>
              </a:gs>
              <a:gs pos="39000">
                <a:srgbClr val="5BD1D7">
                  <a:alpha val="28000"/>
                </a:srgb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0399" y="2670850"/>
            <a:ext cx="7200000" cy="18464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53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谢谢大家</a:t>
            </a:r>
            <a:endParaRPr kumimoji="1"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11170325" y="6070996"/>
            <a:ext cx="348575" cy="126207"/>
            <a:chOff x="11170325" y="6070996"/>
            <a:chExt cx="348575" cy="126207"/>
          </a:xfrm>
        </p:grpSpPr>
        <p:sp>
          <p:nvSpPr>
            <p:cNvPr id="11" name="标题 1"/>
            <p:cNvSpPr txBox="1"/>
            <p:nvPr/>
          </p:nvSpPr>
          <p:spPr>
            <a:xfrm rot="5400000">
              <a:off x="11295293" y="5986272"/>
              <a:ext cx="45719" cy="295656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rot="5400000">
              <a:off x="11401397" y="6079700"/>
              <a:ext cx="126207" cy="108799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标题 1"/>
          <p:cNvSpPr txBox="1"/>
          <p:nvPr/>
        </p:nvSpPr>
        <p:spPr>
          <a:xfrm>
            <a:off x="11380958" y="842498"/>
            <a:ext cx="137942" cy="13794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1109628" y="842498"/>
            <a:ext cx="137942" cy="1379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0838298" y="842498"/>
            <a:ext cx="137942" cy="1379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60400" y="5640539"/>
            <a:ext cx="360680" cy="4572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660400" y="5980966"/>
            <a:ext cx="890676" cy="254734"/>
            <a:chOff x="660400" y="5980966"/>
            <a:chExt cx="890676" cy="254734"/>
          </a:xfrm>
        </p:grpSpPr>
        <p:sp>
          <p:nvSpPr>
            <p:cNvPr id="19" name="标题 1"/>
            <p:cNvSpPr txBox="1"/>
            <p:nvPr/>
          </p:nvSpPr>
          <p:spPr>
            <a:xfrm>
              <a:off x="660400" y="5980966"/>
              <a:ext cx="263227" cy="254734"/>
            </a:xfrm>
            <a:custGeom>
              <a:avLst/>
              <a:gdLst>
                <a:gd name="connsiteX0" fmla="*/ 311954 w 744004"/>
                <a:gd name="connsiteY0" fmla="*/ 337123 h 720001"/>
                <a:gd name="connsiteX1" fmla="*/ 168770 w 744004"/>
                <a:gd name="connsiteY1" fmla="*/ 337123 h 720001"/>
                <a:gd name="connsiteX2" fmla="*/ 49673 w 744004"/>
                <a:gd name="connsiteY2" fmla="*/ 287618 h 720001"/>
                <a:gd name="connsiteX3" fmla="*/ 167 w 744004"/>
                <a:gd name="connsiteY3" fmla="*/ 168520 h 720001"/>
                <a:gd name="connsiteX4" fmla="*/ 49590 w 744004"/>
                <a:gd name="connsiteY4" fmla="*/ 49507 h 720001"/>
                <a:gd name="connsiteX5" fmla="*/ 168687 w 744004"/>
                <a:gd name="connsiteY5" fmla="*/ 0 h 720001"/>
                <a:gd name="connsiteX6" fmla="*/ 287784 w 744004"/>
                <a:gd name="connsiteY6" fmla="*/ 49507 h 720001"/>
                <a:gd name="connsiteX7" fmla="*/ 337290 w 744004"/>
                <a:gd name="connsiteY7" fmla="*/ 168604 h 720001"/>
                <a:gd name="connsiteX8" fmla="*/ 337290 w 744004"/>
                <a:gd name="connsiteY8" fmla="*/ 311787 h 720001"/>
                <a:gd name="connsiteX9" fmla="*/ 311954 w 744004"/>
                <a:gd name="connsiteY9" fmla="*/ 337123 h 720001"/>
                <a:gd name="connsiteX10" fmla="*/ 575401 w 744004"/>
                <a:gd name="connsiteY10" fmla="*/ 337207 h 720001"/>
                <a:gd name="connsiteX11" fmla="*/ 432218 w 744004"/>
                <a:gd name="connsiteY11" fmla="*/ 337207 h 720001"/>
                <a:gd name="connsiteX12" fmla="*/ 406882 w 744004"/>
                <a:gd name="connsiteY12" fmla="*/ 311870 h 720001"/>
                <a:gd name="connsiteX13" fmla="*/ 406882 w 744004"/>
                <a:gd name="connsiteY13" fmla="*/ 168687 h 720001"/>
                <a:gd name="connsiteX14" fmla="*/ 456387 w 744004"/>
                <a:gd name="connsiteY14" fmla="*/ 49590 h 720001"/>
                <a:gd name="connsiteX15" fmla="*/ 575401 w 744004"/>
                <a:gd name="connsiteY15" fmla="*/ 0 h 720001"/>
                <a:gd name="connsiteX16" fmla="*/ 694498 w 744004"/>
                <a:gd name="connsiteY16" fmla="*/ 49507 h 720001"/>
                <a:gd name="connsiteX17" fmla="*/ 744004 w 744004"/>
                <a:gd name="connsiteY17" fmla="*/ 168604 h 720001"/>
                <a:gd name="connsiteX18" fmla="*/ 694498 w 744004"/>
                <a:gd name="connsiteY18" fmla="*/ 287701 h 720001"/>
                <a:gd name="connsiteX19" fmla="*/ 575401 w 744004"/>
                <a:gd name="connsiteY19" fmla="*/ 337207 h 720001"/>
                <a:gd name="connsiteX20" fmla="*/ 168604 w 744004"/>
                <a:gd name="connsiteY20" fmla="*/ 720001 h 720001"/>
                <a:gd name="connsiteX21" fmla="*/ 49507 w 744004"/>
                <a:gd name="connsiteY21" fmla="*/ 670495 h 720001"/>
                <a:gd name="connsiteX22" fmla="*/ 0 w 744004"/>
                <a:gd name="connsiteY22" fmla="*/ 551398 h 720001"/>
                <a:gd name="connsiteX23" fmla="*/ 49507 w 744004"/>
                <a:gd name="connsiteY23" fmla="*/ 432301 h 720001"/>
                <a:gd name="connsiteX24" fmla="*/ 168687 w 744004"/>
                <a:gd name="connsiteY24" fmla="*/ 382879 h 720001"/>
                <a:gd name="connsiteX25" fmla="*/ 311871 w 744004"/>
                <a:gd name="connsiteY25" fmla="*/ 382879 h 720001"/>
                <a:gd name="connsiteX26" fmla="*/ 337207 w 744004"/>
                <a:gd name="connsiteY26" fmla="*/ 408215 h 720001"/>
                <a:gd name="connsiteX27" fmla="*/ 337207 w 744004"/>
                <a:gd name="connsiteY27" fmla="*/ 551398 h 720001"/>
                <a:gd name="connsiteX28" fmla="*/ 287701 w 744004"/>
                <a:gd name="connsiteY28" fmla="*/ 670495 h 720001"/>
                <a:gd name="connsiteX29" fmla="*/ 168604 w 744004"/>
                <a:gd name="connsiteY29" fmla="*/ 720001 h 720001"/>
                <a:gd name="connsiteX30" fmla="*/ 575401 w 744004"/>
                <a:gd name="connsiteY30" fmla="*/ 720001 h 720001"/>
                <a:gd name="connsiteX31" fmla="*/ 456304 w 744004"/>
                <a:gd name="connsiteY31" fmla="*/ 670495 h 720001"/>
                <a:gd name="connsiteX32" fmla="*/ 406798 w 744004"/>
                <a:gd name="connsiteY32" fmla="*/ 551398 h 720001"/>
                <a:gd name="connsiteX33" fmla="*/ 406798 w 744004"/>
                <a:gd name="connsiteY33" fmla="*/ 408215 h 720001"/>
                <a:gd name="connsiteX34" fmla="*/ 432218 w 744004"/>
                <a:gd name="connsiteY34" fmla="*/ 382879 h 720001"/>
                <a:gd name="connsiteX35" fmla="*/ 575401 w 744004"/>
                <a:gd name="connsiteY35" fmla="*/ 382879 h 720001"/>
                <a:gd name="connsiteX36" fmla="*/ 694498 w 744004"/>
                <a:gd name="connsiteY36" fmla="*/ 432385 h 720001"/>
                <a:gd name="connsiteX37" fmla="*/ 744004 w 744004"/>
                <a:gd name="connsiteY37" fmla="*/ 551398 h 720001"/>
                <a:gd name="connsiteX38" fmla="*/ 694498 w 744004"/>
                <a:gd name="connsiteY38" fmla="*/ 670495 h 720001"/>
                <a:gd name="connsiteX39" fmla="*/ 575401 w 744004"/>
                <a:gd name="connsiteY39" fmla="*/ 720001 h 720001"/>
              </a:gdLst>
              <a:ahLst/>
              <a:cxnLst/>
              <a:rect l="l" t="t" r="r" b="b"/>
              <a:pathLst>
                <a:path w="744004" h="720001">
                  <a:moveTo>
                    <a:pt x="311954" y="337123"/>
                  </a:moveTo>
                  <a:lnTo>
                    <a:pt x="168770" y="337123"/>
                  </a:lnTo>
                  <a:cubicBezTo>
                    <a:pt x="123932" y="337123"/>
                    <a:pt x="81594" y="319538"/>
                    <a:pt x="49673" y="287618"/>
                  </a:cubicBezTo>
                  <a:cubicBezTo>
                    <a:pt x="17753" y="255697"/>
                    <a:pt x="167" y="213442"/>
                    <a:pt x="167" y="168520"/>
                  </a:cubicBezTo>
                  <a:cubicBezTo>
                    <a:pt x="167" y="123598"/>
                    <a:pt x="17669" y="81427"/>
                    <a:pt x="49590" y="49507"/>
                  </a:cubicBezTo>
                  <a:cubicBezTo>
                    <a:pt x="81510" y="17586"/>
                    <a:pt x="123848" y="0"/>
                    <a:pt x="168687" y="0"/>
                  </a:cubicBezTo>
                  <a:cubicBezTo>
                    <a:pt x="213526" y="0"/>
                    <a:pt x="255864" y="17586"/>
                    <a:pt x="287784" y="49507"/>
                  </a:cubicBezTo>
                  <a:cubicBezTo>
                    <a:pt x="319705" y="81427"/>
                    <a:pt x="337290" y="123682"/>
                    <a:pt x="337290" y="168604"/>
                  </a:cubicBezTo>
                  <a:lnTo>
                    <a:pt x="337290" y="311787"/>
                  </a:lnTo>
                  <a:cubicBezTo>
                    <a:pt x="337290" y="325789"/>
                    <a:pt x="325956" y="337123"/>
                    <a:pt x="311954" y="337123"/>
                  </a:cubicBezTo>
                  <a:close/>
                  <a:moveTo>
                    <a:pt x="575401" y="337207"/>
                  </a:moveTo>
                  <a:lnTo>
                    <a:pt x="432218" y="337207"/>
                  </a:lnTo>
                  <a:cubicBezTo>
                    <a:pt x="418216" y="337207"/>
                    <a:pt x="406882" y="325872"/>
                    <a:pt x="406882" y="311870"/>
                  </a:cubicBezTo>
                  <a:lnTo>
                    <a:pt x="406882" y="168687"/>
                  </a:lnTo>
                  <a:cubicBezTo>
                    <a:pt x="406882" y="123849"/>
                    <a:pt x="424467" y="81510"/>
                    <a:pt x="456387" y="49590"/>
                  </a:cubicBezTo>
                  <a:cubicBezTo>
                    <a:pt x="488308" y="17669"/>
                    <a:pt x="530563" y="0"/>
                    <a:pt x="575401" y="0"/>
                  </a:cubicBezTo>
                  <a:cubicBezTo>
                    <a:pt x="620240" y="0"/>
                    <a:pt x="662578" y="17586"/>
                    <a:pt x="694498" y="49507"/>
                  </a:cubicBezTo>
                  <a:cubicBezTo>
                    <a:pt x="726419" y="81427"/>
                    <a:pt x="744004" y="123765"/>
                    <a:pt x="744004" y="168604"/>
                  </a:cubicBezTo>
                  <a:cubicBezTo>
                    <a:pt x="744004" y="213442"/>
                    <a:pt x="726419" y="255780"/>
                    <a:pt x="694498" y="287701"/>
                  </a:cubicBezTo>
                  <a:cubicBezTo>
                    <a:pt x="662578" y="319621"/>
                    <a:pt x="620323" y="337207"/>
                    <a:pt x="575401" y="337207"/>
                  </a:cubicBezTo>
                  <a:close/>
                  <a:moveTo>
                    <a:pt x="168604" y="720001"/>
                  </a:moveTo>
                  <a:cubicBezTo>
                    <a:pt x="123682" y="720001"/>
                    <a:pt x="81427" y="702416"/>
                    <a:pt x="49507" y="670495"/>
                  </a:cubicBezTo>
                  <a:cubicBezTo>
                    <a:pt x="17586" y="638575"/>
                    <a:pt x="0" y="596320"/>
                    <a:pt x="0" y="551398"/>
                  </a:cubicBezTo>
                  <a:cubicBezTo>
                    <a:pt x="0" y="506476"/>
                    <a:pt x="17586" y="464221"/>
                    <a:pt x="49507" y="432301"/>
                  </a:cubicBezTo>
                  <a:cubicBezTo>
                    <a:pt x="81510" y="400464"/>
                    <a:pt x="123848" y="382879"/>
                    <a:pt x="168687" y="382879"/>
                  </a:cubicBezTo>
                  <a:lnTo>
                    <a:pt x="311871" y="382879"/>
                  </a:lnTo>
                  <a:cubicBezTo>
                    <a:pt x="325872" y="382879"/>
                    <a:pt x="337207" y="394297"/>
                    <a:pt x="337207" y="408215"/>
                  </a:cubicBezTo>
                  <a:lnTo>
                    <a:pt x="337207" y="551398"/>
                  </a:lnTo>
                  <a:cubicBezTo>
                    <a:pt x="337207" y="596237"/>
                    <a:pt x="319621" y="638575"/>
                    <a:pt x="287701" y="670495"/>
                  </a:cubicBezTo>
                  <a:cubicBezTo>
                    <a:pt x="255781" y="702416"/>
                    <a:pt x="213526" y="720001"/>
                    <a:pt x="168604" y="720001"/>
                  </a:cubicBezTo>
                  <a:close/>
                  <a:moveTo>
                    <a:pt x="575401" y="720001"/>
                  </a:moveTo>
                  <a:cubicBezTo>
                    <a:pt x="530563" y="720001"/>
                    <a:pt x="488224" y="702416"/>
                    <a:pt x="456304" y="670495"/>
                  </a:cubicBezTo>
                  <a:cubicBezTo>
                    <a:pt x="424383" y="638575"/>
                    <a:pt x="406798" y="596320"/>
                    <a:pt x="406798" y="551398"/>
                  </a:cubicBezTo>
                  <a:lnTo>
                    <a:pt x="406798" y="408215"/>
                  </a:lnTo>
                  <a:cubicBezTo>
                    <a:pt x="406882" y="394213"/>
                    <a:pt x="418216" y="382879"/>
                    <a:pt x="432218" y="382879"/>
                  </a:cubicBezTo>
                  <a:lnTo>
                    <a:pt x="575401" y="382879"/>
                  </a:lnTo>
                  <a:cubicBezTo>
                    <a:pt x="620240" y="382879"/>
                    <a:pt x="662578" y="400464"/>
                    <a:pt x="694498" y="432385"/>
                  </a:cubicBezTo>
                  <a:cubicBezTo>
                    <a:pt x="726419" y="464305"/>
                    <a:pt x="744004" y="506560"/>
                    <a:pt x="744004" y="551398"/>
                  </a:cubicBezTo>
                  <a:cubicBezTo>
                    <a:pt x="744004" y="596237"/>
                    <a:pt x="726419" y="638575"/>
                    <a:pt x="694498" y="670495"/>
                  </a:cubicBezTo>
                  <a:cubicBezTo>
                    <a:pt x="662578" y="702416"/>
                    <a:pt x="620323" y="720001"/>
                    <a:pt x="575401" y="720001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>
              <a:off x="1319298" y="5987827"/>
              <a:ext cx="231778" cy="241011"/>
            </a:xfrm>
            <a:custGeom>
              <a:avLst/>
              <a:gdLst>
                <a:gd name="connsiteX0" fmla="*/ 198153 w 692417"/>
                <a:gd name="connsiteY0" fmla="*/ 663680 h 720001"/>
                <a:gd name="connsiteX1" fmla="*/ 239787 w 692417"/>
                <a:gd name="connsiteY1" fmla="*/ 663680 h 720001"/>
                <a:gd name="connsiteX2" fmla="*/ 295235 w 692417"/>
                <a:gd name="connsiteY2" fmla="*/ 663680 h 720001"/>
                <a:gd name="connsiteX3" fmla="*/ 397182 w 692417"/>
                <a:gd name="connsiteY3" fmla="*/ 663680 h 720001"/>
                <a:gd name="connsiteX4" fmla="*/ 452630 w 692417"/>
                <a:gd name="connsiteY4" fmla="*/ 663680 h 720001"/>
                <a:gd name="connsiteX5" fmla="*/ 494264 w 692417"/>
                <a:gd name="connsiteY5" fmla="*/ 663680 h 720001"/>
                <a:gd name="connsiteX6" fmla="*/ 522425 w 692417"/>
                <a:gd name="connsiteY6" fmla="*/ 691841 h 720001"/>
                <a:gd name="connsiteX7" fmla="*/ 494264 w 692417"/>
                <a:gd name="connsiteY7" fmla="*/ 720001 h 720001"/>
                <a:gd name="connsiteX8" fmla="*/ 452630 w 692417"/>
                <a:gd name="connsiteY8" fmla="*/ 720001 h 720001"/>
                <a:gd name="connsiteX9" fmla="*/ 397182 w 692417"/>
                <a:gd name="connsiteY9" fmla="*/ 720001 h 720001"/>
                <a:gd name="connsiteX10" fmla="*/ 295235 w 692417"/>
                <a:gd name="connsiteY10" fmla="*/ 720001 h 720001"/>
                <a:gd name="connsiteX11" fmla="*/ 239787 w 692417"/>
                <a:gd name="connsiteY11" fmla="*/ 720001 h 720001"/>
                <a:gd name="connsiteX12" fmla="*/ 198153 w 692417"/>
                <a:gd name="connsiteY12" fmla="*/ 720001 h 720001"/>
                <a:gd name="connsiteX13" fmla="*/ 169992 w 692417"/>
                <a:gd name="connsiteY13" fmla="*/ 691841 h 720001"/>
                <a:gd name="connsiteX14" fmla="*/ 198153 w 692417"/>
                <a:gd name="connsiteY14" fmla="*/ 663680 h 720001"/>
                <a:gd name="connsiteX15" fmla="*/ 154400 w 692417"/>
                <a:gd name="connsiteY15" fmla="*/ 572143 h 720001"/>
                <a:gd name="connsiteX16" fmla="*/ 154241 w 692417"/>
                <a:gd name="connsiteY16" fmla="*/ 572597 h 720001"/>
                <a:gd name="connsiteX17" fmla="*/ 160423 w 692417"/>
                <a:gd name="connsiteY17" fmla="*/ 572597 h 720001"/>
                <a:gd name="connsiteX18" fmla="*/ 346215 w 692417"/>
                <a:gd name="connsiteY18" fmla="*/ 0 h 720001"/>
                <a:gd name="connsiteX19" fmla="*/ 456041 w 692417"/>
                <a:gd name="connsiteY19" fmla="*/ 22341 h 720001"/>
                <a:gd name="connsiteX20" fmla="*/ 545873 w 692417"/>
                <a:gd name="connsiteY20" fmla="*/ 82980 h 720001"/>
                <a:gd name="connsiteX21" fmla="*/ 606513 w 692417"/>
                <a:gd name="connsiteY21" fmla="*/ 172812 h 720001"/>
                <a:gd name="connsiteX22" fmla="*/ 628853 w 692417"/>
                <a:gd name="connsiteY22" fmla="*/ 282638 h 720001"/>
                <a:gd name="connsiteX23" fmla="*/ 628853 w 692417"/>
                <a:gd name="connsiteY23" fmla="*/ 493091 h 720001"/>
                <a:gd name="connsiteX24" fmla="*/ 687990 w 692417"/>
                <a:gd name="connsiteY24" fmla="*/ 585551 h 720001"/>
                <a:gd name="connsiteX25" fmla="*/ 688929 w 692417"/>
                <a:gd name="connsiteY25" fmla="*/ 614275 h 720001"/>
                <a:gd name="connsiteX26" fmla="*/ 664336 w 692417"/>
                <a:gd name="connsiteY26" fmla="*/ 628918 h 720001"/>
                <a:gd name="connsiteX27" fmla="*/ 28189 w 692417"/>
                <a:gd name="connsiteY27" fmla="*/ 628918 h 720001"/>
                <a:gd name="connsiteX28" fmla="*/ 3596 w 692417"/>
                <a:gd name="connsiteY28" fmla="*/ 614462 h 720001"/>
                <a:gd name="connsiteX29" fmla="*/ 4159 w 692417"/>
                <a:gd name="connsiteY29" fmla="*/ 585927 h 720001"/>
                <a:gd name="connsiteX30" fmla="*/ 63578 w 692417"/>
                <a:gd name="connsiteY30" fmla="*/ 489336 h 720001"/>
                <a:gd name="connsiteX31" fmla="*/ 63578 w 692417"/>
                <a:gd name="connsiteY31" fmla="*/ 282638 h 720001"/>
                <a:gd name="connsiteX32" fmla="*/ 85919 w 692417"/>
                <a:gd name="connsiteY32" fmla="*/ 172812 h 720001"/>
                <a:gd name="connsiteX33" fmla="*/ 146558 w 692417"/>
                <a:gd name="connsiteY33" fmla="*/ 82980 h 720001"/>
                <a:gd name="connsiteX34" fmla="*/ 236389 w 692417"/>
                <a:gd name="connsiteY34" fmla="*/ 22341 h 720001"/>
                <a:gd name="connsiteX35" fmla="*/ 346215 w 692417"/>
                <a:gd name="connsiteY35" fmla="*/ 0 h 720001"/>
              </a:gdLst>
              <a:ahLst/>
              <a:cxnLst/>
              <a:rect l="l" t="t" r="r" b="b"/>
              <a:pathLst>
                <a:path w="692417" h="720001">
                  <a:moveTo>
                    <a:pt x="198153" y="663680"/>
                  </a:moveTo>
                  <a:lnTo>
                    <a:pt x="239787" y="663680"/>
                  </a:lnTo>
                  <a:lnTo>
                    <a:pt x="295235" y="663680"/>
                  </a:lnTo>
                  <a:lnTo>
                    <a:pt x="397182" y="663680"/>
                  </a:lnTo>
                  <a:lnTo>
                    <a:pt x="452630" y="663680"/>
                  </a:lnTo>
                  <a:lnTo>
                    <a:pt x="494264" y="663680"/>
                  </a:lnTo>
                  <a:cubicBezTo>
                    <a:pt x="509847" y="663680"/>
                    <a:pt x="522425" y="676259"/>
                    <a:pt x="522425" y="691841"/>
                  </a:cubicBezTo>
                  <a:cubicBezTo>
                    <a:pt x="522425" y="707423"/>
                    <a:pt x="509753" y="720001"/>
                    <a:pt x="494264" y="720001"/>
                  </a:cubicBezTo>
                  <a:lnTo>
                    <a:pt x="452630" y="720001"/>
                  </a:lnTo>
                  <a:lnTo>
                    <a:pt x="397182" y="720001"/>
                  </a:lnTo>
                  <a:lnTo>
                    <a:pt x="295235" y="720001"/>
                  </a:lnTo>
                  <a:lnTo>
                    <a:pt x="239787" y="720001"/>
                  </a:lnTo>
                  <a:lnTo>
                    <a:pt x="198153" y="720001"/>
                  </a:lnTo>
                  <a:cubicBezTo>
                    <a:pt x="182571" y="720001"/>
                    <a:pt x="169992" y="707423"/>
                    <a:pt x="169992" y="691841"/>
                  </a:cubicBezTo>
                  <a:cubicBezTo>
                    <a:pt x="169992" y="676259"/>
                    <a:pt x="182571" y="663680"/>
                    <a:pt x="198153" y="663680"/>
                  </a:cubicBezTo>
                  <a:close/>
                  <a:moveTo>
                    <a:pt x="154400" y="572143"/>
                  </a:moveTo>
                  <a:lnTo>
                    <a:pt x="154241" y="572597"/>
                  </a:lnTo>
                  <a:lnTo>
                    <a:pt x="160423" y="572597"/>
                  </a:lnTo>
                  <a:close/>
                  <a:moveTo>
                    <a:pt x="346215" y="0"/>
                  </a:moveTo>
                  <a:cubicBezTo>
                    <a:pt x="384232" y="0"/>
                    <a:pt x="421122" y="7510"/>
                    <a:pt x="456041" y="22341"/>
                  </a:cubicBezTo>
                  <a:cubicBezTo>
                    <a:pt x="489646" y="36609"/>
                    <a:pt x="519872" y="57072"/>
                    <a:pt x="545873" y="82980"/>
                  </a:cubicBezTo>
                  <a:cubicBezTo>
                    <a:pt x="571875" y="108981"/>
                    <a:pt x="592245" y="139207"/>
                    <a:pt x="606513" y="172812"/>
                  </a:cubicBezTo>
                  <a:cubicBezTo>
                    <a:pt x="621344" y="207637"/>
                    <a:pt x="628853" y="244621"/>
                    <a:pt x="628853" y="282638"/>
                  </a:cubicBezTo>
                  <a:lnTo>
                    <a:pt x="628853" y="493091"/>
                  </a:lnTo>
                  <a:lnTo>
                    <a:pt x="687990" y="585551"/>
                  </a:lnTo>
                  <a:cubicBezTo>
                    <a:pt x="693528" y="594187"/>
                    <a:pt x="693904" y="605263"/>
                    <a:pt x="688929" y="614275"/>
                  </a:cubicBezTo>
                  <a:cubicBezTo>
                    <a:pt x="684048" y="623286"/>
                    <a:pt x="674567" y="628918"/>
                    <a:pt x="664336" y="628918"/>
                  </a:cubicBezTo>
                  <a:lnTo>
                    <a:pt x="28189" y="628918"/>
                  </a:lnTo>
                  <a:cubicBezTo>
                    <a:pt x="17958" y="628918"/>
                    <a:pt x="8571" y="623380"/>
                    <a:pt x="3596" y="614462"/>
                  </a:cubicBezTo>
                  <a:cubicBezTo>
                    <a:pt x="-1380" y="605545"/>
                    <a:pt x="-1192" y="594656"/>
                    <a:pt x="4159" y="585927"/>
                  </a:cubicBezTo>
                  <a:lnTo>
                    <a:pt x="63578" y="489336"/>
                  </a:lnTo>
                  <a:lnTo>
                    <a:pt x="63578" y="282638"/>
                  </a:lnTo>
                  <a:cubicBezTo>
                    <a:pt x="63578" y="244621"/>
                    <a:pt x="71087" y="207731"/>
                    <a:pt x="85919" y="172812"/>
                  </a:cubicBezTo>
                  <a:cubicBezTo>
                    <a:pt x="100186" y="139207"/>
                    <a:pt x="120650" y="108981"/>
                    <a:pt x="146558" y="82980"/>
                  </a:cubicBezTo>
                  <a:cubicBezTo>
                    <a:pt x="172465" y="56978"/>
                    <a:pt x="202785" y="36609"/>
                    <a:pt x="236389" y="22341"/>
                  </a:cubicBezTo>
                  <a:cubicBezTo>
                    <a:pt x="271214" y="7510"/>
                    <a:pt x="308199" y="0"/>
                    <a:pt x="346215" y="0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1001433" y="5983117"/>
              <a:ext cx="224335" cy="243008"/>
            </a:xfrm>
            <a:custGeom>
              <a:avLst/>
              <a:gdLst>
                <a:gd name="connsiteX0" fmla="*/ 332293 w 664672"/>
                <a:gd name="connsiteY0" fmla="*/ 387672 h 720001"/>
                <a:gd name="connsiteX1" fmla="*/ 660804 w 664672"/>
                <a:gd name="connsiteY1" fmla="*/ 598902 h 720001"/>
                <a:gd name="connsiteX2" fmla="*/ 563560 w 664672"/>
                <a:gd name="connsiteY2" fmla="*/ 720001 h 720001"/>
                <a:gd name="connsiteX3" fmla="*/ 101112 w 664672"/>
                <a:gd name="connsiteY3" fmla="*/ 720001 h 720001"/>
                <a:gd name="connsiteX4" fmla="*/ 3868 w 664672"/>
                <a:gd name="connsiteY4" fmla="*/ 598902 h 720001"/>
                <a:gd name="connsiteX5" fmla="*/ 332293 w 664672"/>
                <a:gd name="connsiteY5" fmla="*/ 387672 h 720001"/>
                <a:gd name="connsiteX6" fmla="*/ 332293 w 664672"/>
                <a:gd name="connsiteY6" fmla="*/ 0 h 720001"/>
                <a:gd name="connsiteX7" fmla="*/ 509517 w 664672"/>
                <a:gd name="connsiteY7" fmla="*/ 177224 h 720001"/>
                <a:gd name="connsiteX8" fmla="*/ 332293 w 664672"/>
                <a:gd name="connsiteY8" fmla="*/ 354448 h 720001"/>
                <a:gd name="connsiteX9" fmla="*/ 155069 w 664672"/>
                <a:gd name="connsiteY9" fmla="*/ 177224 h 720001"/>
                <a:gd name="connsiteX10" fmla="*/ 332293 w 664672"/>
                <a:gd name="connsiteY10" fmla="*/ 0 h 720001"/>
              </a:gdLst>
              <a:ahLst/>
              <a:cxnLst/>
              <a:rect l="l" t="t" r="r" b="b"/>
              <a:pathLst>
                <a:path w="664672" h="720001">
                  <a:moveTo>
                    <a:pt x="332293" y="387672"/>
                  </a:moveTo>
                  <a:cubicBezTo>
                    <a:pt x="550549" y="387672"/>
                    <a:pt x="628448" y="491162"/>
                    <a:pt x="660804" y="598902"/>
                  </a:cubicBezTo>
                  <a:cubicBezTo>
                    <a:pt x="679021" y="659624"/>
                    <a:pt x="630616" y="720001"/>
                    <a:pt x="563560" y="720001"/>
                  </a:cubicBezTo>
                  <a:lnTo>
                    <a:pt x="101112" y="720001"/>
                  </a:lnTo>
                  <a:cubicBezTo>
                    <a:pt x="34057" y="720001"/>
                    <a:pt x="-14348" y="659624"/>
                    <a:pt x="3868" y="598902"/>
                  </a:cubicBezTo>
                  <a:cubicBezTo>
                    <a:pt x="36138" y="491162"/>
                    <a:pt x="114037" y="387672"/>
                    <a:pt x="332293" y="387672"/>
                  </a:cubicBezTo>
                  <a:close/>
                  <a:moveTo>
                    <a:pt x="332293" y="0"/>
                  </a:moveTo>
                  <a:cubicBezTo>
                    <a:pt x="430230" y="0"/>
                    <a:pt x="509604" y="79287"/>
                    <a:pt x="509517" y="177224"/>
                  </a:cubicBezTo>
                  <a:cubicBezTo>
                    <a:pt x="509517" y="275074"/>
                    <a:pt x="430144" y="354448"/>
                    <a:pt x="332293" y="354448"/>
                  </a:cubicBezTo>
                  <a:cubicBezTo>
                    <a:pt x="234442" y="354448"/>
                    <a:pt x="155069" y="275074"/>
                    <a:pt x="155069" y="177224"/>
                  </a:cubicBezTo>
                  <a:cubicBezTo>
                    <a:pt x="155069" y="79287"/>
                    <a:pt x="234442" y="0"/>
                    <a:pt x="332293" y="0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</p:grpSp>
      <p:sp>
        <p:nvSpPr>
          <p:cNvPr id="17" name="标题 1"/>
          <p:cNvSpPr txBox="1"/>
          <p:nvPr/>
        </p:nvSpPr>
        <p:spPr>
          <a:xfrm>
            <a:off x="551815" y="5173345"/>
            <a:ext cx="3104515" cy="3530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p>
            <a:pPr algn="l"/>
            <a:r>
              <a:rPr kumimoji="1" lang="zh-CN" altLang="en-US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鹿高社群</a:t>
            </a:r>
            <a:r>
              <a:rPr kumimoji="1" lang="en-US" altLang="zh-CN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1</a:t>
            </a:r>
            <a:r>
              <a:rPr kumimoji="1" lang="zh-CN" altLang="en-US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群</a:t>
            </a:r>
            <a:r>
              <a:rPr kumimoji="1" lang="en-US" altLang="zh-CN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190</a:t>
            </a:r>
            <a:r>
              <a:rPr kumimoji="1" lang="zh-CN" altLang="en-US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号</a:t>
            </a:r>
            <a:r>
              <a:rPr kumimoji="1" lang="en-US" altLang="zh-CN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：</a:t>
            </a:r>
            <a:r>
              <a:rPr kumimoji="1" lang="zh-CN" altLang="en-US" sz="180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叶文坚</a:t>
            </a:r>
            <a:endParaRPr kumimoji="1" lang="zh-CN" altLang="en-US" sz="1800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28955" y="-675640"/>
            <a:ext cx="2901950" cy="227520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9215" y="211455"/>
            <a:ext cx="1707515" cy="30924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30.539842519685,&quot;left&quot;:51.999921259842516,&quot;top&quot;:224.5207874015748,&quot;width&quot;:854.9999212598426}"/>
</p:tagLst>
</file>

<file path=ppt/tags/tag2.xml><?xml version="1.0" encoding="utf-8"?>
<p:tagLst xmlns:p="http://schemas.openxmlformats.org/presentationml/2006/main">
  <p:tag name="KSO_WM_DIAGRAM_VIRTUALLY_FRAME" val="{&quot;height&quot;:130.539842519685,&quot;left&quot;:51.999921259842516,&quot;top&quot;:224.5207874015748,&quot;width&quot;:854.9999212598426}"/>
</p:tagLst>
</file>

<file path=ppt/tags/tag3.xml><?xml version="1.0" encoding="utf-8"?>
<p:tagLst xmlns:p="http://schemas.openxmlformats.org/presentationml/2006/main">
  <p:tag name="KSO_WM_DIAGRAM_VIRTUALLY_FRAME" val="{&quot;height&quot;:130.539842519685,&quot;left&quot;:51.999921259842516,&quot;top&quot;:224.5207874015748,&quot;width&quot;:854.9999212598426}"/>
</p:tagLst>
</file>

<file path=ppt/tags/tag4.xml><?xml version="1.0" encoding="utf-8"?>
<p:tagLst xmlns:p="http://schemas.openxmlformats.org/presentationml/2006/main">
  <p:tag name="KSO_WM_DIAGRAM_VIRTUALLY_FRAME" val="{&quot;height&quot;:130.539842519685,&quot;left&quot;:51.999921259842516,&quot;top&quot;:224.5207874015748,&quot;width&quot;:854.9999212598426}"/>
</p:tagLst>
</file>

<file path=ppt/tags/tag5.xml><?xml version="1.0" encoding="utf-8"?>
<p:tagLst xmlns:p="http://schemas.openxmlformats.org/presentationml/2006/main">
  <p:tag name="KSO_WM_DIAGRAM_VIRTUALLY_FRAME" val="{&quot;height&quot;:130.539842519685,&quot;left&quot;:51.999921259842516,&quot;top&quot;:224.5207874015748,&quot;width&quot;:854.9999212598426}"/>
</p:tagLst>
</file>

<file path=ppt/tags/tag6.xml><?xml version="1.0" encoding="utf-8"?>
<p:tagLst xmlns:p="http://schemas.openxmlformats.org/presentationml/2006/main">
  <p:tag name="KSO_WM_DIAGRAM_VIRTUALLY_FRAME" val="{&quot;height&quot;:130.539842519685,&quot;left&quot;:51.999921259842516,&quot;top&quot;:224.5207874015748,&quot;width&quot;:854.9999212598426}"/>
</p:tagLst>
</file>

<file path=ppt/tags/tag7.xml><?xml version="1.0" encoding="utf-8"?>
<p:tagLst xmlns:p="http://schemas.openxmlformats.org/presentationml/2006/main">
  <p:tag name="KSO_WM_DIAGRAM_VIRTUALLY_FRAME" val="{&quot;height&quot;:130.539842519685,&quot;left&quot;:51.999921259842516,&quot;top&quot;:224.5207874015748,&quot;width&quot;:854.9999212598426}"/>
</p:tagLst>
</file>

<file path=ppt/tags/tag8.xml><?xml version="1.0" encoding="utf-8"?>
<p:tagLst xmlns:p="http://schemas.openxmlformats.org/presentationml/2006/main">
  <p:tag name="KSO_WM_DIAGRAM_VIRTUALLY_FRAME" val="{&quot;height&quot;:130.539842519685,&quot;left&quot;:51.999921259842516,&quot;top&quot;:224.5207874015748,&quot;width&quot;:854.9999212598426}"/>
</p:tagLst>
</file>

<file path=ppt/tags/tag9.xml><?xml version="1.0" encoding="utf-8"?>
<p:tagLst xmlns:p="http://schemas.openxmlformats.org/presentationml/2006/main">
  <p:tag name="KSO_WM_DIAGRAM_VIRTUALLY_FRAME" val="{&quot;height&quot;:130.539842519685,&quot;left&quot;:51.999921259842516,&quot;top&quot;:224.5207874015748,&quot;width&quot;:854.9999212598426}"/>
</p:tagLst>
</file>

<file path=ppt/tags/tag10.xml><?xml version="1.0" encoding="utf-8"?>
<p:tagLst xmlns:p="http://schemas.openxmlformats.org/presentationml/2006/main">
  <p:tag name="KSO_WM_DIAGRAM_VIRTUALLY_FRAME" val="{&quot;height&quot;:130.539842519685,&quot;left&quot;:51.999921259842516,&quot;top&quot;:224.5207874015748,&quot;width&quot;:854.9999212598426}"/>
</p:tagLst>
</file>

<file path=ppt/tags/tag11.xml><?xml version="1.0" encoding="utf-8"?>
<p:tagLst xmlns:p="http://schemas.openxmlformats.org/presentationml/2006/main">
  <p:tag name="KSO_WM_DIAGRAM_VIRTUALLY_FRAME" val="{&quot;height&quot;:130.539842519685,&quot;left&quot;:51.999921259842516,&quot;top&quot;:224.5207874015748,&quot;width&quot;:854.9999212598426}"/>
</p:tagLst>
</file>

<file path=ppt/tags/tag12.xml><?xml version="1.0" encoding="utf-8"?>
<p:tagLst xmlns:p="http://schemas.openxmlformats.org/presentationml/2006/main">
  <p:tag name="KSO_WM_DIAGRAM_VIRTUALLY_FRAME" val="{&quot;height&quot;:130.539842519685,&quot;left&quot;:51.999921259842516,&quot;top&quot;:224.5207874015748,&quot;width&quot;:854.9999212598426}"/>
</p:tagLst>
</file>

<file path=ppt/tags/tag13.xml><?xml version="1.0" encoding="utf-8"?>
<p:tagLst xmlns:p="http://schemas.openxmlformats.org/presentationml/2006/main">
  <p:tag name="KSO_WM_DIAGRAM_VIRTUALLY_FRAME" val="{&quot;height&quot;:130.539842519685,&quot;left&quot;:51.999921259842516,&quot;top&quot;:224.5207874015748,&quot;width&quot;:854.9999212598426}"/>
</p:tagLst>
</file>

<file path=ppt/tags/tag14.xml><?xml version="1.0" encoding="utf-8"?>
<p:tagLst xmlns:p="http://schemas.openxmlformats.org/presentationml/2006/main">
  <p:tag name="KSO_WM_DIAGRAM_VIRTUALLY_FRAME" val="{&quot;height&quot;:130.539842519685,&quot;left&quot;:51.999921259842516,&quot;top&quot;:224.5207874015748,&quot;width&quot;:854.9999212598426}"/>
</p:tagLst>
</file>

<file path=ppt/tags/tag15.xml><?xml version="1.0" encoding="utf-8"?>
<p:tagLst xmlns:p="http://schemas.openxmlformats.org/presentationml/2006/main">
  <p:tag name="KSO_WM_DIAGRAM_VIRTUALLY_FRAME" val="{&quot;height&quot;:130.539842519685,&quot;left&quot;:51.999921259842516,&quot;top&quot;:224.5207874015748,&quot;width&quot;:854.9999212598426}"/>
</p:tagLst>
</file>

<file path=ppt/tags/tag16.xml><?xml version="1.0" encoding="utf-8"?>
<p:tagLst xmlns:p="http://schemas.openxmlformats.org/presentationml/2006/main">
  <p:tag name="KSO_WM_DIAGRAM_VIRTUALLY_FRAME" val="{&quot;height&quot;:205.38417322834647,&quot;left&quot;:72,&quot;top&quot;:116.60251968503937,&quot;width&quot;:870.8051181102362}"/>
</p:tagLst>
</file>

<file path=ppt/tags/tag17.xml><?xml version="1.0" encoding="utf-8"?>
<p:tagLst xmlns:p="http://schemas.openxmlformats.org/presentationml/2006/main">
  <p:tag name="KSO_WM_DIAGRAM_VIRTUALLY_FRAME" val="{&quot;height&quot;:205.38417322834647,&quot;left&quot;:72,&quot;top&quot;:116.60251968503937,&quot;width&quot;:870.8051181102362}"/>
</p:tagLst>
</file>

<file path=ppt/tags/tag18.xml><?xml version="1.0" encoding="utf-8"?>
<p:tagLst xmlns:p="http://schemas.openxmlformats.org/presentationml/2006/main">
  <p:tag name="KSO_WM_DIAGRAM_VIRTUALLY_FRAME" val="{&quot;height&quot;:205.38417322834647,&quot;left&quot;:72,&quot;top&quot;:116.60251968503937,&quot;width&quot;:870.8051181102362}"/>
</p:tagLst>
</file>

<file path=ppt/tags/tag19.xml><?xml version="1.0" encoding="utf-8"?>
<p:tagLst xmlns:p="http://schemas.openxmlformats.org/presentationml/2006/main">
  <p:tag name="KSO_WM_DIAGRAM_VIRTUALLY_FRAME" val="{&quot;height&quot;:205.38417322834647,&quot;left&quot;:72,&quot;top&quot;:116.60251968503937,&quot;width&quot;:870.8051181102362}"/>
</p:tagLst>
</file>

<file path=ppt/tags/tag20.xml><?xml version="1.0" encoding="utf-8"?>
<p:tagLst xmlns:p="http://schemas.openxmlformats.org/presentationml/2006/main">
  <p:tag name="KSO_WM_DIAGRAM_VIRTUALLY_FRAME" val="{&quot;height&quot;:205.38417322834647,&quot;left&quot;:72,&quot;top&quot;:116.60251968503937,&quot;width&quot;:870.8051181102362}"/>
</p:tagLst>
</file>

<file path=ppt/tags/tag21.xml><?xml version="1.0" encoding="utf-8"?>
<p:tagLst xmlns:p="http://schemas.openxmlformats.org/presentationml/2006/main">
  <p:tag name="KSO_WM_DIAGRAM_VIRTUALLY_FRAME" val="{&quot;height&quot;:205.38417322834647,&quot;left&quot;:72,&quot;top&quot;:116.60251968503937,&quot;width&quot;:870.8051181102362}"/>
</p:tagLst>
</file>

<file path=ppt/tags/tag22.xml><?xml version="1.0" encoding="utf-8"?>
<p:tagLst xmlns:p="http://schemas.openxmlformats.org/presentationml/2006/main">
  <p:tag name="KSO_WM_DIAGRAM_VIRTUALLY_FRAME" val="{&quot;height&quot;:205.38417322834647,&quot;left&quot;:72,&quot;top&quot;:116.60251968503937,&quot;width&quot;:870.8051181102362}"/>
</p:tagLst>
</file>

<file path=ppt/tags/tag23.xml><?xml version="1.0" encoding="utf-8"?>
<p:tagLst xmlns:p="http://schemas.openxmlformats.org/presentationml/2006/main">
  <p:tag name="KSO_WM_DIAGRAM_VIRTUALLY_FRAME" val="{&quot;height&quot;:205.38417322834647,&quot;left&quot;:72,&quot;top&quot;:116.60251968503937,&quot;width&quot;:870.8051181102362}"/>
</p:tagLst>
</file>

<file path=ppt/tags/tag24.xml><?xml version="1.0" encoding="utf-8"?>
<p:tagLst xmlns:p="http://schemas.openxmlformats.org/presentationml/2006/main">
  <p:tag name="KSO_WM_DIAGRAM_VIRTUALLY_FRAME" val="{&quot;height&quot;:205.38417322834647,&quot;left&quot;:72,&quot;top&quot;:116.60251968503937,&quot;width&quot;:870.8051181102362}"/>
</p:tagLst>
</file>

<file path=ppt/tags/tag25.xml><?xml version="1.0" encoding="utf-8"?>
<p:tagLst xmlns:p="http://schemas.openxmlformats.org/presentationml/2006/main">
  <p:tag name="KSO_WM_DIAGRAM_VIRTUALLY_FRAME" val="{&quot;height&quot;:205.38417322834647,&quot;left&quot;:72,&quot;top&quot;:116.60251968503937,&quot;width&quot;:870.8051181102362}"/>
</p:tagLst>
</file>

<file path=ppt/tags/tag26.xml><?xml version="1.0" encoding="utf-8"?>
<p:tagLst xmlns:p="http://schemas.openxmlformats.org/presentationml/2006/main">
  <p:tag name="KSO_WM_DIAGRAM_VIRTUALLY_FRAME" val="{&quot;height&quot;:205.38417322834647,&quot;left&quot;:72,&quot;top&quot;:116.60251968503937,&quot;width&quot;:870.8051181102362}"/>
</p:tagLst>
</file>

<file path=ppt/tags/tag27.xml><?xml version="1.0" encoding="utf-8"?>
<p:tagLst xmlns:p="http://schemas.openxmlformats.org/presentationml/2006/main">
  <p:tag name="KSO_WM_DIAGRAM_VIRTUALLY_FRAME" val="{&quot;height&quot;:205.38417322834647,&quot;left&quot;:72,&quot;top&quot;:116.60251968503937,&quot;width&quot;:870.8051181102362}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DIAGRAM_VIRTUALLY_FRAME" val="{&quot;height&quot;:319.45,&quot;left&quot;:37.75,&quot;top&quot;:116.9,&quot;width&quot;:820.85}"/>
</p:tagLst>
</file>

<file path=ppt/tags/tag32.xml><?xml version="1.0" encoding="utf-8"?>
<p:tagLst xmlns:p="http://schemas.openxmlformats.org/presentationml/2006/main">
  <p:tag name="KSO_WM_DIAGRAM_VIRTUALLY_FRAME" val="{&quot;height&quot;:319.45,&quot;left&quot;:37.75,&quot;top&quot;:116.9,&quot;width&quot;:820.85}"/>
</p:tagLst>
</file>

<file path=ppt/tags/tag33.xml><?xml version="1.0" encoding="utf-8"?>
<p:tagLst xmlns:p="http://schemas.openxmlformats.org/presentationml/2006/main">
  <p:tag name="KSO_WM_DIAGRAM_VIRTUALLY_FRAME" val="{&quot;height&quot;:319.45,&quot;left&quot;:37.75,&quot;top&quot;:116.9,&quot;width&quot;:820.85}"/>
</p:tagLst>
</file>

<file path=ppt/tags/tag34.xml><?xml version="1.0" encoding="utf-8"?>
<p:tagLst xmlns:p="http://schemas.openxmlformats.org/presentationml/2006/main">
  <p:tag name="KSO_WM_DIAGRAM_VIRTUALLY_FRAME" val="{&quot;height&quot;:319.45,&quot;left&quot;:37.75,&quot;top&quot;:116.9,&quot;width&quot;:820.85}"/>
</p:tagLst>
</file>

<file path=ppt/tags/tag35.xml><?xml version="1.0" encoding="utf-8"?>
<p:tagLst xmlns:p="http://schemas.openxmlformats.org/presentationml/2006/main">
  <p:tag name="KSO_WM_DIAGRAM_VIRTUALLY_FRAME" val="{&quot;height&quot;:277.6,&quot;left&quot;:37.75,&quot;top&quot;:116.9,&quot;width&quot;:820.85}"/>
</p:tagLst>
</file>

<file path=ppt/tags/tag36.xml><?xml version="1.0" encoding="utf-8"?>
<p:tagLst xmlns:p="http://schemas.openxmlformats.org/presentationml/2006/main">
  <p:tag name="commondata" val="eyJoZGlkIjoiNmI2OGEyODgyYTJiYWMzMGRlMTFiZDI0YmJkNTM4Yz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6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8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1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2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3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5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7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8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6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9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31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2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3_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BD1D7"/>
      </a:accent1>
      <a:accent2>
        <a:srgbClr val="348498"/>
      </a:accent2>
      <a:accent3>
        <a:srgbClr val="ACCAF4"/>
      </a:accent3>
      <a:accent4>
        <a:srgbClr val="237AD3"/>
      </a:accent4>
      <a:accent5>
        <a:srgbClr val="88C0E4"/>
      </a:accent5>
      <a:accent6>
        <a:srgbClr val="D0E5E8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3232</Words>
  <Application>WPS 演示</Application>
  <PresentationFormat/>
  <Paragraphs>307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32</vt:i4>
      </vt:variant>
      <vt:variant>
        <vt:lpstr>幻灯片标题</vt:lpstr>
      </vt:variant>
      <vt:variant>
        <vt:i4>43</vt:i4>
      </vt:variant>
    </vt:vector>
  </HeadingPairs>
  <TitlesOfParts>
    <vt:vector size="86" baseType="lpstr">
      <vt:lpstr>Arial</vt:lpstr>
      <vt:lpstr>宋体</vt:lpstr>
      <vt:lpstr>Wingdings</vt:lpstr>
      <vt:lpstr>Source Han Sans CN Bold</vt:lpstr>
      <vt:lpstr>OPPOSans H</vt:lpstr>
      <vt:lpstr>Source Han Sans</vt:lpstr>
      <vt:lpstr>OPPOSans R</vt:lpstr>
      <vt:lpstr>等线</vt:lpstr>
      <vt:lpstr>微软雅黑</vt:lpstr>
      <vt:lpstr>Arial Unicode MS</vt:lpstr>
      <vt:lpstr>Calibri</vt:lpstr>
      <vt:lpstr>Office 主题​​</vt:lpstr>
      <vt:lpstr>2_Office 主题​​</vt:lpstr>
      <vt:lpstr>3_Office 主题​​</vt:lpstr>
      <vt:lpstr>4_Office 主题​​</vt:lpstr>
      <vt:lpstr>5_Office 主题​​</vt:lpstr>
      <vt:lpstr>6_Office 主题​​</vt:lpstr>
      <vt:lpstr>7_Office 主题​​</vt:lpstr>
      <vt:lpstr>1_Office 主题​​</vt:lpstr>
      <vt:lpstr>8_Office 主题​​</vt:lpstr>
      <vt:lpstr>9_Office 主题​​</vt:lpstr>
      <vt:lpstr>10_Office 主题​​</vt:lpstr>
      <vt:lpstr>11_Office 主题​​</vt:lpstr>
      <vt:lpstr>12_Office 主题​​</vt:lpstr>
      <vt:lpstr>13_Office 主题​​</vt:lpstr>
      <vt:lpstr>14_Office 主题​​</vt:lpstr>
      <vt:lpstr>15_Office 主题​​</vt:lpstr>
      <vt:lpstr>16_Office 主题​​</vt:lpstr>
      <vt:lpstr>17_Office 主题​​</vt:lpstr>
      <vt:lpstr>18_Office 主题​​</vt:lpstr>
      <vt:lpstr>19_Office 主题​​</vt:lpstr>
      <vt:lpstr>20_Office 主题​​</vt:lpstr>
      <vt:lpstr>21_Office 主题​​</vt:lpstr>
      <vt:lpstr>22_Office 主题​​</vt:lpstr>
      <vt:lpstr>23_Office 主题​​</vt:lpstr>
      <vt:lpstr>25_Office 主题​​</vt:lpstr>
      <vt:lpstr>27_Office 主题​​</vt:lpstr>
      <vt:lpstr>28_Office 主题​​</vt:lpstr>
      <vt:lpstr>26_Office 主题​​</vt:lpstr>
      <vt:lpstr>29_Office 主题​​</vt:lpstr>
      <vt:lpstr>31_Office 主题​​</vt:lpstr>
      <vt:lpstr>32_Office 主题​​</vt:lpstr>
      <vt:lpstr>33_Office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叶文坚</cp:lastModifiedBy>
  <cp:revision>82</cp:revision>
  <dcterms:created xsi:type="dcterms:W3CDTF">2024-04-11T08:19:00Z</dcterms:created>
  <dcterms:modified xsi:type="dcterms:W3CDTF">2024-04-13T01:12:39Z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5BFCBB6CE8BFA691C39B17662C534DD5_43</vt:lpwstr>
  </property>
  <property fmtid="{D5CDD505-2E9C-101B-9397-08002B2CF9AE}" pid="3" name="KSOProductBuildVer">
    <vt:lpwstr>2052-12.1.0.16250</vt:lpwstr>
  </property>
</Properties>
</file>
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9"/>
  </p:notesMasterIdLst>
  <p:handoutMasterIdLst>
    <p:handoutMasterId r:id="rId81"/>
  </p:handoutMasterIdLst>
  <p:sldIdLst>
    <p:sldId id="256" r:id="rId4"/>
    <p:sldId id="257" r:id="rId5"/>
    <p:sldId id="303" r:id="rId6"/>
    <p:sldId id="302" r:id="rId7"/>
    <p:sldId id="307" r:id="rId8"/>
    <p:sldId id="306" r:id="rId10"/>
    <p:sldId id="312" r:id="rId11"/>
    <p:sldId id="314" r:id="rId12"/>
    <p:sldId id="313" r:id="rId13"/>
    <p:sldId id="315" r:id="rId14"/>
    <p:sldId id="316" r:id="rId15"/>
    <p:sldId id="317" r:id="rId16"/>
    <p:sldId id="318" r:id="rId17"/>
    <p:sldId id="319" r:id="rId18"/>
    <p:sldId id="321" r:id="rId19"/>
    <p:sldId id="322" r:id="rId20"/>
    <p:sldId id="320" r:id="rId21"/>
    <p:sldId id="323" r:id="rId22"/>
    <p:sldId id="324" r:id="rId23"/>
    <p:sldId id="327" r:id="rId24"/>
    <p:sldId id="328" r:id="rId25"/>
    <p:sldId id="329" r:id="rId26"/>
    <p:sldId id="330" r:id="rId27"/>
    <p:sldId id="332" r:id="rId28"/>
    <p:sldId id="325" r:id="rId29"/>
    <p:sldId id="333" r:id="rId30"/>
    <p:sldId id="334" r:id="rId31"/>
    <p:sldId id="335" r:id="rId32"/>
    <p:sldId id="340" r:id="rId33"/>
    <p:sldId id="336" r:id="rId34"/>
    <p:sldId id="337" r:id="rId35"/>
    <p:sldId id="338" r:id="rId36"/>
    <p:sldId id="341" r:id="rId37"/>
    <p:sldId id="391" r:id="rId38"/>
    <p:sldId id="342" r:id="rId39"/>
    <p:sldId id="352" r:id="rId40"/>
    <p:sldId id="346" r:id="rId41"/>
    <p:sldId id="348" r:id="rId42"/>
    <p:sldId id="349" r:id="rId43"/>
    <p:sldId id="350" r:id="rId44"/>
    <p:sldId id="343" r:id="rId45"/>
    <p:sldId id="353" r:id="rId46"/>
    <p:sldId id="392" r:id="rId47"/>
    <p:sldId id="354" r:id="rId48"/>
    <p:sldId id="355" r:id="rId49"/>
    <p:sldId id="344" r:id="rId50"/>
    <p:sldId id="345" r:id="rId51"/>
    <p:sldId id="356" r:id="rId52"/>
    <p:sldId id="308" r:id="rId53"/>
    <p:sldId id="357" r:id="rId54"/>
    <p:sldId id="358" r:id="rId55"/>
    <p:sldId id="359" r:id="rId56"/>
    <p:sldId id="365" r:id="rId57"/>
    <p:sldId id="366" r:id="rId58"/>
    <p:sldId id="360" r:id="rId59"/>
    <p:sldId id="367" r:id="rId60"/>
    <p:sldId id="368" r:id="rId61"/>
    <p:sldId id="361" r:id="rId62"/>
    <p:sldId id="362" r:id="rId63"/>
    <p:sldId id="363" r:id="rId64"/>
    <p:sldId id="364" r:id="rId65"/>
    <p:sldId id="369" r:id="rId66"/>
    <p:sldId id="370" r:id="rId67"/>
    <p:sldId id="371" r:id="rId68"/>
    <p:sldId id="373" r:id="rId69"/>
    <p:sldId id="377" r:id="rId70"/>
    <p:sldId id="378" r:id="rId71"/>
    <p:sldId id="380" r:id="rId72"/>
    <p:sldId id="381" r:id="rId73"/>
    <p:sldId id="382" r:id="rId74"/>
    <p:sldId id="383" r:id="rId75"/>
    <p:sldId id="384" r:id="rId76"/>
    <p:sldId id="385" r:id="rId77"/>
    <p:sldId id="386" r:id="rId78"/>
    <p:sldId id="433" r:id="rId79"/>
    <p:sldId id="262" r:id="rId80"/>
  </p:sldIdLst>
  <p:sldSz cx="12192000" cy="6858000"/>
  <p:notesSz cx="6858000" cy="9144000"/>
  <p:custDataLst>
    <p:tags r:id="rId8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40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74479"/>
    <a:srgbClr val="72719F"/>
    <a:srgbClr val="8C8BB1"/>
    <a:srgbClr val="605E8C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159"/>
        <p:guide pos="40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5" Type="http://schemas.openxmlformats.org/officeDocument/2006/relationships/tags" Target="tags/tag162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handoutMaster" Target="handoutMasters/handoutMaster1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字魂59号-创粗黑" panose="00000500000000000000" charset="-122"/>
              </a:rPr>
            </a:fld>
            <a:endParaRPr lang="zh-CN" altLang="en-US">
              <a:cs typeface="字魂59号-创粗黑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字魂59号-创粗黑" panose="00000500000000000000" charset="-122"/>
              </a:rPr>
            </a:fld>
            <a:endParaRPr lang="zh-CN" altLang="en-US">
              <a:cs typeface="字魂59号-创粗黑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0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515819" y="6725056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ransition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 advTm="0">
    <p:random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8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image" Target="../media/image18.png"/><Relationship Id="rId1" Type="http://schemas.openxmlformats.org/officeDocument/2006/relationships/tags" Target="../tags/tag11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image" Target="../media/image19.png"/><Relationship Id="rId1" Type="http://schemas.openxmlformats.org/officeDocument/2006/relationships/tags" Target="../tags/tag114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image" Target="../media/image4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image" Target="../media/image4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image" Target="../media/image5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image" Target="../media/image5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image" Target="../media/image5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5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image" Target="../media/image5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72945" y="1049020"/>
            <a:ext cx="7595054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1600" dirty="0">
                <a:gradFill>
                  <a:gsLst>
                    <a:gs pos="0">
                      <a:srgbClr val="4A2AA9">
                        <a:alpha val="26000"/>
                      </a:srgb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16200000" scaled="0"/>
                </a:gradFill>
                <a:cs typeface="+mn-ea"/>
                <a:sym typeface="+mn-lt"/>
              </a:rPr>
              <a:t>2022</a:t>
            </a:r>
            <a:endParaRPr lang="en-US" altLang="zh-CN" sz="21600" dirty="0">
              <a:gradFill>
                <a:gsLst>
                  <a:gs pos="0">
                    <a:srgbClr val="4A2AA9">
                      <a:alpha val="26000"/>
                    </a:srgbClr>
                  </a:gs>
                  <a:gs pos="100000">
                    <a:schemeClr val="bg1">
                      <a:alpha val="24000"/>
                    </a:schemeClr>
                  </a:gs>
                </a:gsLst>
                <a:lin ang="16200000" scaled="0"/>
              </a:gradFill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30145" y="2156460"/>
            <a:ext cx="7814945" cy="1923415"/>
            <a:chOff x="3948" y="3229"/>
            <a:chExt cx="12307" cy="3029"/>
          </a:xfrm>
        </p:grpSpPr>
        <p:sp>
          <p:nvSpPr>
            <p:cNvPr id="5" name="文本框 4"/>
            <p:cNvSpPr txBox="1"/>
            <p:nvPr/>
          </p:nvSpPr>
          <p:spPr>
            <a:xfrm>
              <a:off x="3948" y="3229"/>
              <a:ext cx="12012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96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广告</a:t>
              </a:r>
              <a:r>
                <a:rPr lang="en-US" altLang="zh-CN" sz="96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·</a:t>
              </a:r>
              <a:r>
                <a:rPr lang="zh-CN" altLang="en-US" sz="96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柳叶刀</a:t>
              </a:r>
              <a:endParaRPr lang="zh-CN" altLang="en-US" sz="9600" i="1" dirty="0">
                <a:solidFill>
                  <a:schemeClr val="bg1"/>
                </a:solidFill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 cstate="email">
              <a:biLevel thresh="25000"/>
            </a:blip>
            <a:stretch>
              <a:fillRect/>
            </a:stretch>
          </p:blipFill>
          <p:spPr>
            <a:xfrm>
              <a:off x="7695" y="3911"/>
              <a:ext cx="3218" cy="178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>
              <a:biLevel thresh="25000"/>
            </a:blip>
            <a:stretch>
              <a:fillRect/>
            </a:stretch>
          </p:blipFill>
          <p:spPr>
            <a:xfrm>
              <a:off x="13281" y="3608"/>
              <a:ext cx="2974" cy="2650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3000375" y="3856355"/>
            <a:ext cx="6512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rPr>
              <a:t>打造亚马逊极致性价比广告模型</a:t>
            </a:r>
            <a:endParaRPr lang="zh-CN" altLang="en-US" sz="1400">
              <a:solidFill>
                <a:schemeClr val="bg1">
                  <a:alpha val="64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15280" y="4494530"/>
            <a:ext cx="1657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教你省钱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5967730" y="5064125"/>
            <a:ext cx="553085" cy="8890"/>
          </a:xfrm>
          <a:prstGeom prst="line">
            <a:avLst/>
          </a:prstGeom>
          <a:ln w="19050">
            <a:solidFill>
              <a:schemeClr val="bg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160645" y="5210810"/>
            <a:ext cx="2167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每一分钱都花在刀刃上</a:t>
            </a:r>
            <a:endParaRPr lang="zh-CN" altLang="en-US" sz="10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21" y="5593850"/>
            <a:ext cx="249238" cy="54960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 flipV="1">
            <a:off x="3592996" y="40860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3" name="文本框 2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08187" y="2708870"/>
            <a:ext cx="3165290" cy="1478955"/>
            <a:chOff x="3615063" y="1567010"/>
            <a:chExt cx="3165290" cy="1478955"/>
          </a:xfrm>
        </p:grpSpPr>
        <p:sp>
          <p:nvSpPr>
            <p:cNvPr id="7" name="文本框 6"/>
            <p:cNvSpPr txBox="1"/>
            <p:nvPr/>
          </p:nvSpPr>
          <p:spPr>
            <a:xfrm>
              <a:off x="5190654" y="2400805"/>
              <a:ext cx="10972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cs typeface="+mn-ea"/>
                  <a:sym typeface="+mn-lt"/>
                </a:rPr>
                <a:t>目录</a:t>
              </a:r>
              <a:endParaRPr lang="zh-CN" altLang="en-US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15063" y="1567010"/>
              <a:ext cx="31652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en-US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5851618" y="940424"/>
            <a:ext cx="3026917" cy="584775"/>
            <a:chOff x="1685677" y="4313314"/>
            <a:chExt cx="3026917" cy="584775"/>
          </a:xfrm>
        </p:grpSpPr>
        <p:sp>
          <p:nvSpPr>
            <p:cNvPr id="34" name="文本框 33"/>
            <p:cNvSpPr txBox="1"/>
            <p:nvPr/>
          </p:nvSpPr>
          <p:spPr>
            <a:xfrm>
              <a:off x="2700914" y="4362758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基础概念介绍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685677" y="4313314"/>
              <a:ext cx="66556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851619" y="2258572"/>
            <a:ext cx="4538851" cy="584775"/>
            <a:chOff x="1685678" y="4313949"/>
            <a:chExt cx="4538851" cy="584775"/>
          </a:xfrm>
        </p:grpSpPr>
        <p:sp>
          <p:nvSpPr>
            <p:cNvPr id="40" name="文本框 39"/>
            <p:cNvSpPr txBox="1"/>
            <p:nvPr/>
          </p:nvSpPr>
          <p:spPr>
            <a:xfrm>
              <a:off x="2688849" y="4360853"/>
              <a:ext cx="3535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广告模型及广告基本形态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839554" y="3676415"/>
            <a:ext cx="3331716" cy="584775"/>
            <a:chOff x="1685678" y="4313949"/>
            <a:chExt cx="3331716" cy="584775"/>
          </a:xfrm>
        </p:grpSpPr>
        <p:sp>
          <p:nvSpPr>
            <p:cNvPr id="45" name="文本框 44"/>
            <p:cNvSpPr txBox="1"/>
            <p:nvPr/>
          </p:nvSpPr>
          <p:spPr>
            <a:xfrm>
              <a:off x="2700914" y="4345613"/>
              <a:ext cx="2316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判断及调整策略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839554" y="5044093"/>
            <a:ext cx="3331716" cy="584775"/>
            <a:chOff x="1685678" y="4313949"/>
            <a:chExt cx="3331716" cy="584775"/>
          </a:xfrm>
        </p:grpSpPr>
        <p:sp>
          <p:nvSpPr>
            <p:cNvPr id="50" name="文本框 49"/>
            <p:cNvSpPr txBox="1"/>
            <p:nvPr/>
          </p:nvSpPr>
          <p:spPr>
            <a:xfrm>
              <a:off x="2700914" y="4364028"/>
              <a:ext cx="2316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其他补充知识点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54" name="直接连接符 53"/>
          <p:cNvCxnSpPr/>
          <p:nvPr/>
        </p:nvCxnSpPr>
        <p:spPr>
          <a:xfrm>
            <a:off x="4802391" y="1322346"/>
            <a:ext cx="12682" cy="4103034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4819771" y="1323416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4827391" y="269298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4827391" y="4062546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827391" y="5432112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同心圆 8"/>
          <p:cNvSpPr/>
          <p:nvPr/>
        </p:nvSpPr>
        <p:spPr>
          <a:xfrm rot="1860000">
            <a:off x="5532120" y="571500"/>
            <a:ext cx="1296670" cy="1296670"/>
          </a:xfrm>
          <a:prstGeom prst="donut">
            <a:avLst>
              <a:gd name="adj" fmla="val 1421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同心圆 5"/>
          <p:cNvSpPr/>
          <p:nvPr/>
        </p:nvSpPr>
        <p:spPr>
          <a:xfrm rot="1860000">
            <a:off x="5532120" y="1952625"/>
            <a:ext cx="1296670" cy="1296670"/>
          </a:xfrm>
          <a:prstGeom prst="donut">
            <a:avLst>
              <a:gd name="adj" fmla="val 1421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" name="同心圆 9"/>
          <p:cNvSpPr/>
          <p:nvPr/>
        </p:nvSpPr>
        <p:spPr>
          <a:xfrm rot="1860000">
            <a:off x="5532120" y="3320415"/>
            <a:ext cx="1296670" cy="1296670"/>
          </a:xfrm>
          <a:prstGeom prst="donut">
            <a:avLst>
              <a:gd name="adj" fmla="val 1421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同心圆 10"/>
          <p:cNvSpPr/>
          <p:nvPr/>
        </p:nvSpPr>
        <p:spPr>
          <a:xfrm rot="1860000">
            <a:off x="5497830" y="4688840"/>
            <a:ext cx="1296670" cy="1296670"/>
          </a:xfrm>
          <a:prstGeom prst="donut">
            <a:avLst>
              <a:gd name="adj" fmla="val 1421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3" name="文本框 2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6" grpId="0" bldLvl="0" animBg="1"/>
      <p:bldP spid="10" grpId="0" bldLvl="0" animBg="1"/>
      <p:bldP spid="1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6545" y="4084320"/>
            <a:ext cx="9013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Introduction to Basic Concepts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95285" y="2053493"/>
            <a:ext cx="56692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chemeClr val="bg1"/>
                </a:solidFill>
                <a:cs typeface="+mn-ea"/>
                <a:sym typeface="+mn-lt"/>
              </a:rPr>
              <a:t>基础概念介绍</a:t>
            </a:r>
            <a:endParaRPr lang="zh-CN" altLang="en-US" sz="7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28" name="文本框 27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6918722" y="3925"/>
            <a:ext cx="5273279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grpSp>
        <p:nvGrpSpPr>
          <p:cNvPr id="53" name="Gruppieren"/>
          <p:cNvGrpSpPr/>
          <p:nvPr/>
        </p:nvGrpSpPr>
        <p:grpSpPr>
          <a:xfrm>
            <a:off x="8800376" y="1799829"/>
            <a:ext cx="1962875" cy="3960210"/>
            <a:chOff x="8153" y="0"/>
            <a:chExt cx="3925748" cy="7920418"/>
          </a:xfrm>
        </p:grpSpPr>
        <p:grpSp>
          <p:nvGrpSpPr>
            <p:cNvPr id="54" name="Gruppieren"/>
            <p:cNvGrpSpPr/>
            <p:nvPr/>
          </p:nvGrpSpPr>
          <p:grpSpPr>
            <a:xfrm>
              <a:off x="8153" y="1026206"/>
              <a:ext cx="115314" cy="1905482"/>
              <a:chOff x="0" y="0"/>
              <a:chExt cx="115312" cy="1905481"/>
            </a:xfrm>
          </p:grpSpPr>
          <p:sp>
            <p:nvSpPr>
              <p:cNvPr id="85" name="Form"/>
              <p:cNvSpPr/>
              <p:nvPr/>
            </p:nvSpPr>
            <p:spPr>
              <a:xfrm>
                <a:off x="0" y="0"/>
                <a:ext cx="95912" cy="2948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0960"/>
                      <a:pt x="0" y="19920"/>
                    </a:cubicBezTo>
                    <a:lnTo>
                      <a:pt x="0" y="1680"/>
                    </a:lnTo>
                    <a:cubicBezTo>
                      <a:pt x="0" y="640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6" name="Form"/>
              <p:cNvSpPr/>
              <p:nvPr/>
            </p:nvSpPr>
            <p:spPr>
              <a:xfrm>
                <a:off x="0" y="654931"/>
                <a:ext cx="115313" cy="556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404" y="21600"/>
                    </a:lnTo>
                    <a:cubicBezTo>
                      <a:pt x="1887" y="21600"/>
                      <a:pt x="0" y="21258"/>
                      <a:pt x="0" y="20704"/>
                    </a:cubicBezTo>
                    <a:lnTo>
                      <a:pt x="0" y="896"/>
                    </a:lnTo>
                    <a:cubicBezTo>
                      <a:pt x="0" y="384"/>
                      <a:pt x="1887" y="0"/>
                      <a:pt x="440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7" name="Form"/>
              <p:cNvSpPr/>
              <p:nvPr/>
            </p:nvSpPr>
            <p:spPr>
              <a:xfrm>
                <a:off x="0" y="1363229"/>
                <a:ext cx="95912" cy="5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1249"/>
                      <a:pt x="0" y="20680"/>
                    </a:cubicBezTo>
                    <a:lnTo>
                      <a:pt x="0" y="920"/>
                    </a:lnTo>
                    <a:cubicBezTo>
                      <a:pt x="0" y="394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</p:grpSp>
        <p:sp>
          <p:nvSpPr>
            <p:cNvPr id="88" name="Form"/>
            <p:cNvSpPr/>
            <p:nvPr/>
          </p:nvSpPr>
          <p:spPr>
            <a:xfrm>
              <a:off x="3852542" y="1794279"/>
              <a:ext cx="81360" cy="963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6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5386" y="0"/>
                  </a:lnTo>
                  <a:cubicBezTo>
                    <a:pt x="19233" y="0"/>
                    <a:pt x="21600" y="372"/>
                    <a:pt x="21600" y="867"/>
                  </a:cubicBezTo>
                  <a:lnTo>
                    <a:pt x="21600" y="20733"/>
                  </a:lnTo>
                  <a:cubicBezTo>
                    <a:pt x="21600" y="21146"/>
                    <a:pt x="18641" y="21600"/>
                    <a:pt x="15386" y="21600"/>
                  </a:cubicBezTo>
                </a:path>
              </a:pathLst>
            </a:custGeom>
            <a:solidFill>
              <a:srgbClr val="24282B"/>
            </a:solidFill>
            <a:ln w="12700" cap="flat">
              <a:noFill/>
              <a:miter lim="400000"/>
            </a:ln>
            <a:effectLst/>
          </p:spPr>
          <p:txBody>
            <a:bodyPr wrap="square" lIns="29528" tIns="29528" rIns="29528" bIns="29528" numCol="1" anchor="ctr">
              <a:noAutofit/>
            </a:bodyPr>
            <a:lstStyle/>
            <a:p>
              <a:pPr defTabSz="729615">
                <a:lnSpc>
                  <a:spcPct val="93000"/>
                </a:lnSpc>
                <a:defRPr sz="5800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900">
                <a:cs typeface="+mn-ea"/>
                <a:sym typeface="+mn-lt"/>
              </a:endParaRPr>
            </a:p>
          </p:txBody>
        </p:sp>
        <p:grpSp>
          <p:nvGrpSpPr>
            <p:cNvPr id="89" name="Gruppieren"/>
            <p:cNvGrpSpPr/>
            <p:nvPr/>
          </p:nvGrpSpPr>
          <p:grpSpPr>
            <a:xfrm>
              <a:off x="35704" y="0"/>
              <a:ext cx="3868005" cy="7920419"/>
              <a:chOff x="0" y="0"/>
              <a:chExt cx="3868004" cy="7920418"/>
            </a:xfrm>
          </p:grpSpPr>
          <p:sp>
            <p:nvSpPr>
              <p:cNvPr id="90" name="Abgerundetes Rechteck"/>
              <p:cNvSpPr/>
              <p:nvPr/>
            </p:nvSpPr>
            <p:spPr>
              <a:xfrm>
                <a:off x="0" y="0"/>
                <a:ext cx="3868005" cy="7920419"/>
              </a:xfrm>
              <a:prstGeom prst="roundRect">
                <a:avLst>
                  <a:gd name="adj" fmla="val 14497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1" name="Abgerundetes Rechteck"/>
              <p:cNvSpPr/>
              <p:nvPr/>
            </p:nvSpPr>
            <p:spPr>
              <a:xfrm>
                <a:off x="64694" y="28269"/>
                <a:ext cx="3738616" cy="7863880"/>
              </a:xfrm>
              <a:prstGeom prst="roundRect">
                <a:avLst>
                  <a:gd name="adj" fmla="val 14999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2" name="Abgerundetes Rechteck"/>
              <p:cNvSpPr/>
              <p:nvPr/>
            </p:nvSpPr>
            <p:spPr>
              <a:xfrm>
                <a:off x="29834" y="63128"/>
                <a:ext cx="3808336" cy="7794162"/>
              </a:xfrm>
              <a:prstGeom prst="roundRect">
                <a:avLst>
                  <a:gd name="adj" fmla="val 14725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3" name="Abgerundetes Rechteck"/>
              <p:cNvSpPr/>
              <p:nvPr/>
            </p:nvSpPr>
            <p:spPr>
              <a:xfrm>
                <a:off x="70503" y="108674"/>
                <a:ext cx="3726998" cy="7703072"/>
              </a:xfrm>
              <a:prstGeom prst="roundRect">
                <a:avLst>
                  <a:gd name="adj" fmla="val 14386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4" name="Abgerundetes Rechteck"/>
              <p:cNvSpPr/>
              <p:nvPr/>
            </p:nvSpPr>
            <p:spPr>
              <a:xfrm>
                <a:off x="125119" y="82529"/>
                <a:ext cx="3617766" cy="7768325"/>
              </a:xfrm>
              <a:prstGeom prst="roundRect">
                <a:avLst>
                  <a:gd name="adj" fmla="val 13411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95" name="Bildplatzhalter 1"/>
          <p:cNvSpPr txBox="1"/>
          <p:nvPr/>
        </p:nvSpPr>
        <p:spPr>
          <a:xfrm flipH="1">
            <a:off x="8903417" y="1891228"/>
            <a:ext cx="1773329" cy="3784706"/>
          </a:xfrm>
          <a:prstGeom prst="roundRect">
            <a:avLst>
              <a:gd name="adj" fmla="val 12018"/>
            </a:avLst>
          </a:prstGeom>
          <a:blipFill dpi="0" rotWithShape="1">
            <a:blip r:embed="rId1" cstate="screen"/>
            <a:srcRect/>
            <a:stretch>
              <a:fillRect/>
            </a:stretch>
          </a:blipFill>
          <a:ln w="12700">
            <a:miter lim="400000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6" name="Form"/>
          <p:cNvSpPr/>
          <p:nvPr/>
        </p:nvSpPr>
        <p:spPr>
          <a:xfrm>
            <a:off x="4062865" y="33938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7" name="Form"/>
          <p:cNvSpPr/>
          <p:nvPr/>
        </p:nvSpPr>
        <p:spPr>
          <a:xfrm>
            <a:off x="4062865" y="47908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8" name="Form"/>
          <p:cNvSpPr/>
          <p:nvPr/>
        </p:nvSpPr>
        <p:spPr>
          <a:xfrm>
            <a:off x="4062865" y="20349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9" name="Rectangle 29"/>
          <p:cNvSpPr/>
          <p:nvPr/>
        </p:nvSpPr>
        <p:spPr>
          <a:xfrm>
            <a:off x="5001100" y="2175219"/>
            <a:ext cx="3089036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权重如何体现？由什么决定？如何积累？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Rectangle 30"/>
          <p:cNvSpPr/>
          <p:nvPr/>
        </p:nvSpPr>
        <p:spPr>
          <a:xfrm>
            <a:off x="5001260" y="1854200"/>
            <a:ext cx="13131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权重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1" name="Rectangle 29"/>
          <p:cNvSpPr/>
          <p:nvPr/>
        </p:nvSpPr>
        <p:spPr>
          <a:xfrm>
            <a:off x="5000465" y="3606290"/>
            <a:ext cx="3089036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竞价由什么决定？作用是什么？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2" name="Rectangle 30"/>
          <p:cNvSpPr/>
          <p:nvPr/>
        </p:nvSpPr>
        <p:spPr>
          <a:xfrm>
            <a:off x="5000625" y="3284855"/>
            <a:ext cx="13373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竞价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3" name="Rectangle 29"/>
          <p:cNvSpPr/>
          <p:nvPr/>
        </p:nvSpPr>
        <p:spPr>
          <a:xfrm>
            <a:off x="5001100" y="4935734"/>
            <a:ext cx="3089036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怎么判断我们的广告已经达到了理想状态？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Rectangle 30"/>
          <p:cNvSpPr/>
          <p:nvPr/>
        </p:nvSpPr>
        <p:spPr>
          <a:xfrm>
            <a:off x="5001100" y="461449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广告阶梯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05" name="Straight Connector 19"/>
          <p:cNvCxnSpPr/>
          <p:nvPr/>
        </p:nvCxnSpPr>
        <p:spPr>
          <a:xfrm>
            <a:off x="958385" y="4836921"/>
            <a:ext cx="662954" cy="0"/>
          </a:xfrm>
          <a:prstGeom prst="line">
            <a:avLst/>
          </a:prstGeom>
          <a:ln w="28575">
            <a:solidFill>
              <a:srgbClr val="605E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7"/>
          <p:cNvSpPr txBox="1"/>
          <p:nvPr/>
        </p:nvSpPr>
        <p:spPr>
          <a:xfrm>
            <a:off x="788035" y="3677920"/>
            <a:ext cx="2405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核心理念介绍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Google Shape;86;p19"/>
          <p:cNvSpPr txBox="1"/>
          <p:nvPr/>
        </p:nvSpPr>
        <p:spPr>
          <a:xfrm>
            <a:off x="788036" y="2804843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05E8C"/>
                </a:solidFill>
                <a:cs typeface="+mn-ea"/>
                <a:sym typeface="+mn-lt"/>
              </a:rPr>
              <a:t>Core Idea</a:t>
            </a:r>
            <a:endParaRPr lang="en-US" sz="2000" b="0" i="0" u="none" strike="noStrike" cap="none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400" dirty="0">
                <a:solidFill>
                  <a:srgbClr val="474479"/>
                </a:solidFill>
                <a:cs typeface="+mn-ea"/>
                <a:sym typeface="+mn-lt"/>
              </a:rPr>
              <a:t>主要板块</a:t>
            </a:r>
            <a:endParaRPr lang="zh-CN" altLang="en-US" sz="24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8936" y="273050"/>
            <a:ext cx="1882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FFFF"/>
                </a:solidFill>
              </a:rPr>
              <a:t>https://www.ypppt.com/</a:t>
            </a:r>
            <a:endParaRPr lang="zh-CN" altLang="en-US" sz="1100" dirty="0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0" y="5949950"/>
            <a:ext cx="12233275" cy="938530"/>
            <a:chOff x="0" y="9370"/>
            <a:chExt cx="19265" cy="1478"/>
          </a:xfrm>
        </p:grpSpPr>
        <p:sp>
          <p:nvSpPr>
            <p:cNvPr id="10" name="矩形 9"/>
            <p:cNvSpPr/>
            <p:nvPr/>
          </p:nvSpPr>
          <p:spPr>
            <a:xfrm>
              <a:off x="0" y="10585"/>
              <a:ext cx="19200" cy="263"/>
            </a:xfrm>
            <a:prstGeom prst="rect">
              <a:avLst/>
            </a:prstGeom>
            <a:solidFill>
              <a:srgbClr val="C32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" name="组合 3"/>
            <p:cNvGrpSpPr/>
            <p:nvPr/>
          </p:nvGrpSpPr>
          <p:grpSpPr bwMode="auto">
            <a:xfrm flipH="1">
              <a:off x="15000" y="9370"/>
              <a:ext cx="4200" cy="1478"/>
              <a:chOff x="0" y="2297125"/>
              <a:chExt cx="13100952" cy="4560877"/>
            </a:xfrm>
          </p:grpSpPr>
          <p:sp>
            <p:nvSpPr>
              <p:cNvPr id="12" name="等腰三角形 11"/>
              <p:cNvSpPr/>
              <p:nvPr/>
            </p:nvSpPr>
            <p:spPr>
              <a:xfrm>
                <a:off x="0" y="3454707"/>
                <a:ext cx="12477097" cy="3403295"/>
              </a:xfrm>
              <a:prstGeom prst="triangle">
                <a:avLst>
                  <a:gd name="adj" fmla="val 0"/>
                </a:avLst>
              </a:prstGeom>
              <a:solidFill>
                <a:srgbClr val="554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921371">
                <a:off x="148163" y="2297125"/>
                <a:ext cx="12952789" cy="2924827"/>
              </a:xfrm>
              <a:prstGeom prst="triangle">
                <a:avLst>
                  <a:gd name="adj" fmla="val 20586"/>
                </a:avLst>
              </a:prstGeom>
              <a:solidFill>
                <a:srgbClr val="554FA5"/>
              </a:solidFill>
              <a:ln>
                <a:solidFill>
                  <a:srgbClr val="554F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7017" y="9762"/>
              <a:ext cx="2248" cy="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微软雅黑" panose="020B0503020204020204" charset="-122"/>
                  <a:ea typeface="微软雅黑" panose="020B0503020204020204" charset="-122"/>
                </a:rPr>
                <a:t>HZY</a:t>
              </a:r>
              <a:endParaRPr lang="en-US" altLang="zh-CN" sz="28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96" grpId="0" bldLvl="0" animBg="1"/>
      <p:bldP spid="97" grpId="0" bldLvl="0" animBg="1"/>
      <p:bldP spid="98" grpId="0" bldLvl="0" animBg="1"/>
      <p:bldP spid="99" grpId="0"/>
      <p:bldP spid="100" grpId="0"/>
      <p:bldP spid="101" grpId="0"/>
      <p:bldP spid="102" grpId="0"/>
      <p:bldP spid="103" grpId="0"/>
      <p:bldP spid="104" grpId="0"/>
      <p:bldP spid="106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权重如何体现？</a:t>
            </a:r>
            <a:endParaRPr lang="zh-CN" altLang="en-US" sz="24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710565" y="2379345"/>
            <a:ext cx="4904740" cy="2729230"/>
            <a:chOff x="1466" y="4528"/>
            <a:chExt cx="7724" cy="4298"/>
          </a:xfrm>
        </p:grpSpPr>
        <p:grpSp>
          <p:nvGrpSpPr>
            <p:cNvPr id="40" name="组合 39"/>
            <p:cNvGrpSpPr/>
            <p:nvPr/>
          </p:nvGrpSpPr>
          <p:grpSpPr>
            <a:xfrm>
              <a:off x="1466" y="4529"/>
              <a:ext cx="5612" cy="4297"/>
              <a:chOff x="1466" y="4529"/>
              <a:chExt cx="5612" cy="4297"/>
            </a:xfrm>
          </p:grpSpPr>
          <p:sp>
            <p:nvSpPr>
              <p:cNvPr id="102" name="Freeform 203"/>
              <p:cNvSpPr/>
              <p:nvPr/>
            </p:nvSpPr>
            <p:spPr bwMode="auto">
              <a:xfrm>
                <a:off x="1466" y="4529"/>
                <a:ext cx="5613" cy="1435"/>
              </a:xfrm>
              <a:custGeom>
                <a:avLst/>
                <a:gdLst>
                  <a:gd name="T0" fmla="*/ 2072 w 2072"/>
                  <a:gd name="T1" fmla="*/ 0 h 562"/>
                  <a:gd name="T2" fmla="*/ 0 w 2072"/>
                  <a:gd name="T3" fmla="*/ 0 h 562"/>
                  <a:gd name="T4" fmla="*/ 0 w 2072"/>
                  <a:gd name="T5" fmla="*/ 562 h 562"/>
                  <a:gd name="T6" fmla="*/ 1884 w 2072"/>
                  <a:gd name="T7" fmla="*/ 562 h 562"/>
                  <a:gd name="T8" fmla="*/ 2072 w 2072"/>
                  <a:gd name="T9" fmla="*/ 0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72" h="562">
                    <a:moveTo>
                      <a:pt x="2072" y="0"/>
                    </a:moveTo>
                    <a:lnTo>
                      <a:pt x="0" y="0"/>
                    </a:lnTo>
                    <a:lnTo>
                      <a:pt x="0" y="562"/>
                    </a:lnTo>
                    <a:lnTo>
                      <a:pt x="1884" y="562"/>
                    </a:lnTo>
                    <a:lnTo>
                      <a:pt x="2072" y="0"/>
                    </a:lnTo>
                    <a:close/>
                  </a:path>
                </a:pathLst>
              </a:custGeom>
              <a:solidFill>
                <a:srgbClr val="72719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1</a:t>
                </a:r>
                <a:endParaRPr lang="en-US" sz="4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Freeform 202"/>
              <p:cNvSpPr/>
              <p:nvPr/>
            </p:nvSpPr>
            <p:spPr bwMode="auto">
              <a:xfrm>
                <a:off x="1466" y="5964"/>
                <a:ext cx="5103" cy="1430"/>
              </a:xfrm>
              <a:custGeom>
                <a:avLst/>
                <a:gdLst>
                  <a:gd name="T0" fmla="*/ 1884 w 1884"/>
                  <a:gd name="T1" fmla="*/ 0 h 560"/>
                  <a:gd name="T2" fmla="*/ 0 w 1884"/>
                  <a:gd name="T3" fmla="*/ 0 h 560"/>
                  <a:gd name="T4" fmla="*/ 0 w 1884"/>
                  <a:gd name="T5" fmla="*/ 560 h 560"/>
                  <a:gd name="T6" fmla="*/ 1695 w 1884"/>
                  <a:gd name="T7" fmla="*/ 560 h 560"/>
                  <a:gd name="T8" fmla="*/ 1884 w 1884"/>
                  <a:gd name="T9" fmla="*/ 0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4" h="560">
                    <a:moveTo>
                      <a:pt x="1884" y="0"/>
                    </a:moveTo>
                    <a:lnTo>
                      <a:pt x="0" y="0"/>
                    </a:lnTo>
                    <a:lnTo>
                      <a:pt x="0" y="560"/>
                    </a:lnTo>
                    <a:lnTo>
                      <a:pt x="1695" y="560"/>
                    </a:lnTo>
                    <a:lnTo>
                      <a:pt x="1884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algn="ctr"/>
                <a:r>
                  <a:rPr lang="en-US" sz="4400" b="1" dirty="0">
                    <a:solidFill>
                      <a:srgbClr val="474479"/>
                    </a:solidFill>
                    <a:cs typeface="+mn-ea"/>
                    <a:sym typeface="+mn-lt"/>
                  </a:rPr>
                  <a:t>2</a:t>
                </a:r>
                <a:endParaRPr lang="en-US" sz="4400" b="1" dirty="0">
                  <a:solidFill>
                    <a:srgbClr val="47447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201"/>
              <p:cNvSpPr/>
              <p:nvPr/>
            </p:nvSpPr>
            <p:spPr bwMode="auto">
              <a:xfrm>
                <a:off x="1466" y="7394"/>
                <a:ext cx="4591" cy="1433"/>
              </a:xfrm>
              <a:custGeom>
                <a:avLst/>
                <a:gdLst>
                  <a:gd name="T0" fmla="*/ 1695 w 1695"/>
                  <a:gd name="T1" fmla="*/ 0 h 561"/>
                  <a:gd name="T2" fmla="*/ 0 w 1695"/>
                  <a:gd name="T3" fmla="*/ 0 h 561"/>
                  <a:gd name="T4" fmla="*/ 0 w 1695"/>
                  <a:gd name="T5" fmla="*/ 561 h 561"/>
                  <a:gd name="T6" fmla="*/ 1506 w 1695"/>
                  <a:gd name="T7" fmla="*/ 561 h 561"/>
                  <a:gd name="T8" fmla="*/ 1695 w 1695"/>
                  <a:gd name="T9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95" h="561">
                    <a:moveTo>
                      <a:pt x="1695" y="0"/>
                    </a:moveTo>
                    <a:lnTo>
                      <a:pt x="0" y="0"/>
                    </a:lnTo>
                    <a:lnTo>
                      <a:pt x="0" y="561"/>
                    </a:lnTo>
                    <a:lnTo>
                      <a:pt x="1506" y="561"/>
                    </a:lnTo>
                    <a:lnTo>
                      <a:pt x="1695" y="0"/>
                    </a:lnTo>
                    <a:close/>
                  </a:path>
                </a:pathLst>
              </a:custGeom>
              <a:solidFill>
                <a:srgbClr val="72719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3</a:t>
                </a:r>
                <a:endParaRPr lang="en-US" sz="4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5586" y="4528"/>
              <a:ext cx="3605" cy="4298"/>
              <a:chOff x="6219" y="1664"/>
              <a:chExt cx="3605" cy="4298"/>
            </a:xfrm>
          </p:grpSpPr>
          <p:sp>
            <p:nvSpPr>
              <p:cNvPr id="100" name="Freeform 208"/>
              <p:cNvSpPr/>
              <p:nvPr/>
            </p:nvSpPr>
            <p:spPr bwMode="auto">
              <a:xfrm>
                <a:off x="7240" y="1664"/>
                <a:ext cx="2584" cy="1435"/>
              </a:xfrm>
              <a:custGeom>
                <a:avLst/>
                <a:gdLst>
                  <a:gd name="T0" fmla="*/ 637 w 901"/>
                  <a:gd name="T1" fmla="*/ 534 h 534"/>
                  <a:gd name="T2" fmla="*/ 828 w 901"/>
                  <a:gd name="T3" fmla="*/ 351 h 534"/>
                  <a:gd name="T4" fmla="*/ 883 w 901"/>
                  <a:gd name="T5" fmla="*/ 298 h 534"/>
                  <a:gd name="T6" fmla="*/ 883 w 901"/>
                  <a:gd name="T7" fmla="*/ 237 h 534"/>
                  <a:gd name="T8" fmla="*/ 828 w 901"/>
                  <a:gd name="T9" fmla="*/ 184 h 534"/>
                  <a:gd name="T10" fmla="*/ 635 w 901"/>
                  <a:gd name="T11" fmla="*/ 0 h 534"/>
                  <a:gd name="T12" fmla="*/ 635 w 901"/>
                  <a:gd name="T13" fmla="*/ 0 h 534"/>
                  <a:gd name="T14" fmla="*/ 635 w 901"/>
                  <a:gd name="T15" fmla="*/ 0 h 534"/>
                  <a:gd name="T16" fmla="*/ 177 w 901"/>
                  <a:gd name="T17" fmla="*/ 0 h 534"/>
                  <a:gd name="T18" fmla="*/ 0 w 901"/>
                  <a:gd name="T19" fmla="*/ 534 h 534"/>
                  <a:gd name="T20" fmla="*/ 635 w 901"/>
                  <a:gd name="T21" fmla="*/ 534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1" h="534">
                    <a:moveTo>
                      <a:pt x="637" y="534"/>
                    </a:moveTo>
                    <a:cubicBezTo>
                      <a:pt x="828" y="351"/>
                      <a:pt x="828" y="351"/>
                      <a:pt x="828" y="351"/>
                    </a:cubicBezTo>
                    <a:cubicBezTo>
                      <a:pt x="883" y="298"/>
                      <a:pt x="883" y="298"/>
                      <a:pt x="883" y="298"/>
                    </a:cubicBezTo>
                    <a:cubicBezTo>
                      <a:pt x="901" y="282"/>
                      <a:pt x="901" y="254"/>
                      <a:pt x="883" y="237"/>
                    </a:cubicBezTo>
                    <a:cubicBezTo>
                      <a:pt x="828" y="184"/>
                      <a:pt x="828" y="184"/>
                      <a:pt x="828" y="184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0" y="534"/>
                      <a:pt x="0" y="534"/>
                      <a:pt x="0" y="534"/>
                    </a:cubicBezTo>
                    <a:cubicBezTo>
                      <a:pt x="635" y="534"/>
                      <a:pt x="635" y="534"/>
                      <a:pt x="635" y="534"/>
                    </a:cubicBezTo>
                  </a:path>
                </a:pathLst>
              </a:custGeom>
              <a:solidFill>
                <a:srgbClr val="8C8BB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lnSpcReduction="10000"/>
              </a:bodyPr>
              <a:lstStyle/>
              <a:p>
                <a:endParaRPr lang="en-US" sz="5400">
                  <a:cs typeface="+mn-ea"/>
                  <a:sym typeface="+mn-lt"/>
                </a:endParaRPr>
              </a:p>
            </p:txBody>
          </p:sp>
          <p:sp>
            <p:nvSpPr>
              <p:cNvPr id="92" name="Freeform 207"/>
              <p:cNvSpPr/>
              <p:nvPr/>
            </p:nvSpPr>
            <p:spPr bwMode="auto">
              <a:xfrm>
                <a:off x="6728" y="3100"/>
                <a:ext cx="2587" cy="1430"/>
              </a:xfrm>
              <a:custGeom>
                <a:avLst/>
                <a:gdLst>
                  <a:gd name="T0" fmla="*/ 637 w 901"/>
                  <a:gd name="T1" fmla="*/ 533 h 533"/>
                  <a:gd name="T2" fmla="*/ 828 w 901"/>
                  <a:gd name="T3" fmla="*/ 351 h 533"/>
                  <a:gd name="T4" fmla="*/ 883 w 901"/>
                  <a:gd name="T5" fmla="*/ 298 h 533"/>
                  <a:gd name="T6" fmla="*/ 883 w 901"/>
                  <a:gd name="T7" fmla="*/ 236 h 533"/>
                  <a:gd name="T8" fmla="*/ 828 w 901"/>
                  <a:gd name="T9" fmla="*/ 183 h 533"/>
                  <a:gd name="T10" fmla="*/ 635 w 901"/>
                  <a:gd name="T11" fmla="*/ 0 h 533"/>
                  <a:gd name="T12" fmla="*/ 635 w 901"/>
                  <a:gd name="T13" fmla="*/ 0 h 533"/>
                  <a:gd name="T14" fmla="*/ 635 w 901"/>
                  <a:gd name="T15" fmla="*/ 0 h 533"/>
                  <a:gd name="T16" fmla="*/ 178 w 901"/>
                  <a:gd name="T17" fmla="*/ 0 h 533"/>
                  <a:gd name="T18" fmla="*/ 0 w 901"/>
                  <a:gd name="T19" fmla="*/ 533 h 533"/>
                  <a:gd name="T20" fmla="*/ 635 w 901"/>
                  <a:gd name="T21" fmla="*/ 53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1" h="533">
                    <a:moveTo>
                      <a:pt x="637" y="533"/>
                    </a:moveTo>
                    <a:cubicBezTo>
                      <a:pt x="828" y="351"/>
                      <a:pt x="828" y="351"/>
                      <a:pt x="828" y="351"/>
                    </a:cubicBezTo>
                    <a:cubicBezTo>
                      <a:pt x="883" y="298"/>
                      <a:pt x="883" y="298"/>
                      <a:pt x="883" y="298"/>
                    </a:cubicBezTo>
                    <a:cubicBezTo>
                      <a:pt x="901" y="281"/>
                      <a:pt x="901" y="253"/>
                      <a:pt x="883" y="236"/>
                    </a:cubicBezTo>
                    <a:cubicBezTo>
                      <a:pt x="828" y="183"/>
                      <a:pt x="828" y="183"/>
                      <a:pt x="828" y="183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0" y="533"/>
                      <a:pt x="0" y="533"/>
                      <a:pt x="0" y="533"/>
                    </a:cubicBezTo>
                    <a:cubicBezTo>
                      <a:pt x="635" y="533"/>
                      <a:pt x="635" y="533"/>
                      <a:pt x="635" y="53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lnSpcReduction="10000"/>
              </a:bodyPr>
              <a:lstStyle/>
              <a:p>
                <a:endParaRPr lang="en-US" sz="5400">
                  <a:cs typeface="+mn-ea"/>
                  <a:sym typeface="+mn-lt"/>
                </a:endParaRPr>
              </a:p>
            </p:txBody>
          </p:sp>
          <p:sp>
            <p:nvSpPr>
              <p:cNvPr id="84" name="Freeform 206"/>
              <p:cNvSpPr/>
              <p:nvPr/>
            </p:nvSpPr>
            <p:spPr bwMode="auto">
              <a:xfrm>
                <a:off x="6219" y="4530"/>
                <a:ext cx="2584" cy="1433"/>
              </a:xfrm>
              <a:custGeom>
                <a:avLst/>
                <a:gdLst>
                  <a:gd name="T0" fmla="*/ 637 w 901"/>
                  <a:gd name="T1" fmla="*/ 533 h 533"/>
                  <a:gd name="T2" fmla="*/ 828 w 901"/>
                  <a:gd name="T3" fmla="*/ 351 h 533"/>
                  <a:gd name="T4" fmla="*/ 883 w 901"/>
                  <a:gd name="T5" fmla="*/ 299 h 533"/>
                  <a:gd name="T6" fmla="*/ 883 w 901"/>
                  <a:gd name="T7" fmla="*/ 236 h 533"/>
                  <a:gd name="T8" fmla="*/ 828 w 901"/>
                  <a:gd name="T9" fmla="*/ 184 h 533"/>
                  <a:gd name="T10" fmla="*/ 636 w 901"/>
                  <a:gd name="T11" fmla="*/ 0 h 533"/>
                  <a:gd name="T12" fmla="*/ 636 w 901"/>
                  <a:gd name="T13" fmla="*/ 0 h 533"/>
                  <a:gd name="T14" fmla="*/ 636 w 901"/>
                  <a:gd name="T15" fmla="*/ 0 h 533"/>
                  <a:gd name="T16" fmla="*/ 178 w 901"/>
                  <a:gd name="T17" fmla="*/ 0 h 533"/>
                  <a:gd name="T18" fmla="*/ 0 w 901"/>
                  <a:gd name="T19" fmla="*/ 533 h 533"/>
                  <a:gd name="T20" fmla="*/ 636 w 901"/>
                  <a:gd name="T21" fmla="*/ 53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1" h="533">
                    <a:moveTo>
                      <a:pt x="637" y="533"/>
                    </a:moveTo>
                    <a:cubicBezTo>
                      <a:pt x="828" y="351"/>
                      <a:pt x="828" y="351"/>
                      <a:pt x="828" y="351"/>
                    </a:cubicBezTo>
                    <a:cubicBezTo>
                      <a:pt x="883" y="299"/>
                      <a:pt x="883" y="299"/>
                      <a:pt x="883" y="299"/>
                    </a:cubicBezTo>
                    <a:cubicBezTo>
                      <a:pt x="901" y="282"/>
                      <a:pt x="901" y="253"/>
                      <a:pt x="883" y="236"/>
                    </a:cubicBezTo>
                    <a:cubicBezTo>
                      <a:pt x="828" y="184"/>
                      <a:pt x="828" y="184"/>
                      <a:pt x="828" y="184"/>
                    </a:cubicBezTo>
                    <a:cubicBezTo>
                      <a:pt x="636" y="0"/>
                      <a:pt x="636" y="0"/>
                      <a:pt x="636" y="0"/>
                    </a:cubicBezTo>
                    <a:cubicBezTo>
                      <a:pt x="636" y="0"/>
                      <a:pt x="636" y="0"/>
                      <a:pt x="636" y="0"/>
                    </a:cubicBezTo>
                    <a:cubicBezTo>
                      <a:pt x="636" y="0"/>
                      <a:pt x="636" y="0"/>
                      <a:pt x="636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0" y="533"/>
                      <a:pt x="0" y="533"/>
                      <a:pt x="0" y="533"/>
                    </a:cubicBezTo>
                    <a:cubicBezTo>
                      <a:pt x="636" y="533"/>
                      <a:pt x="636" y="533"/>
                      <a:pt x="636" y="533"/>
                    </a:cubicBezTo>
                  </a:path>
                </a:pathLst>
              </a:custGeom>
              <a:solidFill>
                <a:srgbClr val="8C8BB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lnSpcReduction="10000"/>
              </a:bodyPr>
              <a:lstStyle/>
              <a:p>
                <a:endParaRPr lang="en-US" sz="5400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 106"/>
              <p:cNvSpPr/>
              <p:nvPr/>
            </p:nvSpPr>
            <p:spPr bwMode="auto">
              <a:xfrm>
                <a:off x="7119" y="4929"/>
                <a:ext cx="784" cy="634"/>
              </a:xfrm>
              <a:custGeom>
                <a:avLst/>
                <a:gdLst>
                  <a:gd name="connsiteX0" fmla="*/ 355420 w 607568"/>
                  <a:gd name="connsiteY0" fmla="*/ 250307 h 491771"/>
                  <a:gd name="connsiteX1" fmla="*/ 352312 w 607568"/>
                  <a:gd name="connsiteY1" fmla="*/ 251812 h 491771"/>
                  <a:gd name="connsiteX2" fmla="*/ 321042 w 607568"/>
                  <a:gd name="connsiteY2" fmla="*/ 289814 h 491771"/>
                  <a:gd name="connsiteX3" fmla="*/ 321513 w 607568"/>
                  <a:gd name="connsiteY3" fmla="*/ 295364 h 491771"/>
                  <a:gd name="connsiteX4" fmla="*/ 369736 w 607568"/>
                  <a:gd name="connsiteY4" fmla="*/ 338257 h 491771"/>
                  <a:gd name="connsiteX5" fmla="*/ 371997 w 607568"/>
                  <a:gd name="connsiteY5" fmla="*/ 339104 h 491771"/>
                  <a:gd name="connsiteX6" fmla="*/ 373127 w 607568"/>
                  <a:gd name="connsiteY6" fmla="*/ 338916 h 491771"/>
                  <a:gd name="connsiteX7" fmla="*/ 375293 w 607568"/>
                  <a:gd name="connsiteY7" fmla="*/ 336282 h 491771"/>
                  <a:gd name="connsiteX8" fmla="*/ 383676 w 607568"/>
                  <a:gd name="connsiteY8" fmla="*/ 279467 h 491771"/>
                  <a:gd name="connsiteX9" fmla="*/ 376424 w 607568"/>
                  <a:gd name="connsiteY9" fmla="*/ 263287 h 491771"/>
                  <a:gd name="connsiteX10" fmla="*/ 357681 w 607568"/>
                  <a:gd name="connsiteY10" fmla="*/ 250965 h 491771"/>
                  <a:gd name="connsiteX11" fmla="*/ 355420 w 607568"/>
                  <a:gd name="connsiteY11" fmla="*/ 250307 h 491771"/>
                  <a:gd name="connsiteX12" fmla="*/ 258879 w 607568"/>
                  <a:gd name="connsiteY12" fmla="*/ 250307 h 491771"/>
                  <a:gd name="connsiteX13" fmla="*/ 256712 w 607568"/>
                  <a:gd name="connsiteY13" fmla="*/ 250965 h 491771"/>
                  <a:gd name="connsiteX14" fmla="*/ 237969 w 607568"/>
                  <a:gd name="connsiteY14" fmla="*/ 263287 h 491771"/>
                  <a:gd name="connsiteX15" fmla="*/ 230717 w 607568"/>
                  <a:gd name="connsiteY15" fmla="*/ 279467 h 491771"/>
                  <a:gd name="connsiteX16" fmla="*/ 239100 w 607568"/>
                  <a:gd name="connsiteY16" fmla="*/ 336282 h 491771"/>
                  <a:gd name="connsiteX17" fmla="*/ 241266 w 607568"/>
                  <a:gd name="connsiteY17" fmla="*/ 338916 h 491771"/>
                  <a:gd name="connsiteX18" fmla="*/ 242396 w 607568"/>
                  <a:gd name="connsiteY18" fmla="*/ 339104 h 491771"/>
                  <a:gd name="connsiteX19" fmla="*/ 244657 w 607568"/>
                  <a:gd name="connsiteY19" fmla="*/ 338257 h 491771"/>
                  <a:gd name="connsiteX20" fmla="*/ 292880 w 607568"/>
                  <a:gd name="connsiteY20" fmla="*/ 295364 h 491771"/>
                  <a:gd name="connsiteX21" fmla="*/ 293351 w 607568"/>
                  <a:gd name="connsiteY21" fmla="*/ 289814 h 491771"/>
                  <a:gd name="connsiteX22" fmla="*/ 261987 w 607568"/>
                  <a:gd name="connsiteY22" fmla="*/ 251812 h 491771"/>
                  <a:gd name="connsiteX23" fmla="*/ 258879 w 607568"/>
                  <a:gd name="connsiteY23" fmla="*/ 250307 h 491771"/>
                  <a:gd name="connsiteX24" fmla="*/ 500465 w 607568"/>
                  <a:gd name="connsiteY24" fmla="*/ 66049 h 491771"/>
                  <a:gd name="connsiteX25" fmla="*/ 565743 w 607568"/>
                  <a:gd name="connsiteY25" fmla="*/ 130673 h 491771"/>
                  <a:gd name="connsiteX26" fmla="*/ 566120 w 607568"/>
                  <a:gd name="connsiteY26" fmla="*/ 130673 h 491771"/>
                  <a:gd name="connsiteX27" fmla="*/ 580250 w 607568"/>
                  <a:gd name="connsiteY27" fmla="*/ 160962 h 491771"/>
                  <a:gd name="connsiteX28" fmla="*/ 560939 w 607568"/>
                  <a:gd name="connsiteY28" fmla="*/ 182503 h 491771"/>
                  <a:gd name="connsiteX29" fmla="*/ 531927 w 607568"/>
                  <a:gd name="connsiteY29" fmla="*/ 223799 h 491771"/>
                  <a:gd name="connsiteX30" fmla="*/ 528253 w 607568"/>
                  <a:gd name="connsiteY30" fmla="*/ 234240 h 491771"/>
                  <a:gd name="connsiteX31" fmla="*/ 530797 w 607568"/>
                  <a:gd name="connsiteY31" fmla="*/ 246281 h 491771"/>
                  <a:gd name="connsiteX32" fmla="*/ 545868 w 607568"/>
                  <a:gd name="connsiteY32" fmla="*/ 261143 h 491771"/>
                  <a:gd name="connsiteX33" fmla="*/ 558961 w 607568"/>
                  <a:gd name="connsiteY33" fmla="*/ 263777 h 491771"/>
                  <a:gd name="connsiteX34" fmla="*/ 597299 w 607568"/>
                  <a:gd name="connsiteY34" fmla="*/ 301968 h 491771"/>
                  <a:gd name="connsiteX35" fmla="*/ 607002 w 607568"/>
                  <a:gd name="connsiteY35" fmla="*/ 350788 h 491771"/>
                  <a:gd name="connsiteX36" fmla="*/ 601256 w 607568"/>
                  <a:gd name="connsiteY36" fmla="*/ 373835 h 491771"/>
                  <a:gd name="connsiteX37" fmla="*/ 579685 w 607568"/>
                  <a:gd name="connsiteY37" fmla="*/ 384088 h 491771"/>
                  <a:gd name="connsiteX38" fmla="*/ 490386 w 607568"/>
                  <a:gd name="connsiteY38" fmla="*/ 384088 h 491771"/>
                  <a:gd name="connsiteX39" fmla="*/ 467685 w 607568"/>
                  <a:gd name="connsiteY39" fmla="*/ 310058 h 491771"/>
                  <a:gd name="connsiteX40" fmla="*/ 431702 w 607568"/>
                  <a:gd name="connsiteY40" fmla="*/ 267445 h 491771"/>
                  <a:gd name="connsiteX41" fmla="*/ 441969 w 607568"/>
                  <a:gd name="connsiteY41" fmla="*/ 263777 h 491771"/>
                  <a:gd name="connsiteX42" fmla="*/ 455157 w 607568"/>
                  <a:gd name="connsiteY42" fmla="*/ 261237 h 491771"/>
                  <a:gd name="connsiteX43" fmla="*/ 470228 w 607568"/>
                  <a:gd name="connsiteY43" fmla="*/ 246281 h 491771"/>
                  <a:gd name="connsiteX44" fmla="*/ 472677 w 607568"/>
                  <a:gd name="connsiteY44" fmla="*/ 234240 h 491771"/>
                  <a:gd name="connsiteX45" fmla="*/ 469098 w 607568"/>
                  <a:gd name="connsiteY45" fmla="*/ 223893 h 491771"/>
                  <a:gd name="connsiteX46" fmla="*/ 439991 w 607568"/>
                  <a:gd name="connsiteY46" fmla="*/ 182503 h 491771"/>
                  <a:gd name="connsiteX47" fmla="*/ 426144 w 607568"/>
                  <a:gd name="connsiteY47" fmla="*/ 172720 h 491771"/>
                  <a:gd name="connsiteX48" fmla="*/ 441404 w 607568"/>
                  <a:gd name="connsiteY48" fmla="*/ 143278 h 491771"/>
                  <a:gd name="connsiteX49" fmla="*/ 439708 w 607568"/>
                  <a:gd name="connsiteY49" fmla="*/ 107438 h 491771"/>
                  <a:gd name="connsiteX50" fmla="*/ 500465 w 607568"/>
                  <a:gd name="connsiteY50" fmla="*/ 66049 h 491771"/>
                  <a:gd name="connsiteX51" fmla="*/ 107100 w 607568"/>
                  <a:gd name="connsiteY51" fmla="*/ 66049 h 491771"/>
                  <a:gd name="connsiteX52" fmla="*/ 171341 w 607568"/>
                  <a:gd name="connsiteY52" fmla="*/ 123618 h 491771"/>
                  <a:gd name="connsiteX53" fmla="*/ 172849 w 607568"/>
                  <a:gd name="connsiteY53" fmla="*/ 143278 h 491771"/>
                  <a:gd name="connsiteX54" fmla="*/ 184246 w 607568"/>
                  <a:gd name="connsiteY54" fmla="*/ 168205 h 491771"/>
                  <a:gd name="connsiteX55" fmla="*/ 167574 w 607568"/>
                  <a:gd name="connsiteY55" fmla="*/ 182503 h 491771"/>
                  <a:gd name="connsiteX56" fmla="*/ 138468 w 607568"/>
                  <a:gd name="connsiteY56" fmla="*/ 223799 h 491771"/>
                  <a:gd name="connsiteX57" fmla="*/ 134794 w 607568"/>
                  <a:gd name="connsiteY57" fmla="*/ 234240 h 491771"/>
                  <a:gd name="connsiteX58" fmla="*/ 137337 w 607568"/>
                  <a:gd name="connsiteY58" fmla="*/ 246281 h 491771"/>
                  <a:gd name="connsiteX59" fmla="*/ 152408 w 607568"/>
                  <a:gd name="connsiteY59" fmla="*/ 261143 h 491771"/>
                  <a:gd name="connsiteX60" fmla="*/ 165596 w 607568"/>
                  <a:gd name="connsiteY60" fmla="*/ 263777 h 491771"/>
                  <a:gd name="connsiteX61" fmla="*/ 179442 w 607568"/>
                  <a:gd name="connsiteY61" fmla="*/ 268856 h 491771"/>
                  <a:gd name="connsiteX62" fmla="*/ 146662 w 607568"/>
                  <a:gd name="connsiteY62" fmla="*/ 310058 h 491771"/>
                  <a:gd name="connsiteX63" fmla="*/ 123867 w 607568"/>
                  <a:gd name="connsiteY63" fmla="*/ 384088 h 491771"/>
                  <a:gd name="connsiteX64" fmla="*/ 27883 w 607568"/>
                  <a:gd name="connsiteY64" fmla="*/ 384088 h 491771"/>
                  <a:gd name="connsiteX65" fmla="*/ 6312 w 607568"/>
                  <a:gd name="connsiteY65" fmla="*/ 373835 h 491771"/>
                  <a:gd name="connsiteX66" fmla="*/ 566 w 607568"/>
                  <a:gd name="connsiteY66" fmla="*/ 350788 h 491771"/>
                  <a:gd name="connsiteX67" fmla="*/ 10268 w 607568"/>
                  <a:gd name="connsiteY67" fmla="*/ 301968 h 491771"/>
                  <a:gd name="connsiteX68" fmla="*/ 48606 w 607568"/>
                  <a:gd name="connsiteY68" fmla="*/ 263777 h 491771"/>
                  <a:gd name="connsiteX69" fmla="*/ 61699 w 607568"/>
                  <a:gd name="connsiteY69" fmla="*/ 261237 h 491771"/>
                  <a:gd name="connsiteX70" fmla="*/ 76770 w 607568"/>
                  <a:gd name="connsiteY70" fmla="*/ 246281 h 491771"/>
                  <a:gd name="connsiteX71" fmla="*/ 79313 w 607568"/>
                  <a:gd name="connsiteY71" fmla="*/ 234240 h 491771"/>
                  <a:gd name="connsiteX72" fmla="*/ 75639 w 607568"/>
                  <a:gd name="connsiteY72" fmla="*/ 223893 h 491771"/>
                  <a:gd name="connsiteX73" fmla="*/ 46628 w 607568"/>
                  <a:gd name="connsiteY73" fmla="*/ 182503 h 491771"/>
                  <a:gd name="connsiteX74" fmla="*/ 27318 w 607568"/>
                  <a:gd name="connsiteY74" fmla="*/ 160962 h 491771"/>
                  <a:gd name="connsiteX75" fmla="*/ 41447 w 607568"/>
                  <a:gd name="connsiteY75" fmla="*/ 130673 h 491771"/>
                  <a:gd name="connsiteX76" fmla="*/ 41824 w 607568"/>
                  <a:gd name="connsiteY76" fmla="*/ 130673 h 491771"/>
                  <a:gd name="connsiteX77" fmla="*/ 107100 w 607568"/>
                  <a:gd name="connsiteY77" fmla="*/ 66049 h 491771"/>
                  <a:gd name="connsiteX78" fmla="*/ 298626 w 607568"/>
                  <a:gd name="connsiteY78" fmla="*/ 0 h 491771"/>
                  <a:gd name="connsiteX79" fmla="*/ 315956 w 607568"/>
                  <a:gd name="connsiteY79" fmla="*/ 0 h 491771"/>
                  <a:gd name="connsiteX80" fmla="*/ 401854 w 607568"/>
                  <a:gd name="connsiteY80" fmla="*/ 85787 h 491771"/>
                  <a:gd name="connsiteX81" fmla="*/ 401854 w 607568"/>
                  <a:gd name="connsiteY81" fmla="*/ 95476 h 491771"/>
                  <a:gd name="connsiteX82" fmla="*/ 421633 w 607568"/>
                  <a:gd name="connsiteY82" fmla="*/ 138840 h 491771"/>
                  <a:gd name="connsiteX83" fmla="*/ 417960 w 607568"/>
                  <a:gd name="connsiteY83" fmla="*/ 149281 h 491771"/>
                  <a:gd name="connsiteX84" fmla="*/ 417112 w 607568"/>
                  <a:gd name="connsiteY84" fmla="*/ 151068 h 491771"/>
                  <a:gd name="connsiteX85" fmla="*/ 411273 w 607568"/>
                  <a:gd name="connsiteY85" fmla="*/ 159534 h 491771"/>
                  <a:gd name="connsiteX86" fmla="*/ 410896 w 607568"/>
                  <a:gd name="connsiteY86" fmla="*/ 159910 h 491771"/>
                  <a:gd name="connsiteX87" fmla="*/ 394037 w 607568"/>
                  <a:gd name="connsiteY87" fmla="*/ 169787 h 491771"/>
                  <a:gd name="connsiteX88" fmla="*/ 384900 w 607568"/>
                  <a:gd name="connsiteY88" fmla="*/ 189541 h 491771"/>
                  <a:gd name="connsiteX89" fmla="*/ 384712 w 607568"/>
                  <a:gd name="connsiteY89" fmla="*/ 189823 h 491771"/>
                  <a:gd name="connsiteX90" fmla="*/ 373316 w 607568"/>
                  <a:gd name="connsiteY90" fmla="*/ 207131 h 491771"/>
                  <a:gd name="connsiteX91" fmla="*/ 372750 w 607568"/>
                  <a:gd name="connsiteY91" fmla="*/ 207789 h 491771"/>
                  <a:gd name="connsiteX92" fmla="*/ 359847 w 607568"/>
                  <a:gd name="connsiteY92" fmla="*/ 222275 h 491771"/>
                  <a:gd name="connsiteX93" fmla="*/ 359188 w 607568"/>
                  <a:gd name="connsiteY93" fmla="*/ 222934 h 491771"/>
                  <a:gd name="connsiteX94" fmla="*/ 345154 w 607568"/>
                  <a:gd name="connsiteY94" fmla="*/ 234598 h 491771"/>
                  <a:gd name="connsiteX95" fmla="*/ 345625 w 607568"/>
                  <a:gd name="connsiteY95" fmla="*/ 236855 h 491771"/>
                  <a:gd name="connsiteX96" fmla="*/ 348639 w 607568"/>
                  <a:gd name="connsiteY96" fmla="*/ 235538 h 491771"/>
                  <a:gd name="connsiteX97" fmla="*/ 355514 w 607568"/>
                  <a:gd name="connsiteY97" fmla="*/ 234033 h 491771"/>
                  <a:gd name="connsiteX98" fmla="*/ 366628 w 607568"/>
                  <a:gd name="connsiteY98" fmla="*/ 237326 h 491771"/>
                  <a:gd name="connsiteX99" fmla="*/ 385371 w 607568"/>
                  <a:gd name="connsiteY99" fmla="*/ 249648 h 491771"/>
                  <a:gd name="connsiteX100" fmla="*/ 399876 w 607568"/>
                  <a:gd name="connsiteY100" fmla="*/ 279373 h 491771"/>
                  <a:gd name="connsiteX101" fmla="*/ 430016 w 607568"/>
                  <a:gd name="connsiteY101" fmla="*/ 289814 h 491771"/>
                  <a:gd name="connsiteX102" fmla="*/ 448382 w 607568"/>
                  <a:gd name="connsiteY102" fmla="*/ 316058 h 491771"/>
                  <a:gd name="connsiteX103" fmla="*/ 481630 w 607568"/>
                  <a:gd name="connsiteY103" fmla="*/ 424515 h 491771"/>
                  <a:gd name="connsiteX104" fmla="*/ 483891 w 607568"/>
                  <a:gd name="connsiteY104" fmla="*/ 436461 h 491771"/>
                  <a:gd name="connsiteX105" fmla="*/ 473718 w 607568"/>
                  <a:gd name="connsiteY105" fmla="*/ 470700 h 491771"/>
                  <a:gd name="connsiteX106" fmla="*/ 443956 w 607568"/>
                  <a:gd name="connsiteY106" fmla="*/ 490360 h 491771"/>
                  <a:gd name="connsiteX107" fmla="*/ 431805 w 607568"/>
                  <a:gd name="connsiteY107" fmla="*/ 491771 h 491771"/>
                  <a:gd name="connsiteX108" fmla="*/ 325375 w 607568"/>
                  <a:gd name="connsiteY108" fmla="*/ 491771 h 491771"/>
                  <a:gd name="connsiteX109" fmla="*/ 337430 w 607568"/>
                  <a:gd name="connsiteY109" fmla="*/ 415296 h 491771"/>
                  <a:gd name="connsiteX110" fmla="*/ 334605 w 607568"/>
                  <a:gd name="connsiteY110" fmla="*/ 389052 h 491771"/>
                  <a:gd name="connsiteX111" fmla="*/ 323962 w 607568"/>
                  <a:gd name="connsiteY111" fmla="*/ 360927 h 491771"/>
                  <a:gd name="connsiteX112" fmla="*/ 337430 w 607568"/>
                  <a:gd name="connsiteY112" fmla="*/ 347476 h 491771"/>
                  <a:gd name="connsiteX113" fmla="*/ 307196 w 607568"/>
                  <a:gd name="connsiteY113" fmla="*/ 317281 h 491771"/>
                  <a:gd name="connsiteX114" fmla="*/ 276868 w 607568"/>
                  <a:gd name="connsiteY114" fmla="*/ 347476 h 491771"/>
                  <a:gd name="connsiteX115" fmla="*/ 290337 w 607568"/>
                  <a:gd name="connsiteY115" fmla="*/ 360927 h 491771"/>
                  <a:gd name="connsiteX116" fmla="*/ 279694 w 607568"/>
                  <a:gd name="connsiteY116" fmla="*/ 389052 h 491771"/>
                  <a:gd name="connsiteX117" fmla="*/ 276963 w 607568"/>
                  <a:gd name="connsiteY117" fmla="*/ 415296 h 491771"/>
                  <a:gd name="connsiteX118" fmla="*/ 288736 w 607568"/>
                  <a:gd name="connsiteY118" fmla="*/ 491771 h 491771"/>
                  <a:gd name="connsiteX119" fmla="*/ 182493 w 607568"/>
                  <a:gd name="connsiteY119" fmla="*/ 491771 h 491771"/>
                  <a:gd name="connsiteX120" fmla="*/ 170437 w 607568"/>
                  <a:gd name="connsiteY120" fmla="*/ 490360 h 491771"/>
                  <a:gd name="connsiteX121" fmla="*/ 140675 w 607568"/>
                  <a:gd name="connsiteY121" fmla="*/ 470700 h 491771"/>
                  <a:gd name="connsiteX122" fmla="*/ 132669 w 607568"/>
                  <a:gd name="connsiteY122" fmla="*/ 424515 h 491771"/>
                  <a:gd name="connsiteX123" fmla="*/ 166011 w 607568"/>
                  <a:gd name="connsiteY123" fmla="*/ 316058 h 491771"/>
                  <a:gd name="connsiteX124" fmla="*/ 184377 w 607568"/>
                  <a:gd name="connsiteY124" fmla="*/ 289814 h 491771"/>
                  <a:gd name="connsiteX125" fmla="*/ 214517 w 607568"/>
                  <a:gd name="connsiteY125" fmla="*/ 279373 h 491771"/>
                  <a:gd name="connsiteX126" fmla="*/ 214517 w 607568"/>
                  <a:gd name="connsiteY126" fmla="*/ 279279 h 491771"/>
                  <a:gd name="connsiteX127" fmla="*/ 229022 w 607568"/>
                  <a:gd name="connsiteY127" fmla="*/ 249648 h 491771"/>
                  <a:gd name="connsiteX128" fmla="*/ 247765 w 607568"/>
                  <a:gd name="connsiteY128" fmla="*/ 237326 h 491771"/>
                  <a:gd name="connsiteX129" fmla="*/ 258879 w 607568"/>
                  <a:gd name="connsiteY129" fmla="*/ 234033 h 491771"/>
                  <a:gd name="connsiteX130" fmla="*/ 265754 w 607568"/>
                  <a:gd name="connsiteY130" fmla="*/ 235538 h 491771"/>
                  <a:gd name="connsiteX131" fmla="*/ 268768 w 607568"/>
                  <a:gd name="connsiteY131" fmla="*/ 236855 h 491771"/>
                  <a:gd name="connsiteX132" fmla="*/ 269239 w 607568"/>
                  <a:gd name="connsiteY132" fmla="*/ 234598 h 491771"/>
                  <a:gd name="connsiteX133" fmla="*/ 255205 w 607568"/>
                  <a:gd name="connsiteY133" fmla="*/ 222934 h 491771"/>
                  <a:gd name="connsiteX134" fmla="*/ 254546 w 607568"/>
                  <a:gd name="connsiteY134" fmla="*/ 222275 h 491771"/>
                  <a:gd name="connsiteX135" fmla="*/ 241548 w 607568"/>
                  <a:gd name="connsiteY135" fmla="*/ 207789 h 491771"/>
                  <a:gd name="connsiteX136" fmla="*/ 241077 w 607568"/>
                  <a:gd name="connsiteY136" fmla="*/ 207225 h 491771"/>
                  <a:gd name="connsiteX137" fmla="*/ 229681 w 607568"/>
                  <a:gd name="connsiteY137" fmla="*/ 189823 h 491771"/>
                  <a:gd name="connsiteX138" fmla="*/ 229493 w 607568"/>
                  <a:gd name="connsiteY138" fmla="*/ 189635 h 491771"/>
                  <a:gd name="connsiteX139" fmla="*/ 220356 w 607568"/>
                  <a:gd name="connsiteY139" fmla="*/ 169787 h 491771"/>
                  <a:gd name="connsiteX140" fmla="*/ 203497 w 607568"/>
                  <a:gd name="connsiteY140" fmla="*/ 159910 h 491771"/>
                  <a:gd name="connsiteX141" fmla="*/ 203120 w 607568"/>
                  <a:gd name="connsiteY141" fmla="*/ 159534 h 491771"/>
                  <a:gd name="connsiteX142" fmla="*/ 197281 w 607568"/>
                  <a:gd name="connsiteY142" fmla="*/ 151068 h 491771"/>
                  <a:gd name="connsiteX143" fmla="*/ 196433 w 607568"/>
                  <a:gd name="connsiteY143" fmla="*/ 149281 h 491771"/>
                  <a:gd name="connsiteX144" fmla="*/ 192666 w 607568"/>
                  <a:gd name="connsiteY144" fmla="*/ 138840 h 491771"/>
                  <a:gd name="connsiteX145" fmla="*/ 212727 w 607568"/>
                  <a:gd name="connsiteY145" fmla="*/ 95476 h 491771"/>
                  <a:gd name="connsiteX146" fmla="*/ 212727 w 607568"/>
                  <a:gd name="connsiteY146" fmla="*/ 85787 h 491771"/>
                  <a:gd name="connsiteX147" fmla="*/ 298626 w 607568"/>
                  <a:gd name="connsiteY147" fmla="*/ 0 h 491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</a:cxnLst>
                <a:rect l="l" t="t" r="r" b="b"/>
                <a:pathLst>
                  <a:path w="607568" h="491771">
                    <a:moveTo>
                      <a:pt x="355420" y="250307"/>
                    </a:moveTo>
                    <a:cubicBezTo>
                      <a:pt x="354290" y="250307"/>
                      <a:pt x="353160" y="250871"/>
                      <a:pt x="352312" y="251812"/>
                    </a:cubicBezTo>
                    <a:lnTo>
                      <a:pt x="321042" y="289814"/>
                    </a:lnTo>
                    <a:cubicBezTo>
                      <a:pt x="319723" y="291507"/>
                      <a:pt x="319912" y="293953"/>
                      <a:pt x="321513" y="295364"/>
                    </a:cubicBezTo>
                    <a:lnTo>
                      <a:pt x="369736" y="338257"/>
                    </a:lnTo>
                    <a:cubicBezTo>
                      <a:pt x="370396" y="338822"/>
                      <a:pt x="371149" y="339104"/>
                      <a:pt x="371997" y="339104"/>
                    </a:cubicBezTo>
                    <a:cubicBezTo>
                      <a:pt x="372374" y="339104"/>
                      <a:pt x="372750" y="339010"/>
                      <a:pt x="373127" y="338916"/>
                    </a:cubicBezTo>
                    <a:cubicBezTo>
                      <a:pt x="374257" y="338539"/>
                      <a:pt x="375105" y="337505"/>
                      <a:pt x="375293" y="336282"/>
                    </a:cubicBezTo>
                    <a:lnTo>
                      <a:pt x="383676" y="279467"/>
                    </a:lnTo>
                    <a:cubicBezTo>
                      <a:pt x="384618" y="273164"/>
                      <a:pt x="381792" y="266768"/>
                      <a:pt x="376424" y="263287"/>
                    </a:cubicBezTo>
                    <a:lnTo>
                      <a:pt x="357681" y="250965"/>
                    </a:lnTo>
                    <a:cubicBezTo>
                      <a:pt x="357021" y="250495"/>
                      <a:pt x="356174" y="250307"/>
                      <a:pt x="355420" y="250307"/>
                    </a:cubicBezTo>
                    <a:close/>
                    <a:moveTo>
                      <a:pt x="258879" y="250307"/>
                    </a:moveTo>
                    <a:cubicBezTo>
                      <a:pt x="258125" y="250307"/>
                      <a:pt x="257372" y="250495"/>
                      <a:pt x="256712" y="250965"/>
                    </a:cubicBezTo>
                    <a:lnTo>
                      <a:pt x="237969" y="263287"/>
                    </a:lnTo>
                    <a:cubicBezTo>
                      <a:pt x="232601" y="266768"/>
                      <a:pt x="229775" y="273164"/>
                      <a:pt x="230717" y="279467"/>
                    </a:cubicBezTo>
                    <a:lnTo>
                      <a:pt x="239100" y="336282"/>
                    </a:lnTo>
                    <a:cubicBezTo>
                      <a:pt x="239288" y="337505"/>
                      <a:pt x="240136" y="338539"/>
                      <a:pt x="241266" y="338916"/>
                    </a:cubicBezTo>
                    <a:cubicBezTo>
                      <a:pt x="241643" y="339010"/>
                      <a:pt x="242019" y="339104"/>
                      <a:pt x="242396" y="339104"/>
                    </a:cubicBezTo>
                    <a:cubicBezTo>
                      <a:pt x="243244" y="339104"/>
                      <a:pt x="243997" y="338822"/>
                      <a:pt x="244657" y="338257"/>
                    </a:cubicBezTo>
                    <a:lnTo>
                      <a:pt x="292880" y="295364"/>
                    </a:lnTo>
                    <a:cubicBezTo>
                      <a:pt x="294481" y="293953"/>
                      <a:pt x="294670" y="291507"/>
                      <a:pt x="293351" y="289814"/>
                    </a:cubicBezTo>
                    <a:lnTo>
                      <a:pt x="261987" y="251812"/>
                    </a:lnTo>
                    <a:cubicBezTo>
                      <a:pt x="261233" y="250871"/>
                      <a:pt x="260103" y="250307"/>
                      <a:pt x="258879" y="250307"/>
                    </a:cubicBezTo>
                    <a:close/>
                    <a:moveTo>
                      <a:pt x="500465" y="66049"/>
                    </a:moveTo>
                    <a:cubicBezTo>
                      <a:pt x="548129" y="66049"/>
                      <a:pt x="562447" y="93516"/>
                      <a:pt x="565743" y="130673"/>
                    </a:cubicBezTo>
                    <a:cubicBezTo>
                      <a:pt x="565932" y="130673"/>
                      <a:pt x="566026" y="130673"/>
                      <a:pt x="566120" y="130673"/>
                    </a:cubicBezTo>
                    <a:cubicBezTo>
                      <a:pt x="577141" y="133118"/>
                      <a:pt x="583358" y="146664"/>
                      <a:pt x="580250" y="160962"/>
                    </a:cubicBezTo>
                    <a:cubicBezTo>
                      <a:pt x="577706" y="172532"/>
                      <a:pt x="569700" y="180904"/>
                      <a:pt x="560939" y="182503"/>
                    </a:cubicBezTo>
                    <a:cubicBezTo>
                      <a:pt x="554628" y="199529"/>
                      <a:pt x="543796" y="214016"/>
                      <a:pt x="531927" y="223799"/>
                    </a:cubicBezTo>
                    <a:cubicBezTo>
                      <a:pt x="528913" y="226338"/>
                      <a:pt x="527500" y="230383"/>
                      <a:pt x="528253" y="234240"/>
                    </a:cubicBezTo>
                    <a:lnTo>
                      <a:pt x="530797" y="246281"/>
                    </a:lnTo>
                    <a:cubicBezTo>
                      <a:pt x="532304" y="253806"/>
                      <a:pt x="538238" y="259732"/>
                      <a:pt x="545868" y="261143"/>
                    </a:cubicBezTo>
                    <a:lnTo>
                      <a:pt x="558961" y="263777"/>
                    </a:lnTo>
                    <a:cubicBezTo>
                      <a:pt x="578366" y="267634"/>
                      <a:pt x="593437" y="282684"/>
                      <a:pt x="597299" y="301968"/>
                    </a:cubicBezTo>
                    <a:lnTo>
                      <a:pt x="607002" y="350788"/>
                    </a:lnTo>
                    <a:cubicBezTo>
                      <a:pt x="608697" y="358972"/>
                      <a:pt x="606531" y="367438"/>
                      <a:pt x="601256" y="373835"/>
                    </a:cubicBezTo>
                    <a:cubicBezTo>
                      <a:pt x="595981" y="380325"/>
                      <a:pt x="588068" y="384088"/>
                      <a:pt x="579685" y="384088"/>
                    </a:cubicBezTo>
                    <a:lnTo>
                      <a:pt x="490386" y="384088"/>
                    </a:lnTo>
                    <a:lnTo>
                      <a:pt x="467685" y="310058"/>
                    </a:lnTo>
                    <a:cubicBezTo>
                      <a:pt x="461845" y="291150"/>
                      <a:pt x="448563" y="276194"/>
                      <a:pt x="431702" y="267445"/>
                    </a:cubicBezTo>
                    <a:cubicBezTo>
                      <a:pt x="434999" y="265940"/>
                      <a:pt x="438295" y="264529"/>
                      <a:pt x="441969" y="263777"/>
                    </a:cubicBezTo>
                    <a:lnTo>
                      <a:pt x="455157" y="261237"/>
                    </a:lnTo>
                    <a:cubicBezTo>
                      <a:pt x="462692" y="259732"/>
                      <a:pt x="468627" y="253806"/>
                      <a:pt x="470228" y="246281"/>
                    </a:cubicBezTo>
                    <a:lnTo>
                      <a:pt x="472677" y="234240"/>
                    </a:lnTo>
                    <a:cubicBezTo>
                      <a:pt x="473525" y="230383"/>
                      <a:pt x="472112" y="226338"/>
                      <a:pt x="469098" y="223893"/>
                    </a:cubicBezTo>
                    <a:cubicBezTo>
                      <a:pt x="457229" y="214016"/>
                      <a:pt x="446302" y="199529"/>
                      <a:pt x="439991" y="182503"/>
                    </a:cubicBezTo>
                    <a:cubicBezTo>
                      <a:pt x="434716" y="181563"/>
                      <a:pt x="429818" y="177894"/>
                      <a:pt x="426144" y="172720"/>
                    </a:cubicBezTo>
                    <a:cubicBezTo>
                      <a:pt x="433303" y="164725"/>
                      <a:pt x="438861" y="154754"/>
                      <a:pt x="441404" y="143278"/>
                    </a:cubicBezTo>
                    <a:cubicBezTo>
                      <a:pt x="444324" y="130485"/>
                      <a:pt x="443476" y="118068"/>
                      <a:pt x="439708" y="107438"/>
                    </a:cubicBezTo>
                    <a:cubicBezTo>
                      <a:pt x="447244" y="82699"/>
                      <a:pt x="464200" y="66049"/>
                      <a:pt x="500465" y="66049"/>
                    </a:cubicBezTo>
                    <a:close/>
                    <a:moveTo>
                      <a:pt x="107100" y="66049"/>
                    </a:moveTo>
                    <a:cubicBezTo>
                      <a:pt x="151561" y="66049"/>
                      <a:pt x="166820" y="90130"/>
                      <a:pt x="171341" y="123618"/>
                    </a:cubicBezTo>
                    <a:cubicBezTo>
                      <a:pt x="170965" y="129920"/>
                      <a:pt x="171436" y="136505"/>
                      <a:pt x="172849" y="143278"/>
                    </a:cubicBezTo>
                    <a:cubicBezTo>
                      <a:pt x="174921" y="152590"/>
                      <a:pt x="178971" y="161056"/>
                      <a:pt x="184246" y="168205"/>
                    </a:cubicBezTo>
                    <a:cubicBezTo>
                      <a:pt x="180573" y="175919"/>
                      <a:pt x="174356" y="181281"/>
                      <a:pt x="167574" y="182503"/>
                    </a:cubicBezTo>
                    <a:cubicBezTo>
                      <a:pt x="161263" y="199529"/>
                      <a:pt x="150336" y="214016"/>
                      <a:pt x="138468" y="223799"/>
                    </a:cubicBezTo>
                    <a:cubicBezTo>
                      <a:pt x="135453" y="226338"/>
                      <a:pt x="134040" y="230383"/>
                      <a:pt x="134794" y="234240"/>
                    </a:cubicBezTo>
                    <a:lnTo>
                      <a:pt x="137337" y="246281"/>
                    </a:lnTo>
                    <a:cubicBezTo>
                      <a:pt x="138939" y="253806"/>
                      <a:pt x="144873" y="259732"/>
                      <a:pt x="152408" y="261143"/>
                    </a:cubicBezTo>
                    <a:lnTo>
                      <a:pt x="165596" y="263777"/>
                    </a:lnTo>
                    <a:cubicBezTo>
                      <a:pt x="170494" y="264812"/>
                      <a:pt x="175203" y="266505"/>
                      <a:pt x="179442" y="268856"/>
                    </a:cubicBezTo>
                    <a:cubicBezTo>
                      <a:pt x="164088" y="277793"/>
                      <a:pt x="152126" y="292279"/>
                      <a:pt x="146662" y="310058"/>
                    </a:cubicBezTo>
                    <a:lnTo>
                      <a:pt x="123867" y="384088"/>
                    </a:lnTo>
                    <a:lnTo>
                      <a:pt x="27883" y="384088"/>
                    </a:lnTo>
                    <a:cubicBezTo>
                      <a:pt x="19499" y="384088"/>
                      <a:pt x="11587" y="380325"/>
                      <a:pt x="6312" y="373835"/>
                    </a:cubicBezTo>
                    <a:cubicBezTo>
                      <a:pt x="1037" y="367438"/>
                      <a:pt x="-1129" y="358972"/>
                      <a:pt x="566" y="350788"/>
                    </a:cubicBezTo>
                    <a:lnTo>
                      <a:pt x="10268" y="301968"/>
                    </a:lnTo>
                    <a:cubicBezTo>
                      <a:pt x="14130" y="282684"/>
                      <a:pt x="29202" y="267634"/>
                      <a:pt x="48606" y="263777"/>
                    </a:cubicBezTo>
                    <a:lnTo>
                      <a:pt x="61699" y="261237"/>
                    </a:lnTo>
                    <a:cubicBezTo>
                      <a:pt x="69328" y="259732"/>
                      <a:pt x="75263" y="253806"/>
                      <a:pt x="76770" y="246281"/>
                    </a:cubicBezTo>
                    <a:lnTo>
                      <a:pt x="79313" y="234240"/>
                    </a:lnTo>
                    <a:cubicBezTo>
                      <a:pt x="80067" y="230383"/>
                      <a:pt x="78654" y="226338"/>
                      <a:pt x="75639" y="223893"/>
                    </a:cubicBezTo>
                    <a:cubicBezTo>
                      <a:pt x="63771" y="214016"/>
                      <a:pt x="52939" y="199623"/>
                      <a:pt x="46628" y="182503"/>
                    </a:cubicBezTo>
                    <a:cubicBezTo>
                      <a:pt x="37867" y="180904"/>
                      <a:pt x="29861" y="172532"/>
                      <a:pt x="27318" y="160962"/>
                    </a:cubicBezTo>
                    <a:cubicBezTo>
                      <a:pt x="24115" y="146664"/>
                      <a:pt x="30426" y="133118"/>
                      <a:pt x="41447" y="130673"/>
                    </a:cubicBezTo>
                    <a:cubicBezTo>
                      <a:pt x="41541" y="130673"/>
                      <a:pt x="41729" y="130673"/>
                      <a:pt x="41824" y="130673"/>
                    </a:cubicBezTo>
                    <a:cubicBezTo>
                      <a:pt x="45403" y="93516"/>
                      <a:pt x="60192" y="66049"/>
                      <a:pt x="107100" y="66049"/>
                    </a:cubicBezTo>
                    <a:close/>
                    <a:moveTo>
                      <a:pt x="298626" y="0"/>
                    </a:moveTo>
                    <a:lnTo>
                      <a:pt x="315956" y="0"/>
                    </a:lnTo>
                    <a:cubicBezTo>
                      <a:pt x="363426" y="0"/>
                      <a:pt x="401854" y="38378"/>
                      <a:pt x="401854" y="85787"/>
                    </a:cubicBezTo>
                    <a:lnTo>
                      <a:pt x="401854" y="95476"/>
                    </a:lnTo>
                    <a:cubicBezTo>
                      <a:pt x="417301" y="99238"/>
                      <a:pt x="426154" y="118522"/>
                      <a:pt x="421633" y="138840"/>
                    </a:cubicBezTo>
                    <a:cubicBezTo>
                      <a:pt x="420880" y="142602"/>
                      <a:pt x="419467" y="146083"/>
                      <a:pt x="417960" y="149281"/>
                    </a:cubicBezTo>
                    <a:cubicBezTo>
                      <a:pt x="417677" y="149939"/>
                      <a:pt x="417395" y="150504"/>
                      <a:pt x="417112" y="151068"/>
                    </a:cubicBezTo>
                    <a:cubicBezTo>
                      <a:pt x="415417" y="154172"/>
                      <a:pt x="413533" y="157088"/>
                      <a:pt x="411273" y="159534"/>
                    </a:cubicBezTo>
                    <a:cubicBezTo>
                      <a:pt x="411179" y="159628"/>
                      <a:pt x="410990" y="159816"/>
                      <a:pt x="410896" y="159910"/>
                    </a:cubicBezTo>
                    <a:cubicBezTo>
                      <a:pt x="406092" y="165084"/>
                      <a:pt x="400159" y="168658"/>
                      <a:pt x="394037" y="169787"/>
                    </a:cubicBezTo>
                    <a:cubicBezTo>
                      <a:pt x="391494" y="176654"/>
                      <a:pt x="388385" y="183332"/>
                      <a:pt x="384900" y="189541"/>
                    </a:cubicBezTo>
                    <a:cubicBezTo>
                      <a:pt x="384806" y="189635"/>
                      <a:pt x="384806" y="189729"/>
                      <a:pt x="384712" y="189823"/>
                    </a:cubicBezTo>
                    <a:cubicBezTo>
                      <a:pt x="381227" y="196031"/>
                      <a:pt x="377460" y="201769"/>
                      <a:pt x="373316" y="207131"/>
                    </a:cubicBezTo>
                    <a:cubicBezTo>
                      <a:pt x="373127" y="207413"/>
                      <a:pt x="372939" y="207601"/>
                      <a:pt x="372750" y="207789"/>
                    </a:cubicBezTo>
                    <a:cubicBezTo>
                      <a:pt x="368700" y="213057"/>
                      <a:pt x="364368" y="217948"/>
                      <a:pt x="359847" y="222275"/>
                    </a:cubicBezTo>
                    <a:cubicBezTo>
                      <a:pt x="359658" y="222463"/>
                      <a:pt x="359376" y="222651"/>
                      <a:pt x="359188" y="222934"/>
                    </a:cubicBezTo>
                    <a:cubicBezTo>
                      <a:pt x="354667" y="227261"/>
                      <a:pt x="349957" y="231211"/>
                      <a:pt x="345154" y="234598"/>
                    </a:cubicBezTo>
                    <a:lnTo>
                      <a:pt x="345625" y="236855"/>
                    </a:lnTo>
                    <a:cubicBezTo>
                      <a:pt x="346567" y="236385"/>
                      <a:pt x="347603" y="235915"/>
                      <a:pt x="348639" y="235538"/>
                    </a:cubicBezTo>
                    <a:cubicBezTo>
                      <a:pt x="350899" y="234786"/>
                      <a:pt x="353065" y="234033"/>
                      <a:pt x="355514" y="234033"/>
                    </a:cubicBezTo>
                    <a:cubicBezTo>
                      <a:pt x="359470" y="234033"/>
                      <a:pt x="363238" y="235162"/>
                      <a:pt x="366628" y="237326"/>
                    </a:cubicBezTo>
                    <a:cubicBezTo>
                      <a:pt x="366628" y="237326"/>
                      <a:pt x="380756" y="246450"/>
                      <a:pt x="385371" y="249648"/>
                    </a:cubicBezTo>
                    <a:cubicBezTo>
                      <a:pt x="401854" y="261030"/>
                      <a:pt x="399876" y="279373"/>
                      <a:pt x="399876" y="279373"/>
                    </a:cubicBezTo>
                    <a:cubicBezTo>
                      <a:pt x="410990" y="279655"/>
                      <a:pt x="421822" y="283041"/>
                      <a:pt x="430016" y="289814"/>
                    </a:cubicBezTo>
                    <a:cubicBezTo>
                      <a:pt x="445180" y="302324"/>
                      <a:pt x="447535" y="313330"/>
                      <a:pt x="448382" y="316058"/>
                    </a:cubicBezTo>
                    <a:lnTo>
                      <a:pt x="481630" y="424515"/>
                    </a:lnTo>
                    <a:cubicBezTo>
                      <a:pt x="482855" y="428371"/>
                      <a:pt x="483608" y="432416"/>
                      <a:pt x="483891" y="436461"/>
                    </a:cubicBezTo>
                    <a:cubicBezTo>
                      <a:pt x="484644" y="448595"/>
                      <a:pt x="481159" y="460730"/>
                      <a:pt x="473718" y="470700"/>
                    </a:cubicBezTo>
                    <a:cubicBezTo>
                      <a:pt x="466372" y="480671"/>
                      <a:pt x="455823" y="487538"/>
                      <a:pt x="443956" y="490360"/>
                    </a:cubicBezTo>
                    <a:cubicBezTo>
                      <a:pt x="440000" y="491301"/>
                      <a:pt x="435950" y="491771"/>
                      <a:pt x="431805" y="491771"/>
                    </a:cubicBezTo>
                    <a:lnTo>
                      <a:pt x="325375" y="491771"/>
                    </a:lnTo>
                    <a:lnTo>
                      <a:pt x="337430" y="415296"/>
                    </a:lnTo>
                    <a:cubicBezTo>
                      <a:pt x="338749" y="406454"/>
                      <a:pt x="337807" y="397424"/>
                      <a:pt x="334605" y="389052"/>
                    </a:cubicBezTo>
                    <a:lnTo>
                      <a:pt x="323962" y="360927"/>
                    </a:lnTo>
                    <a:lnTo>
                      <a:pt x="337430" y="347476"/>
                    </a:lnTo>
                    <a:lnTo>
                      <a:pt x="307196" y="317281"/>
                    </a:lnTo>
                    <a:lnTo>
                      <a:pt x="276868" y="347476"/>
                    </a:lnTo>
                    <a:lnTo>
                      <a:pt x="290337" y="360927"/>
                    </a:lnTo>
                    <a:lnTo>
                      <a:pt x="279694" y="389052"/>
                    </a:lnTo>
                    <a:cubicBezTo>
                      <a:pt x="276586" y="397424"/>
                      <a:pt x="275644" y="406454"/>
                      <a:pt x="276963" y="415296"/>
                    </a:cubicBezTo>
                    <a:lnTo>
                      <a:pt x="288736" y="491771"/>
                    </a:lnTo>
                    <a:lnTo>
                      <a:pt x="182493" y="491771"/>
                    </a:lnTo>
                    <a:cubicBezTo>
                      <a:pt x="178443" y="491771"/>
                      <a:pt x="174299" y="491301"/>
                      <a:pt x="170437" y="490360"/>
                    </a:cubicBezTo>
                    <a:cubicBezTo>
                      <a:pt x="158570" y="487538"/>
                      <a:pt x="148021" y="480671"/>
                      <a:pt x="140675" y="470700"/>
                    </a:cubicBezTo>
                    <a:cubicBezTo>
                      <a:pt x="130785" y="457343"/>
                      <a:pt x="127865" y="440223"/>
                      <a:pt x="132669" y="424515"/>
                    </a:cubicBezTo>
                    <a:lnTo>
                      <a:pt x="166011" y="316058"/>
                    </a:lnTo>
                    <a:cubicBezTo>
                      <a:pt x="166858" y="313330"/>
                      <a:pt x="170908" y="300631"/>
                      <a:pt x="184377" y="289814"/>
                    </a:cubicBezTo>
                    <a:cubicBezTo>
                      <a:pt x="192666" y="283229"/>
                      <a:pt x="203403" y="279655"/>
                      <a:pt x="214517" y="279373"/>
                    </a:cubicBezTo>
                    <a:lnTo>
                      <a:pt x="214517" y="279279"/>
                    </a:lnTo>
                    <a:cubicBezTo>
                      <a:pt x="214140" y="273447"/>
                      <a:pt x="211880" y="260654"/>
                      <a:pt x="229022" y="249648"/>
                    </a:cubicBezTo>
                    <a:cubicBezTo>
                      <a:pt x="233731" y="246638"/>
                      <a:pt x="247765" y="237326"/>
                      <a:pt x="247765" y="237326"/>
                    </a:cubicBezTo>
                    <a:cubicBezTo>
                      <a:pt x="251061" y="235162"/>
                      <a:pt x="254923" y="234033"/>
                      <a:pt x="258879" y="234033"/>
                    </a:cubicBezTo>
                    <a:cubicBezTo>
                      <a:pt x="261328" y="234033"/>
                      <a:pt x="263494" y="234786"/>
                      <a:pt x="265754" y="235538"/>
                    </a:cubicBezTo>
                    <a:cubicBezTo>
                      <a:pt x="266790" y="236009"/>
                      <a:pt x="267826" y="236385"/>
                      <a:pt x="268768" y="236855"/>
                    </a:cubicBezTo>
                    <a:lnTo>
                      <a:pt x="269239" y="234598"/>
                    </a:lnTo>
                    <a:cubicBezTo>
                      <a:pt x="264436" y="231211"/>
                      <a:pt x="259726" y="227261"/>
                      <a:pt x="255205" y="222934"/>
                    </a:cubicBezTo>
                    <a:cubicBezTo>
                      <a:pt x="254923" y="222651"/>
                      <a:pt x="254735" y="222463"/>
                      <a:pt x="254546" y="222275"/>
                    </a:cubicBezTo>
                    <a:cubicBezTo>
                      <a:pt x="250025" y="217948"/>
                      <a:pt x="245693" y="213057"/>
                      <a:pt x="241548" y="207789"/>
                    </a:cubicBezTo>
                    <a:cubicBezTo>
                      <a:pt x="241454" y="207601"/>
                      <a:pt x="241266" y="207413"/>
                      <a:pt x="241077" y="207225"/>
                    </a:cubicBezTo>
                    <a:cubicBezTo>
                      <a:pt x="236933" y="201769"/>
                      <a:pt x="233072" y="196031"/>
                      <a:pt x="229681" y="189823"/>
                    </a:cubicBezTo>
                    <a:cubicBezTo>
                      <a:pt x="229587" y="189729"/>
                      <a:pt x="229587" y="189635"/>
                      <a:pt x="229493" y="189635"/>
                    </a:cubicBezTo>
                    <a:cubicBezTo>
                      <a:pt x="226008" y="183332"/>
                      <a:pt x="222899" y="176654"/>
                      <a:pt x="220356" y="169787"/>
                    </a:cubicBezTo>
                    <a:cubicBezTo>
                      <a:pt x="214140" y="168658"/>
                      <a:pt x="208301" y="165084"/>
                      <a:pt x="203497" y="159910"/>
                    </a:cubicBezTo>
                    <a:cubicBezTo>
                      <a:pt x="203309" y="159722"/>
                      <a:pt x="203214" y="159628"/>
                      <a:pt x="203120" y="159534"/>
                    </a:cubicBezTo>
                    <a:cubicBezTo>
                      <a:pt x="200860" y="157088"/>
                      <a:pt x="198976" y="154172"/>
                      <a:pt x="197281" y="151068"/>
                    </a:cubicBezTo>
                    <a:cubicBezTo>
                      <a:pt x="196998" y="150504"/>
                      <a:pt x="196716" y="149939"/>
                      <a:pt x="196433" y="149281"/>
                    </a:cubicBezTo>
                    <a:cubicBezTo>
                      <a:pt x="194832" y="146083"/>
                      <a:pt x="193513" y="142602"/>
                      <a:pt x="192666" y="138840"/>
                    </a:cubicBezTo>
                    <a:cubicBezTo>
                      <a:pt x="188145" y="118428"/>
                      <a:pt x="197092" y="99050"/>
                      <a:pt x="212727" y="95476"/>
                    </a:cubicBezTo>
                    <a:lnTo>
                      <a:pt x="212727" y="85787"/>
                    </a:lnTo>
                    <a:cubicBezTo>
                      <a:pt x="212727" y="38378"/>
                      <a:pt x="251155" y="0"/>
                      <a:pt x="29862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statistics-settings_72708"/>
              <p:cNvSpPr>
                <a:spLocks noChangeAspect="1"/>
              </p:cNvSpPr>
              <p:nvPr/>
            </p:nvSpPr>
            <p:spPr bwMode="auto">
              <a:xfrm>
                <a:off x="7611" y="3420"/>
                <a:ext cx="821" cy="790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rgbClr val="72719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work-tools-cross_53063"/>
              <p:cNvSpPr>
                <a:spLocks noChangeAspect="1"/>
              </p:cNvSpPr>
              <p:nvPr/>
            </p:nvSpPr>
            <p:spPr bwMode="auto">
              <a:xfrm>
                <a:off x="8139" y="2004"/>
                <a:ext cx="786" cy="756"/>
              </a:xfrm>
              <a:custGeom>
                <a:avLst/>
                <a:gdLst>
                  <a:gd name="connsiteX0" fmla="*/ 61288 w 609549"/>
                  <a:gd name="connsiteY0" fmla="*/ 383285 h 586216"/>
                  <a:gd name="connsiteX1" fmla="*/ 71162 w 609549"/>
                  <a:gd name="connsiteY1" fmla="*/ 387101 h 586216"/>
                  <a:gd name="connsiteX2" fmla="*/ 120018 w 609549"/>
                  <a:gd name="connsiteY2" fmla="*/ 435892 h 586216"/>
                  <a:gd name="connsiteX3" fmla="*/ 120018 w 609549"/>
                  <a:gd name="connsiteY3" fmla="*/ 454200 h 586216"/>
                  <a:gd name="connsiteX4" fmla="*/ 56639 w 609549"/>
                  <a:gd name="connsiteY4" fmla="*/ 517543 h 586216"/>
                  <a:gd name="connsiteX5" fmla="*/ 35592 w 609549"/>
                  <a:gd name="connsiteY5" fmla="*/ 513644 h 586216"/>
                  <a:gd name="connsiteX6" fmla="*/ 51877 w 609549"/>
                  <a:gd name="connsiteY6" fmla="*/ 388099 h 586216"/>
                  <a:gd name="connsiteX7" fmla="*/ 61288 w 609549"/>
                  <a:gd name="connsiteY7" fmla="*/ 383285 h 586216"/>
                  <a:gd name="connsiteX8" fmla="*/ 235245 w 609549"/>
                  <a:gd name="connsiteY8" fmla="*/ 302810 h 586216"/>
                  <a:gd name="connsiteX9" fmla="*/ 306042 w 609549"/>
                  <a:gd name="connsiteY9" fmla="*/ 373466 h 586216"/>
                  <a:gd name="connsiteX10" fmla="*/ 258717 w 609549"/>
                  <a:gd name="connsiteY10" fmla="*/ 420680 h 586216"/>
                  <a:gd name="connsiteX11" fmla="*/ 230246 w 609549"/>
                  <a:gd name="connsiteY11" fmla="*/ 550152 h 586216"/>
                  <a:gd name="connsiteX12" fmla="*/ 92223 w 609549"/>
                  <a:gd name="connsiteY12" fmla="*/ 575305 h 586216"/>
                  <a:gd name="connsiteX13" fmla="*/ 88748 w 609549"/>
                  <a:gd name="connsiteY13" fmla="*/ 556143 h 586216"/>
                  <a:gd name="connsiteX14" fmla="*/ 165115 w 609549"/>
                  <a:gd name="connsiteY14" fmla="*/ 479877 h 586216"/>
                  <a:gd name="connsiteX15" fmla="*/ 165115 w 609549"/>
                  <a:gd name="connsiteY15" fmla="*/ 446308 h 586216"/>
                  <a:gd name="connsiteX16" fmla="*/ 88700 w 609549"/>
                  <a:gd name="connsiteY16" fmla="*/ 369995 h 586216"/>
                  <a:gd name="connsiteX17" fmla="*/ 92128 w 609549"/>
                  <a:gd name="connsiteY17" fmla="*/ 350976 h 586216"/>
                  <a:gd name="connsiteX18" fmla="*/ 189111 w 609549"/>
                  <a:gd name="connsiteY18" fmla="*/ 348884 h 586216"/>
                  <a:gd name="connsiteX19" fmla="*/ 257958 w 609549"/>
                  <a:gd name="connsiteY19" fmla="*/ 161679 h 586216"/>
                  <a:gd name="connsiteX20" fmla="*/ 317251 w 609549"/>
                  <a:gd name="connsiteY20" fmla="*/ 220879 h 586216"/>
                  <a:gd name="connsiteX21" fmla="*/ 388070 w 609549"/>
                  <a:gd name="connsiteY21" fmla="*/ 291586 h 586216"/>
                  <a:gd name="connsiteX22" fmla="*/ 604906 w 609549"/>
                  <a:gd name="connsiteY22" fmla="*/ 508130 h 586216"/>
                  <a:gd name="connsiteX23" fmla="*/ 604906 w 609549"/>
                  <a:gd name="connsiteY23" fmla="*/ 530526 h 586216"/>
                  <a:gd name="connsiteX24" fmla="*/ 556567 w 609549"/>
                  <a:gd name="connsiteY24" fmla="*/ 578789 h 586216"/>
                  <a:gd name="connsiteX25" fmla="*/ 545327 w 609549"/>
                  <a:gd name="connsiteY25" fmla="*/ 583449 h 586216"/>
                  <a:gd name="connsiteX26" fmla="*/ 534135 w 609549"/>
                  <a:gd name="connsiteY26" fmla="*/ 578789 h 586216"/>
                  <a:gd name="connsiteX27" fmla="*/ 317251 w 609549"/>
                  <a:gd name="connsiteY27" fmla="*/ 362293 h 586216"/>
                  <a:gd name="connsiteX28" fmla="*/ 246481 w 609549"/>
                  <a:gd name="connsiteY28" fmla="*/ 291586 h 586216"/>
                  <a:gd name="connsiteX29" fmla="*/ 187140 w 609549"/>
                  <a:gd name="connsiteY29" fmla="*/ 232339 h 586216"/>
                  <a:gd name="connsiteX30" fmla="*/ 58606 w 609549"/>
                  <a:gd name="connsiteY30" fmla="*/ 160814 h 586216"/>
                  <a:gd name="connsiteX31" fmla="*/ 126401 w 609549"/>
                  <a:gd name="connsiteY31" fmla="*/ 228498 h 586216"/>
                  <a:gd name="connsiteX32" fmla="*/ 111975 w 609549"/>
                  <a:gd name="connsiteY32" fmla="*/ 242899 h 586216"/>
                  <a:gd name="connsiteX33" fmla="*/ 119307 w 609549"/>
                  <a:gd name="connsiteY33" fmla="*/ 250219 h 586216"/>
                  <a:gd name="connsiteX34" fmla="*/ 119307 w 609549"/>
                  <a:gd name="connsiteY34" fmla="*/ 277692 h 586216"/>
                  <a:gd name="connsiteX35" fmla="*/ 115641 w 609549"/>
                  <a:gd name="connsiteY35" fmla="*/ 281352 h 586216"/>
                  <a:gd name="connsiteX36" fmla="*/ 88123 w 609549"/>
                  <a:gd name="connsiteY36" fmla="*/ 281352 h 586216"/>
                  <a:gd name="connsiteX37" fmla="*/ 5712 w 609549"/>
                  <a:gd name="connsiteY37" fmla="*/ 199029 h 586216"/>
                  <a:gd name="connsiteX38" fmla="*/ 5712 w 609549"/>
                  <a:gd name="connsiteY38" fmla="*/ 171604 h 586216"/>
                  <a:gd name="connsiteX39" fmla="*/ 9378 w 609549"/>
                  <a:gd name="connsiteY39" fmla="*/ 167944 h 586216"/>
                  <a:gd name="connsiteX40" fmla="*/ 36849 w 609549"/>
                  <a:gd name="connsiteY40" fmla="*/ 167944 h 586216"/>
                  <a:gd name="connsiteX41" fmla="*/ 44180 w 609549"/>
                  <a:gd name="connsiteY41" fmla="*/ 175264 h 586216"/>
                  <a:gd name="connsiteX42" fmla="*/ 585775 w 609549"/>
                  <a:gd name="connsiteY42" fmla="*/ 66370 h 586216"/>
                  <a:gd name="connsiteX43" fmla="*/ 595263 w 609549"/>
                  <a:gd name="connsiteY43" fmla="*/ 73839 h 586216"/>
                  <a:gd name="connsiteX44" fmla="*/ 578978 w 609549"/>
                  <a:gd name="connsiteY44" fmla="*/ 199341 h 586216"/>
                  <a:gd name="connsiteX45" fmla="*/ 559693 w 609549"/>
                  <a:gd name="connsiteY45" fmla="*/ 200387 h 586216"/>
                  <a:gd name="connsiteX46" fmla="*/ 510789 w 609549"/>
                  <a:gd name="connsiteY46" fmla="*/ 151612 h 586216"/>
                  <a:gd name="connsiteX47" fmla="*/ 510789 w 609549"/>
                  <a:gd name="connsiteY47" fmla="*/ 133262 h 586216"/>
                  <a:gd name="connsiteX48" fmla="*/ 574216 w 609549"/>
                  <a:gd name="connsiteY48" fmla="*/ 69988 h 586216"/>
                  <a:gd name="connsiteX49" fmla="*/ 585775 w 609549"/>
                  <a:gd name="connsiteY49" fmla="*/ 66370 h 586216"/>
                  <a:gd name="connsiteX50" fmla="*/ 158702 w 609549"/>
                  <a:gd name="connsiteY50" fmla="*/ 26758 h 586216"/>
                  <a:gd name="connsiteX51" fmla="*/ 172463 w 609549"/>
                  <a:gd name="connsiteY51" fmla="*/ 32464 h 586216"/>
                  <a:gd name="connsiteX52" fmla="*/ 179701 w 609549"/>
                  <a:gd name="connsiteY52" fmla="*/ 39691 h 586216"/>
                  <a:gd name="connsiteX53" fmla="*/ 246935 w 609549"/>
                  <a:gd name="connsiteY53" fmla="*/ 106831 h 586216"/>
                  <a:gd name="connsiteX54" fmla="*/ 254886 w 609549"/>
                  <a:gd name="connsiteY54" fmla="*/ 114819 h 586216"/>
                  <a:gd name="connsiteX55" fmla="*/ 257600 w 609549"/>
                  <a:gd name="connsiteY55" fmla="*/ 138879 h 586216"/>
                  <a:gd name="connsiteX56" fmla="*/ 254886 w 609549"/>
                  <a:gd name="connsiteY56" fmla="*/ 142255 h 586216"/>
                  <a:gd name="connsiteX57" fmla="*/ 252315 w 609549"/>
                  <a:gd name="connsiteY57" fmla="*/ 144823 h 586216"/>
                  <a:gd name="connsiteX58" fmla="*/ 246696 w 609549"/>
                  <a:gd name="connsiteY58" fmla="*/ 150434 h 586216"/>
                  <a:gd name="connsiteX59" fmla="*/ 175892 w 609549"/>
                  <a:gd name="connsiteY59" fmla="*/ 221140 h 586216"/>
                  <a:gd name="connsiteX60" fmla="*/ 172463 w 609549"/>
                  <a:gd name="connsiteY60" fmla="*/ 224611 h 586216"/>
                  <a:gd name="connsiteX61" fmla="*/ 170130 w 609549"/>
                  <a:gd name="connsiteY61" fmla="*/ 226560 h 586216"/>
                  <a:gd name="connsiteX62" fmla="*/ 162274 w 609549"/>
                  <a:gd name="connsiteY62" fmla="*/ 229936 h 586216"/>
                  <a:gd name="connsiteX63" fmla="*/ 158702 w 609549"/>
                  <a:gd name="connsiteY63" fmla="*/ 230269 h 586216"/>
                  <a:gd name="connsiteX64" fmla="*/ 144942 w 609549"/>
                  <a:gd name="connsiteY64" fmla="*/ 224611 h 586216"/>
                  <a:gd name="connsiteX65" fmla="*/ 137609 w 609549"/>
                  <a:gd name="connsiteY65" fmla="*/ 217288 h 586216"/>
                  <a:gd name="connsiteX66" fmla="*/ 69804 w 609549"/>
                  <a:gd name="connsiteY66" fmla="*/ 149578 h 586216"/>
                  <a:gd name="connsiteX67" fmla="*/ 62519 w 609549"/>
                  <a:gd name="connsiteY67" fmla="*/ 142255 h 586216"/>
                  <a:gd name="connsiteX68" fmla="*/ 62519 w 609549"/>
                  <a:gd name="connsiteY68" fmla="*/ 114819 h 586216"/>
                  <a:gd name="connsiteX69" fmla="*/ 144942 w 609549"/>
                  <a:gd name="connsiteY69" fmla="*/ 32464 h 586216"/>
                  <a:gd name="connsiteX70" fmla="*/ 158702 w 609549"/>
                  <a:gd name="connsiteY70" fmla="*/ 26758 h 586216"/>
                  <a:gd name="connsiteX71" fmla="*/ 254809 w 609549"/>
                  <a:gd name="connsiteY71" fmla="*/ 6542 h 586216"/>
                  <a:gd name="connsiteX72" fmla="*/ 321015 w 609549"/>
                  <a:gd name="connsiteY72" fmla="*/ 29913 h 586216"/>
                  <a:gd name="connsiteX73" fmla="*/ 260017 w 609549"/>
                  <a:gd name="connsiteY73" fmla="*/ 97465 h 586216"/>
                  <a:gd name="connsiteX74" fmla="*/ 193067 w 609549"/>
                  <a:gd name="connsiteY74" fmla="*/ 30626 h 586216"/>
                  <a:gd name="connsiteX75" fmla="*/ 254809 w 609549"/>
                  <a:gd name="connsiteY75" fmla="*/ 6542 h 586216"/>
                  <a:gd name="connsiteX76" fmla="*/ 503105 w 609549"/>
                  <a:gd name="connsiteY76" fmla="*/ 953 h 586216"/>
                  <a:gd name="connsiteX77" fmla="*/ 538560 w 609549"/>
                  <a:gd name="connsiteY77" fmla="*/ 10911 h 586216"/>
                  <a:gd name="connsiteX78" fmla="*/ 542083 w 609549"/>
                  <a:gd name="connsiteY78" fmla="*/ 30073 h 586216"/>
                  <a:gd name="connsiteX79" fmla="*/ 465709 w 609549"/>
                  <a:gd name="connsiteY79" fmla="*/ 106341 h 586216"/>
                  <a:gd name="connsiteX80" fmla="*/ 465709 w 609549"/>
                  <a:gd name="connsiteY80" fmla="*/ 139911 h 586216"/>
                  <a:gd name="connsiteX81" fmla="*/ 542131 w 609549"/>
                  <a:gd name="connsiteY81" fmla="*/ 216227 h 586216"/>
                  <a:gd name="connsiteX82" fmla="*/ 538655 w 609549"/>
                  <a:gd name="connsiteY82" fmla="*/ 235246 h 586216"/>
                  <a:gd name="connsiteX83" fmla="*/ 442187 w 609549"/>
                  <a:gd name="connsiteY83" fmla="*/ 237528 h 586216"/>
                  <a:gd name="connsiteX84" fmla="*/ 399238 w 609549"/>
                  <a:gd name="connsiteY84" fmla="*/ 280370 h 586216"/>
                  <a:gd name="connsiteX85" fmla="*/ 328482 w 609549"/>
                  <a:gd name="connsiteY85" fmla="*/ 209712 h 586216"/>
                  <a:gd name="connsiteX86" fmla="*/ 372240 w 609549"/>
                  <a:gd name="connsiteY86" fmla="*/ 166015 h 586216"/>
                  <a:gd name="connsiteX87" fmla="*/ 400571 w 609549"/>
                  <a:gd name="connsiteY87" fmla="*/ 36064 h 586216"/>
                  <a:gd name="connsiteX88" fmla="*/ 503105 w 609549"/>
                  <a:gd name="connsiteY88" fmla="*/ 953 h 586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09549" h="586216">
                    <a:moveTo>
                      <a:pt x="61288" y="383285"/>
                    </a:moveTo>
                    <a:cubicBezTo>
                      <a:pt x="64829" y="383106"/>
                      <a:pt x="68448" y="384367"/>
                      <a:pt x="71162" y="387101"/>
                    </a:cubicBezTo>
                    <a:lnTo>
                      <a:pt x="120018" y="435892"/>
                    </a:lnTo>
                    <a:cubicBezTo>
                      <a:pt x="125113" y="440933"/>
                      <a:pt x="125113" y="449160"/>
                      <a:pt x="120018" y="454200"/>
                    </a:cubicBezTo>
                    <a:lnTo>
                      <a:pt x="56639" y="517543"/>
                    </a:lnTo>
                    <a:cubicBezTo>
                      <a:pt x="50211" y="523963"/>
                      <a:pt x="39211" y="522013"/>
                      <a:pt x="35592" y="513644"/>
                    </a:cubicBezTo>
                    <a:cubicBezTo>
                      <a:pt x="17783" y="472794"/>
                      <a:pt x="23211" y="424288"/>
                      <a:pt x="51877" y="388099"/>
                    </a:cubicBezTo>
                    <a:cubicBezTo>
                      <a:pt x="54282" y="385079"/>
                      <a:pt x="57746" y="383463"/>
                      <a:pt x="61288" y="383285"/>
                    </a:cubicBezTo>
                    <a:close/>
                    <a:moveTo>
                      <a:pt x="235245" y="302810"/>
                    </a:moveTo>
                    <a:lnTo>
                      <a:pt x="306042" y="373466"/>
                    </a:lnTo>
                    <a:lnTo>
                      <a:pt x="258717" y="420680"/>
                    </a:lnTo>
                    <a:cubicBezTo>
                      <a:pt x="274667" y="464329"/>
                      <a:pt x="265192" y="515300"/>
                      <a:pt x="230246" y="550152"/>
                    </a:cubicBezTo>
                    <a:cubicBezTo>
                      <a:pt x="192919" y="587430"/>
                      <a:pt x="137644" y="595798"/>
                      <a:pt x="92223" y="575305"/>
                    </a:cubicBezTo>
                    <a:cubicBezTo>
                      <a:pt x="84701" y="571882"/>
                      <a:pt x="82892" y="561992"/>
                      <a:pt x="88748" y="556143"/>
                    </a:cubicBezTo>
                    <a:lnTo>
                      <a:pt x="165115" y="479877"/>
                    </a:lnTo>
                    <a:cubicBezTo>
                      <a:pt x="174399" y="470605"/>
                      <a:pt x="174399" y="455580"/>
                      <a:pt x="165115" y="446308"/>
                    </a:cubicBezTo>
                    <a:lnTo>
                      <a:pt x="88700" y="369995"/>
                    </a:lnTo>
                    <a:cubicBezTo>
                      <a:pt x="82844" y="364194"/>
                      <a:pt x="84653" y="354399"/>
                      <a:pt x="92128" y="350976"/>
                    </a:cubicBezTo>
                    <a:cubicBezTo>
                      <a:pt x="122789" y="337092"/>
                      <a:pt x="157973" y="336379"/>
                      <a:pt x="189111" y="348884"/>
                    </a:cubicBezTo>
                    <a:close/>
                    <a:moveTo>
                      <a:pt x="257958" y="161679"/>
                    </a:moveTo>
                    <a:lnTo>
                      <a:pt x="317251" y="220879"/>
                    </a:lnTo>
                    <a:lnTo>
                      <a:pt x="388070" y="291586"/>
                    </a:lnTo>
                    <a:lnTo>
                      <a:pt x="604906" y="508130"/>
                    </a:lnTo>
                    <a:cubicBezTo>
                      <a:pt x="611097" y="514311"/>
                      <a:pt x="611097" y="524344"/>
                      <a:pt x="604906" y="530526"/>
                    </a:cubicBezTo>
                    <a:lnTo>
                      <a:pt x="556567" y="578789"/>
                    </a:lnTo>
                    <a:cubicBezTo>
                      <a:pt x="553471" y="581880"/>
                      <a:pt x="549423" y="583449"/>
                      <a:pt x="545327" y="583449"/>
                    </a:cubicBezTo>
                    <a:cubicBezTo>
                      <a:pt x="541279" y="583449"/>
                      <a:pt x="537231" y="581880"/>
                      <a:pt x="534135" y="578789"/>
                    </a:cubicBezTo>
                    <a:lnTo>
                      <a:pt x="317251" y="362293"/>
                    </a:lnTo>
                    <a:lnTo>
                      <a:pt x="246481" y="291586"/>
                    </a:lnTo>
                    <a:lnTo>
                      <a:pt x="187140" y="232339"/>
                    </a:lnTo>
                    <a:close/>
                    <a:moveTo>
                      <a:pt x="58606" y="160814"/>
                    </a:moveTo>
                    <a:lnTo>
                      <a:pt x="126401" y="228498"/>
                    </a:lnTo>
                    <a:lnTo>
                      <a:pt x="111975" y="242899"/>
                    </a:lnTo>
                    <a:lnTo>
                      <a:pt x="119307" y="250219"/>
                    </a:lnTo>
                    <a:cubicBezTo>
                      <a:pt x="126877" y="257824"/>
                      <a:pt x="126877" y="270087"/>
                      <a:pt x="119307" y="277692"/>
                    </a:cubicBezTo>
                    <a:lnTo>
                      <a:pt x="115641" y="281352"/>
                    </a:lnTo>
                    <a:cubicBezTo>
                      <a:pt x="108024" y="288909"/>
                      <a:pt x="95741" y="288909"/>
                      <a:pt x="88123" y="281352"/>
                    </a:cubicBezTo>
                    <a:lnTo>
                      <a:pt x="5712" y="199029"/>
                    </a:lnTo>
                    <a:cubicBezTo>
                      <a:pt x="-1905" y="191424"/>
                      <a:pt x="-1905" y="179161"/>
                      <a:pt x="5712" y="171604"/>
                    </a:cubicBezTo>
                    <a:lnTo>
                      <a:pt x="9378" y="167944"/>
                    </a:lnTo>
                    <a:cubicBezTo>
                      <a:pt x="16948" y="160339"/>
                      <a:pt x="29231" y="160339"/>
                      <a:pt x="36849" y="167944"/>
                    </a:cubicBezTo>
                    <a:lnTo>
                      <a:pt x="44180" y="175264"/>
                    </a:lnTo>
                    <a:close/>
                    <a:moveTo>
                      <a:pt x="585775" y="66370"/>
                    </a:moveTo>
                    <a:cubicBezTo>
                      <a:pt x="589775" y="67101"/>
                      <a:pt x="593430" y="69680"/>
                      <a:pt x="595263" y="73839"/>
                    </a:cubicBezTo>
                    <a:cubicBezTo>
                      <a:pt x="613072" y="114675"/>
                      <a:pt x="607644" y="163212"/>
                      <a:pt x="578978" y="199341"/>
                    </a:cubicBezTo>
                    <a:cubicBezTo>
                      <a:pt x="574168" y="205379"/>
                      <a:pt x="565121" y="205854"/>
                      <a:pt x="559693" y="200387"/>
                    </a:cubicBezTo>
                    <a:lnTo>
                      <a:pt x="510789" y="151612"/>
                    </a:lnTo>
                    <a:cubicBezTo>
                      <a:pt x="505742" y="146526"/>
                      <a:pt x="505742" y="138349"/>
                      <a:pt x="510789" y="133262"/>
                    </a:cubicBezTo>
                    <a:lnTo>
                      <a:pt x="574216" y="69988"/>
                    </a:lnTo>
                    <a:cubicBezTo>
                      <a:pt x="577430" y="66756"/>
                      <a:pt x="581775" y="65639"/>
                      <a:pt x="585775" y="66370"/>
                    </a:cubicBezTo>
                    <a:close/>
                    <a:moveTo>
                      <a:pt x="158702" y="26758"/>
                    </a:moveTo>
                    <a:cubicBezTo>
                      <a:pt x="163655" y="26758"/>
                      <a:pt x="168654" y="28660"/>
                      <a:pt x="172463" y="32464"/>
                    </a:cubicBezTo>
                    <a:lnTo>
                      <a:pt x="179701" y="39691"/>
                    </a:lnTo>
                    <a:lnTo>
                      <a:pt x="246935" y="106831"/>
                    </a:lnTo>
                    <a:lnTo>
                      <a:pt x="254886" y="114819"/>
                    </a:lnTo>
                    <a:cubicBezTo>
                      <a:pt x="261457" y="121334"/>
                      <a:pt x="262362" y="131414"/>
                      <a:pt x="257600" y="138879"/>
                    </a:cubicBezTo>
                    <a:cubicBezTo>
                      <a:pt x="256839" y="140068"/>
                      <a:pt x="255934" y="141209"/>
                      <a:pt x="254886" y="142255"/>
                    </a:cubicBezTo>
                    <a:lnTo>
                      <a:pt x="252315" y="144823"/>
                    </a:lnTo>
                    <a:lnTo>
                      <a:pt x="246696" y="150434"/>
                    </a:lnTo>
                    <a:lnTo>
                      <a:pt x="175892" y="221140"/>
                    </a:lnTo>
                    <a:lnTo>
                      <a:pt x="172463" y="224611"/>
                    </a:lnTo>
                    <a:cubicBezTo>
                      <a:pt x="171702" y="225324"/>
                      <a:pt x="170940" y="225990"/>
                      <a:pt x="170130" y="226560"/>
                    </a:cubicBezTo>
                    <a:cubicBezTo>
                      <a:pt x="167749" y="228319"/>
                      <a:pt x="165083" y="229413"/>
                      <a:pt x="162274" y="229936"/>
                    </a:cubicBezTo>
                    <a:cubicBezTo>
                      <a:pt x="161083" y="230174"/>
                      <a:pt x="159893" y="230269"/>
                      <a:pt x="158702" y="230269"/>
                    </a:cubicBezTo>
                    <a:cubicBezTo>
                      <a:pt x="153703" y="230269"/>
                      <a:pt x="148751" y="228367"/>
                      <a:pt x="144942" y="224611"/>
                    </a:cubicBezTo>
                    <a:lnTo>
                      <a:pt x="137609" y="217288"/>
                    </a:lnTo>
                    <a:lnTo>
                      <a:pt x="69804" y="149578"/>
                    </a:lnTo>
                    <a:lnTo>
                      <a:pt x="62519" y="142255"/>
                    </a:lnTo>
                    <a:cubicBezTo>
                      <a:pt x="54900" y="134647"/>
                      <a:pt x="54900" y="122380"/>
                      <a:pt x="62519" y="114819"/>
                    </a:cubicBezTo>
                    <a:lnTo>
                      <a:pt x="144942" y="32464"/>
                    </a:lnTo>
                    <a:cubicBezTo>
                      <a:pt x="148751" y="28660"/>
                      <a:pt x="153750" y="26758"/>
                      <a:pt x="158702" y="26758"/>
                    </a:cubicBezTo>
                    <a:close/>
                    <a:moveTo>
                      <a:pt x="254809" y="6542"/>
                    </a:moveTo>
                    <a:cubicBezTo>
                      <a:pt x="277279" y="4029"/>
                      <a:pt x="300492" y="9424"/>
                      <a:pt x="321015" y="29913"/>
                    </a:cubicBezTo>
                    <a:cubicBezTo>
                      <a:pt x="380347" y="89193"/>
                      <a:pt x="337205" y="46124"/>
                      <a:pt x="260017" y="97465"/>
                    </a:cubicBezTo>
                    <a:lnTo>
                      <a:pt x="193067" y="30626"/>
                    </a:lnTo>
                    <a:cubicBezTo>
                      <a:pt x="210614" y="19479"/>
                      <a:pt x="232340" y="9056"/>
                      <a:pt x="254809" y="6542"/>
                    </a:cubicBezTo>
                    <a:close/>
                    <a:moveTo>
                      <a:pt x="503105" y="953"/>
                    </a:moveTo>
                    <a:cubicBezTo>
                      <a:pt x="515252" y="2468"/>
                      <a:pt x="527216" y="5788"/>
                      <a:pt x="538560" y="10911"/>
                    </a:cubicBezTo>
                    <a:cubicBezTo>
                      <a:pt x="546131" y="14334"/>
                      <a:pt x="547940" y="24224"/>
                      <a:pt x="542083" y="30073"/>
                    </a:cubicBezTo>
                    <a:lnTo>
                      <a:pt x="465709" y="106341"/>
                    </a:lnTo>
                    <a:cubicBezTo>
                      <a:pt x="456424" y="115613"/>
                      <a:pt x="456424" y="130639"/>
                      <a:pt x="465709" y="139911"/>
                    </a:cubicBezTo>
                    <a:lnTo>
                      <a:pt x="542131" y="216227"/>
                    </a:lnTo>
                    <a:cubicBezTo>
                      <a:pt x="547940" y="222028"/>
                      <a:pt x="546178" y="231823"/>
                      <a:pt x="538655" y="235246"/>
                    </a:cubicBezTo>
                    <a:cubicBezTo>
                      <a:pt x="508181" y="249035"/>
                      <a:pt x="473184" y="249844"/>
                      <a:pt x="442187" y="237528"/>
                    </a:cubicBezTo>
                    <a:lnTo>
                      <a:pt x="399238" y="280370"/>
                    </a:lnTo>
                    <a:lnTo>
                      <a:pt x="328482" y="209712"/>
                    </a:lnTo>
                    <a:lnTo>
                      <a:pt x="372240" y="166015"/>
                    </a:lnTo>
                    <a:cubicBezTo>
                      <a:pt x="356051" y="122270"/>
                      <a:pt x="365527" y="71060"/>
                      <a:pt x="400571" y="36064"/>
                    </a:cubicBezTo>
                    <a:cubicBezTo>
                      <a:pt x="428569" y="8106"/>
                      <a:pt x="466664" y="-3592"/>
                      <a:pt x="503105" y="9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4967605" y="2595245"/>
            <a:ext cx="6340475" cy="2259330"/>
            <a:chOff x="9083" y="2220"/>
            <a:chExt cx="9985" cy="3558"/>
          </a:xfrm>
        </p:grpSpPr>
        <p:sp>
          <p:nvSpPr>
            <p:cNvPr id="121" name="文本框 120"/>
            <p:cNvSpPr txBox="1"/>
            <p:nvPr/>
          </p:nvSpPr>
          <p:spPr>
            <a:xfrm>
              <a:off x="9083" y="5158"/>
              <a:ext cx="9856" cy="6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关键词位置稳定？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9633" y="3614"/>
              <a:ext cx="9344" cy="6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日销量大？还是周销，月销，年销高？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10233" y="2220"/>
              <a:ext cx="8835" cy="6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BSR榜排名好？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967605" y="3202305"/>
            <a:ext cx="6135370" cy="1818640"/>
            <a:chOff x="9315" y="3118"/>
            <a:chExt cx="9662" cy="2864"/>
          </a:xfrm>
        </p:grpSpPr>
        <p:cxnSp>
          <p:nvCxnSpPr>
            <p:cNvPr id="134" name="直接连接符 133"/>
            <p:cNvCxnSpPr/>
            <p:nvPr/>
          </p:nvCxnSpPr>
          <p:spPr>
            <a:xfrm>
              <a:off x="10319" y="3118"/>
              <a:ext cx="8659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9824" y="4550"/>
              <a:ext cx="915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9315" y="5982"/>
              <a:ext cx="966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ransition advClick="0" advTm="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3"/>
          <p:cNvSpPr/>
          <p:nvPr/>
        </p:nvSpPr>
        <p:spPr>
          <a:xfrm>
            <a:off x="2582102" y="4584507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2582102" y="3613355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Rounded Rectangle 45"/>
          <p:cNvSpPr/>
          <p:nvPr/>
        </p:nvSpPr>
        <p:spPr>
          <a:xfrm>
            <a:off x="2582102" y="2641660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2582102" y="1670369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1853155" y="458450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1853155" y="361335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1853155" y="2641660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1853155" y="1670369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2668006" y="1858435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实验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2668006" y="2858308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实验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2668006" y="4796694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实验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2165923" y="2958881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2168904" y="393278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2167448" y="1955524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36" name="TextBox 47"/>
          <p:cNvSpPr txBox="1"/>
          <p:nvPr/>
        </p:nvSpPr>
        <p:spPr>
          <a:xfrm>
            <a:off x="4377690" y="1760855"/>
            <a:ext cx="654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将A广告活动-广泛组跑出来的词放到同一个广告活动的同一个广告组里面打精准，竞价不变，效果不变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377690" y="2712720"/>
            <a:ext cx="6593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将A广告活动-广泛组跑出来的词放到同一个广告活动的不同的广告组里面打精准，竞价不变，效果不变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664075" y="3698240"/>
            <a:ext cx="646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将关键词AB放到同一个广告活动中不同组，竞价有差别，则全部或绝大部分曝光点击由竞价高的广告组获得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TextBox 53"/>
          <p:cNvSpPr txBox="1"/>
          <p:nvPr/>
        </p:nvSpPr>
        <p:spPr>
          <a:xfrm>
            <a:off x="4427220" y="4683760"/>
            <a:ext cx="6537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将A广告活动跑出来的词放到B广告活动中，竞价相同，则全部或绝大部分曝光点击由原广告活动获得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161616" y="708472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广告的权重在哪里？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权重如何体现？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2668006" y="3862609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实验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5" grpId="0"/>
      <p:bldP spid="18" grpId="0"/>
      <p:bldP spid="36" grpId="0"/>
      <p:bldP spid="37" grpId="0"/>
      <p:bldP spid="38" grpId="0"/>
      <p:bldP spid="39" grpId="0"/>
      <p:bldP spid="44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49"/>
          <p:cNvSpPr txBox="1"/>
          <p:nvPr/>
        </p:nvSpPr>
        <p:spPr>
          <a:xfrm>
            <a:off x="4443095" y="404050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通过实验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和实验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得出：广告的权重体现在广告活动中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3837766" y="1513652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广告的权重在哪里？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权重如何体现？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95450" y="2840990"/>
            <a:ext cx="2388235" cy="1778000"/>
            <a:chOff x="2793" y="3478"/>
            <a:chExt cx="3761" cy="2800"/>
          </a:xfrm>
        </p:grpSpPr>
        <p:sp>
          <p:nvSpPr>
            <p:cNvPr id="8" name="Rounded Rectangle 45"/>
            <p:cNvSpPr/>
            <p:nvPr/>
          </p:nvSpPr>
          <p:spPr>
            <a:xfrm>
              <a:off x="3941" y="500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3941" y="3478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793" y="500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793" y="3478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077" y="3774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结论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1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077" y="5348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结论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2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286" y="5507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288" y="3927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>
            <a:off x="4380230" y="2883535"/>
            <a:ext cx="69513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通过实验</a:t>
            </a:r>
            <a:r>
              <a:rPr lang="en-US" altLang="zh-CN"/>
              <a:t>1</a:t>
            </a:r>
            <a:r>
              <a:rPr lang="zh-CN" altLang="en-US"/>
              <a:t>和实验</a:t>
            </a:r>
            <a:r>
              <a:rPr lang="en-US" altLang="zh-CN"/>
              <a:t>2</a:t>
            </a:r>
            <a:r>
              <a:rPr lang="zh-CN" altLang="en-US"/>
              <a:t>得出：无论多少个广告组，共享统一广告活动的权重</a:t>
            </a: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695040" y="4892880"/>
            <a:ext cx="2388198" cy="806824"/>
            <a:chOff x="3236" y="7749"/>
            <a:chExt cx="3761" cy="1271"/>
          </a:xfrm>
        </p:grpSpPr>
        <p:sp>
          <p:nvSpPr>
            <p:cNvPr id="3" name="Rounded Rectangle 44"/>
            <p:cNvSpPr/>
            <p:nvPr/>
          </p:nvSpPr>
          <p:spPr>
            <a:xfrm>
              <a:off x="4384" y="7749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ounded Rectangle 40"/>
            <p:cNvSpPr/>
            <p:nvPr/>
          </p:nvSpPr>
          <p:spPr>
            <a:xfrm>
              <a:off x="3236" y="7749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50" name="TextBox 12"/>
            <p:cNvSpPr txBox="1"/>
            <p:nvPr/>
          </p:nvSpPr>
          <p:spPr>
            <a:xfrm>
              <a:off x="4520" y="8142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结论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3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380230" y="5111750"/>
            <a:ext cx="55308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不要开太多的广告活动，会</a:t>
            </a:r>
            <a:r>
              <a:rPr lang="zh-CN" altLang="en-US" sz="2000" b="1">
                <a:solidFill>
                  <a:srgbClr val="FF0000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分散</a:t>
            </a:r>
            <a:r>
              <a:rPr lang="zh-CN" altLang="en-US"/>
              <a:t>权重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458335" y="2426335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为了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精确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控制预算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464050" y="3356610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预算分散，权重分散，无法实现权重的快速累积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464050" y="433197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还有什么控制预算的方法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吗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？       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答案是：有！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2779221" y="1153607"/>
            <a:ext cx="7015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为什么传统的广告打法开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N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个广告活动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权重如何体现？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73555" y="2208530"/>
            <a:ext cx="2388235" cy="2749550"/>
            <a:chOff x="2918" y="2631"/>
            <a:chExt cx="3761" cy="4330"/>
          </a:xfrm>
        </p:grpSpPr>
        <p:sp>
          <p:nvSpPr>
            <p:cNvPr id="3" name="Rounded Rectangle 44"/>
            <p:cNvSpPr/>
            <p:nvPr/>
          </p:nvSpPr>
          <p:spPr>
            <a:xfrm>
              <a:off x="4066" y="569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Rounded Rectangle 45"/>
            <p:cNvSpPr/>
            <p:nvPr/>
          </p:nvSpPr>
          <p:spPr>
            <a:xfrm>
              <a:off x="4066" y="416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4066" y="2631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ounded Rectangle 40"/>
            <p:cNvSpPr/>
            <p:nvPr/>
          </p:nvSpPr>
          <p:spPr>
            <a:xfrm>
              <a:off x="2918" y="569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918" y="416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918" y="2631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202" y="2927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目的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202" y="4501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结果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411" y="4660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1"/>
            <p:cNvGrpSpPr/>
            <p:nvPr/>
          </p:nvGrpSpPr>
          <p:grpSpPr>
            <a:xfrm>
              <a:off x="3416" y="6193"/>
              <a:ext cx="286" cy="250"/>
              <a:chOff x="20638" y="2970213"/>
              <a:chExt cx="387350" cy="338137"/>
            </a:xfrm>
            <a:solidFill>
              <a:schemeClr val="bg2"/>
            </a:solidFill>
          </p:grpSpPr>
          <p:sp>
            <p:nvSpPr>
              <p:cNvPr id="28" name="Freeform 11"/>
              <p:cNvSpPr/>
              <p:nvPr/>
            </p:nvSpPr>
            <p:spPr bwMode="auto">
              <a:xfrm>
                <a:off x="73026" y="3032125"/>
                <a:ext cx="279400" cy="276225"/>
              </a:xfrm>
              <a:custGeom>
                <a:avLst/>
                <a:gdLst>
                  <a:gd name="T0" fmla="*/ 0 w 102"/>
                  <a:gd name="T1" fmla="*/ 98 h 101"/>
                  <a:gd name="T2" fmla="*/ 3 w 102"/>
                  <a:gd name="T3" fmla="*/ 101 h 101"/>
                  <a:gd name="T4" fmla="*/ 39 w 102"/>
                  <a:gd name="T5" fmla="*/ 101 h 101"/>
                  <a:gd name="T6" fmla="*/ 39 w 102"/>
                  <a:gd name="T7" fmla="*/ 72 h 101"/>
                  <a:gd name="T8" fmla="*/ 43 w 102"/>
                  <a:gd name="T9" fmla="*/ 68 h 101"/>
                  <a:gd name="T10" fmla="*/ 58 w 102"/>
                  <a:gd name="T11" fmla="*/ 68 h 101"/>
                  <a:gd name="T12" fmla="*/ 63 w 102"/>
                  <a:gd name="T13" fmla="*/ 72 h 101"/>
                  <a:gd name="T14" fmla="*/ 63 w 102"/>
                  <a:gd name="T15" fmla="*/ 101 h 101"/>
                  <a:gd name="T16" fmla="*/ 98 w 102"/>
                  <a:gd name="T17" fmla="*/ 101 h 101"/>
                  <a:gd name="T18" fmla="*/ 101 w 102"/>
                  <a:gd name="T19" fmla="*/ 97 h 101"/>
                  <a:gd name="T20" fmla="*/ 101 w 102"/>
                  <a:gd name="T21" fmla="*/ 44 h 101"/>
                  <a:gd name="T22" fmla="*/ 52 w 102"/>
                  <a:gd name="T23" fmla="*/ 0 h 101"/>
                  <a:gd name="T24" fmla="*/ 0 w 102"/>
                  <a:gd name="T25" fmla="*/ 44 h 101"/>
                  <a:gd name="T26" fmla="*/ 0 w 102"/>
                  <a:gd name="T27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101">
                    <a:moveTo>
                      <a:pt x="0" y="98"/>
                    </a:moveTo>
                    <a:cubicBezTo>
                      <a:pt x="0" y="98"/>
                      <a:pt x="0" y="101"/>
                      <a:pt x="3" y="101"/>
                    </a:cubicBezTo>
                    <a:cubicBezTo>
                      <a:pt x="7" y="101"/>
                      <a:pt x="39" y="101"/>
                      <a:pt x="39" y="101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8" y="68"/>
                      <a:pt x="43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63" y="68"/>
                      <a:pt x="63" y="72"/>
                      <a:pt x="63" y="72"/>
                    </a:cubicBezTo>
                    <a:cubicBezTo>
                      <a:pt x="63" y="101"/>
                      <a:pt x="63" y="101"/>
                      <a:pt x="63" y="101"/>
                    </a:cubicBezTo>
                    <a:cubicBezTo>
                      <a:pt x="63" y="101"/>
                      <a:pt x="93" y="101"/>
                      <a:pt x="98" y="101"/>
                    </a:cubicBezTo>
                    <a:cubicBezTo>
                      <a:pt x="102" y="101"/>
                      <a:pt x="101" y="97"/>
                      <a:pt x="101" y="97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0" y="44"/>
                      <a:pt x="0" y="44"/>
                      <a:pt x="0" y="44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2"/>
              <p:cNvSpPr/>
              <p:nvPr/>
            </p:nvSpPr>
            <p:spPr bwMode="auto">
              <a:xfrm>
                <a:off x="20638" y="2970213"/>
                <a:ext cx="387350" cy="193675"/>
              </a:xfrm>
              <a:custGeom>
                <a:avLst/>
                <a:gdLst>
                  <a:gd name="T0" fmla="*/ 0 w 141"/>
                  <a:gd name="T1" fmla="*/ 63 h 71"/>
                  <a:gd name="T2" fmla="*/ 14 w 141"/>
                  <a:gd name="T3" fmla="*/ 63 h 71"/>
                  <a:gd name="T4" fmla="*/ 72 w 141"/>
                  <a:gd name="T5" fmla="*/ 14 h 71"/>
                  <a:gd name="T6" fmla="*/ 126 w 141"/>
                  <a:gd name="T7" fmla="*/ 62 h 71"/>
                  <a:gd name="T8" fmla="*/ 141 w 141"/>
                  <a:gd name="T9" fmla="*/ 62 h 71"/>
                  <a:gd name="T10" fmla="*/ 72 w 141"/>
                  <a:gd name="T11" fmla="*/ 0 h 71"/>
                  <a:gd name="T12" fmla="*/ 0 w 141"/>
                  <a:gd name="T13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71">
                    <a:moveTo>
                      <a:pt x="0" y="63"/>
                    </a:moveTo>
                    <a:cubicBezTo>
                      <a:pt x="0" y="63"/>
                      <a:pt x="5" y="71"/>
                      <a:pt x="14" y="63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126" y="62"/>
                      <a:pt x="126" y="62"/>
                      <a:pt x="126" y="62"/>
                    </a:cubicBezTo>
                    <a:cubicBezTo>
                      <a:pt x="137" y="70"/>
                      <a:pt x="141" y="62"/>
                      <a:pt x="141" y="6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3"/>
              <p:cNvSpPr/>
              <p:nvPr/>
            </p:nvSpPr>
            <p:spPr bwMode="auto">
              <a:xfrm>
                <a:off x="325438" y="3008313"/>
                <a:ext cx="34925" cy="76200"/>
              </a:xfrm>
              <a:custGeom>
                <a:avLst/>
                <a:gdLst>
                  <a:gd name="T0" fmla="*/ 22 w 22"/>
                  <a:gd name="T1" fmla="*/ 0 h 48"/>
                  <a:gd name="T2" fmla="*/ 0 w 22"/>
                  <a:gd name="T3" fmla="*/ 0 h 48"/>
                  <a:gd name="T4" fmla="*/ 0 w 22"/>
                  <a:gd name="T5" fmla="*/ 29 h 48"/>
                  <a:gd name="T6" fmla="*/ 22 w 22"/>
                  <a:gd name="T7" fmla="*/ 48 h 48"/>
                  <a:gd name="T8" fmla="*/ 22 w 22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48">
                    <a:moveTo>
                      <a:pt x="22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22" y="48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413" y="3080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12"/>
            <p:cNvSpPr txBox="1"/>
            <p:nvPr/>
          </p:nvSpPr>
          <p:spPr>
            <a:xfrm>
              <a:off x="4202" y="6083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反思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380230" y="2908300"/>
            <a:ext cx="654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关键词的质量得分其实体现的就是自然权重，也就是关键词的自然排名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，其实也代表了关键词的自然位置排名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380230" y="404050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广告权重和自然权重之间只差一个竞价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230196" y="1076772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dirty="0">
                <a:solidFill>
                  <a:srgbClr val="474479"/>
                </a:solidFill>
                <a:cs typeface="+mn-ea"/>
                <a:sym typeface="+mn-lt"/>
              </a:rPr>
              <a:t>广告权重的算法</a:t>
            </a:r>
            <a:endParaRPr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权重如何体现？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95450" y="2840990"/>
            <a:ext cx="2388235" cy="1778000"/>
            <a:chOff x="2793" y="3478"/>
            <a:chExt cx="3761" cy="2800"/>
          </a:xfrm>
        </p:grpSpPr>
        <p:sp>
          <p:nvSpPr>
            <p:cNvPr id="8" name="Rounded Rectangle 45"/>
            <p:cNvSpPr/>
            <p:nvPr/>
          </p:nvSpPr>
          <p:spPr>
            <a:xfrm>
              <a:off x="3941" y="500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3941" y="3478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793" y="500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793" y="3478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402" y="3695"/>
              <a:ext cx="17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关键词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质量得分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077" y="5348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广告权重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286" y="5507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288" y="3927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2510790" y="1865630"/>
            <a:ext cx="7969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公式：Ad ranking (广告权重)=cpc bid *  Ad grade(关键词质量得分)</a:t>
            </a:r>
            <a:endParaRPr lang="zh-CN" altLang="en-US"/>
          </a:p>
        </p:txBody>
      </p:sp>
      <p:sp>
        <p:nvSpPr>
          <p:cNvPr id="4" name="TextBox 49"/>
          <p:cNvSpPr txBox="1"/>
          <p:nvPr/>
        </p:nvSpPr>
        <p:spPr>
          <a:xfrm>
            <a:off x="2774950" y="5288280"/>
            <a:ext cx="7225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因此：当广告权重不足时，可以通过竞价来调控权重，从而控制位置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4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权重由什么控制？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862705" y="2096770"/>
            <a:ext cx="3886835" cy="2749550"/>
            <a:chOff x="2793" y="3478"/>
            <a:chExt cx="6121" cy="4330"/>
          </a:xfrm>
        </p:grpSpPr>
        <p:sp>
          <p:nvSpPr>
            <p:cNvPr id="36" name="TextBox 47"/>
            <p:cNvSpPr txBox="1"/>
            <p:nvPr/>
          </p:nvSpPr>
          <p:spPr>
            <a:xfrm>
              <a:off x="7021" y="3766"/>
              <a:ext cx="1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CTR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49"/>
            <p:cNvSpPr txBox="1"/>
            <p:nvPr/>
          </p:nvSpPr>
          <p:spPr>
            <a:xfrm>
              <a:off x="7030" y="5286"/>
              <a:ext cx="13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CR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TextBox 51"/>
            <p:cNvSpPr txBox="1"/>
            <p:nvPr/>
          </p:nvSpPr>
          <p:spPr>
            <a:xfrm>
              <a:off x="7030" y="6806"/>
              <a:ext cx="18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历史表现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793" y="3478"/>
              <a:ext cx="3761" cy="4330"/>
              <a:chOff x="2918" y="2631"/>
              <a:chExt cx="3761" cy="4330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4066" y="569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918" y="569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因素</a:t>
                </a: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 1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因素</a:t>
                </a: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 2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7" name="Group 21"/>
              <p:cNvGrpSpPr/>
              <p:nvPr/>
            </p:nvGrpSpPr>
            <p:grpSpPr>
              <a:xfrm>
                <a:off x="3416" y="6193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202" y="6083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因素</a:t>
                </a: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 3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443095" y="3449955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CTR和位置的关系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394200" y="248856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CTR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的标准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5007436" y="1216472"/>
            <a:ext cx="37979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CTR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需要关注的参数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772285" y="2262505"/>
            <a:ext cx="2388235" cy="1778000"/>
            <a:chOff x="2793" y="3478"/>
            <a:chExt cx="3761" cy="2800"/>
          </a:xfrm>
        </p:grpSpPr>
        <p:sp>
          <p:nvSpPr>
            <p:cNvPr id="8" name="Rounded Rectangle 45"/>
            <p:cNvSpPr/>
            <p:nvPr/>
          </p:nvSpPr>
          <p:spPr>
            <a:xfrm>
              <a:off x="3941" y="500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3941" y="3478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793" y="500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793" y="3478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077" y="3774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知识</a:t>
              </a:r>
              <a:r>
                <a:rPr lang="en-US" altLang="zh-CN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077" y="5348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知识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2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286" y="5507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288" y="3927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文本框 9"/>
          <p:cNvSpPr txBox="1">
            <a:spLocks noChangeArrowheads="1"/>
          </p:cNvSpPr>
          <p:nvPr/>
        </p:nvSpPr>
        <p:spPr bwMode="auto">
          <a:xfrm>
            <a:off x="688023" y="22606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5007436" y="1216472"/>
            <a:ext cx="21723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CTR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的标准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" name="文本框 9"/>
          <p:cNvSpPr txBox="1">
            <a:spLocks noChangeArrowheads="1"/>
          </p:cNvSpPr>
          <p:nvPr/>
        </p:nvSpPr>
        <p:spPr bwMode="auto">
          <a:xfrm>
            <a:off x="688023" y="22606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411220" y="2174875"/>
            <a:ext cx="5890895" cy="3330575"/>
            <a:chOff x="2891" y="3319"/>
            <a:chExt cx="9277" cy="5245"/>
          </a:xfrm>
        </p:grpSpPr>
        <p:grpSp>
          <p:nvGrpSpPr>
            <p:cNvPr id="10" name="组合 9"/>
            <p:cNvGrpSpPr/>
            <p:nvPr/>
          </p:nvGrpSpPr>
          <p:grpSpPr>
            <a:xfrm>
              <a:off x="2942" y="3319"/>
              <a:ext cx="9227" cy="2714"/>
              <a:chOff x="2791" y="2851"/>
              <a:chExt cx="9227" cy="2714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2791" y="3563"/>
                <a:ext cx="3761" cy="1271"/>
                <a:chOff x="2791" y="3563"/>
                <a:chExt cx="3761" cy="1271"/>
              </a:xfrm>
            </p:grpSpPr>
            <p:sp>
              <p:nvSpPr>
                <p:cNvPr id="9" name="Rounded Rectangle 46"/>
                <p:cNvSpPr/>
                <p:nvPr/>
              </p:nvSpPr>
              <p:spPr>
                <a:xfrm>
                  <a:off x="3939" y="3563"/>
                  <a:ext cx="2613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Rounded Rectangle 3"/>
                <p:cNvSpPr/>
                <p:nvPr/>
              </p:nvSpPr>
              <p:spPr>
                <a:xfrm>
                  <a:off x="2791" y="3563"/>
                  <a:ext cx="1199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72719F"/>
                </a:solidFill>
                <a:ln>
                  <a:noFill/>
                </a:ln>
                <a:effectLst>
                  <a:outerShdw blurRad="152400" dist="38100" algn="l" rotWithShape="0">
                    <a:prstClr val="black">
                      <a:alpha val="17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grpSp>
              <p:nvGrpSpPr>
                <p:cNvPr id="31" name="Group 25"/>
                <p:cNvGrpSpPr/>
                <p:nvPr/>
              </p:nvGrpSpPr>
              <p:grpSpPr>
                <a:xfrm>
                  <a:off x="3286" y="4012"/>
                  <a:ext cx="285" cy="276"/>
                  <a:chOff x="842963" y="938213"/>
                  <a:chExt cx="385763" cy="373062"/>
                </a:xfrm>
                <a:solidFill>
                  <a:schemeClr val="bg2"/>
                </a:solidFill>
              </p:grpSpPr>
              <p:sp>
                <p:nvSpPr>
                  <p:cNvPr id="32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842963" y="1311275"/>
                    <a:ext cx="385763" cy="0"/>
                  </a:xfrm>
                  <a:prstGeom prst="line">
                    <a:avLst/>
                  </a:prstGeom>
                  <a:grpFill/>
                  <a:ln w="61913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Freeform 15"/>
                  <p:cNvSpPr/>
                  <p:nvPr/>
                </p:nvSpPr>
                <p:spPr bwMode="auto">
                  <a:xfrm>
                    <a:off x="842963" y="1141413"/>
                    <a:ext cx="117475" cy="125413"/>
                  </a:xfrm>
                  <a:custGeom>
                    <a:avLst/>
                    <a:gdLst>
                      <a:gd name="T0" fmla="*/ 37 w 43"/>
                      <a:gd name="T1" fmla="*/ 0 h 46"/>
                      <a:gd name="T2" fmla="*/ 6 w 43"/>
                      <a:gd name="T3" fmla="*/ 0 h 46"/>
                      <a:gd name="T4" fmla="*/ 0 w 43"/>
                      <a:gd name="T5" fmla="*/ 6 h 46"/>
                      <a:gd name="T6" fmla="*/ 0 w 43"/>
                      <a:gd name="T7" fmla="*/ 40 h 46"/>
                      <a:gd name="T8" fmla="*/ 6 w 43"/>
                      <a:gd name="T9" fmla="*/ 46 h 46"/>
                      <a:gd name="T10" fmla="*/ 37 w 43"/>
                      <a:gd name="T11" fmla="*/ 46 h 46"/>
                      <a:gd name="T12" fmla="*/ 43 w 43"/>
                      <a:gd name="T13" fmla="*/ 40 h 46"/>
                      <a:gd name="T14" fmla="*/ 43 w 43"/>
                      <a:gd name="T15" fmla="*/ 6 h 46"/>
                      <a:gd name="T16" fmla="*/ 37 w 43"/>
                      <a:gd name="T17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46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43"/>
                          <a:pt x="3" y="46"/>
                          <a:pt x="6" y="46"/>
                        </a:cubicBezTo>
                        <a:cubicBezTo>
                          <a:pt x="37" y="46"/>
                          <a:pt x="37" y="46"/>
                          <a:pt x="37" y="46"/>
                        </a:cubicBezTo>
                        <a:cubicBezTo>
                          <a:pt x="40" y="46"/>
                          <a:pt x="43" y="43"/>
                          <a:pt x="43" y="40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Freeform 16"/>
                  <p:cNvSpPr/>
                  <p:nvPr/>
                </p:nvSpPr>
                <p:spPr bwMode="auto">
                  <a:xfrm>
                    <a:off x="977901" y="938213"/>
                    <a:ext cx="117475" cy="328613"/>
                  </a:xfrm>
                  <a:custGeom>
                    <a:avLst/>
                    <a:gdLst>
                      <a:gd name="T0" fmla="*/ 37 w 43"/>
                      <a:gd name="T1" fmla="*/ 0 h 121"/>
                      <a:gd name="T2" fmla="*/ 6 w 43"/>
                      <a:gd name="T3" fmla="*/ 0 h 121"/>
                      <a:gd name="T4" fmla="*/ 0 w 43"/>
                      <a:gd name="T5" fmla="*/ 6 h 121"/>
                      <a:gd name="T6" fmla="*/ 0 w 43"/>
                      <a:gd name="T7" fmla="*/ 115 h 121"/>
                      <a:gd name="T8" fmla="*/ 6 w 43"/>
                      <a:gd name="T9" fmla="*/ 121 h 121"/>
                      <a:gd name="T10" fmla="*/ 37 w 43"/>
                      <a:gd name="T11" fmla="*/ 121 h 121"/>
                      <a:gd name="T12" fmla="*/ 43 w 43"/>
                      <a:gd name="T13" fmla="*/ 115 h 121"/>
                      <a:gd name="T14" fmla="*/ 43 w 43"/>
                      <a:gd name="T15" fmla="*/ 6 h 121"/>
                      <a:gd name="T16" fmla="*/ 37 w 43"/>
                      <a:gd name="T17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121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115"/>
                          <a:pt x="0" y="115"/>
                          <a:pt x="0" y="115"/>
                        </a:cubicBezTo>
                        <a:cubicBezTo>
                          <a:pt x="0" y="118"/>
                          <a:pt x="3" y="121"/>
                          <a:pt x="6" y="121"/>
                        </a:cubicBezTo>
                        <a:cubicBezTo>
                          <a:pt x="37" y="121"/>
                          <a:pt x="37" y="121"/>
                          <a:pt x="37" y="121"/>
                        </a:cubicBezTo>
                        <a:cubicBezTo>
                          <a:pt x="40" y="121"/>
                          <a:pt x="43" y="118"/>
                          <a:pt x="43" y="115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Freeform 17"/>
                  <p:cNvSpPr/>
                  <p:nvPr/>
                </p:nvSpPr>
                <p:spPr bwMode="auto">
                  <a:xfrm>
                    <a:off x="1111251" y="1057275"/>
                    <a:ext cx="117475" cy="209550"/>
                  </a:xfrm>
                  <a:custGeom>
                    <a:avLst/>
                    <a:gdLst>
                      <a:gd name="T0" fmla="*/ 37 w 43"/>
                      <a:gd name="T1" fmla="*/ 0 h 77"/>
                      <a:gd name="T2" fmla="*/ 6 w 43"/>
                      <a:gd name="T3" fmla="*/ 0 h 77"/>
                      <a:gd name="T4" fmla="*/ 0 w 43"/>
                      <a:gd name="T5" fmla="*/ 6 h 77"/>
                      <a:gd name="T6" fmla="*/ 0 w 43"/>
                      <a:gd name="T7" fmla="*/ 71 h 77"/>
                      <a:gd name="T8" fmla="*/ 6 w 43"/>
                      <a:gd name="T9" fmla="*/ 77 h 77"/>
                      <a:gd name="T10" fmla="*/ 37 w 43"/>
                      <a:gd name="T11" fmla="*/ 77 h 77"/>
                      <a:gd name="T12" fmla="*/ 43 w 43"/>
                      <a:gd name="T13" fmla="*/ 71 h 77"/>
                      <a:gd name="T14" fmla="*/ 43 w 43"/>
                      <a:gd name="T15" fmla="*/ 6 h 77"/>
                      <a:gd name="T16" fmla="*/ 37 w 43"/>
                      <a:gd name="T17" fmla="*/ 0 h 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77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71"/>
                          <a:pt x="0" y="71"/>
                          <a:pt x="0" y="71"/>
                        </a:cubicBezTo>
                        <a:cubicBezTo>
                          <a:pt x="0" y="74"/>
                          <a:pt x="3" y="77"/>
                          <a:pt x="6" y="77"/>
                        </a:cubicBezTo>
                        <a:cubicBezTo>
                          <a:pt x="37" y="77"/>
                          <a:pt x="37" y="77"/>
                          <a:pt x="37" y="77"/>
                        </a:cubicBezTo>
                        <a:cubicBezTo>
                          <a:pt x="40" y="77"/>
                          <a:pt x="43" y="74"/>
                          <a:pt x="43" y="71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</p:grpSp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254" y="2851"/>
                <a:ext cx="6765" cy="2715"/>
              </a:xfrm>
              <a:prstGeom prst="rect">
                <a:avLst/>
              </a:prstGeom>
            </p:spPr>
          </p:pic>
        </p:grpSp>
        <p:grpSp>
          <p:nvGrpSpPr>
            <p:cNvPr id="16" name="组合 15"/>
            <p:cNvGrpSpPr/>
            <p:nvPr/>
          </p:nvGrpSpPr>
          <p:grpSpPr>
            <a:xfrm>
              <a:off x="2891" y="6300"/>
              <a:ext cx="8784" cy="2264"/>
              <a:chOff x="2891" y="6300"/>
              <a:chExt cx="8784" cy="2264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2891" y="6797"/>
                <a:ext cx="3761" cy="1271"/>
                <a:chOff x="2791" y="5092"/>
                <a:chExt cx="3761" cy="1271"/>
              </a:xfrm>
            </p:grpSpPr>
            <p:sp>
              <p:nvSpPr>
                <p:cNvPr id="8" name="Rounded Rectangle 45"/>
                <p:cNvSpPr/>
                <p:nvPr/>
              </p:nvSpPr>
              <p:spPr>
                <a:xfrm>
                  <a:off x="3939" y="5092"/>
                  <a:ext cx="2613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Rounded Rectangle 38"/>
                <p:cNvSpPr/>
                <p:nvPr/>
              </p:nvSpPr>
              <p:spPr>
                <a:xfrm>
                  <a:off x="2791" y="5092"/>
                  <a:ext cx="1199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2">
                    <a:lumMod val="65000"/>
                  </a:schemeClr>
                </a:solidFill>
                <a:ln>
                  <a:noFill/>
                </a:ln>
                <a:effectLst>
                  <a:outerShdw blurRad="152400" dist="38100" algn="l" rotWithShape="0">
                    <a:prstClr val="black">
                      <a:alpha val="17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grpSp>
              <p:nvGrpSpPr>
                <p:cNvPr id="19" name="Group 13"/>
                <p:cNvGrpSpPr/>
                <p:nvPr/>
              </p:nvGrpSpPr>
              <p:grpSpPr>
                <a:xfrm>
                  <a:off x="3284" y="5592"/>
                  <a:ext cx="285" cy="286"/>
                  <a:chOff x="7938" y="928688"/>
                  <a:chExt cx="385763" cy="387350"/>
                </a:xfrm>
                <a:solidFill>
                  <a:schemeClr val="bg2"/>
                </a:solidFill>
              </p:grpSpPr>
              <p:sp>
                <p:nvSpPr>
                  <p:cNvPr id="20" name="Freeform 5"/>
                  <p:cNvSpPr/>
                  <p:nvPr/>
                </p:nvSpPr>
                <p:spPr bwMode="auto">
                  <a:xfrm>
                    <a:off x="7938" y="947738"/>
                    <a:ext cx="369888" cy="368300"/>
                  </a:xfrm>
                  <a:custGeom>
                    <a:avLst/>
                    <a:gdLst>
                      <a:gd name="T0" fmla="*/ 68 w 135"/>
                      <a:gd name="T1" fmla="*/ 0 h 135"/>
                      <a:gd name="T2" fmla="*/ 0 w 135"/>
                      <a:gd name="T3" fmla="*/ 68 h 135"/>
                      <a:gd name="T4" fmla="*/ 68 w 135"/>
                      <a:gd name="T5" fmla="*/ 135 h 135"/>
                      <a:gd name="T6" fmla="*/ 135 w 135"/>
                      <a:gd name="T7" fmla="*/ 68 h 135"/>
                      <a:gd name="T8" fmla="*/ 68 w 135"/>
                      <a:gd name="T9" fmla="*/ 68 h 135"/>
                      <a:gd name="T10" fmla="*/ 68 w 135"/>
                      <a:gd name="T11" fmla="*/ 0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5" h="135">
                        <a:moveTo>
                          <a:pt x="68" y="0"/>
                        </a:moveTo>
                        <a:cubicBezTo>
                          <a:pt x="30" y="0"/>
                          <a:pt x="0" y="30"/>
                          <a:pt x="0" y="68"/>
                        </a:cubicBezTo>
                        <a:cubicBezTo>
                          <a:pt x="0" y="105"/>
                          <a:pt x="30" y="135"/>
                          <a:pt x="68" y="135"/>
                        </a:cubicBezTo>
                        <a:cubicBezTo>
                          <a:pt x="105" y="135"/>
                          <a:pt x="135" y="105"/>
                          <a:pt x="135" y="68"/>
                        </a:cubicBezTo>
                        <a:cubicBezTo>
                          <a:pt x="68" y="68"/>
                          <a:pt x="68" y="68"/>
                          <a:pt x="68" y="68"/>
                        </a:cubicBezTo>
                        <a:lnTo>
                          <a:pt x="6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Freeform 6"/>
                  <p:cNvSpPr>
                    <a:spLocks noEditPoints="1"/>
                  </p:cNvSpPr>
                  <p:nvPr/>
                </p:nvSpPr>
                <p:spPr bwMode="auto">
                  <a:xfrm>
                    <a:off x="207963" y="928688"/>
                    <a:ext cx="185738" cy="188913"/>
                  </a:xfrm>
                  <a:custGeom>
                    <a:avLst/>
                    <a:gdLst>
                      <a:gd name="T0" fmla="*/ 48 w 68"/>
                      <a:gd name="T1" fmla="*/ 16 h 69"/>
                      <a:gd name="T2" fmla="*/ 48 w 68"/>
                      <a:gd name="T3" fmla="*/ 15 h 69"/>
                      <a:gd name="T4" fmla="*/ 47 w 68"/>
                      <a:gd name="T5" fmla="*/ 15 h 69"/>
                      <a:gd name="T6" fmla="*/ 47 w 68"/>
                      <a:gd name="T7" fmla="*/ 15 h 69"/>
                      <a:gd name="T8" fmla="*/ 47 w 68"/>
                      <a:gd name="T9" fmla="*/ 15 h 69"/>
                      <a:gd name="T10" fmla="*/ 4 w 68"/>
                      <a:gd name="T11" fmla="*/ 0 h 69"/>
                      <a:gd name="T12" fmla="*/ 0 w 68"/>
                      <a:gd name="T13" fmla="*/ 4 h 69"/>
                      <a:gd name="T14" fmla="*/ 0 w 68"/>
                      <a:gd name="T15" fmla="*/ 65 h 69"/>
                      <a:gd name="T16" fmla="*/ 3 w 68"/>
                      <a:gd name="T17" fmla="*/ 69 h 69"/>
                      <a:gd name="T18" fmla="*/ 4 w 68"/>
                      <a:gd name="T19" fmla="*/ 69 h 69"/>
                      <a:gd name="T20" fmla="*/ 4 w 68"/>
                      <a:gd name="T21" fmla="*/ 69 h 69"/>
                      <a:gd name="T22" fmla="*/ 4 w 68"/>
                      <a:gd name="T23" fmla="*/ 69 h 69"/>
                      <a:gd name="T24" fmla="*/ 64 w 68"/>
                      <a:gd name="T25" fmla="*/ 69 h 69"/>
                      <a:gd name="T26" fmla="*/ 68 w 68"/>
                      <a:gd name="T27" fmla="*/ 65 h 69"/>
                      <a:gd name="T28" fmla="*/ 48 w 68"/>
                      <a:gd name="T29" fmla="*/ 16 h 69"/>
                      <a:gd name="T30" fmla="*/ 8 w 68"/>
                      <a:gd name="T31" fmla="*/ 55 h 69"/>
                      <a:gd name="T32" fmla="*/ 8 w 68"/>
                      <a:gd name="T33" fmla="*/ 8 h 69"/>
                      <a:gd name="T34" fmla="*/ 40 w 68"/>
                      <a:gd name="T35" fmla="*/ 19 h 69"/>
                      <a:gd name="T36" fmla="*/ 8 w 68"/>
                      <a:gd name="T37" fmla="*/ 55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68" h="69">
                        <a:moveTo>
                          <a:pt x="48" y="16"/>
                        </a:moveTo>
                        <a:cubicBezTo>
                          <a:pt x="48" y="16"/>
                          <a:pt x="48" y="15"/>
                          <a:pt x="48" y="15"/>
                        </a:cubicBezTo>
                        <a:cubicBezTo>
                          <a:pt x="48" y="15"/>
                          <a:pt x="48" y="15"/>
                          <a:pt x="47" y="15"/>
                        </a:cubicBezTo>
                        <a:cubicBezTo>
                          <a:pt x="47" y="15"/>
                          <a:pt x="47" y="15"/>
                          <a:pt x="47" y="15"/>
                        </a:cubicBezTo>
                        <a:cubicBezTo>
                          <a:pt x="47" y="15"/>
                          <a:pt x="47" y="15"/>
                          <a:pt x="47" y="15"/>
                        </a:cubicBezTo>
                        <a:cubicBezTo>
                          <a:pt x="35" y="5"/>
                          <a:pt x="20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5"/>
                          <a:pt x="0" y="65"/>
                          <a:pt x="0" y="65"/>
                        </a:cubicBezTo>
                        <a:cubicBezTo>
                          <a:pt x="0" y="67"/>
                          <a:pt x="1" y="68"/>
                          <a:pt x="3" y="69"/>
                        </a:cubicBezTo>
                        <a:cubicBezTo>
                          <a:pt x="3" y="69"/>
                          <a:pt x="3" y="69"/>
                          <a:pt x="4" y="69"/>
                        </a:cubicBezTo>
                        <a:cubicBezTo>
                          <a:pt x="4" y="69"/>
                          <a:pt x="4" y="69"/>
                          <a:pt x="4" y="69"/>
                        </a:cubicBezTo>
                        <a:cubicBezTo>
                          <a:pt x="4" y="69"/>
                          <a:pt x="4" y="69"/>
                          <a:pt x="4" y="69"/>
                        </a:cubicBezTo>
                        <a:cubicBezTo>
                          <a:pt x="64" y="69"/>
                          <a:pt x="64" y="69"/>
                          <a:pt x="64" y="69"/>
                        </a:cubicBezTo>
                        <a:cubicBezTo>
                          <a:pt x="66" y="69"/>
                          <a:pt x="68" y="67"/>
                          <a:pt x="68" y="65"/>
                        </a:cubicBezTo>
                        <a:cubicBezTo>
                          <a:pt x="68" y="47"/>
                          <a:pt x="61" y="29"/>
                          <a:pt x="48" y="16"/>
                        </a:cubicBezTo>
                        <a:close/>
                        <a:moveTo>
                          <a:pt x="8" y="55"/>
                        </a:move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19" y="8"/>
                          <a:pt x="30" y="12"/>
                          <a:pt x="40" y="19"/>
                        </a:cubicBezTo>
                        <a:lnTo>
                          <a:pt x="8" y="5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</p:grp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05" y="6300"/>
                <a:ext cx="6270" cy="2265"/>
              </a:xfrm>
              <a:prstGeom prst="rect">
                <a:avLst/>
              </a:prstGeom>
            </p:spPr>
          </p:pic>
        </p:grpSp>
      </p:grpSp>
    </p:spTree>
    <p:custDataLst>
      <p:tags r:id="rId3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5007436" y="1216472"/>
            <a:ext cx="3391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CTR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和位置的关系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" name="文本框 9"/>
          <p:cNvSpPr txBox="1">
            <a:spLocks noChangeArrowheads="1"/>
          </p:cNvSpPr>
          <p:nvPr/>
        </p:nvSpPr>
        <p:spPr bwMode="auto">
          <a:xfrm>
            <a:off x="688023" y="22606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089275" y="2927350"/>
            <a:ext cx="2388235" cy="807085"/>
            <a:chOff x="2791" y="3563"/>
            <a:chExt cx="3761" cy="1271"/>
          </a:xfrm>
        </p:grpSpPr>
        <p:sp>
          <p:nvSpPr>
            <p:cNvPr id="9" name="Rounded Rectangle 46"/>
            <p:cNvSpPr/>
            <p:nvPr/>
          </p:nvSpPr>
          <p:spPr>
            <a:xfrm>
              <a:off x="3939" y="3563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791" y="3563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31" name="Group 25"/>
            <p:cNvGrpSpPr/>
            <p:nvPr/>
          </p:nvGrpSpPr>
          <p:grpSpPr>
            <a:xfrm>
              <a:off x="3286" y="4012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8" name="Rounded Rectangle 45"/>
          <p:cNvSpPr/>
          <p:nvPr/>
        </p:nvSpPr>
        <p:spPr>
          <a:xfrm>
            <a:off x="3747135" y="4967605"/>
            <a:ext cx="1075055" cy="80708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3018155" y="4967605"/>
            <a:ext cx="761365" cy="807085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3331210" y="5285105"/>
            <a:ext cx="180975" cy="181610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5830" y="2367280"/>
            <a:ext cx="5286375" cy="21240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190" y="5152390"/>
            <a:ext cx="4657725" cy="4375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303221" y="1050737"/>
            <a:ext cx="19392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CR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的标准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99995" y="1887220"/>
            <a:ext cx="7077075" cy="3000375"/>
          </a:xfrm>
          <a:prstGeom prst="rect">
            <a:avLst/>
          </a:prstGeom>
        </p:spPr>
      </p:pic>
      <p:sp>
        <p:nvSpPr>
          <p:cNvPr id="5" name="文本框 9"/>
          <p:cNvSpPr txBox="1">
            <a:spLocks noChangeArrowheads="1"/>
          </p:cNvSpPr>
          <p:nvPr/>
        </p:nvSpPr>
        <p:spPr bwMode="auto">
          <a:xfrm>
            <a:off x="688023" y="22606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权重的决定因素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" y="5024755"/>
            <a:ext cx="10001250" cy="1409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新品推链接的痛点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797685" y="3926205"/>
            <a:ext cx="2387600" cy="807085"/>
            <a:chOff x="2793" y="5007"/>
            <a:chExt cx="3760" cy="1271"/>
          </a:xfrm>
        </p:grpSpPr>
        <p:sp>
          <p:nvSpPr>
            <p:cNvPr id="8" name="Rounded Rectangle 45"/>
            <p:cNvSpPr/>
            <p:nvPr/>
          </p:nvSpPr>
          <p:spPr>
            <a:xfrm>
              <a:off x="3941" y="500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793" y="500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077" y="5262"/>
              <a:ext cx="23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流量较大的长尾词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286" y="5507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1839595" y="5464175"/>
            <a:ext cx="2387600" cy="806450"/>
            <a:chOff x="2793" y="6537"/>
            <a:chExt cx="3760" cy="1270"/>
          </a:xfrm>
        </p:grpSpPr>
        <p:sp>
          <p:nvSpPr>
            <p:cNvPr id="3" name="Rounded Rectangle 44"/>
            <p:cNvSpPr/>
            <p:nvPr/>
          </p:nvSpPr>
          <p:spPr>
            <a:xfrm>
              <a:off x="3941" y="653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ounded Rectangle 40"/>
            <p:cNvSpPr/>
            <p:nvPr/>
          </p:nvSpPr>
          <p:spPr>
            <a:xfrm>
              <a:off x="2793" y="653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27" name="Group 21"/>
            <p:cNvGrpSpPr/>
            <p:nvPr/>
          </p:nvGrpSpPr>
          <p:grpSpPr>
            <a:xfrm>
              <a:off x="3291" y="7040"/>
              <a:ext cx="286" cy="250"/>
              <a:chOff x="20638" y="2970213"/>
              <a:chExt cx="387350" cy="338137"/>
            </a:xfrm>
            <a:solidFill>
              <a:schemeClr val="bg2"/>
            </a:solidFill>
          </p:grpSpPr>
          <p:sp>
            <p:nvSpPr>
              <p:cNvPr id="28" name="Freeform 11"/>
              <p:cNvSpPr/>
              <p:nvPr/>
            </p:nvSpPr>
            <p:spPr bwMode="auto">
              <a:xfrm>
                <a:off x="73026" y="3032125"/>
                <a:ext cx="279400" cy="276225"/>
              </a:xfrm>
              <a:custGeom>
                <a:avLst/>
                <a:gdLst>
                  <a:gd name="T0" fmla="*/ 0 w 102"/>
                  <a:gd name="T1" fmla="*/ 98 h 101"/>
                  <a:gd name="T2" fmla="*/ 3 w 102"/>
                  <a:gd name="T3" fmla="*/ 101 h 101"/>
                  <a:gd name="T4" fmla="*/ 39 w 102"/>
                  <a:gd name="T5" fmla="*/ 101 h 101"/>
                  <a:gd name="T6" fmla="*/ 39 w 102"/>
                  <a:gd name="T7" fmla="*/ 72 h 101"/>
                  <a:gd name="T8" fmla="*/ 43 w 102"/>
                  <a:gd name="T9" fmla="*/ 68 h 101"/>
                  <a:gd name="T10" fmla="*/ 58 w 102"/>
                  <a:gd name="T11" fmla="*/ 68 h 101"/>
                  <a:gd name="T12" fmla="*/ 63 w 102"/>
                  <a:gd name="T13" fmla="*/ 72 h 101"/>
                  <a:gd name="T14" fmla="*/ 63 w 102"/>
                  <a:gd name="T15" fmla="*/ 101 h 101"/>
                  <a:gd name="T16" fmla="*/ 98 w 102"/>
                  <a:gd name="T17" fmla="*/ 101 h 101"/>
                  <a:gd name="T18" fmla="*/ 101 w 102"/>
                  <a:gd name="T19" fmla="*/ 97 h 101"/>
                  <a:gd name="T20" fmla="*/ 101 w 102"/>
                  <a:gd name="T21" fmla="*/ 44 h 101"/>
                  <a:gd name="T22" fmla="*/ 52 w 102"/>
                  <a:gd name="T23" fmla="*/ 0 h 101"/>
                  <a:gd name="T24" fmla="*/ 0 w 102"/>
                  <a:gd name="T25" fmla="*/ 44 h 101"/>
                  <a:gd name="T26" fmla="*/ 0 w 102"/>
                  <a:gd name="T27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101">
                    <a:moveTo>
                      <a:pt x="0" y="98"/>
                    </a:moveTo>
                    <a:cubicBezTo>
                      <a:pt x="0" y="98"/>
                      <a:pt x="0" y="101"/>
                      <a:pt x="3" y="101"/>
                    </a:cubicBezTo>
                    <a:cubicBezTo>
                      <a:pt x="7" y="101"/>
                      <a:pt x="39" y="101"/>
                      <a:pt x="39" y="101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8" y="68"/>
                      <a:pt x="43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63" y="68"/>
                      <a:pt x="63" y="72"/>
                      <a:pt x="63" y="72"/>
                    </a:cubicBezTo>
                    <a:cubicBezTo>
                      <a:pt x="63" y="101"/>
                      <a:pt x="63" y="101"/>
                      <a:pt x="63" y="101"/>
                    </a:cubicBezTo>
                    <a:cubicBezTo>
                      <a:pt x="63" y="101"/>
                      <a:pt x="93" y="101"/>
                      <a:pt x="98" y="101"/>
                    </a:cubicBezTo>
                    <a:cubicBezTo>
                      <a:pt x="102" y="101"/>
                      <a:pt x="101" y="97"/>
                      <a:pt x="101" y="97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0" y="44"/>
                      <a:pt x="0" y="44"/>
                      <a:pt x="0" y="44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2"/>
              <p:cNvSpPr/>
              <p:nvPr/>
            </p:nvSpPr>
            <p:spPr bwMode="auto">
              <a:xfrm>
                <a:off x="20638" y="2970213"/>
                <a:ext cx="387350" cy="193675"/>
              </a:xfrm>
              <a:custGeom>
                <a:avLst/>
                <a:gdLst>
                  <a:gd name="T0" fmla="*/ 0 w 141"/>
                  <a:gd name="T1" fmla="*/ 63 h 71"/>
                  <a:gd name="T2" fmla="*/ 14 w 141"/>
                  <a:gd name="T3" fmla="*/ 63 h 71"/>
                  <a:gd name="T4" fmla="*/ 72 w 141"/>
                  <a:gd name="T5" fmla="*/ 14 h 71"/>
                  <a:gd name="T6" fmla="*/ 126 w 141"/>
                  <a:gd name="T7" fmla="*/ 62 h 71"/>
                  <a:gd name="T8" fmla="*/ 141 w 141"/>
                  <a:gd name="T9" fmla="*/ 62 h 71"/>
                  <a:gd name="T10" fmla="*/ 72 w 141"/>
                  <a:gd name="T11" fmla="*/ 0 h 71"/>
                  <a:gd name="T12" fmla="*/ 0 w 141"/>
                  <a:gd name="T13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71">
                    <a:moveTo>
                      <a:pt x="0" y="63"/>
                    </a:moveTo>
                    <a:cubicBezTo>
                      <a:pt x="0" y="63"/>
                      <a:pt x="5" y="71"/>
                      <a:pt x="14" y="63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126" y="62"/>
                      <a:pt x="126" y="62"/>
                      <a:pt x="126" y="62"/>
                    </a:cubicBezTo>
                    <a:cubicBezTo>
                      <a:pt x="137" y="70"/>
                      <a:pt x="141" y="62"/>
                      <a:pt x="141" y="6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3"/>
              <p:cNvSpPr/>
              <p:nvPr/>
            </p:nvSpPr>
            <p:spPr bwMode="auto">
              <a:xfrm>
                <a:off x="325438" y="3008313"/>
                <a:ext cx="34925" cy="76200"/>
              </a:xfrm>
              <a:custGeom>
                <a:avLst/>
                <a:gdLst>
                  <a:gd name="T0" fmla="*/ 22 w 22"/>
                  <a:gd name="T1" fmla="*/ 0 h 48"/>
                  <a:gd name="T2" fmla="*/ 0 w 22"/>
                  <a:gd name="T3" fmla="*/ 0 h 48"/>
                  <a:gd name="T4" fmla="*/ 0 w 22"/>
                  <a:gd name="T5" fmla="*/ 29 h 48"/>
                  <a:gd name="T6" fmla="*/ 22 w 22"/>
                  <a:gd name="T7" fmla="*/ 48 h 48"/>
                  <a:gd name="T8" fmla="*/ 22 w 22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48">
                    <a:moveTo>
                      <a:pt x="22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22" y="48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12"/>
            <p:cNvSpPr txBox="1"/>
            <p:nvPr/>
          </p:nvSpPr>
          <p:spPr>
            <a:xfrm>
              <a:off x="4432" y="6791"/>
              <a:ext cx="174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小流量长尾词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如何快速积累权重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773555" y="1803400"/>
            <a:ext cx="6449060" cy="1590040"/>
            <a:chOff x="2793" y="2840"/>
            <a:chExt cx="10156" cy="2504"/>
          </a:xfrm>
        </p:grpSpPr>
        <p:grpSp>
          <p:nvGrpSpPr>
            <p:cNvPr id="16" name="组合 15"/>
            <p:cNvGrpSpPr/>
            <p:nvPr/>
          </p:nvGrpSpPr>
          <p:grpSpPr>
            <a:xfrm>
              <a:off x="2793" y="3478"/>
              <a:ext cx="3760" cy="1270"/>
              <a:chOff x="2793" y="3478"/>
              <a:chExt cx="3760" cy="1270"/>
            </a:xfrm>
          </p:grpSpPr>
          <p:sp>
            <p:nvSpPr>
              <p:cNvPr id="9" name="Rounded Rectangle 46"/>
              <p:cNvSpPr/>
              <p:nvPr/>
            </p:nvSpPr>
            <p:spPr>
              <a:xfrm>
                <a:off x="3941" y="3478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793" y="3478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077" y="3774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核心大词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1" name="Group 25"/>
              <p:cNvGrpSpPr/>
              <p:nvPr/>
            </p:nvGrpSpPr>
            <p:grpSpPr>
              <a:xfrm>
                <a:off x="3288" y="3927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5" y="2840"/>
              <a:ext cx="6435" cy="2505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30" y="3562985"/>
            <a:ext cx="2933700" cy="1533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565" y="5195570"/>
            <a:ext cx="2609850" cy="1504950"/>
          </a:xfrm>
          <a:prstGeom prst="rect">
            <a:avLst/>
          </a:prstGeom>
        </p:spPr>
      </p:pic>
      <p:sp>
        <p:nvSpPr>
          <p:cNvPr id="23" name="圆角矩形标注 22"/>
          <p:cNvSpPr/>
          <p:nvPr/>
        </p:nvSpPr>
        <p:spPr>
          <a:xfrm>
            <a:off x="9143365" y="2720340"/>
            <a:ext cx="2520950" cy="1398905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605645" y="313753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</a:rPr>
              <a:t>怎么办？</a:t>
            </a:r>
            <a:endParaRPr lang="zh-CN" altLang="en-US" sz="3200" b="1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268931" y="1580962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思考一个问题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38805" y="3035935"/>
            <a:ext cx="57219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为什么有的卖家断货权重很快回来，有的回来得很慢？（</a:t>
            </a:r>
            <a:r>
              <a:rPr lang="en-US" altLang="zh-CN"/>
              <a:t>3029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如何快速积累权重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85620" y="2734310"/>
            <a:ext cx="9138920" cy="1776730"/>
            <a:chOff x="2918" y="2631"/>
            <a:chExt cx="14392" cy="2798"/>
          </a:xfrm>
        </p:grpSpPr>
        <p:grpSp>
          <p:nvGrpSpPr>
            <p:cNvPr id="5" name="组合 4"/>
            <p:cNvGrpSpPr/>
            <p:nvPr/>
          </p:nvGrpSpPr>
          <p:grpSpPr>
            <a:xfrm>
              <a:off x="2918" y="2631"/>
              <a:ext cx="3760" cy="2799"/>
              <a:chOff x="2918" y="2631"/>
              <a:chExt cx="3760" cy="2799"/>
            </a:xfrm>
          </p:grpSpPr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 1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2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6" name="TextBox 47"/>
            <p:cNvSpPr txBox="1"/>
            <p:nvPr/>
          </p:nvSpPr>
          <p:spPr>
            <a:xfrm>
              <a:off x="6834" y="2742"/>
              <a:ext cx="1031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词与词的关系：关键词在系统内就是一串字符，核心词与长尾词之间是存在字符联系的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49"/>
            <p:cNvSpPr txBox="1"/>
            <p:nvPr/>
          </p:nvSpPr>
          <p:spPr>
            <a:xfrm>
              <a:off x="6928" y="4230"/>
              <a:ext cx="103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贴标签理论就是利用词与词之间的联系，分别针对相同的字符做关联的过程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331796" y="1277432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贴标签理论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如何快速积累权重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3"/>
          <p:cNvGrpSpPr/>
          <p:nvPr/>
        </p:nvGrpSpPr>
        <p:grpSpPr>
          <a:xfrm>
            <a:off x="2165923" y="2958881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38" name="TextBox 51"/>
          <p:cNvSpPr txBox="1"/>
          <p:nvPr/>
        </p:nvSpPr>
        <p:spPr>
          <a:xfrm>
            <a:off x="1632585" y="2265045"/>
            <a:ext cx="88125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标签理论：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如果文案中埋的词是AB或CD，紧密匹配对应的就是ABC/ABD/CDA/CDB/AC/BD,宽泛匹配对应的就是AE/CF/EF,每个词对核心词的加成比例不一样，如果按照均分理论，那么ABC对AB的加成就是2/3=66.66%,如果按照这个理论，长尾词出单也会带动大词权重的提升，如果一个ABC出一单质量得分增加1分，那么对应的AB就增加了0.66分。反之大词出单，也可以成立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377516" y="81705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贴标签理论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如何快速积累权重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340" y="3946525"/>
            <a:ext cx="3094990" cy="25349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91131" y="136823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竞价的概念介绍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竞价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48815" y="2456815"/>
            <a:ext cx="9135110" cy="2748280"/>
            <a:chOff x="2918" y="2631"/>
            <a:chExt cx="14386" cy="4328"/>
          </a:xfrm>
        </p:grpSpPr>
        <p:sp>
          <p:nvSpPr>
            <p:cNvPr id="36" name="TextBox 47"/>
            <p:cNvSpPr txBox="1"/>
            <p:nvPr/>
          </p:nvSpPr>
          <p:spPr>
            <a:xfrm>
              <a:off x="6994" y="2988"/>
              <a:ext cx="103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竞价由什么决定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49"/>
            <p:cNvSpPr txBox="1"/>
            <p:nvPr/>
          </p:nvSpPr>
          <p:spPr>
            <a:xfrm>
              <a:off x="6894" y="4520"/>
              <a:ext cx="103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竞价的作用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TextBox 51"/>
            <p:cNvSpPr txBox="1"/>
            <p:nvPr/>
          </p:nvSpPr>
          <p:spPr>
            <a:xfrm>
              <a:off x="6970" y="5824"/>
              <a:ext cx="101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竞价和转化率之间的关系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918" y="2631"/>
              <a:ext cx="3760" cy="4329"/>
              <a:chOff x="2918" y="2631"/>
              <a:chExt cx="3760" cy="4329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4066" y="569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918" y="569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1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2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7" name="Group 21"/>
              <p:cNvGrpSpPr/>
              <p:nvPr/>
            </p:nvGrpSpPr>
            <p:grpSpPr>
              <a:xfrm>
                <a:off x="3416" y="6193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202" y="6083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3</a:t>
                </a:r>
                <a:endPara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457700" y="2311400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由市场上所有卖家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的出价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决定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464050" y="3356610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由市场和自己的listing关键词权重共同决定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405630" y="4262120"/>
            <a:ext cx="646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投放广告时前一分钟看到的广告竞价范围是一个值，而选中ASIN之后看到的建议竞价又是另外一个值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？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082876" y="1050737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竞价由什么因素决定？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竞价的决定因素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64030" y="2208530"/>
            <a:ext cx="2388235" cy="2749550"/>
            <a:chOff x="2918" y="2631"/>
            <a:chExt cx="3761" cy="4330"/>
          </a:xfrm>
        </p:grpSpPr>
        <p:sp>
          <p:nvSpPr>
            <p:cNvPr id="3" name="Rounded Rectangle 44"/>
            <p:cNvSpPr/>
            <p:nvPr/>
          </p:nvSpPr>
          <p:spPr>
            <a:xfrm>
              <a:off x="4066" y="569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Rounded Rectangle 45"/>
            <p:cNvSpPr/>
            <p:nvPr/>
          </p:nvSpPr>
          <p:spPr>
            <a:xfrm>
              <a:off x="4066" y="416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4066" y="2631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ounded Rectangle 40"/>
            <p:cNvSpPr/>
            <p:nvPr/>
          </p:nvSpPr>
          <p:spPr>
            <a:xfrm>
              <a:off x="2918" y="569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918" y="416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918" y="2631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202" y="2927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市场竞价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202" y="4288"/>
              <a:ext cx="20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自己的广告竞价</a:t>
              </a:r>
              <a:endPara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411" y="4660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1"/>
            <p:cNvGrpSpPr/>
            <p:nvPr/>
          </p:nvGrpSpPr>
          <p:grpSpPr>
            <a:xfrm>
              <a:off x="3416" y="6193"/>
              <a:ext cx="286" cy="250"/>
              <a:chOff x="20638" y="2970213"/>
              <a:chExt cx="387350" cy="338137"/>
            </a:xfrm>
            <a:solidFill>
              <a:schemeClr val="bg2"/>
            </a:solidFill>
          </p:grpSpPr>
          <p:sp>
            <p:nvSpPr>
              <p:cNvPr id="28" name="Freeform 11"/>
              <p:cNvSpPr/>
              <p:nvPr/>
            </p:nvSpPr>
            <p:spPr bwMode="auto">
              <a:xfrm>
                <a:off x="73026" y="3032125"/>
                <a:ext cx="279400" cy="276225"/>
              </a:xfrm>
              <a:custGeom>
                <a:avLst/>
                <a:gdLst>
                  <a:gd name="T0" fmla="*/ 0 w 102"/>
                  <a:gd name="T1" fmla="*/ 98 h 101"/>
                  <a:gd name="T2" fmla="*/ 3 w 102"/>
                  <a:gd name="T3" fmla="*/ 101 h 101"/>
                  <a:gd name="T4" fmla="*/ 39 w 102"/>
                  <a:gd name="T5" fmla="*/ 101 h 101"/>
                  <a:gd name="T6" fmla="*/ 39 w 102"/>
                  <a:gd name="T7" fmla="*/ 72 h 101"/>
                  <a:gd name="T8" fmla="*/ 43 w 102"/>
                  <a:gd name="T9" fmla="*/ 68 h 101"/>
                  <a:gd name="T10" fmla="*/ 58 w 102"/>
                  <a:gd name="T11" fmla="*/ 68 h 101"/>
                  <a:gd name="T12" fmla="*/ 63 w 102"/>
                  <a:gd name="T13" fmla="*/ 72 h 101"/>
                  <a:gd name="T14" fmla="*/ 63 w 102"/>
                  <a:gd name="T15" fmla="*/ 101 h 101"/>
                  <a:gd name="T16" fmla="*/ 98 w 102"/>
                  <a:gd name="T17" fmla="*/ 101 h 101"/>
                  <a:gd name="T18" fmla="*/ 101 w 102"/>
                  <a:gd name="T19" fmla="*/ 97 h 101"/>
                  <a:gd name="T20" fmla="*/ 101 w 102"/>
                  <a:gd name="T21" fmla="*/ 44 h 101"/>
                  <a:gd name="T22" fmla="*/ 52 w 102"/>
                  <a:gd name="T23" fmla="*/ 0 h 101"/>
                  <a:gd name="T24" fmla="*/ 0 w 102"/>
                  <a:gd name="T25" fmla="*/ 44 h 101"/>
                  <a:gd name="T26" fmla="*/ 0 w 102"/>
                  <a:gd name="T27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101">
                    <a:moveTo>
                      <a:pt x="0" y="98"/>
                    </a:moveTo>
                    <a:cubicBezTo>
                      <a:pt x="0" y="98"/>
                      <a:pt x="0" y="101"/>
                      <a:pt x="3" y="101"/>
                    </a:cubicBezTo>
                    <a:cubicBezTo>
                      <a:pt x="7" y="101"/>
                      <a:pt x="39" y="101"/>
                      <a:pt x="39" y="101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8" y="68"/>
                      <a:pt x="43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63" y="68"/>
                      <a:pt x="63" y="72"/>
                      <a:pt x="63" y="72"/>
                    </a:cubicBezTo>
                    <a:cubicBezTo>
                      <a:pt x="63" y="101"/>
                      <a:pt x="63" y="101"/>
                      <a:pt x="63" y="101"/>
                    </a:cubicBezTo>
                    <a:cubicBezTo>
                      <a:pt x="63" y="101"/>
                      <a:pt x="93" y="101"/>
                      <a:pt x="98" y="101"/>
                    </a:cubicBezTo>
                    <a:cubicBezTo>
                      <a:pt x="102" y="101"/>
                      <a:pt x="101" y="97"/>
                      <a:pt x="101" y="97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0" y="44"/>
                      <a:pt x="0" y="44"/>
                      <a:pt x="0" y="44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2"/>
              <p:cNvSpPr/>
              <p:nvPr/>
            </p:nvSpPr>
            <p:spPr bwMode="auto">
              <a:xfrm>
                <a:off x="20638" y="2970213"/>
                <a:ext cx="387350" cy="193675"/>
              </a:xfrm>
              <a:custGeom>
                <a:avLst/>
                <a:gdLst>
                  <a:gd name="T0" fmla="*/ 0 w 141"/>
                  <a:gd name="T1" fmla="*/ 63 h 71"/>
                  <a:gd name="T2" fmla="*/ 14 w 141"/>
                  <a:gd name="T3" fmla="*/ 63 h 71"/>
                  <a:gd name="T4" fmla="*/ 72 w 141"/>
                  <a:gd name="T5" fmla="*/ 14 h 71"/>
                  <a:gd name="T6" fmla="*/ 126 w 141"/>
                  <a:gd name="T7" fmla="*/ 62 h 71"/>
                  <a:gd name="T8" fmla="*/ 141 w 141"/>
                  <a:gd name="T9" fmla="*/ 62 h 71"/>
                  <a:gd name="T10" fmla="*/ 72 w 141"/>
                  <a:gd name="T11" fmla="*/ 0 h 71"/>
                  <a:gd name="T12" fmla="*/ 0 w 141"/>
                  <a:gd name="T13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71">
                    <a:moveTo>
                      <a:pt x="0" y="63"/>
                    </a:moveTo>
                    <a:cubicBezTo>
                      <a:pt x="0" y="63"/>
                      <a:pt x="5" y="71"/>
                      <a:pt x="14" y="63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126" y="62"/>
                      <a:pt x="126" y="62"/>
                      <a:pt x="126" y="62"/>
                    </a:cubicBezTo>
                    <a:cubicBezTo>
                      <a:pt x="137" y="70"/>
                      <a:pt x="141" y="62"/>
                      <a:pt x="141" y="6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3"/>
              <p:cNvSpPr/>
              <p:nvPr/>
            </p:nvSpPr>
            <p:spPr bwMode="auto">
              <a:xfrm>
                <a:off x="325438" y="3008313"/>
                <a:ext cx="34925" cy="76200"/>
              </a:xfrm>
              <a:custGeom>
                <a:avLst/>
                <a:gdLst>
                  <a:gd name="T0" fmla="*/ 22 w 22"/>
                  <a:gd name="T1" fmla="*/ 0 h 48"/>
                  <a:gd name="T2" fmla="*/ 0 w 22"/>
                  <a:gd name="T3" fmla="*/ 0 h 48"/>
                  <a:gd name="T4" fmla="*/ 0 w 22"/>
                  <a:gd name="T5" fmla="*/ 29 h 48"/>
                  <a:gd name="T6" fmla="*/ 22 w 22"/>
                  <a:gd name="T7" fmla="*/ 48 h 48"/>
                  <a:gd name="T8" fmla="*/ 22 w 22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48">
                    <a:moveTo>
                      <a:pt x="22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22" y="48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413" y="3080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12"/>
            <p:cNvSpPr txBox="1"/>
            <p:nvPr/>
          </p:nvSpPr>
          <p:spPr>
            <a:xfrm>
              <a:off x="4202" y="6083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问题</a:t>
              </a:r>
              <a:endPara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竞价由什么因素决定？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竞价的决定因素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754505" y="2502535"/>
            <a:ext cx="9110980" cy="806450"/>
            <a:chOff x="2778" y="6537"/>
            <a:chExt cx="14348" cy="1270"/>
          </a:xfrm>
        </p:grpSpPr>
        <p:sp>
          <p:nvSpPr>
            <p:cNvPr id="38" name="TextBox 51"/>
            <p:cNvSpPr txBox="1"/>
            <p:nvPr/>
          </p:nvSpPr>
          <p:spPr>
            <a:xfrm>
              <a:off x="6938" y="6712"/>
              <a:ext cx="1018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投放广告时前一分钟看到的广告竞价范围是一个值，而选中ASIN之后看到的建议竞价又是另外一个值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？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778" y="6537"/>
              <a:ext cx="3760" cy="1270"/>
              <a:chOff x="2778" y="6537"/>
              <a:chExt cx="3760" cy="1270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3926" y="6537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778" y="6537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27" name="Group 21"/>
              <p:cNvGrpSpPr/>
              <p:nvPr/>
            </p:nvGrpSpPr>
            <p:grpSpPr>
              <a:xfrm>
                <a:off x="3276" y="7040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062" y="6930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问题</a:t>
                </a:r>
                <a:endParaRPr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3010" y="3709035"/>
            <a:ext cx="4886325" cy="1943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竞价的作用是什么？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竞价的作用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764030" y="2850515"/>
            <a:ext cx="9283065" cy="2749550"/>
            <a:chOff x="2793" y="3478"/>
            <a:chExt cx="14619" cy="4330"/>
          </a:xfrm>
        </p:grpSpPr>
        <p:sp>
          <p:nvSpPr>
            <p:cNvPr id="36" name="TextBox 47"/>
            <p:cNvSpPr txBox="1"/>
            <p:nvPr/>
          </p:nvSpPr>
          <p:spPr>
            <a:xfrm>
              <a:off x="7020" y="3640"/>
              <a:ext cx="103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1）当链接权重不好时，给个高竞价，将整体权重做个抬升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49"/>
            <p:cNvSpPr txBox="1"/>
            <p:nvPr/>
          </p:nvSpPr>
          <p:spPr>
            <a:xfrm>
              <a:off x="7030" y="5286"/>
              <a:ext cx="103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2）通过竞价去分析目前市场竞争中，自己处于什么位置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TextBox 51"/>
            <p:cNvSpPr txBox="1"/>
            <p:nvPr/>
          </p:nvSpPr>
          <p:spPr>
            <a:xfrm>
              <a:off x="7030" y="6806"/>
              <a:ext cx="101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3）实现运营，甚至是目的的一个重要工具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793" y="3478"/>
              <a:ext cx="3761" cy="4330"/>
              <a:chOff x="2918" y="2631"/>
              <a:chExt cx="3761" cy="4330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4066" y="569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918" y="569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作用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作用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7" name="Group 21"/>
              <p:cNvGrpSpPr/>
              <p:nvPr/>
            </p:nvGrpSpPr>
            <p:grpSpPr>
              <a:xfrm>
                <a:off x="3416" y="6193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202" y="6083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作用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493010" y="2002790"/>
            <a:ext cx="7969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公式：Ad ranking (广告权重)=cpc bid *  Ad grade(关键词质量得分)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457700" y="2311400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转化率只和产品本身条件和竞争度存在关系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464050" y="3356610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广告即使做得再好，也无法直接影响转化率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464050" y="432181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竞价可以间接影响转化率，可以通过文案，位置，择词来实现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3915871" y="1050737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dirty="0">
                <a:solidFill>
                  <a:srgbClr val="474479"/>
                </a:solidFill>
                <a:cs typeface="+mn-ea"/>
                <a:sym typeface="+mn-lt"/>
              </a:rPr>
              <a:t>竞价能直接决定转化吗？</a:t>
            </a:r>
            <a:endParaRPr lang="zh-CN" altLang="zh-CN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705" y="222250"/>
            <a:ext cx="37699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竞价和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CR</a:t>
            </a:r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之间的关系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73555" y="2208530"/>
            <a:ext cx="2388235" cy="2749550"/>
            <a:chOff x="2918" y="2631"/>
            <a:chExt cx="3761" cy="4330"/>
          </a:xfrm>
        </p:grpSpPr>
        <p:sp>
          <p:nvSpPr>
            <p:cNvPr id="3" name="Rounded Rectangle 44"/>
            <p:cNvSpPr/>
            <p:nvPr/>
          </p:nvSpPr>
          <p:spPr>
            <a:xfrm>
              <a:off x="4066" y="569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Rounded Rectangle 45"/>
            <p:cNvSpPr/>
            <p:nvPr/>
          </p:nvSpPr>
          <p:spPr>
            <a:xfrm>
              <a:off x="4066" y="416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4066" y="2631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ounded Rectangle 40"/>
            <p:cNvSpPr/>
            <p:nvPr/>
          </p:nvSpPr>
          <p:spPr>
            <a:xfrm>
              <a:off x="2918" y="569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918" y="416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918" y="2631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202" y="2927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1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202" y="4501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2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411" y="4660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1"/>
            <p:cNvGrpSpPr/>
            <p:nvPr/>
          </p:nvGrpSpPr>
          <p:grpSpPr>
            <a:xfrm>
              <a:off x="3416" y="6193"/>
              <a:ext cx="286" cy="250"/>
              <a:chOff x="20638" y="2970213"/>
              <a:chExt cx="387350" cy="338137"/>
            </a:xfrm>
            <a:solidFill>
              <a:schemeClr val="bg2"/>
            </a:solidFill>
          </p:grpSpPr>
          <p:sp>
            <p:nvSpPr>
              <p:cNvPr id="28" name="Freeform 11"/>
              <p:cNvSpPr/>
              <p:nvPr/>
            </p:nvSpPr>
            <p:spPr bwMode="auto">
              <a:xfrm>
                <a:off x="73026" y="3032125"/>
                <a:ext cx="279400" cy="276225"/>
              </a:xfrm>
              <a:custGeom>
                <a:avLst/>
                <a:gdLst>
                  <a:gd name="T0" fmla="*/ 0 w 102"/>
                  <a:gd name="T1" fmla="*/ 98 h 101"/>
                  <a:gd name="T2" fmla="*/ 3 w 102"/>
                  <a:gd name="T3" fmla="*/ 101 h 101"/>
                  <a:gd name="T4" fmla="*/ 39 w 102"/>
                  <a:gd name="T5" fmla="*/ 101 h 101"/>
                  <a:gd name="T6" fmla="*/ 39 w 102"/>
                  <a:gd name="T7" fmla="*/ 72 h 101"/>
                  <a:gd name="T8" fmla="*/ 43 w 102"/>
                  <a:gd name="T9" fmla="*/ 68 h 101"/>
                  <a:gd name="T10" fmla="*/ 58 w 102"/>
                  <a:gd name="T11" fmla="*/ 68 h 101"/>
                  <a:gd name="T12" fmla="*/ 63 w 102"/>
                  <a:gd name="T13" fmla="*/ 72 h 101"/>
                  <a:gd name="T14" fmla="*/ 63 w 102"/>
                  <a:gd name="T15" fmla="*/ 101 h 101"/>
                  <a:gd name="T16" fmla="*/ 98 w 102"/>
                  <a:gd name="T17" fmla="*/ 101 h 101"/>
                  <a:gd name="T18" fmla="*/ 101 w 102"/>
                  <a:gd name="T19" fmla="*/ 97 h 101"/>
                  <a:gd name="T20" fmla="*/ 101 w 102"/>
                  <a:gd name="T21" fmla="*/ 44 h 101"/>
                  <a:gd name="T22" fmla="*/ 52 w 102"/>
                  <a:gd name="T23" fmla="*/ 0 h 101"/>
                  <a:gd name="T24" fmla="*/ 0 w 102"/>
                  <a:gd name="T25" fmla="*/ 44 h 101"/>
                  <a:gd name="T26" fmla="*/ 0 w 102"/>
                  <a:gd name="T27" fmla="*/ 9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101">
                    <a:moveTo>
                      <a:pt x="0" y="98"/>
                    </a:moveTo>
                    <a:cubicBezTo>
                      <a:pt x="0" y="98"/>
                      <a:pt x="0" y="101"/>
                      <a:pt x="3" y="101"/>
                    </a:cubicBezTo>
                    <a:cubicBezTo>
                      <a:pt x="7" y="101"/>
                      <a:pt x="39" y="101"/>
                      <a:pt x="39" y="101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8" y="68"/>
                      <a:pt x="43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63" y="68"/>
                      <a:pt x="63" y="72"/>
                      <a:pt x="63" y="72"/>
                    </a:cubicBezTo>
                    <a:cubicBezTo>
                      <a:pt x="63" y="101"/>
                      <a:pt x="63" y="101"/>
                      <a:pt x="63" y="101"/>
                    </a:cubicBezTo>
                    <a:cubicBezTo>
                      <a:pt x="63" y="101"/>
                      <a:pt x="93" y="101"/>
                      <a:pt x="98" y="101"/>
                    </a:cubicBezTo>
                    <a:cubicBezTo>
                      <a:pt x="102" y="101"/>
                      <a:pt x="101" y="97"/>
                      <a:pt x="101" y="97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0" y="44"/>
                      <a:pt x="0" y="44"/>
                      <a:pt x="0" y="44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2"/>
              <p:cNvSpPr/>
              <p:nvPr/>
            </p:nvSpPr>
            <p:spPr bwMode="auto">
              <a:xfrm>
                <a:off x="20638" y="2970213"/>
                <a:ext cx="387350" cy="193675"/>
              </a:xfrm>
              <a:custGeom>
                <a:avLst/>
                <a:gdLst>
                  <a:gd name="T0" fmla="*/ 0 w 141"/>
                  <a:gd name="T1" fmla="*/ 63 h 71"/>
                  <a:gd name="T2" fmla="*/ 14 w 141"/>
                  <a:gd name="T3" fmla="*/ 63 h 71"/>
                  <a:gd name="T4" fmla="*/ 72 w 141"/>
                  <a:gd name="T5" fmla="*/ 14 h 71"/>
                  <a:gd name="T6" fmla="*/ 126 w 141"/>
                  <a:gd name="T7" fmla="*/ 62 h 71"/>
                  <a:gd name="T8" fmla="*/ 141 w 141"/>
                  <a:gd name="T9" fmla="*/ 62 h 71"/>
                  <a:gd name="T10" fmla="*/ 72 w 141"/>
                  <a:gd name="T11" fmla="*/ 0 h 71"/>
                  <a:gd name="T12" fmla="*/ 0 w 141"/>
                  <a:gd name="T13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71">
                    <a:moveTo>
                      <a:pt x="0" y="63"/>
                    </a:moveTo>
                    <a:cubicBezTo>
                      <a:pt x="0" y="63"/>
                      <a:pt x="5" y="71"/>
                      <a:pt x="14" y="63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126" y="62"/>
                      <a:pt x="126" y="62"/>
                      <a:pt x="126" y="62"/>
                    </a:cubicBezTo>
                    <a:cubicBezTo>
                      <a:pt x="137" y="70"/>
                      <a:pt x="141" y="62"/>
                      <a:pt x="141" y="6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3"/>
              <p:cNvSpPr/>
              <p:nvPr/>
            </p:nvSpPr>
            <p:spPr bwMode="auto">
              <a:xfrm>
                <a:off x="325438" y="3008313"/>
                <a:ext cx="34925" cy="76200"/>
              </a:xfrm>
              <a:custGeom>
                <a:avLst/>
                <a:gdLst>
                  <a:gd name="T0" fmla="*/ 22 w 22"/>
                  <a:gd name="T1" fmla="*/ 0 h 48"/>
                  <a:gd name="T2" fmla="*/ 0 w 22"/>
                  <a:gd name="T3" fmla="*/ 0 h 48"/>
                  <a:gd name="T4" fmla="*/ 0 w 22"/>
                  <a:gd name="T5" fmla="*/ 29 h 48"/>
                  <a:gd name="T6" fmla="*/ 22 w 22"/>
                  <a:gd name="T7" fmla="*/ 48 h 48"/>
                  <a:gd name="T8" fmla="*/ 22 w 22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48">
                    <a:moveTo>
                      <a:pt x="22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22" y="48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413" y="3080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12"/>
            <p:cNvSpPr txBox="1"/>
            <p:nvPr/>
          </p:nvSpPr>
          <p:spPr>
            <a:xfrm>
              <a:off x="4202" y="6083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3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3"/>
          <p:cNvSpPr/>
          <p:nvPr/>
        </p:nvSpPr>
        <p:spPr>
          <a:xfrm>
            <a:off x="2582102" y="4584507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2582102" y="3613355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Rounded Rectangle 45"/>
          <p:cNvSpPr/>
          <p:nvPr/>
        </p:nvSpPr>
        <p:spPr>
          <a:xfrm>
            <a:off x="2582102" y="2641660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2582102" y="1670369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1853155" y="458450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1853155" y="361335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1853155" y="2641660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1853155" y="1670369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2668006" y="1858435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第一阶段</a:t>
            </a:r>
            <a:endParaRPr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2668006" y="2858308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第二阶段</a:t>
            </a:r>
            <a:endParaRPr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2668006" y="4796694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第四阶段</a:t>
            </a:r>
            <a:endParaRPr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2165923" y="2958881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2168904" y="393278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2167448" y="1955524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36" name="TextBox 47"/>
          <p:cNvSpPr txBox="1"/>
          <p:nvPr/>
        </p:nvSpPr>
        <p:spPr>
          <a:xfrm>
            <a:off x="4425315" y="1752600"/>
            <a:ext cx="654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达到六种广告形态中第4种，顶部：商品详情页面：其余位置=3：2：5或2：3：5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377690" y="285813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达到标准ACOS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425950" y="377063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CTR溢出（搜索结果其余位置CTR＞广告活动CTR）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TextBox 53"/>
          <p:cNvSpPr txBox="1"/>
          <p:nvPr/>
        </p:nvSpPr>
        <p:spPr>
          <a:xfrm>
            <a:off x="4427220" y="4792345"/>
            <a:ext cx="6537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Top单次CPC低于其余位置的CPC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161616" y="708472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广告的阶梯标准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广告阶梯层级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2668006" y="3862609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第三阶段</a:t>
            </a:r>
            <a:endParaRPr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3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grpFill/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grpFill/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5" grpId="0"/>
      <p:bldP spid="18" grpId="0"/>
      <p:bldP spid="36" grpId="0"/>
      <p:bldP spid="37" grpId="0"/>
      <p:bldP spid="38" grpId="0"/>
      <p:bldP spid="39" grpId="0"/>
      <p:bldP spid="44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51"/>
          <p:cNvSpPr txBox="1"/>
          <p:nvPr/>
        </p:nvSpPr>
        <p:spPr>
          <a:xfrm>
            <a:off x="3226435" y="3168015"/>
            <a:ext cx="6469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理论基础已夯实，能开始打广告了吗？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3929841" y="165271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柳叶刀广告模型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" name="组合 6"/>
          <p:cNvGrpSpPr/>
          <p:nvPr/>
        </p:nvGrpSpPr>
        <p:grpSpPr bwMode="auto">
          <a:xfrm rot="10800000">
            <a:off x="-44926" y="1111"/>
            <a:ext cx="1436688" cy="504825"/>
            <a:chOff x="0" y="2297125"/>
            <a:chExt cx="13100952" cy="4560877"/>
          </a:xfrm>
          <a:solidFill>
            <a:schemeClr val="accent3"/>
          </a:solidFill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grpFill/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grpFill/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6545" y="4084320"/>
            <a:ext cx="9013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Advertising model and basic form of advertising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8910" y="2330353"/>
            <a:ext cx="85648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广告模型及广告基本形态</a:t>
            </a:r>
            <a:endParaRPr lang="zh-CN" altLang="en-US" sz="6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28" name="文本框 27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6909197" y="-136410"/>
            <a:ext cx="5273279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grpSp>
        <p:nvGrpSpPr>
          <p:cNvPr id="53" name="Gruppieren"/>
          <p:cNvGrpSpPr/>
          <p:nvPr/>
        </p:nvGrpSpPr>
        <p:grpSpPr>
          <a:xfrm>
            <a:off x="8800376" y="1799829"/>
            <a:ext cx="1962875" cy="3960210"/>
            <a:chOff x="8153" y="0"/>
            <a:chExt cx="3925748" cy="7920418"/>
          </a:xfrm>
        </p:grpSpPr>
        <p:grpSp>
          <p:nvGrpSpPr>
            <p:cNvPr id="54" name="Gruppieren"/>
            <p:cNvGrpSpPr/>
            <p:nvPr/>
          </p:nvGrpSpPr>
          <p:grpSpPr>
            <a:xfrm>
              <a:off x="8153" y="1026206"/>
              <a:ext cx="115314" cy="1905482"/>
              <a:chOff x="0" y="0"/>
              <a:chExt cx="115312" cy="1905481"/>
            </a:xfrm>
          </p:grpSpPr>
          <p:sp>
            <p:nvSpPr>
              <p:cNvPr id="85" name="Form"/>
              <p:cNvSpPr/>
              <p:nvPr/>
            </p:nvSpPr>
            <p:spPr>
              <a:xfrm>
                <a:off x="0" y="0"/>
                <a:ext cx="95912" cy="2948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0960"/>
                      <a:pt x="0" y="19920"/>
                    </a:cubicBezTo>
                    <a:lnTo>
                      <a:pt x="0" y="1680"/>
                    </a:lnTo>
                    <a:cubicBezTo>
                      <a:pt x="0" y="640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6" name="Form"/>
              <p:cNvSpPr/>
              <p:nvPr/>
            </p:nvSpPr>
            <p:spPr>
              <a:xfrm>
                <a:off x="0" y="654931"/>
                <a:ext cx="115313" cy="556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404" y="21600"/>
                    </a:lnTo>
                    <a:cubicBezTo>
                      <a:pt x="1887" y="21600"/>
                      <a:pt x="0" y="21258"/>
                      <a:pt x="0" y="20704"/>
                    </a:cubicBezTo>
                    <a:lnTo>
                      <a:pt x="0" y="896"/>
                    </a:lnTo>
                    <a:cubicBezTo>
                      <a:pt x="0" y="384"/>
                      <a:pt x="1887" y="0"/>
                      <a:pt x="440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7" name="Form"/>
              <p:cNvSpPr/>
              <p:nvPr/>
            </p:nvSpPr>
            <p:spPr>
              <a:xfrm>
                <a:off x="0" y="1363229"/>
                <a:ext cx="95912" cy="5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1249"/>
                      <a:pt x="0" y="20680"/>
                    </a:cubicBezTo>
                    <a:lnTo>
                      <a:pt x="0" y="920"/>
                    </a:lnTo>
                    <a:cubicBezTo>
                      <a:pt x="0" y="394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</p:grpSp>
        <p:sp>
          <p:nvSpPr>
            <p:cNvPr id="88" name="Form"/>
            <p:cNvSpPr/>
            <p:nvPr/>
          </p:nvSpPr>
          <p:spPr>
            <a:xfrm>
              <a:off x="3852542" y="1794279"/>
              <a:ext cx="81360" cy="963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6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5386" y="0"/>
                  </a:lnTo>
                  <a:cubicBezTo>
                    <a:pt x="19233" y="0"/>
                    <a:pt x="21600" y="372"/>
                    <a:pt x="21600" y="867"/>
                  </a:cubicBezTo>
                  <a:lnTo>
                    <a:pt x="21600" y="20733"/>
                  </a:lnTo>
                  <a:cubicBezTo>
                    <a:pt x="21600" y="21146"/>
                    <a:pt x="18641" y="21600"/>
                    <a:pt x="15386" y="21600"/>
                  </a:cubicBezTo>
                </a:path>
              </a:pathLst>
            </a:custGeom>
            <a:solidFill>
              <a:srgbClr val="24282B"/>
            </a:solidFill>
            <a:ln w="12700" cap="flat">
              <a:noFill/>
              <a:miter lim="400000"/>
            </a:ln>
            <a:effectLst/>
          </p:spPr>
          <p:txBody>
            <a:bodyPr wrap="square" lIns="29528" tIns="29528" rIns="29528" bIns="29528" numCol="1" anchor="ctr">
              <a:noAutofit/>
            </a:bodyPr>
            <a:lstStyle/>
            <a:p>
              <a:pPr defTabSz="729615">
                <a:lnSpc>
                  <a:spcPct val="93000"/>
                </a:lnSpc>
                <a:defRPr sz="5800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900">
                <a:cs typeface="+mn-ea"/>
                <a:sym typeface="+mn-lt"/>
              </a:endParaRPr>
            </a:p>
          </p:txBody>
        </p:sp>
        <p:grpSp>
          <p:nvGrpSpPr>
            <p:cNvPr id="89" name="Gruppieren"/>
            <p:cNvGrpSpPr/>
            <p:nvPr/>
          </p:nvGrpSpPr>
          <p:grpSpPr>
            <a:xfrm>
              <a:off x="35704" y="0"/>
              <a:ext cx="3868005" cy="7920419"/>
              <a:chOff x="0" y="0"/>
              <a:chExt cx="3868004" cy="7920418"/>
            </a:xfrm>
          </p:grpSpPr>
          <p:sp>
            <p:nvSpPr>
              <p:cNvPr id="90" name="Abgerundetes Rechteck"/>
              <p:cNvSpPr/>
              <p:nvPr/>
            </p:nvSpPr>
            <p:spPr>
              <a:xfrm>
                <a:off x="0" y="0"/>
                <a:ext cx="3868005" cy="7920419"/>
              </a:xfrm>
              <a:prstGeom prst="roundRect">
                <a:avLst>
                  <a:gd name="adj" fmla="val 14497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1" name="Abgerundetes Rechteck"/>
              <p:cNvSpPr/>
              <p:nvPr/>
            </p:nvSpPr>
            <p:spPr>
              <a:xfrm>
                <a:off x="64694" y="28269"/>
                <a:ext cx="3738616" cy="7863880"/>
              </a:xfrm>
              <a:prstGeom prst="roundRect">
                <a:avLst>
                  <a:gd name="adj" fmla="val 14999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2" name="Abgerundetes Rechteck"/>
              <p:cNvSpPr/>
              <p:nvPr/>
            </p:nvSpPr>
            <p:spPr>
              <a:xfrm>
                <a:off x="29834" y="63128"/>
                <a:ext cx="3808336" cy="7794162"/>
              </a:xfrm>
              <a:prstGeom prst="roundRect">
                <a:avLst>
                  <a:gd name="adj" fmla="val 14725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3" name="Abgerundetes Rechteck"/>
              <p:cNvSpPr/>
              <p:nvPr/>
            </p:nvSpPr>
            <p:spPr>
              <a:xfrm>
                <a:off x="70503" y="108674"/>
                <a:ext cx="3726998" cy="7703072"/>
              </a:xfrm>
              <a:prstGeom prst="roundRect">
                <a:avLst>
                  <a:gd name="adj" fmla="val 14386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4" name="Abgerundetes Rechteck"/>
              <p:cNvSpPr/>
              <p:nvPr/>
            </p:nvSpPr>
            <p:spPr>
              <a:xfrm>
                <a:off x="125119" y="82529"/>
                <a:ext cx="3617766" cy="7768325"/>
              </a:xfrm>
              <a:prstGeom prst="roundRect">
                <a:avLst>
                  <a:gd name="adj" fmla="val 13411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95" name="Bildplatzhalter 1"/>
          <p:cNvSpPr txBox="1"/>
          <p:nvPr/>
        </p:nvSpPr>
        <p:spPr>
          <a:xfrm flipH="1">
            <a:off x="8903417" y="1891228"/>
            <a:ext cx="1773329" cy="3784706"/>
          </a:xfrm>
          <a:prstGeom prst="roundRect">
            <a:avLst>
              <a:gd name="adj" fmla="val 12018"/>
            </a:avLst>
          </a:prstGeom>
          <a:blipFill dpi="0" rotWithShape="1">
            <a:blip r:embed="rId1" cstate="screen"/>
            <a:srcRect/>
            <a:stretch>
              <a:fillRect/>
            </a:stretch>
          </a:blipFill>
          <a:ln w="12700">
            <a:miter lim="400000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72060" y="2812415"/>
            <a:ext cx="4027670" cy="2099310"/>
            <a:chOff x="6398" y="2920"/>
            <a:chExt cx="6343" cy="3306"/>
          </a:xfrm>
        </p:grpSpPr>
        <p:grpSp>
          <p:nvGrpSpPr>
            <p:cNvPr id="7" name="组合 6"/>
            <p:cNvGrpSpPr/>
            <p:nvPr/>
          </p:nvGrpSpPr>
          <p:grpSpPr>
            <a:xfrm>
              <a:off x="6398" y="2920"/>
              <a:ext cx="6343" cy="1053"/>
              <a:chOff x="6398" y="2920"/>
              <a:chExt cx="6343" cy="1053"/>
            </a:xfrm>
          </p:grpSpPr>
          <p:sp>
            <p:nvSpPr>
              <p:cNvPr id="98" name="Form"/>
              <p:cNvSpPr/>
              <p:nvPr/>
            </p:nvSpPr>
            <p:spPr>
              <a:xfrm>
                <a:off x="6398" y="3205"/>
                <a:ext cx="640" cy="6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7" y="0"/>
                    </a:moveTo>
                    <a:cubicBezTo>
                      <a:pt x="4838" y="0"/>
                      <a:pt x="0" y="4838"/>
                      <a:pt x="0" y="10807"/>
                    </a:cubicBezTo>
                    <a:cubicBezTo>
                      <a:pt x="0" y="16777"/>
                      <a:pt x="4838" y="21600"/>
                      <a:pt x="10807" y="21600"/>
                    </a:cubicBezTo>
                    <a:cubicBezTo>
                      <a:pt x="16777" y="21600"/>
                      <a:pt x="21600" y="16777"/>
                      <a:pt x="21600" y="10807"/>
                    </a:cubicBezTo>
                    <a:cubicBezTo>
                      <a:pt x="21600" y="4838"/>
                      <a:pt x="16777" y="0"/>
                      <a:pt x="10807" y="0"/>
                    </a:cubicBezTo>
                    <a:close/>
                    <a:moveTo>
                      <a:pt x="10807" y="1184"/>
                    </a:moveTo>
                    <a:cubicBezTo>
                      <a:pt x="16066" y="1184"/>
                      <a:pt x="20371" y="5489"/>
                      <a:pt x="20371" y="10748"/>
                    </a:cubicBezTo>
                    <a:cubicBezTo>
                      <a:pt x="20371" y="16054"/>
                      <a:pt x="16113" y="20327"/>
                      <a:pt x="10807" y="20327"/>
                    </a:cubicBezTo>
                    <a:cubicBezTo>
                      <a:pt x="5549" y="20327"/>
                      <a:pt x="1229" y="16007"/>
                      <a:pt x="1229" y="10748"/>
                    </a:cubicBezTo>
                    <a:cubicBezTo>
                      <a:pt x="1229" y="5490"/>
                      <a:pt x="5549" y="1184"/>
                      <a:pt x="10807" y="1184"/>
                    </a:cubicBezTo>
                    <a:close/>
                    <a:moveTo>
                      <a:pt x="14849" y="7491"/>
                    </a:moveTo>
                    <a:cubicBezTo>
                      <a:pt x="14689" y="7491"/>
                      <a:pt x="14523" y="7550"/>
                      <a:pt x="14405" y="7669"/>
                    </a:cubicBezTo>
                    <a:lnTo>
                      <a:pt x="9431" y="12643"/>
                    </a:lnTo>
                    <a:lnTo>
                      <a:pt x="7210" y="10408"/>
                    </a:lnTo>
                    <a:cubicBezTo>
                      <a:pt x="6973" y="10171"/>
                      <a:pt x="6588" y="10171"/>
                      <a:pt x="6351" y="10408"/>
                    </a:cubicBezTo>
                    <a:cubicBezTo>
                      <a:pt x="6114" y="10645"/>
                      <a:pt x="6114" y="11029"/>
                      <a:pt x="6351" y="11266"/>
                    </a:cubicBezTo>
                    <a:lnTo>
                      <a:pt x="9001" y="13916"/>
                    </a:lnTo>
                    <a:cubicBezTo>
                      <a:pt x="9143" y="14058"/>
                      <a:pt x="9288" y="14109"/>
                      <a:pt x="9431" y="14109"/>
                    </a:cubicBezTo>
                    <a:cubicBezTo>
                      <a:pt x="9573" y="14109"/>
                      <a:pt x="9765" y="14058"/>
                      <a:pt x="9860" y="13916"/>
                    </a:cubicBezTo>
                    <a:lnTo>
                      <a:pt x="15264" y="8513"/>
                    </a:lnTo>
                    <a:cubicBezTo>
                      <a:pt x="15500" y="8276"/>
                      <a:pt x="15500" y="7906"/>
                      <a:pt x="15264" y="7669"/>
                    </a:cubicBezTo>
                    <a:cubicBezTo>
                      <a:pt x="15169" y="7550"/>
                      <a:pt x="15009" y="7491"/>
                      <a:pt x="14849" y="7491"/>
                    </a:cubicBezTo>
                    <a:close/>
                  </a:path>
                </a:pathLst>
              </a:custGeom>
              <a:solidFill>
                <a:srgbClr val="605E8C"/>
              </a:solidFill>
              <a:ln w="12700"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228600">
                  <a:defRPr sz="300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cs typeface="+mn-ea"/>
                  <a:sym typeface="+mn-lt"/>
                </a:endParaRPr>
              </a:p>
            </p:txBody>
          </p:sp>
          <p:sp>
            <p:nvSpPr>
              <p:cNvPr id="99" name="Rectangle 29"/>
              <p:cNvSpPr/>
              <p:nvPr/>
            </p:nvSpPr>
            <p:spPr>
              <a:xfrm>
                <a:off x="7876" y="3426"/>
                <a:ext cx="4865" cy="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lnSpc>
                    <a:spcPts val="2000"/>
                  </a:lnSpc>
                  <a:defRPr/>
                </a:pPr>
                <a:r>
                  <a:rPr lang="zh-CN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底层逻辑是什么？模型具体是什么样？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Rectangle 30"/>
              <p:cNvSpPr/>
              <p:nvPr/>
            </p:nvSpPr>
            <p:spPr>
              <a:xfrm>
                <a:off x="7876" y="2920"/>
                <a:ext cx="2822" cy="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柳叶刀广告模型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398" y="5173"/>
              <a:ext cx="6342" cy="1053"/>
              <a:chOff x="6398" y="5173"/>
              <a:chExt cx="6342" cy="1053"/>
            </a:xfrm>
          </p:grpSpPr>
          <p:sp>
            <p:nvSpPr>
              <p:cNvPr id="96" name="Form"/>
              <p:cNvSpPr/>
              <p:nvPr/>
            </p:nvSpPr>
            <p:spPr>
              <a:xfrm>
                <a:off x="6398" y="5345"/>
                <a:ext cx="640" cy="6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7" y="0"/>
                    </a:moveTo>
                    <a:cubicBezTo>
                      <a:pt x="4838" y="0"/>
                      <a:pt x="0" y="4838"/>
                      <a:pt x="0" y="10807"/>
                    </a:cubicBezTo>
                    <a:cubicBezTo>
                      <a:pt x="0" y="16777"/>
                      <a:pt x="4838" y="21600"/>
                      <a:pt x="10807" y="21600"/>
                    </a:cubicBezTo>
                    <a:cubicBezTo>
                      <a:pt x="16777" y="21600"/>
                      <a:pt x="21600" y="16777"/>
                      <a:pt x="21600" y="10807"/>
                    </a:cubicBezTo>
                    <a:cubicBezTo>
                      <a:pt x="21600" y="4838"/>
                      <a:pt x="16777" y="0"/>
                      <a:pt x="10807" y="0"/>
                    </a:cubicBezTo>
                    <a:close/>
                    <a:moveTo>
                      <a:pt x="10807" y="1184"/>
                    </a:moveTo>
                    <a:cubicBezTo>
                      <a:pt x="16066" y="1184"/>
                      <a:pt x="20371" y="5489"/>
                      <a:pt x="20371" y="10748"/>
                    </a:cubicBezTo>
                    <a:cubicBezTo>
                      <a:pt x="20371" y="16054"/>
                      <a:pt x="16113" y="20327"/>
                      <a:pt x="10807" y="20327"/>
                    </a:cubicBezTo>
                    <a:cubicBezTo>
                      <a:pt x="5549" y="20327"/>
                      <a:pt x="1229" y="16007"/>
                      <a:pt x="1229" y="10748"/>
                    </a:cubicBezTo>
                    <a:cubicBezTo>
                      <a:pt x="1229" y="5490"/>
                      <a:pt x="5549" y="1184"/>
                      <a:pt x="10807" y="1184"/>
                    </a:cubicBezTo>
                    <a:close/>
                    <a:moveTo>
                      <a:pt x="14849" y="7491"/>
                    </a:moveTo>
                    <a:cubicBezTo>
                      <a:pt x="14689" y="7491"/>
                      <a:pt x="14523" y="7550"/>
                      <a:pt x="14405" y="7669"/>
                    </a:cubicBezTo>
                    <a:lnTo>
                      <a:pt x="9431" y="12643"/>
                    </a:lnTo>
                    <a:lnTo>
                      <a:pt x="7210" y="10408"/>
                    </a:lnTo>
                    <a:cubicBezTo>
                      <a:pt x="6973" y="10171"/>
                      <a:pt x="6588" y="10171"/>
                      <a:pt x="6351" y="10408"/>
                    </a:cubicBezTo>
                    <a:cubicBezTo>
                      <a:pt x="6114" y="10645"/>
                      <a:pt x="6114" y="11029"/>
                      <a:pt x="6351" y="11266"/>
                    </a:cubicBezTo>
                    <a:lnTo>
                      <a:pt x="9001" y="13916"/>
                    </a:lnTo>
                    <a:cubicBezTo>
                      <a:pt x="9143" y="14058"/>
                      <a:pt x="9288" y="14109"/>
                      <a:pt x="9431" y="14109"/>
                    </a:cubicBezTo>
                    <a:cubicBezTo>
                      <a:pt x="9573" y="14109"/>
                      <a:pt x="9765" y="14058"/>
                      <a:pt x="9860" y="13916"/>
                    </a:cubicBezTo>
                    <a:lnTo>
                      <a:pt x="15264" y="8513"/>
                    </a:lnTo>
                    <a:cubicBezTo>
                      <a:pt x="15500" y="8276"/>
                      <a:pt x="15500" y="7906"/>
                      <a:pt x="15264" y="7669"/>
                    </a:cubicBezTo>
                    <a:cubicBezTo>
                      <a:pt x="15169" y="7550"/>
                      <a:pt x="15009" y="7491"/>
                      <a:pt x="14849" y="7491"/>
                    </a:cubicBezTo>
                    <a:close/>
                  </a:path>
                </a:pathLst>
              </a:custGeom>
              <a:solidFill>
                <a:srgbClr val="605E8C"/>
              </a:solidFill>
              <a:ln w="12700"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228600">
                  <a:defRPr sz="300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>
                  <a:cs typeface="+mn-ea"/>
                  <a:sym typeface="+mn-lt"/>
                </a:endParaRPr>
              </a:p>
            </p:txBody>
          </p:sp>
          <p:sp>
            <p:nvSpPr>
              <p:cNvPr id="101" name="Rectangle 29"/>
              <p:cNvSpPr/>
              <p:nvPr/>
            </p:nvSpPr>
            <p:spPr>
              <a:xfrm>
                <a:off x="7875" y="5679"/>
                <a:ext cx="4865" cy="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lnSpc>
                    <a:spcPts val="2000"/>
                  </a:lnSpc>
                  <a:defRPr/>
                </a:pPr>
                <a:r>
                  <a:rPr lang="zh-CN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会遇到什么样的问题？如何调整？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2" name="Rectangle 30"/>
              <p:cNvSpPr/>
              <p:nvPr/>
            </p:nvSpPr>
            <p:spPr>
              <a:xfrm>
                <a:off x="7875" y="5173"/>
                <a:ext cx="4144" cy="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六种基本广告报告形态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05" name="Straight Connector 19"/>
          <p:cNvCxnSpPr/>
          <p:nvPr/>
        </p:nvCxnSpPr>
        <p:spPr>
          <a:xfrm>
            <a:off x="958385" y="4836921"/>
            <a:ext cx="662954" cy="0"/>
          </a:xfrm>
          <a:prstGeom prst="line">
            <a:avLst/>
          </a:prstGeom>
          <a:ln w="28575">
            <a:solidFill>
              <a:srgbClr val="605E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7"/>
          <p:cNvSpPr txBox="1"/>
          <p:nvPr/>
        </p:nvSpPr>
        <p:spPr>
          <a:xfrm>
            <a:off x="788035" y="3677920"/>
            <a:ext cx="2405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核心内容介绍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Google Shape;86;p19"/>
          <p:cNvSpPr txBox="1"/>
          <p:nvPr/>
        </p:nvSpPr>
        <p:spPr>
          <a:xfrm>
            <a:off x="463551" y="2994708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05E8C"/>
                </a:solidFill>
                <a:cs typeface="+mn-ea"/>
                <a:sym typeface="+mn-lt"/>
              </a:rPr>
              <a:t>Core Idea</a:t>
            </a:r>
            <a:endParaRPr lang="en-US" sz="2000" b="0" i="0" u="none" strike="noStrike" cap="none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400" dirty="0">
                <a:solidFill>
                  <a:srgbClr val="474479"/>
                </a:solidFill>
                <a:cs typeface="+mn-ea"/>
                <a:sym typeface="+mn-lt"/>
              </a:rPr>
              <a:t>主要板块</a:t>
            </a:r>
            <a:endParaRPr lang="zh-CN" altLang="en-US" sz="24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8936" y="273050"/>
            <a:ext cx="1882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FFFF"/>
                </a:solidFill>
              </a:rPr>
              <a:t>https://www.ypppt.com/</a:t>
            </a:r>
            <a:endParaRPr lang="zh-CN" altLang="en-US" sz="1100" dirty="0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0" y="5949950"/>
            <a:ext cx="12233275" cy="938530"/>
            <a:chOff x="0" y="9370"/>
            <a:chExt cx="19265" cy="1478"/>
          </a:xfrm>
        </p:grpSpPr>
        <p:sp>
          <p:nvSpPr>
            <p:cNvPr id="10" name="矩形 9"/>
            <p:cNvSpPr/>
            <p:nvPr/>
          </p:nvSpPr>
          <p:spPr>
            <a:xfrm>
              <a:off x="0" y="10585"/>
              <a:ext cx="19200" cy="263"/>
            </a:xfrm>
            <a:prstGeom prst="rect">
              <a:avLst/>
            </a:prstGeom>
            <a:solidFill>
              <a:srgbClr val="C32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" name="组合 3"/>
            <p:cNvGrpSpPr/>
            <p:nvPr/>
          </p:nvGrpSpPr>
          <p:grpSpPr bwMode="auto">
            <a:xfrm flipH="1">
              <a:off x="15000" y="9370"/>
              <a:ext cx="4200" cy="1478"/>
              <a:chOff x="0" y="2297125"/>
              <a:chExt cx="13100952" cy="4560877"/>
            </a:xfrm>
          </p:grpSpPr>
          <p:sp>
            <p:nvSpPr>
              <p:cNvPr id="12" name="等腰三角形 11"/>
              <p:cNvSpPr/>
              <p:nvPr/>
            </p:nvSpPr>
            <p:spPr>
              <a:xfrm>
                <a:off x="0" y="3454707"/>
                <a:ext cx="12477097" cy="3403295"/>
              </a:xfrm>
              <a:prstGeom prst="triangle">
                <a:avLst>
                  <a:gd name="adj" fmla="val 0"/>
                </a:avLst>
              </a:prstGeom>
              <a:solidFill>
                <a:srgbClr val="554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921371">
                <a:off x="148163" y="2297125"/>
                <a:ext cx="12952789" cy="2924827"/>
              </a:xfrm>
              <a:prstGeom prst="triangle">
                <a:avLst>
                  <a:gd name="adj" fmla="val 20586"/>
                </a:avLst>
              </a:prstGeom>
              <a:solidFill>
                <a:srgbClr val="554FA5"/>
              </a:solidFill>
              <a:ln>
                <a:solidFill>
                  <a:srgbClr val="554F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7017" y="9762"/>
              <a:ext cx="2248" cy="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微软雅黑" panose="020B0503020204020204" charset="-122"/>
                  <a:ea typeface="微软雅黑" panose="020B0503020204020204" charset="-122"/>
                </a:rPr>
                <a:t>HZY</a:t>
              </a:r>
              <a:endParaRPr lang="en-US" altLang="zh-CN" sz="28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106" grpId="0"/>
      <p:bldP spid="1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3"/>
          <p:cNvSpPr/>
          <p:nvPr/>
        </p:nvSpPr>
        <p:spPr>
          <a:xfrm>
            <a:off x="2582102" y="4584507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2582102" y="3613355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Rounded Rectangle 45"/>
          <p:cNvSpPr/>
          <p:nvPr/>
        </p:nvSpPr>
        <p:spPr>
          <a:xfrm>
            <a:off x="2582102" y="2641660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2582102" y="1670369"/>
            <a:ext cx="1659251" cy="80682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1853155" y="458450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1853155" y="361335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1853155" y="2641660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1853155" y="1670369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2668006" y="1858435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2668006" y="2858308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2668006" y="4796694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2165923" y="2958881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2168904" y="393278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2167448" y="1955524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36" name="TextBox 47"/>
          <p:cNvSpPr txBox="1"/>
          <p:nvPr/>
        </p:nvSpPr>
        <p:spPr>
          <a:xfrm>
            <a:off x="4425315" y="1928495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广泛组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377690" y="285813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高CR组-精准（≥70%属性转化率）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425950" y="369824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低CR组-精准（≤70%属性转化率）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TextBox 53"/>
          <p:cNvSpPr txBox="1"/>
          <p:nvPr/>
        </p:nvSpPr>
        <p:spPr>
          <a:xfrm>
            <a:off x="4427220" y="4735830"/>
            <a:ext cx="6537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大词组-精准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2867486" y="921832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在同一个广告活动中添加以下广告组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2668006" y="3862609"/>
            <a:ext cx="13271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5" grpId="0"/>
      <p:bldP spid="18" grpId="0"/>
      <p:bldP spid="36" grpId="0"/>
      <p:bldP spid="37" grpId="0"/>
      <p:bldP spid="38" grpId="0"/>
      <p:bldP spid="39" grpId="0"/>
      <p:bldP spid="44" grpId="0"/>
      <p:bldP spid="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2520950" y="3009265"/>
            <a:ext cx="7150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让高CR组花费占据90%来带动整个广告活动的权重，因为一个广告活动共享权重，让亚马逊增加整个广告活动所有的词的权重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547061" y="145396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底层逻辑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667154" y="4440997"/>
            <a:ext cx="2957936" cy="806824"/>
            <a:chOff x="2918" y="7220"/>
            <a:chExt cx="3761" cy="1271"/>
          </a:xfrm>
        </p:grpSpPr>
        <p:sp>
          <p:nvSpPr>
            <p:cNvPr id="2" name="Rounded Rectangle 43"/>
            <p:cNvSpPr/>
            <p:nvPr/>
          </p:nvSpPr>
          <p:spPr>
            <a:xfrm>
              <a:off x="4066" y="722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Rounded Rectangle 42"/>
            <p:cNvSpPr/>
            <p:nvPr/>
          </p:nvSpPr>
          <p:spPr>
            <a:xfrm>
              <a:off x="2918" y="722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TextBox 12"/>
            <p:cNvSpPr txBox="1"/>
            <p:nvPr/>
          </p:nvSpPr>
          <p:spPr>
            <a:xfrm>
              <a:off x="4202" y="7554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操作细节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2" name="Group 16"/>
            <p:cNvGrpSpPr/>
            <p:nvPr/>
          </p:nvGrpSpPr>
          <p:grpSpPr>
            <a:xfrm>
              <a:off x="3411" y="7710"/>
              <a:ext cx="286" cy="270"/>
              <a:chOff x="20638" y="1901825"/>
              <a:chExt cx="387350" cy="365126"/>
            </a:xfrm>
            <a:solidFill>
              <a:schemeClr val="bg2"/>
            </a:solidFill>
          </p:grpSpPr>
          <p:sp>
            <p:nvSpPr>
              <p:cNvPr id="23" name="Freeform 7"/>
              <p:cNvSpPr/>
              <p:nvPr/>
            </p:nvSpPr>
            <p:spPr bwMode="auto">
              <a:xfrm>
                <a:off x="20638" y="2236788"/>
                <a:ext cx="350838" cy="30163"/>
              </a:xfrm>
              <a:custGeom>
                <a:avLst/>
                <a:gdLst>
                  <a:gd name="T0" fmla="*/ 123 w 128"/>
                  <a:gd name="T1" fmla="*/ 0 h 11"/>
                  <a:gd name="T2" fmla="*/ 6 w 128"/>
                  <a:gd name="T3" fmla="*/ 0 h 11"/>
                  <a:gd name="T4" fmla="*/ 0 w 128"/>
                  <a:gd name="T5" fmla="*/ 6 h 11"/>
                  <a:gd name="T6" fmla="*/ 6 w 128"/>
                  <a:gd name="T7" fmla="*/ 11 h 11"/>
                  <a:gd name="T8" fmla="*/ 123 w 128"/>
                  <a:gd name="T9" fmla="*/ 11 h 11"/>
                  <a:gd name="T10" fmla="*/ 128 w 128"/>
                  <a:gd name="T11" fmla="*/ 6 h 11"/>
                  <a:gd name="T12" fmla="*/ 123 w 128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1">
                    <a:moveTo>
                      <a:pt x="12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6" y="11"/>
                      <a:pt x="128" y="9"/>
                      <a:pt x="128" y="6"/>
                    </a:cubicBezTo>
                    <a:cubicBezTo>
                      <a:pt x="128" y="3"/>
                      <a:pt x="126" y="0"/>
                      <a:pt x="1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8"/>
              <p:cNvSpPr>
                <a:spLocks noEditPoints="1"/>
              </p:cNvSpPr>
              <p:nvPr/>
            </p:nvSpPr>
            <p:spPr bwMode="auto">
              <a:xfrm>
                <a:off x="46038" y="2032000"/>
                <a:ext cx="361950" cy="188913"/>
              </a:xfrm>
              <a:custGeom>
                <a:avLst/>
                <a:gdLst>
                  <a:gd name="T0" fmla="*/ 132 w 132"/>
                  <a:gd name="T1" fmla="*/ 20 h 69"/>
                  <a:gd name="T2" fmla="*/ 129 w 132"/>
                  <a:gd name="T3" fmla="*/ 17 h 69"/>
                  <a:gd name="T4" fmla="*/ 117 w 132"/>
                  <a:gd name="T5" fmla="*/ 13 h 69"/>
                  <a:gd name="T6" fmla="*/ 110 w 132"/>
                  <a:gd name="T7" fmla="*/ 9 h 69"/>
                  <a:gd name="T8" fmla="*/ 108 w 132"/>
                  <a:gd name="T9" fmla="*/ 3 h 69"/>
                  <a:gd name="T10" fmla="*/ 102 w 132"/>
                  <a:gd name="T11" fmla="*/ 0 h 69"/>
                  <a:gd name="T12" fmla="*/ 8 w 132"/>
                  <a:gd name="T13" fmla="*/ 0 h 69"/>
                  <a:gd name="T14" fmla="*/ 3 w 132"/>
                  <a:gd name="T15" fmla="*/ 3 h 69"/>
                  <a:gd name="T16" fmla="*/ 3 w 132"/>
                  <a:gd name="T17" fmla="*/ 16 h 69"/>
                  <a:gd name="T18" fmla="*/ 14 w 132"/>
                  <a:gd name="T19" fmla="*/ 53 h 69"/>
                  <a:gd name="T20" fmla="*/ 19 w 132"/>
                  <a:gd name="T21" fmla="*/ 66 h 69"/>
                  <a:gd name="T22" fmla="*/ 24 w 132"/>
                  <a:gd name="T23" fmla="*/ 69 h 69"/>
                  <a:gd name="T24" fmla="*/ 89 w 132"/>
                  <a:gd name="T25" fmla="*/ 69 h 69"/>
                  <a:gd name="T26" fmla="*/ 95 w 132"/>
                  <a:gd name="T27" fmla="*/ 66 h 69"/>
                  <a:gd name="T28" fmla="*/ 98 w 132"/>
                  <a:gd name="T29" fmla="*/ 59 h 69"/>
                  <a:gd name="T30" fmla="*/ 106 w 132"/>
                  <a:gd name="T31" fmla="*/ 56 h 69"/>
                  <a:gd name="T32" fmla="*/ 114 w 132"/>
                  <a:gd name="T33" fmla="*/ 56 h 69"/>
                  <a:gd name="T34" fmla="*/ 119 w 132"/>
                  <a:gd name="T35" fmla="*/ 53 h 69"/>
                  <a:gd name="T36" fmla="*/ 132 w 132"/>
                  <a:gd name="T37" fmla="*/ 24 h 69"/>
                  <a:gd name="T38" fmla="*/ 132 w 132"/>
                  <a:gd name="T39" fmla="*/ 20 h 69"/>
                  <a:gd name="T40" fmla="*/ 116 w 132"/>
                  <a:gd name="T41" fmla="*/ 32 h 69"/>
                  <a:gd name="T42" fmla="*/ 114 w 132"/>
                  <a:gd name="T43" fmla="*/ 38 h 69"/>
                  <a:gd name="T44" fmla="*/ 106 w 132"/>
                  <a:gd name="T45" fmla="*/ 46 h 69"/>
                  <a:gd name="T46" fmla="*/ 103 w 132"/>
                  <a:gd name="T47" fmla="*/ 38 h 69"/>
                  <a:gd name="T48" fmla="*/ 105 w 132"/>
                  <a:gd name="T49" fmla="*/ 28 h 69"/>
                  <a:gd name="T50" fmla="*/ 113 w 132"/>
                  <a:gd name="T51" fmla="*/ 23 h 69"/>
                  <a:gd name="T52" fmla="*/ 116 w 132"/>
                  <a:gd name="T53" fmla="*/ 3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2" h="69">
                    <a:moveTo>
                      <a:pt x="132" y="20"/>
                    </a:moveTo>
                    <a:cubicBezTo>
                      <a:pt x="131" y="19"/>
                      <a:pt x="130" y="18"/>
                      <a:pt x="129" y="17"/>
                    </a:cubicBezTo>
                    <a:cubicBezTo>
                      <a:pt x="117" y="13"/>
                      <a:pt x="117" y="13"/>
                      <a:pt x="117" y="13"/>
                    </a:cubicBezTo>
                    <a:cubicBezTo>
                      <a:pt x="113" y="11"/>
                      <a:pt x="110" y="9"/>
                      <a:pt x="110" y="9"/>
                    </a:cubicBezTo>
                    <a:cubicBezTo>
                      <a:pt x="110" y="9"/>
                      <a:pt x="110" y="5"/>
                      <a:pt x="108" y="3"/>
                    </a:cubicBezTo>
                    <a:cubicBezTo>
                      <a:pt x="107" y="1"/>
                      <a:pt x="105" y="0"/>
                      <a:pt x="10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1"/>
                      <a:pt x="3" y="3"/>
                    </a:cubicBezTo>
                    <a:cubicBezTo>
                      <a:pt x="0" y="5"/>
                      <a:pt x="1" y="12"/>
                      <a:pt x="3" y="16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7"/>
                      <a:pt x="16" y="64"/>
                      <a:pt x="19" y="66"/>
                    </a:cubicBezTo>
                    <a:cubicBezTo>
                      <a:pt x="20" y="68"/>
                      <a:pt x="22" y="69"/>
                      <a:pt x="24" y="69"/>
                    </a:cubicBezTo>
                    <a:cubicBezTo>
                      <a:pt x="89" y="69"/>
                      <a:pt x="89" y="69"/>
                      <a:pt x="89" y="69"/>
                    </a:cubicBezTo>
                    <a:cubicBezTo>
                      <a:pt x="91" y="69"/>
                      <a:pt x="93" y="68"/>
                      <a:pt x="95" y="66"/>
                    </a:cubicBezTo>
                    <a:cubicBezTo>
                      <a:pt x="97" y="64"/>
                      <a:pt x="97" y="60"/>
                      <a:pt x="98" y="59"/>
                    </a:cubicBezTo>
                    <a:cubicBezTo>
                      <a:pt x="98" y="57"/>
                      <a:pt x="102" y="56"/>
                      <a:pt x="106" y="56"/>
                    </a:cubicBezTo>
                    <a:cubicBezTo>
                      <a:pt x="114" y="56"/>
                      <a:pt x="114" y="56"/>
                      <a:pt x="114" y="56"/>
                    </a:cubicBezTo>
                    <a:cubicBezTo>
                      <a:pt x="116" y="56"/>
                      <a:pt x="118" y="55"/>
                      <a:pt x="119" y="53"/>
                    </a:cubicBezTo>
                    <a:cubicBezTo>
                      <a:pt x="132" y="24"/>
                      <a:pt x="132" y="24"/>
                      <a:pt x="132" y="24"/>
                    </a:cubicBezTo>
                    <a:cubicBezTo>
                      <a:pt x="132" y="23"/>
                      <a:pt x="132" y="21"/>
                      <a:pt x="132" y="20"/>
                    </a:cubicBezTo>
                    <a:close/>
                    <a:moveTo>
                      <a:pt x="116" y="32"/>
                    </a:moveTo>
                    <a:cubicBezTo>
                      <a:pt x="114" y="38"/>
                      <a:pt x="114" y="38"/>
                      <a:pt x="114" y="38"/>
                    </a:cubicBezTo>
                    <a:cubicBezTo>
                      <a:pt x="112" y="42"/>
                      <a:pt x="108" y="45"/>
                      <a:pt x="106" y="46"/>
                    </a:cubicBezTo>
                    <a:cubicBezTo>
                      <a:pt x="103" y="46"/>
                      <a:pt x="102" y="42"/>
                      <a:pt x="103" y="3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6" y="24"/>
                      <a:pt x="110" y="21"/>
                      <a:pt x="113" y="23"/>
                    </a:cubicBezTo>
                    <a:cubicBezTo>
                      <a:pt x="117" y="24"/>
                      <a:pt x="118" y="28"/>
                      <a:pt x="11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141288" y="1901825"/>
                <a:ext cx="30163" cy="103188"/>
              </a:xfrm>
              <a:custGeom>
                <a:avLst/>
                <a:gdLst>
                  <a:gd name="T0" fmla="*/ 4 w 11"/>
                  <a:gd name="T1" fmla="*/ 38 h 38"/>
                  <a:gd name="T2" fmla="*/ 4 w 11"/>
                  <a:gd name="T3" fmla="*/ 26 h 38"/>
                  <a:gd name="T4" fmla="*/ 2 w 11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38">
                    <a:moveTo>
                      <a:pt x="4" y="38"/>
                    </a:moveTo>
                    <a:cubicBezTo>
                      <a:pt x="4" y="38"/>
                      <a:pt x="0" y="33"/>
                      <a:pt x="4" y="26"/>
                    </a:cubicBezTo>
                    <a:cubicBezTo>
                      <a:pt x="9" y="19"/>
                      <a:pt x="11" y="5"/>
                      <a:pt x="2" y="0"/>
                    </a:cubicBezTo>
                  </a:path>
                </a:pathLst>
              </a:custGeom>
              <a:grpFill/>
              <a:ln w="22225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09551" y="1901825"/>
                <a:ext cx="30163" cy="103188"/>
              </a:xfrm>
              <a:custGeom>
                <a:avLst/>
                <a:gdLst>
                  <a:gd name="T0" fmla="*/ 4 w 11"/>
                  <a:gd name="T1" fmla="*/ 38 h 38"/>
                  <a:gd name="T2" fmla="*/ 4 w 11"/>
                  <a:gd name="T3" fmla="*/ 26 h 38"/>
                  <a:gd name="T4" fmla="*/ 2 w 11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38">
                    <a:moveTo>
                      <a:pt x="4" y="38"/>
                    </a:moveTo>
                    <a:cubicBezTo>
                      <a:pt x="4" y="38"/>
                      <a:pt x="0" y="33"/>
                      <a:pt x="4" y="26"/>
                    </a:cubicBezTo>
                    <a:cubicBezTo>
                      <a:pt x="9" y="19"/>
                      <a:pt x="11" y="5"/>
                      <a:pt x="2" y="0"/>
                    </a:cubicBezTo>
                  </a:path>
                </a:pathLst>
              </a:custGeom>
              <a:grpFill/>
              <a:ln w="22225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6" name="TextBox 47"/>
          <p:cNvSpPr txBox="1"/>
          <p:nvPr/>
        </p:nvSpPr>
        <p:spPr>
          <a:xfrm>
            <a:off x="4697095" y="1739900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跑词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652010" y="2413000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分配10%-20%的预算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674870" y="318770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中等竞价，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能跑出点击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377516" y="727522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广泛组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694815" y="1578610"/>
            <a:ext cx="2867025" cy="2101529"/>
            <a:chOff x="2918" y="2631"/>
            <a:chExt cx="3761" cy="4330"/>
          </a:xfrm>
        </p:grpSpPr>
        <p:grpSp>
          <p:nvGrpSpPr>
            <p:cNvPr id="16" name="组合 15"/>
            <p:cNvGrpSpPr/>
            <p:nvPr/>
          </p:nvGrpSpPr>
          <p:grpSpPr>
            <a:xfrm>
              <a:off x="2918" y="4160"/>
              <a:ext cx="3761" cy="1271"/>
              <a:chOff x="2918" y="4160"/>
              <a:chExt cx="3761" cy="1271"/>
            </a:xfrm>
          </p:grpSpPr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预算分配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2918" y="2631"/>
              <a:ext cx="3761" cy="1271"/>
              <a:chOff x="2918" y="2631"/>
              <a:chExt cx="3761" cy="1271"/>
            </a:xfrm>
          </p:grpSpPr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目的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2918" y="5690"/>
              <a:ext cx="3761" cy="1271"/>
              <a:chOff x="2918" y="5690"/>
              <a:chExt cx="3761" cy="1271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4066" y="569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918" y="569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27" name="Group 21"/>
              <p:cNvGrpSpPr/>
              <p:nvPr/>
            </p:nvGrpSpPr>
            <p:grpSpPr>
              <a:xfrm>
                <a:off x="3416" y="6193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202" y="6083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竞价原则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8370" y="3679825"/>
            <a:ext cx="6267450" cy="2533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377516" y="727522"/>
            <a:ext cx="25215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dirty="0">
                <a:solidFill>
                  <a:srgbClr val="474479"/>
                </a:solidFill>
                <a:cs typeface="+mn-ea"/>
                <a:sym typeface="+mn-lt"/>
              </a:rPr>
              <a:t>低CR组-精准</a:t>
            </a:r>
            <a:endParaRPr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703984" y="2170430"/>
            <a:ext cx="9769831" cy="3042463"/>
            <a:chOff x="2668" y="2486"/>
            <a:chExt cx="15386" cy="4791"/>
          </a:xfrm>
        </p:grpSpPr>
        <p:grpSp>
          <p:nvGrpSpPr>
            <p:cNvPr id="5" name="组合 4"/>
            <p:cNvGrpSpPr/>
            <p:nvPr/>
          </p:nvGrpSpPr>
          <p:grpSpPr>
            <a:xfrm>
              <a:off x="2668" y="5993"/>
              <a:ext cx="4387" cy="1285"/>
              <a:chOff x="2918" y="7220"/>
              <a:chExt cx="3542" cy="1285"/>
            </a:xfrm>
          </p:grpSpPr>
          <p:sp>
            <p:nvSpPr>
              <p:cNvPr id="2" name="Rounded Rectangle 43"/>
              <p:cNvSpPr/>
              <p:nvPr/>
            </p:nvSpPr>
            <p:spPr>
              <a:xfrm>
                <a:off x="4066" y="7220"/>
                <a:ext cx="2394" cy="1285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Rounded Rectangle 42"/>
              <p:cNvSpPr/>
              <p:nvPr/>
            </p:nvSpPr>
            <p:spPr>
              <a:xfrm>
                <a:off x="2918" y="722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" name="TextBox 12"/>
              <p:cNvSpPr txBox="1"/>
              <p:nvPr/>
            </p:nvSpPr>
            <p:spPr>
              <a:xfrm>
                <a:off x="4202" y="7554"/>
                <a:ext cx="20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操作细节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2" name="Group 16"/>
              <p:cNvGrpSpPr/>
              <p:nvPr/>
            </p:nvGrpSpPr>
            <p:grpSpPr>
              <a:xfrm>
                <a:off x="3411" y="7710"/>
                <a:ext cx="286" cy="270"/>
                <a:chOff x="20638" y="1901825"/>
                <a:chExt cx="387350" cy="365126"/>
              </a:xfrm>
              <a:solidFill>
                <a:schemeClr val="bg2"/>
              </a:solidFill>
            </p:grpSpPr>
            <p:sp>
              <p:nvSpPr>
                <p:cNvPr id="23" name="Freeform 7"/>
                <p:cNvSpPr/>
                <p:nvPr/>
              </p:nvSpPr>
              <p:spPr bwMode="auto">
                <a:xfrm>
                  <a:off x="20638" y="2236788"/>
                  <a:ext cx="350838" cy="30163"/>
                </a:xfrm>
                <a:custGeom>
                  <a:avLst/>
                  <a:gdLst>
                    <a:gd name="T0" fmla="*/ 123 w 128"/>
                    <a:gd name="T1" fmla="*/ 0 h 11"/>
                    <a:gd name="T2" fmla="*/ 6 w 128"/>
                    <a:gd name="T3" fmla="*/ 0 h 11"/>
                    <a:gd name="T4" fmla="*/ 0 w 128"/>
                    <a:gd name="T5" fmla="*/ 6 h 11"/>
                    <a:gd name="T6" fmla="*/ 6 w 128"/>
                    <a:gd name="T7" fmla="*/ 11 h 11"/>
                    <a:gd name="T8" fmla="*/ 123 w 128"/>
                    <a:gd name="T9" fmla="*/ 11 h 11"/>
                    <a:gd name="T10" fmla="*/ 128 w 128"/>
                    <a:gd name="T11" fmla="*/ 6 h 11"/>
                    <a:gd name="T12" fmla="*/ 123 w 128"/>
                    <a:gd name="T1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8" h="11">
                      <a:moveTo>
                        <a:pt x="123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9"/>
                        <a:pt x="3" y="11"/>
                        <a:pt x="6" y="11"/>
                      </a:cubicBezTo>
                      <a:cubicBezTo>
                        <a:pt x="123" y="11"/>
                        <a:pt x="123" y="11"/>
                        <a:pt x="123" y="11"/>
                      </a:cubicBezTo>
                      <a:cubicBezTo>
                        <a:pt x="126" y="11"/>
                        <a:pt x="128" y="9"/>
                        <a:pt x="128" y="6"/>
                      </a:cubicBezTo>
                      <a:cubicBezTo>
                        <a:pt x="128" y="3"/>
                        <a:pt x="126" y="0"/>
                        <a:pt x="1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Freeform 8"/>
                <p:cNvSpPr>
                  <a:spLocks noEditPoints="1"/>
                </p:cNvSpPr>
                <p:nvPr/>
              </p:nvSpPr>
              <p:spPr bwMode="auto">
                <a:xfrm>
                  <a:off x="46038" y="2032000"/>
                  <a:ext cx="361950" cy="188913"/>
                </a:xfrm>
                <a:custGeom>
                  <a:avLst/>
                  <a:gdLst>
                    <a:gd name="T0" fmla="*/ 132 w 132"/>
                    <a:gd name="T1" fmla="*/ 20 h 69"/>
                    <a:gd name="T2" fmla="*/ 129 w 132"/>
                    <a:gd name="T3" fmla="*/ 17 h 69"/>
                    <a:gd name="T4" fmla="*/ 117 w 132"/>
                    <a:gd name="T5" fmla="*/ 13 h 69"/>
                    <a:gd name="T6" fmla="*/ 110 w 132"/>
                    <a:gd name="T7" fmla="*/ 9 h 69"/>
                    <a:gd name="T8" fmla="*/ 108 w 132"/>
                    <a:gd name="T9" fmla="*/ 3 h 69"/>
                    <a:gd name="T10" fmla="*/ 102 w 132"/>
                    <a:gd name="T11" fmla="*/ 0 h 69"/>
                    <a:gd name="T12" fmla="*/ 8 w 132"/>
                    <a:gd name="T13" fmla="*/ 0 h 69"/>
                    <a:gd name="T14" fmla="*/ 3 w 132"/>
                    <a:gd name="T15" fmla="*/ 3 h 69"/>
                    <a:gd name="T16" fmla="*/ 3 w 132"/>
                    <a:gd name="T17" fmla="*/ 16 h 69"/>
                    <a:gd name="T18" fmla="*/ 14 w 132"/>
                    <a:gd name="T19" fmla="*/ 53 h 69"/>
                    <a:gd name="T20" fmla="*/ 19 w 132"/>
                    <a:gd name="T21" fmla="*/ 66 h 69"/>
                    <a:gd name="T22" fmla="*/ 24 w 132"/>
                    <a:gd name="T23" fmla="*/ 69 h 69"/>
                    <a:gd name="T24" fmla="*/ 89 w 132"/>
                    <a:gd name="T25" fmla="*/ 69 h 69"/>
                    <a:gd name="T26" fmla="*/ 95 w 132"/>
                    <a:gd name="T27" fmla="*/ 66 h 69"/>
                    <a:gd name="T28" fmla="*/ 98 w 132"/>
                    <a:gd name="T29" fmla="*/ 59 h 69"/>
                    <a:gd name="T30" fmla="*/ 106 w 132"/>
                    <a:gd name="T31" fmla="*/ 56 h 69"/>
                    <a:gd name="T32" fmla="*/ 114 w 132"/>
                    <a:gd name="T33" fmla="*/ 56 h 69"/>
                    <a:gd name="T34" fmla="*/ 119 w 132"/>
                    <a:gd name="T35" fmla="*/ 53 h 69"/>
                    <a:gd name="T36" fmla="*/ 132 w 132"/>
                    <a:gd name="T37" fmla="*/ 24 h 69"/>
                    <a:gd name="T38" fmla="*/ 132 w 132"/>
                    <a:gd name="T39" fmla="*/ 20 h 69"/>
                    <a:gd name="T40" fmla="*/ 116 w 132"/>
                    <a:gd name="T41" fmla="*/ 32 h 69"/>
                    <a:gd name="T42" fmla="*/ 114 w 132"/>
                    <a:gd name="T43" fmla="*/ 38 h 69"/>
                    <a:gd name="T44" fmla="*/ 106 w 132"/>
                    <a:gd name="T45" fmla="*/ 46 h 69"/>
                    <a:gd name="T46" fmla="*/ 103 w 132"/>
                    <a:gd name="T47" fmla="*/ 38 h 69"/>
                    <a:gd name="T48" fmla="*/ 105 w 132"/>
                    <a:gd name="T49" fmla="*/ 28 h 69"/>
                    <a:gd name="T50" fmla="*/ 113 w 132"/>
                    <a:gd name="T51" fmla="*/ 23 h 69"/>
                    <a:gd name="T52" fmla="*/ 116 w 132"/>
                    <a:gd name="T53" fmla="*/ 32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32" h="69">
                      <a:moveTo>
                        <a:pt x="132" y="20"/>
                      </a:moveTo>
                      <a:cubicBezTo>
                        <a:pt x="131" y="19"/>
                        <a:pt x="130" y="18"/>
                        <a:pt x="129" y="17"/>
                      </a:cubicBezTo>
                      <a:cubicBezTo>
                        <a:pt x="117" y="13"/>
                        <a:pt x="117" y="13"/>
                        <a:pt x="117" y="13"/>
                      </a:cubicBezTo>
                      <a:cubicBezTo>
                        <a:pt x="113" y="11"/>
                        <a:pt x="110" y="9"/>
                        <a:pt x="110" y="9"/>
                      </a:cubicBezTo>
                      <a:cubicBezTo>
                        <a:pt x="110" y="9"/>
                        <a:pt x="110" y="5"/>
                        <a:pt x="108" y="3"/>
                      </a:cubicBezTo>
                      <a:cubicBezTo>
                        <a:pt x="107" y="1"/>
                        <a:pt x="105" y="0"/>
                        <a:pt x="102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6" y="0"/>
                        <a:pt x="4" y="1"/>
                        <a:pt x="3" y="3"/>
                      </a:cubicBezTo>
                      <a:cubicBezTo>
                        <a:pt x="0" y="5"/>
                        <a:pt x="1" y="12"/>
                        <a:pt x="3" y="16"/>
                      </a:cubicBezTo>
                      <a:cubicBezTo>
                        <a:pt x="14" y="53"/>
                        <a:pt x="14" y="53"/>
                        <a:pt x="14" y="53"/>
                      </a:cubicBezTo>
                      <a:cubicBezTo>
                        <a:pt x="15" y="57"/>
                        <a:pt x="16" y="64"/>
                        <a:pt x="19" y="66"/>
                      </a:cubicBezTo>
                      <a:cubicBezTo>
                        <a:pt x="20" y="68"/>
                        <a:pt x="22" y="69"/>
                        <a:pt x="24" y="69"/>
                      </a:cubicBezTo>
                      <a:cubicBezTo>
                        <a:pt x="89" y="69"/>
                        <a:pt x="89" y="69"/>
                        <a:pt x="89" y="69"/>
                      </a:cubicBezTo>
                      <a:cubicBezTo>
                        <a:pt x="91" y="69"/>
                        <a:pt x="93" y="68"/>
                        <a:pt x="95" y="66"/>
                      </a:cubicBezTo>
                      <a:cubicBezTo>
                        <a:pt x="97" y="64"/>
                        <a:pt x="97" y="60"/>
                        <a:pt x="98" y="59"/>
                      </a:cubicBezTo>
                      <a:cubicBezTo>
                        <a:pt x="98" y="57"/>
                        <a:pt x="102" y="56"/>
                        <a:pt x="106" y="56"/>
                      </a:cubicBezTo>
                      <a:cubicBezTo>
                        <a:pt x="114" y="56"/>
                        <a:pt x="114" y="56"/>
                        <a:pt x="114" y="56"/>
                      </a:cubicBezTo>
                      <a:cubicBezTo>
                        <a:pt x="116" y="56"/>
                        <a:pt x="118" y="55"/>
                        <a:pt x="119" y="53"/>
                      </a:cubicBezTo>
                      <a:cubicBezTo>
                        <a:pt x="132" y="24"/>
                        <a:pt x="132" y="24"/>
                        <a:pt x="132" y="24"/>
                      </a:cubicBezTo>
                      <a:cubicBezTo>
                        <a:pt x="132" y="23"/>
                        <a:pt x="132" y="21"/>
                        <a:pt x="132" y="20"/>
                      </a:cubicBezTo>
                      <a:close/>
                      <a:moveTo>
                        <a:pt x="116" y="32"/>
                      </a:moveTo>
                      <a:cubicBezTo>
                        <a:pt x="114" y="38"/>
                        <a:pt x="114" y="38"/>
                        <a:pt x="114" y="38"/>
                      </a:cubicBezTo>
                      <a:cubicBezTo>
                        <a:pt x="112" y="42"/>
                        <a:pt x="108" y="45"/>
                        <a:pt x="106" y="46"/>
                      </a:cubicBezTo>
                      <a:cubicBezTo>
                        <a:pt x="103" y="46"/>
                        <a:pt x="102" y="42"/>
                        <a:pt x="103" y="38"/>
                      </a:cubicBezTo>
                      <a:cubicBezTo>
                        <a:pt x="105" y="28"/>
                        <a:pt x="105" y="28"/>
                        <a:pt x="105" y="28"/>
                      </a:cubicBezTo>
                      <a:cubicBezTo>
                        <a:pt x="106" y="24"/>
                        <a:pt x="110" y="21"/>
                        <a:pt x="113" y="23"/>
                      </a:cubicBezTo>
                      <a:cubicBezTo>
                        <a:pt x="117" y="24"/>
                        <a:pt x="118" y="28"/>
                        <a:pt x="116" y="3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Freeform 9"/>
                <p:cNvSpPr/>
                <p:nvPr/>
              </p:nvSpPr>
              <p:spPr bwMode="auto">
                <a:xfrm>
                  <a:off x="141288" y="1901825"/>
                  <a:ext cx="30163" cy="103188"/>
                </a:xfrm>
                <a:custGeom>
                  <a:avLst/>
                  <a:gdLst>
                    <a:gd name="T0" fmla="*/ 4 w 11"/>
                    <a:gd name="T1" fmla="*/ 38 h 38"/>
                    <a:gd name="T2" fmla="*/ 4 w 11"/>
                    <a:gd name="T3" fmla="*/ 26 h 38"/>
                    <a:gd name="T4" fmla="*/ 2 w 11"/>
                    <a:gd name="T5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38">
                      <a:moveTo>
                        <a:pt x="4" y="38"/>
                      </a:moveTo>
                      <a:cubicBezTo>
                        <a:pt x="4" y="38"/>
                        <a:pt x="0" y="33"/>
                        <a:pt x="4" y="26"/>
                      </a:cubicBezTo>
                      <a:cubicBezTo>
                        <a:pt x="9" y="19"/>
                        <a:pt x="11" y="5"/>
                        <a:pt x="2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10"/>
                <p:cNvSpPr/>
                <p:nvPr/>
              </p:nvSpPr>
              <p:spPr bwMode="auto">
                <a:xfrm>
                  <a:off x="209551" y="1901825"/>
                  <a:ext cx="30163" cy="103188"/>
                </a:xfrm>
                <a:custGeom>
                  <a:avLst/>
                  <a:gdLst>
                    <a:gd name="T0" fmla="*/ 4 w 11"/>
                    <a:gd name="T1" fmla="*/ 38 h 38"/>
                    <a:gd name="T2" fmla="*/ 4 w 11"/>
                    <a:gd name="T3" fmla="*/ 26 h 38"/>
                    <a:gd name="T4" fmla="*/ 2 w 11"/>
                    <a:gd name="T5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38">
                      <a:moveTo>
                        <a:pt x="4" y="38"/>
                      </a:moveTo>
                      <a:cubicBezTo>
                        <a:pt x="4" y="38"/>
                        <a:pt x="0" y="33"/>
                        <a:pt x="4" y="26"/>
                      </a:cubicBezTo>
                      <a:cubicBezTo>
                        <a:pt x="9" y="19"/>
                        <a:pt x="11" y="5"/>
                        <a:pt x="2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6" name="TextBox 47"/>
            <p:cNvSpPr txBox="1"/>
            <p:nvPr/>
          </p:nvSpPr>
          <p:spPr>
            <a:xfrm>
              <a:off x="7397" y="2740"/>
              <a:ext cx="103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现有的权重还不够，等广告活动整体权重起来了再开始跑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49"/>
            <p:cNvSpPr txBox="1"/>
            <p:nvPr/>
          </p:nvSpPr>
          <p:spPr>
            <a:xfrm>
              <a:off x="7326" y="3800"/>
              <a:ext cx="103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分配0%的预算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TextBox 51"/>
            <p:cNvSpPr txBox="1"/>
            <p:nvPr/>
          </p:nvSpPr>
          <p:spPr>
            <a:xfrm>
              <a:off x="7361" y="4860"/>
              <a:ext cx="101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低竞价，保持无曝光或者有曝光无点击的状态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2669" y="2486"/>
              <a:ext cx="4515" cy="3309"/>
              <a:chOff x="2918" y="2631"/>
              <a:chExt cx="3761" cy="433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2918" y="4160"/>
                <a:ext cx="3761" cy="1271"/>
                <a:chOff x="2918" y="4160"/>
                <a:chExt cx="3761" cy="1271"/>
              </a:xfrm>
            </p:grpSpPr>
            <p:sp>
              <p:nvSpPr>
                <p:cNvPr id="8" name="Rounded Rectangle 45"/>
                <p:cNvSpPr/>
                <p:nvPr/>
              </p:nvSpPr>
              <p:spPr>
                <a:xfrm>
                  <a:off x="4066" y="4160"/>
                  <a:ext cx="2613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Rounded Rectangle 38"/>
                <p:cNvSpPr/>
                <p:nvPr/>
              </p:nvSpPr>
              <p:spPr>
                <a:xfrm>
                  <a:off x="2918" y="4160"/>
                  <a:ext cx="1199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2">
                    <a:lumMod val="65000"/>
                  </a:schemeClr>
                </a:solidFill>
                <a:ln>
                  <a:noFill/>
                </a:ln>
                <a:effectLst>
                  <a:outerShdw blurRad="152400" dist="38100" algn="l" rotWithShape="0">
                    <a:prstClr val="black">
                      <a:alpha val="17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TextBox 10"/>
                <p:cNvSpPr txBox="1"/>
                <p:nvPr/>
              </p:nvSpPr>
              <p:spPr>
                <a:xfrm>
                  <a:off x="4202" y="4501"/>
                  <a:ext cx="2090" cy="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bg1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预算分配</a:t>
                  </a:r>
                  <a:endPara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19" name="Group 13"/>
                <p:cNvGrpSpPr/>
                <p:nvPr/>
              </p:nvGrpSpPr>
              <p:grpSpPr>
                <a:xfrm>
                  <a:off x="3411" y="4660"/>
                  <a:ext cx="285" cy="286"/>
                  <a:chOff x="7938" y="928688"/>
                  <a:chExt cx="385763" cy="387350"/>
                </a:xfrm>
                <a:solidFill>
                  <a:schemeClr val="bg2"/>
                </a:solidFill>
              </p:grpSpPr>
              <p:sp>
                <p:nvSpPr>
                  <p:cNvPr id="20" name="Freeform 5"/>
                  <p:cNvSpPr/>
                  <p:nvPr/>
                </p:nvSpPr>
                <p:spPr bwMode="auto">
                  <a:xfrm>
                    <a:off x="7938" y="947738"/>
                    <a:ext cx="369888" cy="368300"/>
                  </a:xfrm>
                  <a:custGeom>
                    <a:avLst/>
                    <a:gdLst>
                      <a:gd name="T0" fmla="*/ 68 w 135"/>
                      <a:gd name="T1" fmla="*/ 0 h 135"/>
                      <a:gd name="T2" fmla="*/ 0 w 135"/>
                      <a:gd name="T3" fmla="*/ 68 h 135"/>
                      <a:gd name="T4" fmla="*/ 68 w 135"/>
                      <a:gd name="T5" fmla="*/ 135 h 135"/>
                      <a:gd name="T6" fmla="*/ 135 w 135"/>
                      <a:gd name="T7" fmla="*/ 68 h 135"/>
                      <a:gd name="T8" fmla="*/ 68 w 135"/>
                      <a:gd name="T9" fmla="*/ 68 h 135"/>
                      <a:gd name="T10" fmla="*/ 68 w 135"/>
                      <a:gd name="T11" fmla="*/ 0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5" h="135">
                        <a:moveTo>
                          <a:pt x="68" y="0"/>
                        </a:moveTo>
                        <a:cubicBezTo>
                          <a:pt x="30" y="0"/>
                          <a:pt x="0" y="30"/>
                          <a:pt x="0" y="68"/>
                        </a:cubicBezTo>
                        <a:cubicBezTo>
                          <a:pt x="0" y="105"/>
                          <a:pt x="30" y="135"/>
                          <a:pt x="68" y="135"/>
                        </a:cubicBezTo>
                        <a:cubicBezTo>
                          <a:pt x="105" y="135"/>
                          <a:pt x="135" y="105"/>
                          <a:pt x="135" y="68"/>
                        </a:cubicBezTo>
                        <a:cubicBezTo>
                          <a:pt x="68" y="68"/>
                          <a:pt x="68" y="68"/>
                          <a:pt x="68" y="68"/>
                        </a:cubicBezTo>
                        <a:lnTo>
                          <a:pt x="6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Freeform 6"/>
                  <p:cNvSpPr>
                    <a:spLocks noEditPoints="1"/>
                  </p:cNvSpPr>
                  <p:nvPr/>
                </p:nvSpPr>
                <p:spPr bwMode="auto">
                  <a:xfrm>
                    <a:off x="207963" y="928688"/>
                    <a:ext cx="185738" cy="188913"/>
                  </a:xfrm>
                  <a:custGeom>
                    <a:avLst/>
                    <a:gdLst>
                      <a:gd name="T0" fmla="*/ 48 w 68"/>
                      <a:gd name="T1" fmla="*/ 16 h 69"/>
                      <a:gd name="T2" fmla="*/ 48 w 68"/>
                      <a:gd name="T3" fmla="*/ 15 h 69"/>
                      <a:gd name="T4" fmla="*/ 47 w 68"/>
                      <a:gd name="T5" fmla="*/ 15 h 69"/>
                      <a:gd name="T6" fmla="*/ 47 w 68"/>
                      <a:gd name="T7" fmla="*/ 15 h 69"/>
                      <a:gd name="T8" fmla="*/ 47 w 68"/>
                      <a:gd name="T9" fmla="*/ 15 h 69"/>
                      <a:gd name="T10" fmla="*/ 4 w 68"/>
                      <a:gd name="T11" fmla="*/ 0 h 69"/>
                      <a:gd name="T12" fmla="*/ 0 w 68"/>
                      <a:gd name="T13" fmla="*/ 4 h 69"/>
                      <a:gd name="T14" fmla="*/ 0 w 68"/>
                      <a:gd name="T15" fmla="*/ 65 h 69"/>
                      <a:gd name="T16" fmla="*/ 3 w 68"/>
                      <a:gd name="T17" fmla="*/ 69 h 69"/>
                      <a:gd name="T18" fmla="*/ 4 w 68"/>
                      <a:gd name="T19" fmla="*/ 69 h 69"/>
                      <a:gd name="T20" fmla="*/ 4 w 68"/>
                      <a:gd name="T21" fmla="*/ 69 h 69"/>
                      <a:gd name="T22" fmla="*/ 4 w 68"/>
                      <a:gd name="T23" fmla="*/ 69 h 69"/>
                      <a:gd name="T24" fmla="*/ 64 w 68"/>
                      <a:gd name="T25" fmla="*/ 69 h 69"/>
                      <a:gd name="T26" fmla="*/ 68 w 68"/>
                      <a:gd name="T27" fmla="*/ 65 h 69"/>
                      <a:gd name="T28" fmla="*/ 48 w 68"/>
                      <a:gd name="T29" fmla="*/ 16 h 69"/>
                      <a:gd name="T30" fmla="*/ 8 w 68"/>
                      <a:gd name="T31" fmla="*/ 55 h 69"/>
                      <a:gd name="T32" fmla="*/ 8 w 68"/>
                      <a:gd name="T33" fmla="*/ 8 h 69"/>
                      <a:gd name="T34" fmla="*/ 40 w 68"/>
                      <a:gd name="T35" fmla="*/ 19 h 69"/>
                      <a:gd name="T36" fmla="*/ 8 w 68"/>
                      <a:gd name="T37" fmla="*/ 55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68" h="69">
                        <a:moveTo>
                          <a:pt x="48" y="16"/>
                        </a:moveTo>
                        <a:cubicBezTo>
                          <a:pt x="48" y="16"/>
                          <a:pt x="48" y="15"/>
                          <a:pt x="48" y="15"/>
                        </a:cubicBezTo>
                        <a:cubicBezTo>
                          <a:pt x="48" y="15"/>
                          <a:pt x="48" y="15"/>
                          <a:pt x="47" y="15"/>
                        </a:cubicBezTo>
                        <a:cubicBezTo>
                          <a:pt x="47" y="15"/>
                          <a:pt x="47" y="15"/>
                          <a:pt x="47" y="15"/>
                        </a:cubicBezTo>
                        <a:cubicBezTo>
                          <a:pt x="47" y="15"/>
                          <a:pt x="47" y="15"/>
                          <a:pt x="47" y="15"/>
                        </a:cubicBezTo>
                        <a:cubicBezTo>
                          <a:pt x="35" y="5"/>
                          <a:pt x="20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5"/>
                          <a:pt x="0" y="65"/>
                          <a:pt x="0" y="65"/>
                        </a:cubicBezTo>
                        <a:cubicBezTo>
                          <a:pt x="0" y="67"/>
                          <a:pt x="1" y="68"/>
                          <a:pt x="3" y="69"/>
                        </a:cubicBezTo>
                        <a:cubicBezTo>
                          <a:pt x="3" y="69"/>
                          <a:pt x="3" y="69"/>
                          <a:pt x="4" y="69"/>
                        </a:cubicBezTo>
                        <a:cubicBezTo>
                          <a:pt x="4" y="69"/>
                          <a:pt x="4" y="69"/>
                          <a:pt x="4" y="69"/>
                        </a:cubicBezTo>
                        <a:cubicBezTo>
                          <a:pt x="4" y="69"/>
                          <a:pt x="4" y="69"/>
                          <a:pt x="4" y="69"/>
                        </a:cubicBezTo>
                        <a:cubicBezTo>
                          <a:pt x="64" y="69"/>
                          <a:pt x="64" y="69"/>
                          <a:pt x="64" y="69"/>
                        </a:cubicBezTo>
                        <a:cubicBezTo>
                          <a:pt x="66" y="69"/>
                          <a:pt x="68" y="67"/>
                          <a:pt x="68" y="65"/>
                        </a:cubicBezTo>
                        <a:cubicBezTo>
                          <a:pt x="68" y="47"/>
                          <a:pt x="61" y="29"/>
                          <a:pt x="48" y="16"/>
                        </a:cubicBezTo>
                        <a:close/>
                        <a:moveTo>
                          <a:pt x="8" y="55"/>
                        </a:moveTo>
                        <a:cubicBezTo>
                          <a:pt x="8" y="8"/>
                          <a:pt x="8" y="8"/>
                          <a:pt x="8" y="8"/>
                        </a:cubicBezTo>
                        <a:cubicBezTo>
                          <a:pt x="19" y="8"/>
                          <a:pt x="30" y="12"/>
                          <a:pt x="40" y="19"/>
                        </a:cubicBezTo>
                        <a:lnTo>
                          <a:pt x="8" y="5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6" name="组合 5"/>
              <p:cNvGrpSpPr/>
              <p:nvPr/>
            </p:nvGrpSpPr>
            <p:grpSpPr>
              <a:xfrm>
                <a:off x="2918" y="2631"/>
                <a:ext cx="3761" cy="1271"/>
                <a:chOff x="2918" y="2631"/>
                <a:chExt cx="3761" cy="1271"/>
              </a:xfrm>
            </p:grpSpPr>
            <p:sp>
              <p:nvSpPr>
                <p:cNvPr id="9" name="Rounded Rectangle 46"/>
                <p:cNvSpPr/>
                <p:nvPr/>
              </p:nvSpPr>
              <p:spPr>
                <a:xfrm>
                  <a:off x="4066" y="2631"/>
                  <a:ext cx="2613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Rounded Rectangle 3"/>
                <p:cNvSpPr/>
                <p:nvPr/>
              </p:nvSpPr>
              <p:spPr>
                <a:xfrm>
                  <a:off x="2918" y="2631"/>
                  <a:ext cx="1199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72719F"/>
                </a:solidFill>
                <a:ln>
                  <a:noFill/>
                </a:ln>
                <a:effectLst>
                  <a:outerShdw blurRad="152400" dist="38100" algn="l" rotWithShape="0">
                    <a:prstClr val="black">
                      <a:alpha val="17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TextBox 9"/>
                <p:cNvSpPr txBox="1"/>
                <p:nvPr/>
              </p:nvSpPr>
              <p:spPr>
                <a:xfrm>
                  <a:off x="4202" y="2927"/>
                  <a:ext cx="2090" cy="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bg1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目的</a:t>
                  </a:r>
                  <a:endPara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31" name="Group 25"/>
                <p:cNvGrpSpPr/>
                <p:nvPr/>
              </p:nvGrpSpPr>
              <p:grpSpPr>
                <a:xfrm>
                  <a:off x="3413" y="3080"/>
                  <a:ext cx="285" cy="276"/>
                  <a:chOff x="842963" y="938213"/>
                  <a:chExt cx="385763" cy="373062"/>
                </a:xfrm>
                <a:solidFill>
                  <a:schemeClr val="bg2"/>
                </a:solidFill>
              </p:grpSpPr>
              <p:sp>
                <p:nvSpPr>
                  <p:cNvPr id="32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842963" y="1311275"/>
                    <a:ext cx="385763" cy="0"/>
                  </a:xfrm>
                  <a:prstGeom prst="line">
                    <a:avLst/>
                  </a:prstGeom>
                  <a:grpFill/>
                  <a:ln w="61913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Freeform 15"/>
                  <p:cNvSpPr/>
                  <p:nvPr/>
                </p:nvSpPr>
                <p:spPr bwMode="auto">
                  <a:xfrm>
                    <a:off x="842963" y="1141413"/>
                    <a:ext cx="117475" cy="125413"/>
                  </a:xfrm>
                  <a:custGeom>
                    <a:avLst/>
                    <a:gdLst>
                      <a:gd name="T0" fmla="*/ 37 w 43"/>
                      <a:gd name="T1" fmla="*/ 0 h 46"/>
                      <a:gd name="T2" fmla="*/ 6 w 43"/>
                      <a:gd name="T3" fmla="*/ 0 h 46"/>
                      <a:gd name="T4" fmla="*/ 0 w 43"/>
                      <a:gd name="T5" fmla="*/ 6 h 46"/>
                      <a:gd name="T6" fmla="*/ 0 w 43"/>
                      <a:gd name="T7" fmla="*/ 40 h 46"/>
                      <a:gd name="T8" fmla="*/ 6 w 43"/>
                      <a:gd name="T9" fmla="*/ 46 h 46"/>
                      <a:gd name="T10" fmla="*/ 37 w 43"/>
                      <a:gd name="T11" fmla="*/ 46 h 46"/>
                      <a:gd name="T12" fmla="*/ 43 w 43"/>
                      <a:gd name="T13" fmla="*/ 40 h 46"/>
                      <a:gd name="T14" fmla="*/ 43 w 43"/>
                      <a:gd name="T15" fmla="*/ 6 h 46"/>
                      <a:gd name="T16" fmla="*/ 37 w 43"/>
                      <a:gd name="T17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46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43"/>
                          <a:pt x="3" y="46"/>
                          <a:pt x="6" y="46"/>
                        </a:cubicBezTo>
                        <a:cubicBezTo>
                          <a:pt x="37" y="46"/>
                          <a:pt x="37" y="46"/>
                          <a:pt x="37" y="46"/>
                        </a:cubicBezTo>
                        <a:cubicBezTo>
                          <a:pt x="40" y="46"/>
                          <a:pt x="43" y="43"/>
                          <a:pt x="43" y="40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Freeform 16"/>
                  <p:cNvSpPr/>
                  <p:nvPr/>
                </p:nvSpPr>
                <p:spPr bwMode="auto">
                  <a:xfrm>
                    <a:off x="977901" y="938213"/>
                    <a:ext cx="117475" cy="328613"/>
                  </a:xfrm>
                  <a:custGeom>
                    <a:avLst/>
                    <a:gdLst>
                      <a:gd name="T0" fmla="*/ 37 w 43"/>
                      <a:gd name="T1" fmla="*/ 0 h 121"/>
                      <a:gd name="T2" fmla="*/ 6 w 43"/>
                      <a:gd name="T3" fmla="*/ 0 h 121"/>
                      <a:gd name="T4" fmla="*/ 0 w 43"/>
                      <a:gd name="T5" fmla="*/ 6 h 121"/>
                      <a:gd name="T6" fmla="*/ 0 w 43"/>
                      <a:gd name="T7" fmla="*/ 115 h 121"/>
                      <a:gd name="T8" fmla="*/ 6 w 43"/>
                      <a:gd name="T9" fmla="*/ 121 h 121"/>
                      <a:gd name="T10" fmla="*/ 37 w 43"/>
                      <a:gd name="T11" fmla="*/ 121 h 121"/>
                      <a:gd name="T12" fmla="*/ 43 w 43"/>
                      <a:gd name="T13" fmla="*/ 115 h 121"/>
                      <a:gd name="T14" fmla="*/ 43 w 43"/>
                      <a:gd name="T15" fmla="*/ 6 h 121"/>
                      <a:gd name="T16" fmla="*/ 37 w 43"/>
                      <a:gd name="T17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121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115"/>
                          <a:pt x="0" y="115"/>
                          <a:pt x="0" y="115"/>
                        </a:cubicBezTo>
                        <a:cubicBezTo>
                          <a:pt x="0" y="118"/>
                          <a:pt x="3" y="121"/>
                          <a:pt x="6" y="121"/>
                        </a:cubicBezTo>
                        <a:cubicBezTo>
                          <a:pt x="37" y="121"/>
                          <a:pt x="37" y="121"/>
                          <a:pt x="37" y="121"/>
                        </a:cubicBezTo>
                        <a:cubicBezTo>
                          <a:pt x="40" y="121"/>
                          <a:pt x="43" y="118"/>
                          <a:pt x="43" y="115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Freeform 17"/>
                  <p:cNvSpPr/>
                  <p:nvPr/>
                </p:nvSpPr>
                <p:spPr bwMode="auto">
                  <a:xfrm>
                    <a:off x="1111251" y="1057275"/>
                    <a:ext cx="117475" cy="209550"/>
                  </a:xfrm>
                  <a:custGeom>
                    <a:avLst/>
                    <a:gdLst>
                      <a:gd name="T0" fmla="*/ 37 w 43"/>
                      <a:gd name="T1" fmla="*/ 0 h 77"/>
                      <a:gd name="T2" fmla="*/ 6 w 43"/>
                      <a:gd name="T3" fmla="*/ 0 h 77"/>
                      <a:gd name="T4" fmla="*/ 0 w 43"/>
                      <a:gd name="T5" fmla="*/ 6 h 77"/>
                      <a:gd name="T6" fmla="*/ 0 w 43"/>
                      <a:gd name="T7" fmla="*/ 71 h 77"/>
                      <a:gd name="T8" fmla="*/ 6 w 43"/>
                      <a:gd name="T9" fmla="*/ 77 h 77"/>
                      <a:gd name="T10" fmla="*/ 37 w 43"/>
                      <a:gd name="T11" fmla="*/ 77 h 77"/>
                      <a:gd name="T12" fmla="*/ 43 w 43"/>
                      <a:gd name="T13" fmla="*/ 71 h 77"/>
                      <a:gd name="T14" fmla="*/ 43 w 43"/>
                      <a:gd name="T15" fmla="*/ 6 h 77"/>
                      <a:gd name="T16" fmla="*/ 37 w 43"/>
                      <a:gd name="T17" fmla="*/ 0 h 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3" h="77">
                        <a:moveTo>
                          <a:pt x="37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71"/>
                          <a:pt x="0" y="71"/>
                          <a:pt x="0" y="71"/>
                        </a:cubicBezTo>
                        <a:cubicBezTo>
                          <a:pt x="0" y="74"/>
                          <a:pt x="3" y="77"/>
                          <a:pt x="6" y="77"/>
                        </a:cubicBezTo>
                        <a:cubicBezTo>
                          <a:pt x="37" y="77"/>
                          <a:pt x="37" y="77"/>
                          <a:pt x="37" y="77"/>
                        </a:cubicBezTo>
                        <a:cubicBezTo>
                          <a:pt x="40" y="77"/>
                          <a:pt x="43" y="74"/>
                          <a:pt x="43" y="71"/>
                        </a:cubicBezTo>
                        <a:cubicBezTo>
                          <a:pt x="43" y="6"/>
                          <a:pt x="43" y="6"/>
                          <a:pt x="43" y="6"/>
                        </a:cubicBezTo>
                        <a:cubicBezTo>
                          <a:pt x="43" y="3"/>
                          <a:pt x="40" y="0"/>
                          <a:pt x="37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17" name="组合 16"/>
              <p:cNvGrpSpPr/>
              <p:nvPr/>
            </p:nvGrpSpPr>
            <p:grpSpPr>
              <a:xfrm>
                <a:off x="2918" y="5690"/>
                <a:ext cx="3761" cy="1271"/>
                <a:chOff x="2918" y="5690"/>
                <a:chExt cx="3761" cy="1271"/>
              </a:xfrm>
            </p:grpSpPr>
            <p:sp>
              <p:nvSpPr>
                <p:cNvPr id="3" name="Rounded Rectangle 44"/>
                <p:cNvSpPr/>
                <p:nvPr/>
              </p:nvSpPr>
              <p:spPr>
                <a:xfrm>
                  <a:off x="4066" y="5690"/>
                  <a:ext cx="2613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Rounded Rectangle 40"/>
                <p:cNvSpPr/>
                <p:nvPr/>
              </p:nvSpPr>
              <p:spPr>
                <a:xfrm>
                  <a:off x="2918" y="5690"/>
                  <a:ext cx="1199" cy="1271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72719F"/>
                </a:solidFill>
                <a:ln>
                  <a:noFill/>
                </a:ln>
                <a:effectLst>
                  <a:outerShdw blurRad="152400" dist="38100" algn="l" rotWithShape="0">
                    <a:prstClr val="black">
                      <a:alpha val="17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grpSp>
              <p:nvGrpSpPr>
                <p:cNvPr id="27" name="Group 21"/>
                <p:cNvGrpSpPr/>
                <p:nvPr/>
              </p:nvGrpSpPr>
              <p:grpSpPr>
                <a:xfrm>
                  <a:off x="3416" y="6193"/>
                  <a:ext cx="286" cy="250"/>
                  <a:chOff x="20638" y="2970213"/>
                  <a:chExt cx="387350" cy="338137"/>
                </a:xfrm>
                <a:solidFill>
                  <a:schemeClr val="bg2"/>
                </a:solidFill>
              </p:grpSpPr>
              <p:sp>
                <p:nvSpPr>
                  <p:cNvPr id="28" name="Freeform 11"/>
                  <p:cNvSpPr/>
                  <p:nvPr/>
                </p:nvSpPr>
                <p:spPr bwMode="auto">
                  <a:xfrm>
                    <a:off x="73026" y="3032125"/>
                    <a:ext cx="279400" cy="276225"/>
                  </a:xfrm>
                  <a:custGeom>
                    <a:avLst/>
                    <a:gdLst>
                      <a:gd name="T0" fmla="*/ 0 w 102"/>
                      <a:gd name="T1" fmla="*/ 98 h 101"/>
                      <a:gd name="T2" fmla="*/ 3 w 102"/>
                      <a:gd name="T3" fmla="*/ 101 h 101"/>
                      <a:gd name="T4" fmla="*/ 39 w 102"/>
                      <a:gd name="T5" fmla="*/ 101 h 101"/>
                      <a:gd name="T6" fmla="*/ 39 w 102"/>
                      <a:gd name="T7" fmla="*/ 72 h 101"/>
                      <a:gd name="T8" fmla="*/ 43 w 102"/>
                      <a:gd name="T9" fmla="*/ 68 h 101"/>
                      <a:gd name="T10" fmla="*/ 58 w 102"/>
                      <a:gd name="T11" fmla="*/ 68 h 101"/>
                      <a:gd name="T12" fmla="*/ 63 w 102"/>
                      <a:gd name="T13" fmla="*/ 72 h 101"/>
                      <a:gd name="T14" fmla="*/ 63 w 102"/>
                      <a:gd name="T15" fmla="*/ 101 h 101"/>
                      <a:gd name="T16" fmla="*/ 98 w 102"/>
                      <a:gd name="T17" fmla="*/ 101 h 101"/>
                      <a:gd name="T18" fmla="*/ 101 w 102"/>
                      <a:gd name="T19" fmla="*/ 97 h 101"/>
                      <a:gd name="T20" fmla="*/ 101 w 102"/>
                      <a:gd name="T21" fmla="*/ 44 h 101"/>
                      <a:gd name="T22" fmla="*/ 52 w 102"/>
                      <a:gd name="T23" fmla="*/ 0 h 101"/>
                      <a:gd name="T24" fmla="*/ 0 w 102"/>
                      <a:gd name="T25" fmla="*/ 44 h 101"/>
                      <a:gd name="T26" fmla="*/ 0 w 102"/>
                      <a:gd name="T27" fmla="*/ 98 h 1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02" h="101">
                        <a:moveTo>
                          <a:pt x="0" y="98"/>
                        </a:moveTo>
                        <a:cubicBezTo>
                          <a:pt x="0" y="98"/>
                          <a:pt x="0" y="101"/>
                          <a:pt x="3" y="101"/>
                        </a:cubicBezTo>
                        <a:cubicBezTo>
                          <a:pt x="7" y="101"/>
                          <a:pt x="39" y="101"/>
                          <a:pt x="39" y="101"/>
                        </a:cubicBezTo>
                        <a:cubicBezTo>
                          <a:pt x="39" y="72"/>
                          <a:pt x="39" y="72"/>
                          <a:pt x="39" y="72"/>
                        </a:cubicBezTo>
                        <a:cubicBezTo>
                          <a:pt x="39" y="72"/>
                          <a:pt x="38" y="68"/>
                          <a:pt x="43" y="68"/>
                        </a:cubicBezTo>
                        <a:cubicBezTo>
                          <a:pt x="58" y="68"/>
                          <a:pt x="58" y="68"/>
                          <a:pt x="58" y="68"/>
                        </a:cubicBezTo>
                        <a:cubicBezTo>
                          <a:pt x="63" y="68"/>
                          <a:pt x="63" y="72"/>
                          <a:pt x="63" y="72"/>
                        </a:cubicBezTo>
                        <a:cubicBezTo>
                          <a:pt x="63" y="101"/>
                          <a:pt x="63" y="101"/>
                          <a:pt x="63" y="101"/>
                        </a:cubicBezTo>
                        <a:cubicBezTo>
                          <a:pt x="63" y="101"/>
                          <a:pt x="93" y="101"/>
                          <a:pt x="98" y="101"/>
                        </a:cubicBezTo>
                        <a:cubicBezTo>
                          <a:pt x="102" y="101"/>
                          <a:pt x="101" y="97"/>
                          <a:pt x="101" y="97"/>
                        </a:cubicBezTo>
                        <a:cubicBezTo>
                          <a:pt x="101" y="44"/>
                          <a:pt x="101" y="44"/>
                          <a:pt x="101" y="44"/>
                        </a:cubicBezTo>
                        <a:cubicBezTo>
                          <a:pt x="52" y="0"/>
                          <a:pt x="52" y="0"/>
                          <a:pt x="52" y="0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lnTo>
                          <a:pt x="0" y="9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Freeform 12"/>
                  <p:cNvSpPr/>
                  <p:nvPr/>
                </p:nvSpPr>
                <p:spPr bwMode="auto">
                  <a:xfrm>
                    <a:off x="20638" y="2970213"/>
                    <a:ext cx="387350" cy="193675"/>
                  </a:xfrm>
                  <a:custGeom>
                    <a:avLst/>
                    <a:gdLst>
                      <a:gd name="T0" fmla="*/ 0 w 141"/>
                      <a:gd name="T1" fmla="*/ 63 h 71"/>
                      <a:gd name="T2" fmla="*/ 14 w 141"/>
                      <a:gd name="T3" fmla="*/ 63 h 71"/>
                      <a:gd name="T4" fmla="*/ 72 w 141"/>
                      <a:gd name="T5" fmla="*/ 14 h 71"/>
                      <a:gd name="T6" fmla="*/ 126 w 141"/>
                      <a:gd name="T7" fmla="*/ 62 h 71"/>
                      <a:gd name="T8" fmla="*/ 141 w 141"/>
                      <a:gd name="T9" fmla="*/ 62 h 71"/>
                      <a:gd name="T10" fmla="*/ 72 w 141"/>
                      <a:gd name="T11" fmla="*/ 0 h 71"/>
                      <a:gd name="T12" fmla="*/ 0 w 141"/>
                      <a:gd name="T13" fmla="*/ 6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1" h="71">
                        <a:moveTo>
                          <a:pt x="0" y="63"/>
                        </a:moveTo>
                        <a:cubicBezTo>
                          <a:pt x="0" y="63"/>
                          <a:pt x="5" y="71"/>
                          <a:pt x="14" y="63"/>
                        </a:cubicBezTo>
                        <a:cubicBezTo>
                          <a:pt x="72" y="14"/>
                          <a:pt x="72" y="14"/>
                          <a:pt x="72" y="14"/>
                        </a:cubicBezTo>
                        <a:cubicBezTo>
                          <a:pt x="126" y="62"/>
                          <a:pt x="126" y="62"/>
                          <a:pt x="126" y="62"/>
                        </a:cubicBezTo>
                        <a:cubicBezTo>
                          <a:pt x="137" y="70"/>
                          <a:pt x="141" y="62"/>
                          <a:pt x="141" y="62"/>
                        </a:cubicBezTo>
                        <a:cubicBezTo>
                          <a:pt x="72" y="0"/>
                          <a:pt x="72" y="0"/>
                          <a:pt x="72" y="0"/>
                        </a:cubicBezTo>
                        <a:lnTo>
                          <a:pt x="0" y="6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Freeform 13"/>
                  <p:cNvSpPr/>
                  <p:nvPr/>
                </p:nvSpPr>
                <p:spPr bwMode="auto">
                  <a:xfrm>
                    <a:off x="325438" y="3008313"/>
                    <a:ext cx="34925" cy="76200"/>
                  </a:xfrm>
                  <a:custGeom>
                    <a:avLst/>
                    <a:gdLst>
                      <a:gd name="T0" fmla="*/ 22 w 22"/>
                      <a:gd name="T1" fmla="*/ 0 h 48"/>
                      <a:gd name="T2" fmla="*/ 0 w 22"/>
                      <a:gd name="T3" fmla="*/ 0 h 48"/>
                      <a:gd name="T4" fmla="*/ 0 w 22"/>
                      <a:gd name="T5" fmla="*/ 29 h 48"/>
                      <a:gd name="T6" fmla="*/ 22 w 22"/>
                      <a:gd name="T7" fmla="*/ 48 h 48"/>
                      <a:gd name="T8" fmla="*/ 22 w 22"/>
                      <a:gd name="T9" fmla="*/ 0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48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29"/>
                        </a:lnTo>
                        <a:lnTo>
                          <a:pt x="22" y="48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50" name="TextBox 12"/>
                <p:cNvSpPr txBox="1"/>
                <p:nvPr/>
              </p:nvSpPr>
              <p:spPr>
                <a:xfrm>
                  <a:off x="4202" y="6083"/>
                  <a:ext cx="2090" cy="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bg1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竞价原则</a:t>
                  </a:r>
                  <a:endPara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5" name="文本框 44"/>
            <p:cNvSpPr txBox="1"/>
            <p:nvPr/>
          </p:nvSpPr>
          <p:spPr>
            <a:xfrm>
              <a:off x="7326" y="6326"/>
              <a:ext cx="1072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但是也不要给太低的竞价，避免广告活动的权重起来了也没有点击</a:t>
              </a: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694459" y="4210492"/>
            <a:ext cx="2957936" cy="806824"/>
            <a:chOff x="2918" y="7220"/>
            <a:chExt cx="3761" cy="1271"/>
          </a:xfrm>
        </p:grpSpPr>
        <p:sp>
          <p:nvSpPr>
            <p:cNvPr id="2" name="Rounded Rectangle 43"/>
            <p:cNvSpPr/>
            <p:nvPr/>
          </p:nvSpPr>
          <p:spPr>
            <a:xfrm>
              <a:off x="4066" y="7220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Rounded Rectangle 42"/>
            <p:cNvSpPr/>
            <p:nvPr/>
          </p:nvSpPr>
          <p:spPr>
            <a:xfrm>
              <a:off x="2918" y="7220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TextBox 12"/>
            <p:cNvSpPr txBox="1"/>
            <p:nvPr/>
          </p:nvSpPr>
          <p:spPr>
            <a:xfrm>
              <a:off x="4202" y="7554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操作细节</a:t>
              </a:r>
              <a:endParaRPr lang="zh-CN" alt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2" name="Group 16"/>
            <p:cNvGrpSpPr/>
            <p:nvPr/>
          </p:nvGrpSpPr>
          <p:grpSpPr>
            <a:xfrm>
              <a:off x="3411" y="7710"/>
              <a:ext cx="286" cy="270"/>
              <a:chOff x="20638" y="1901825"/>
              <a:chExt cx="387350" cy="365126"/>
            </a:xfrm>
            <a:solidFill>
              <a:schemeClr val="bg2"/>
            </a:solidFill>
          </p:grpSpPr>
          <p:sp>
            <p:nvSpPr>
              <p:cNvPr id="23" name="Freeform 7"/>
              <p:cNvSpPr/>
              <p:nvPr/>
            </p:nvSpPr>
            <p:spPr bwMode="auto">
              <a:xfrm>
                <a:off x="20638" y="2236788"/>
                <a:ext cx="350838" cy="30163"/>
              </a:xfrm>
              <a:custGeom>
                <a:avLst/>
                <a:gdLst>
                  <a:gd name="T0" fmla="*/ 123 w 128"/>
                  <a:gd name="T1" fmla="*/ 0 h 11"/>
                  <a:gd name="T2" fmla="*/ 6 w 128"/>
                  <a:gd name="T3" fmla="*/ 0 h 11"/>
                  <a:gd name="T4" fmla="*/ 0 w 128"/>
                  <a:gd name="T5" fmla="*/ 6 h 11"/>
                  <a:gd name="T6" fmla="*/ 6 w 128"/>
                  <a:gd name="T7" fmla="*/ 11 h 11"/>
                  <a:gd name="T8" fmla="*/ 123 w 128"/>
                  <a:gd name="T9" fmla="*/ 11 h 11"/>
                  <a:gd name="T10" fmla="*/ 128 w 128"/>
                  <a:gd name="T11" fmla="*/ 6 h 11"/>
                  <a:gd name="T12" fmla="*/ 123 w 128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1">
                    <a:moveTo>
                      <a:pt x="12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6" y="11"/>
                      <a:pt x="128" y="9"/>
                      <a:pt x="128" y="6"/>
                    </a:cubicBezTo>
                    <a:cubicBezTo>
                      <a:pt x="128" y="3"/>
                      <a:pt x="126" y="0"/>
                      <a:pt x="1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8"/>
              <p:cNvSpPr>
                <a:spLocks noEditPoints="1"/>
              </p:cNvSpPr>
              <p:nvPr/>
            </p:nvSpPr>
            <p:spPr bwMode="auto">
              <a:xfrm>
                <a:off x="46038" y="2032000"/>
                <a:ext cx="361950" cy="188913"/>
              </a:xfrm>
              <a:custGeom>
                <a:avLst/>
                <a:gdLst>
                  <a:gd name="T0" fmla="*/ 132 w 132"/>
                  <a:gd name="T1" fmla="*/ 20 h 69"/>
                  <a:gd name="T2" fmla="*/ 129 w 132"/>
                  <a:gd name="T3" fmla="*/ 17 h 69"/>
                  <a:gd name="T4" fmla="*/ 117 w 132"/>
                  <a:gd name="T5" fmla="*/ 13 h 69"/>
                  <a:gd name="T6" fmla="*/ 110 w 132"/>
                  <a:gd name="T7" fmla="*/ 9 h 69"/>
                  <a:gd name="T8" fmla="*/ 108 w 132"/>
                  <a:gd name="T9" fmla="*/ 3 h 69"/>
                  <a:gd name="T10" fmla="*/ 102 w 132"/>
                  <a:gd name="T11" fmla="*/ 0 h 69"/>
                  <a:gd name="T12" fmla="*/ 8 w 132"/>
                  <a:gd name="T13" fmla="*/ 0 h 69"/>
                  <a:gd name="T14" fmla="*/ 3 w 132"/>
                  <a:gd name="T15" fmla="*/ 3 h 69"/>
                  <a:gd name="T16" fmla="*/ 3 w 132"/>
                  <a:gd name="T17" fmla="*/ 16 h 69"/>
                  <a:gd name="T18" fmla="*/ 14 w 132"/>
                  <a:gd name="T19" fmla="*/ 53 h 69"/>
                  <a:gd name="T20" fmla="*/ 19 w 132"/>
                  <a:gd name="T21" fmla="*/ 66 h 69"/>
                  <a:gd name="T22" fmla="*/ 24 w 132"/>
                  <a:gd name="T23" fmla="*/ 69 h 69"/>
                  <a:gd name="T24" fmla="*/ 89 w 132"/>
                  <a:gd name="T25" fmla="*/ 69 h 69"/>
                  <a:gd name="T26" fmla="*/ 95 w 132"/>
                  <a:gd name="T27" fmla="*/ 66 h 69"/>
                  <a:gd name="T28" fmla="*/ 98 w 132"/>
                  <a:gd name="T29" fmla="*/ 59 h 69"/>
                  <a:gd name="T30" fmla="*/ 106 w 132"/>
                  <a:gd name="T31" fmla="*/ 56 h 69"/>
                  <a:gd name="T32" fmla="*/ 114 w 132"/>
                  <a:gd name="T33" fmla="*/ 56 h 69"/>
                  <a:gd name="T34" fmla="*/ 119 w 132"/>
                  <a:gd name="T35" fmla="*/ 53 h 69"/>
                  <a:gd name="T36" fmla="*/ 132 w 132"/>
                  <a:gd name="T37" fmla="*/ 24 h 69"/>
                  <a:gd name="T38" fmla="*/ 132 w 132"/>
                  <a:gd name="T39" fmla="*/ 20 h 69"/>
                  <a:gd name="T40" fmla="*/ 116 w 132"/>
                  <a:gd name="T41" fmla="*/ 32 h 69"/>
                  <a:gd name="T42" fmla="*/ 114 w 132"/>
                  <a:gd name="T43" fmla="*/ 38 h 69"/>
                  <a:gd name="T44" fmla="*/ 106 w 132"/>
                  <a:gd name="T45" fmla="*/ 46 h 69"/>
                  <a:gd name="T46" fmla="*/ 103 w 132"/>
                  <a:gd name="T47" fmla="*/ 38 h 69"/>
                  <a:gd name="T48" fmla="*/ 105 w 132"/>
                  <a:gd name="T49" fmla="*/ 28 h 69"/>
                  <a:gd name="T50" fmla="*/ 113 w 132"/>
                  <a:gd name="T51" fmla="*/ 23 h 69"/>
                  <a:gd name="T52" fmla="*/ 116 w 132"/>
                  <a:gd name="T53" fmla="*/ 3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2" h="69">
                    <a:moveTo>
                      <a:pt x="132" y="20"/>
                    </a:moveTo>
                    <a:cubicBezTo>
                      <a:pt x="131" y="19"/>
                      <a:pt x="130" y="18"/>
                      <a:pt x="129" y="17"/>
                    </a:cubicBezTo>
                    <a:cubicBezTo>
                      <a:pt x="117" y="13"/>
                      <a:pt x="117" y="13"/>
                      <a:pt x="117" y="13"/>
                    </a:cubicBezTo>
                    <a:cubicBezTo>
                      <a:pt x="113" y="11"/>
                      <a:pt x="110" y="9"/>
                      <a:pt x="110" y="9"/>
                    </a:cubicBezTo>
                    <a:cubicBezTo>
                      <a:pt x="110" y="9"/>
                      <a:pt x="110" y="5"/>
                      <a:pt x="108" y="3"/>
                    </a:cubicBezTo>
                    <a:cubicBezTo>
                      <a:pt x="107" y="1"/>
                      <a:pt x="105" y="0"/>
                      <a:pt x="10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1"/>
                      <a:pt x="3" y="3"/>
                    </a:cubicBezTo>
                    <a:cubicBezTo>
                      <a:pt x="0" y="5"/>
                      <a:pt x="1" y="12"/>
                      <a:pt x="3" y="16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7"/>
                      <a:pt x="16" y="64"/>
                      <a:pt x="19" y="66"/>
                    </a:cubicBezTo>
                    <a:cubicBezTo>
                      <a:pt x="20" y="68"/>
                      <a:pt x="22" y="69"/>
                      <a:pt x="24" y="69"/>
                    </a:cubicBezTo>
                    <a:cubicBezTo>
                      <a:pt x="89" y="69"/>
                      <a:pt x="89" y="69"/>
                      <a:pt x="89" y="69"/>
                    </a:cubicBezTo>
                    <a:cubicBezTo>
                      <a:pt x="91" y="69"/>
                      <a:pt x="93" y="68"/>
                      <a:pt x="95" y="66"/>
                    </a:cubicBezTo>
                    <a:cubicBezTo>
                      <a:pt x="97" y="64"/>
                      <a:pt x="97" y="60"/>
                      <a:pt x="98" y="59"/>
                    </a:cubicBezTo>
                    <a:cubicBezTo>
                      <a:pt x="98" y="57"/>
                      <a:pt x="102" y="56"/>
                      <a:pt x="106" y="56"/>
                    </a:cubicBezTo>
                    <a:cubicBezTo>
                      <a:pt x="114" y="56"/>
                      <a:pt x="114" y="56"/>
                      <a:pt x="114" y="56"/>
                    </a:cubicBezTo>
                    <a:cubicBezTo>
                      <a:pt x="116" y="56"/>
                      <a:pt x="118" y="55"/>
                      <a:pt x="119" y="53"/>
                    </a:cubicBezTo>
                    <a:cubicBezTo>
                      <a:pt x="132" y="24"/>
                      <a:pt x="132" y="24"/>
                      <a:pt x="132" y="24"/>
                    </a:cubicBezTo>
                    <a:cubicBezTo>
                      <a:pt x="132" y="23"/>
                      <a:pt x="132" y="21"/>
                      <a:pt x="132" y="20"/>
                    </a:cubicBezTo>
                    <a:close/>
                    <a:moveTo>
                      <a:pt x="116" y="32"/>
                    </a:moveTo>
                    <a:cubicBezTo>
                      <a:pt x="114" y="38"/>
                      <a:pt x="114" y="38"/>
                      <a:pt x="114" y="38"/>
                    </a:cubicBezTo>
                    <a:cubicBezTo>
                      <a:pt x="112" y="42"/>
                      <a:pt x="108" y="45"/>
                      <a:pt x="106" y="46"/>
                    </a:cubicBezTo>
                    <a:cubicBezTo>
                      <a:pt x="103" y="46"/>
                      <a:pt x="102" y="42"/>
                      <a:pt x="103" y="3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6" y="24"/>
                      <a:pt x="110" y="21"/>
                      <a:pt x="113" y="23"/>
                    </a:cubicBezTo>
                    <a:cubicBezTo>
                      <a:pt x="117" y="24"/>
                      <a:pt x="118" y="28"/>
                      <a:pt x="11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141288" y="1901825"/>
                <a:ext cx="30163" cy="103188"/>
              </a:xfrm>
              <a:custGeom>
                <a:avLst/>
                <a:gdLst>
                  <a:gd name="T0" fmla="*/ 4 w 11"/>
                  <a:gd name="T1" fmla="*/ 38 h 38"/>
                  <a:gd name="T2" fmla="*/ 4 w 11"/>
                  <a:gd name="T3" fmla="*/ 26 h 38"/>
                  <a:gd name="T4" fmla="*/ 2 w 11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38">
                    <a:moveTo>
                      <a:pt x="4" y="38"/>
                    </a:moveTo>
                    <a:cubicBezTo>
                      <a:pt x="4" y="38"/>
                      <a:pt x="0" y="33"/>
                      <a:pt x="4" y="26"/>
                    </a:cubicBezTo>
                    <a:cubicBezTo>
                      <a:pt x="9" y="19"/>
                      <a:pt x="11" y="5"/>
                      <a:pt x="2" y="0"/>
                    </a:cubicBezTo>
                  </a:path>
                </a:pathLst>
              </a:custGeom>
              <a:grpFill/>
              <a:ln w="22225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09551" y="1901825"/>
                <a:ext cx="30163" cy="103188"/>
              </a:xfrm>
              <a:custGeom>
                <a:avLst/>
                <a:gdLst>
                  <a:gd name="T0" fmla="*/ 4 w 11"/>
                  <a:gd name="T1" fmla="*/ 38 h 38"/>
                  <a:gd name="T2" fmla="*/ 4 w 11"/>
                  <a:gd name="T3" fmla="*/ 26 h 38"/>
                  <a:gd name="T4" fmla="*/ 2 w 11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38">
                    <a:moveTo>
                      <a:pt x="4" y="38"/>
                    </a:moveTo>
                    <a:cubicBezTo>
                      <a:pt x="4" y="38"/>
                      <a:pt x="0" y="33"/>
                      <a:pt x="4" y="26"/>
                    </a:cubicBezTo>
                    <a:cubicBezTo>
                      <a:pt x="9" y="19"/>
                      <a:pt x="11" y="5"/>
                      <a:pt x="2" y="0"/>
                    </a:cubicBezTo>
                  </a:path>
                </a:pathLst>
              </a:custGeom>
              <a:grpFill/>
              <a:ln w="22225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6" name="TextBox 47"/>
          <p:cNvSpPr txBox="1"/>
          <p:nvPr/>
        </p:nvSpPr>
        <p:spPr>
          <a:xfrm>
            <a:off x="4697095" y="1739900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现有的权重还不够，等广告活动整体权重起来了再开始跑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652010" y="2413000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分配0%的预算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51"/>
          <p:cNvSpPr txBox="1"/>
          <p:nvPr/>
        </p:nvSpPr>
        <p:spPr>
          <a:xfrm>
            <a:off x="4674870" y="3187700"/>
            <a:ext cx="646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低竞价，</a:t>
            </a:r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保持无曝光或者有曝光无点击的状态</a:t>
            </a:r>
            <a:endParaRPr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4377516" y="727522"/>
            <a:ext cx="23907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大词组-精准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694815" y="1578610"/>
            <a:ext cx="2867025" cy="2101529"/>
            <a:chOff x="2918" y="2631"/>
            <a:chExt cx="3761" cy="4330"/>
          </a:xfrm>
        </p:grpSpPr>
        <p:grpSp>
          <p:nvGrpSpPr>
            <p:cNvPr id="16" name="组合 15"/>
            <p:cNvGrpSpPr/>
            <p:nvPr/>
          </p:nvGrpSpPr>
          <p:grpSpPr>
            <a:xfrm>
              <a:off x="2918" y="4160"/>
              <a:ext cx="3761" cy="1271"/>
              <a:chOff x="2918" y="4160"/>
              <a:chExt cx="3761" cy="1271"/>
            </a:xfrm>
          </p:grpSpPr>
          <p:sp>
            <p:nvSpPr>
              <p:cNvPr id="8" name="Rounded Rectangle 45"/>
              <p:cNvSpPr/>
              <p:nvPr/>
            </p:nvSpPr>
            <p:spPr>
              <a:xfrm>
                <a:off x="4066" y="416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Rounded Rectangle 38"/>
              <p:cNvSpPr/>
              <p:nvPr/>
            </p:nvSpPr>
            <p:spPr>
              <a:xfrm>
                <a:off x="2918" y="416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2">
                  <a:lumMod val="65000"/>
                </a:schemeClr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" name="TextBox 10"/>
              <p:cNvSpPr txBox="1"/>
              <p:nvPr/>
            </p:nvSpPr>
            <p:spPr>
              <a:xfrm>
                <a:off x="4202" y="4501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预算分配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9" name="Group 13"/>
              <p:cNvGrpSpPr/>
              <p:nvPr/>
            </p:nvGrpSpPr>
            <p:grpSpPr>
              <a:xfrm>
                <a:off x="3411" y="4660"/>
                <a:ext cx="285" cy="286"/>
                <a:chOff x="7938" y="928688"/>
                <a:chExt cx="385763" cy="387350"/>
              </a:xfrm>
              <a:solidFill>
                <a:schemeClr val="bg2"/>
              </a:solidFill>
            </p:grpSpPr>
            <p:sp>
              <p:nvSpPr>
                <p:cNvPr id="20" name="Freeform 5"/>
                <p:cNvSpPr/>
                <p:nvPr/>
              </p:nvSpPr>
              <p:spPr bwMode="auto">
                <a:xfrm>
                  <a:off x="7938" y="947738"/>
                  <a:ext cx="369888" cy="368300"/>
                </a:xfrm>
                <a:custGeom>
                  <a:avLst/>
                  <a:gdLst>
                    <a:gd name="T0" fmla="*/ 68 w 135"/>
                    <a:gd name="T1" fmla="*/ 0 h 135"/>
                    <a:gd name="T2" fmla="*/ 0 w 135"/>
                    <a:gd name="T3" fmla="*/ 68 h 135"/>
                    <a:gd name="T4" fmla="*/ 68 w 135"/>
                    <a:gd name="T5" fmla="*/ 135 h 135"/>
                    <a:gd name="T6" fmla="*/ 135 w 135"/>
                    <a:gd name="T7" fmla="*/ 68 h 135"/>
                    <a:gd name="T8" fmla="*/ 68 w 135"/>
                    <a:gd name="T9" fmla="*/ 68 h 135"/>
                    <a:gd name="T10" fmla="*/ 68 w 135"/>
                    <a:gd name="T11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5" h="135">
                      <a:moveTo>
                        <a:pt x="68" y="0"/>
                      </a:move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5"/>
                        <a:pt x="30" y="135"/>
                        <a:pt x="68" y="135"/>
                      </a:cubicBezTo>
                      <a:cubicBezTo>
                        <a:pt x="105" y="135"/>
                        <a:pt x="135" y="105"/>
                        <a:pt x="135" y="68"/>
                      </a:cubicBezTo>
                      <a:cubicBezTo>
                        <a:pt x="68" y="68"/>
                        <a:pt x="68" y="68"/>
                        <a:pt x="68" y="68"/>
                      </a:cubicBez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6"/>
                <p:cNvSpPr>
                  <a:spLocks noEditPoints="1"/>
                </p:cNvSpPr>
                <p:nvPr/>
              </p:nvSpPr>
              <p:spPr bwMode="auto">
                <a:xfrm>
                  <a:off x="207963" y="928688"/>
                  <a:ext cx="185738" cy="188913"/>
                </a:xfrm>
                <a:custGeom>
                  <a:avLst/>
                  <a:gdLst>
                    <a:gd name="T0" fmla="*/ 48 w 68"/>
                    <a:gd name="T1" fmla="*/ 16 h 69"/>
                    <a:gd name="T2" fmla="*/ 48 w 68"/>
                    <a:gd name="T3" fmla="*/ 15 h 69"/>
                    <a:gd name="T4" fmla="*/ 47 w 68"/>
                    <a:gd name="T5" fmla="*/ 15 h 69"/>
                    <a:gd name="T6" fmla="*/ 47 w 68"/>
                    <a:gd name="T7" fmla="*/ 15 h 69"/>
                    <a:gd name="T8" fmla="*/ 47 w 68"/>
                    <a:gd name="T9" fmla="*/ 15 h 69"/>
                    <a:gd name="T10" fmla="*/ 4 w 68"/>
                    <a:gd name="T11" fmla="*/ 0 h 69"/>
                    <a:gd name="T12" fmla="*/ 0 w 68"/>
                    <a:gd name="T13" fmla="*/ 4 h 69"/>
                    <a:gd name="T14" fmla="*/ 0 w 68"/>
                    <a:gd name="T15" fmla="*/ 65 h 69"/>
                    <a:gd name="T16" fmla="*/ 3 w 68"/>
                    <a:gd name="T17" fmla="*/ 69 h 69"/>
                    <a:gd name="T18" fmla="*/ 4 w 68"/>
                    <a:gd name="T19" fmla="*/ 69 h 69"/>
                    <a:gd name="T20" fmla="*/ 4 w 68"/>
                    <a:gd name="T21" fmla="*/ 69 h 69"/>
                    <a:gd name="T22" fmla="*/ 4 w 68"/>
                    <a:gd name="T23" fmla="*/ 69 h 69"/>
                    <a:gd name="T24" fmla="*/ 64 w 68"/>
                    <a:gd name="T25" fmla="*/ 69 h 69"/>
                    <a:gd name="T26" fmla="*/ 68 w 68"/>
                    <a:gd name="T27" fmla="*/ 65 h 69"/>
                    <a:gd name="T28" fmla="*/ 48 w 68"/>
                    <a:gd name="T29" fmla="*/ 16 h 69"/>
                    <a:gd name="T30" fmla="*/ 8 w 68"/>
                    <a:gd name="T31" fmla="*/ 55 h 69"/>
                    <a:gd name="T32" fmla="*/ 8 w 68"/>
                    <a:gd name="T33" fmla="*/ 8 h 69"/>
                    <a:gd name="T34" fmla="*/ 40 w 68"/>
                    <a:gd name="T35" fmla="*/ 19 h 69"/>
                    <a:gd name="T36" fmla="*/ 8 w 68"/>
                    <a:gd name="T37" fmla="*/ 55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8" h="69">
                      <a:moveTo>
                        <a:pt x="48" y="16"/>
                      </a:moveTo>
                      <a:cubicBezTo>
                        <a:pt x="48" y="16"/>
                        <a:pt x="48" y="15"/>
                        <a:pt x="48" y="15"/>
                      </a:cubicBezTo>
                      <a:cubicBezTo>
                        <a:pt x="48" y="15"/>
                        <a:pt x="48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47" y="15"/>
                        <a:pt x="47" y="15"/>
                        <a:pt x="47" y="15"/>
                      </a:cubicBezTo>
                      <a:cubicBezTo>
                        <a:pt x="35" y="5"/>
                        <a:pt x="20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5"/>
                        <a:pt x="0" y="65"/>
                        <a:pt x="0" y="65"/>
                      </a:cubicBezTo>
                      <a:cubicBezTo>
                        <a:pt x="0" y="67"/>
                        <a:pt x="1" y="68"/>
                        <a:pt x="3" y="69"/>
                      </a:cubicBezTo>
                      <a:cubicBezTo>
                        <a:pt x="3" y="69"/>
                        <a:pt x="3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4" y="69"/>
                        <a:pt x="4" y="69"/>
                        <a:pt x="4" y="69"/>
                      </a:cubicBezTo>
                      <a:cubicBezTo>
                        <a:pt x="64" y="69"/>
                        <a:pt x="64" y="69"/>
                        <a:pt x="64" y="69"/>
                      </a:cubicBezTo>
                      <a:cubicBezTo>
                        <a:pt x="66" y="69"/>
                        <a:pt x="68" y="67"/>
                        <a:pt x="68" y="65"/>
                      </a:cubicBezTo>
                      <a:cubicBezTo>
                        <a:pt x="68" y="47"/>
                        <a:pt x="61" y="29"/>
                        <a:pt x="48" y="16"/>
                      </a:cubicBezTo>
                      <a:close/>
                      <a:moveTo>
                        <a:pt x="8" y="55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9" y="8"/>
                        <a:pt x="30" y="12"/>
                        <a:pt x="40" y="19"/>
                      </a:cubicBezTo>
                      <a:lnTo>
                        <a:pt x="8" y="5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2918" y="2631"/>
              <a:ext cx="3761" cy="1271"/>
              <a:chOff x="2918" y="2631"/>
              <a:chExt cx="3761" cy="1271"/>
            </a:xfrm>
          </p:grpSpPr>
          <p:sp>
            <p:nvSpPr>
              <p:cNvPr id="9" name="Rounded Rectangle 46"/>
              <p:cNvSpPr/>
              <p:nvPr/>
            </p:nvSpPr>
            <p:spPr>
              <a:xfrm>
                <a:off x="4066" y="2631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Rounded Rectangle 3"/>
              <p:cNvSpPr/>
              <p:nvPr/>
            </p:nvSpPr>
            <p:spPr>
              <a:xfrm>
                <a:off x="2918" y="2631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4202" y="2927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目的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1" name="Group 25"/>
              <p:cNvGrpSpPr/>
              <p:nvPr/>
            </p:nvGrpSpPr>
            <p:grpSpPr>
              <a:xfrm>
                <a:off x="3413" y="3080"/>
                <a:ext cx="285" cy="276"/>
                <a:chOff x="842963" y="938213"/>
                <a:chExt cx="385763" cy="373062"/>
              </a:xfrm>
              <a:solidFill>
                <a:schemeClr val="bg2"/>
              </a:solidFill>
            </p:grpSpPr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842963" y="1311275"/>
                  <a:ext cx="385763" cy="0"/>
                </a:xfrm>
                <a:prstGeom prst="line">
                  <a:avLst/>
                </a:prstGeom>
                <a:grpFill/>
                <a:ln w="61913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15"/>
                <p:cNvSpPr/>
                <p:nvPr/>
              </p:nvSpPr>
              <p:spPr bwMode="auto">
                <a:xfrm>
                  <a:off x="842963" y="1141413"/>
                  <a:ext cx="117475" cy="125413"/>
                </a:xfrm>
                <a:custGeom>
                  <a:avLst/>
                  <a:gdLst>
                    <a:gd name="T0" fmla="*/ 37 w 43"/>
                    <a:gd name="T1" fmla="*/ 0 h 46"/>
                    <a:gd name="T2" fmla="*/ 6 w 43"/>
                    <a:gd name="T3" fmla="*/ 0 h 46"/>
                    <a:gd name="T4" fmla="*/ 0 w 43"/>
                    <a:gd name="T5" fmla="*/ 6 h 46"/>
                    <a:gd name="T6" fmla="*/ 0 w 43"/>
                    <a:gd name="T7" fmla="*/ 40 h 46"/>
                    <a:gd name="T8" fmla="*/ 6 w 43"/>
                    <a:gd name="T9" fmla="*/ 46 h 46"/>
                    <a:gd name="T10" fmla="*/ 37 w 43"/>
                    <a:gd name="T11" fmla="*/ 46 h 46"/>
                    <a:gd name="T12" fmla="*/ 43 w 43"/>
                    <a:gd name="T13" fmla="*/ 40 h 46"/>
                    <a:gd name="T14" fmla="*/ 43 w 43"/>
                    <a:gd name="T15" fmla="*/ 6 h 46"/>
                    <a:gd name="T16" fmla="*/ 37 w 43"/>
                    <a:gd name="T1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46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3"/>
                        <a:pt x="3" y="46"/>
                        <a:pt x="6" y="46"/>
                      </a:cubicBez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0" y="46"/>
                        <a:pt x="43" y="43"/>
                        <a:pt x="43" y="40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6"/>
                <p:cNvSpPr/>
                <p:nvPr/>
              </p:nvSpPr>
              <p:spPr bwMode="auto">
                <a:xfrm>
                  <a:off x="977901" y="938213"/>
                  <a:ext cx="117475" cy="328613"/>
                </a:xfrm>
                <a:custGeom>
                  <a:avLst/>
                  <a:gdLst>
                    <a:gd name="T0" fmla="*/ 37 w 43"/>
                    <a:gd name="T1" fmla="*/ 0 h 121"/>
                    <a:gd name="T2" fmla="*/ 6 w 43"/>
                    <a:gd name="T3" fmla="*/ 0 h 121"/>
                    <a:gd name="T4" fmla="*/ 0 w 43"/>
                    <a:gd name="T5" fmla="*/ 6 h 121"/>
                    <a:gd name="T6" fmla="*/ 0 w 43"/>
                    <a:gd name="T7" fmla="*/ 115 h 121"/>
                    <a:gd name="T8" fmla="*/ 6 w 43"/>
                    <a:gd name="T9" fmla="*/ 121 h 121"/>
                    <a:gd name="T10" fmla="*/ 37 w 43"/>
                    <a:gd name="T11" fmla="*/ 121 h 121"/>
                    <a:gd name="T12" fmla="*/ 43 w 43"/>
                    <a:gd name="T13" fmla="*/ 115 h 121"/>
                    <a:gd name="T14" fmla="*/ 43 w 43"/>
                    <a:gd name="T15" fmla="*/ 6 h 121"/>
                    <a:gd name="T16" fmla="*/ 37 w 43"/>
                    <a:gd name="T1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121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0" y="118"/>
                        <a:pt x="3" y="121"/>
                        <a:pt x="6" y="121"/>
                      </a:cubicBezTo>
                      <a:cubicBezTo>
                        <a:pt x="37" y="121"/>
                        <a:pt x="37" y="121"/>
                        <a:pt x="37" y="121"/>
                      </a:cubicBezTo>
                      <a:cubicBezTo>
                        <a:pt x="40" y="121"/>
                        <a:pt x="43" y="118"/>
                        <a:pt x="43" y="115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17"/>
                <p:cNvSpPr/>
                <p:nvPr/>
              </p:nvSpPr>
              <p:spPr bwMode="auto">
                <a:xfrm>
                  <a:off x="1111251" y="1057275"/>
                  <a:ext cx="117475" cy="209550"/>
                </a:xfrm>
                <a:custGeom>
                  <a:avLst/>
                  <a:gdLst>
                    <a:gd name="T0" fmla="*/ 37 w 43"/>
                    <a:gd name="T1" fmla="*/ 0 h 77"/>
                    <a:gd name="T2" fmla="*/ 6 w 43"/>
                    <a:gd name="T3" fmla="*/ 0 h 77"/>
                    <a:gd name="T4" fmla="*/ 0 w 43"/>
                    <a:gd name="T5" fmla="*/ 6 h 77"/>
                    <a:gd name="T6" fmla="*/ 0 w 43"/>
                    <a:gd name="T7" fmla="*/ 71 h 77"/>
                    <a:gd name="T8" fmla="*/ 6 w 43"/>
                    <a:gd name="T9" fmla="*/ 77 h 77"/>
                    <a:gd name="T10" fmla="*/ 37 w 43"/>
                    <a:gd name="T11" fmla="*/ 77 h 77"/>
                    <a:gd name="T12" fmla="*/ 43 w 43"/>
                    <a:gd name="T13" fmla="*/ 71 h 77"/>
                    <a:gd name="T14" fmla="*/ 43 w 43"/>
                    <a:gd name="T15" fmla="*/ 6 h 77"/>
                    <a:gd name="T16" fmla="*/ 37 w 43"/>
                    <a:gd name="T17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" h="77">
                      <a:moveTo>
                        <a:pt x="37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71"/>
                        <a:pt x="0" y="71"/>
                        <a:pt x="0" y="71"/>
                      </a:cubicBezTo>
                      <a:cubicBezTo>
                        <a:pt x="0" y="74"/>
                        <a:pt x="3" y="77"/>
                        <a:pt x="6" y="77"/>
                      </a:cubicBezTo>
                      <a:cubicBezTo>
                        <a:pt x="37" y="77"/>
                        <a:pt x="37" y="77"/>
                        <a:pt x="37" y="77"/>
                      </a:cubicBezTo>
                      <a:cubicBezTo>
                        <a:pt x="40" y="77"/>
                        <a:pt x="43" y="74"/>
                        <a:pt x="43" y="71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43" y="3"/>
                        <a:pt x="40" y="0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2918" y="5690"/>
              <a:ext cx="3761" cy="1271"/>
              <a:chOff x="2918" y="5690"/>
              <a:chExt cx="3761" cy="1271"/>
            </a:xfrm>
          </p:grpSpPr>
          <p:sp>
            <p:nvSpPr>
              <p:cNvPr id="3" name="Rounded Rectangle 44"/>
              <p:cNvSpPr/>
              <p:nvPr/>
            </p:nvSpPr>
            <p:spPr>
              <a:xfrm>
                <a:off x="4066" y="5690"/>
                <a:ext cx="2613" cy="1271"/>
              </a:xfrm>
              <a:prstGeom prst="roundRect">
                <a:avLst>
                  <a:gd name="adj" fmla="val 6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Rounded Rectangle 40"/>
              <p:cNvSpPr/>
              <p:nvPr/>
            </p:nvSpPr>
            <p:spPr>
              <a:xfrm>
                <a:off x="2918" y="5690"/>
                <a:ext cx="1199" cy="1271"/>
              </a:xfrm>
              <a:prstGeom prst="roundRect">
                <a:avLst>
                  <a:gd name="adj" fmla="val 6000"/>
                </a:avLst>
              </a:prstGeom>
              <a:solidFill>
                <a:srgbClr val="72719F"/>
              </a:solidFill>
              <a:ln>
                <a:noFill/>
              </a:ln>
              <a:effectLst>
                <a:outerShdw blurRad="152400" dist="38100" algn="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27" name="Group 21"/>
              <p:cNvGrpSpPr/>
              <p:nvPr/>
            </p:nvGrpSpPr>
            <p:grpSpPr>
              <a:xfrm>
                <a:off x="3416" y="6193"/>
                <a:ext cx="286" cy="250"/>
                <a:chOff x="20638" y="2970213"/>
                <a:chExt cx="387350" cy="338137"/>
              </a:xfrm>
              <a:solidFill>
                <a:schemeClr val="bg2"/>
              </a:solidFill>
            </p:grpSpPr>
            <p:sp>
              <p:nvSpPr>
                <p:cNvPr id="28" name="Freeform 11"/>
                <p:cNvSpPr/>
                <p:nvPr/>
              </p:nvSpPr>
              <p:spPr bwMode="auto">
                <a:xfrm>
                  <a:off x="73026" y="3032125"/>
                  <a:ext cx="279400" cy="276225"/>
                </a:xfrm>
                <a:custGeom>
                  <a:avLst/>
                  <a:gdLst>
                    <a:gd name="T0" fmla="*/ 0 w 102"/>
                    <a:gd name="T1" fmla="*/ 98 h 101"/>
                    <a:gd name="T2" fmla="*/ 3 w 102"/>
                    <a:gd name="T3" fmla="*/ 101 h 101"/>
                    <a:gd name="T4" fmla="*/ 39 w 102"/>
                    <a:gd name="T5" fmla="*/ 101 h 101"/>
                    <a:gd name="T6" fmla="*/ 39 w 102"/>
                    <a:gd name="T7" fmla="*/ 72 h 101"/>
                    <a:gd name="T8" fmla="*/ 43 w 102"/>
                    <a:gd name="T9" fmla="*/ 68 h 101"/>
                    <a:gd name="T10" fmla="*/ 58 w 102"/>
                    <a:gd name="T11" fmla="*/ 68 h 101"/>
                    <a:gd name="T12" fmla="*/ 63 w 102"/>
                    <a:gd name="T13" fmla="*/ 72 h 101"/>
                    <a:gd name="T14" fmla="*/ 63 w 102"/>
                    <a:gd name="T15" fmla="*/ 101 h 101"/>
                    <a:gd name="T16" fmla="*/ 98 w 102"/>
                    <a:gd name="T17" fmla="*/ 101 h 101"/>
                    <a:gd name="T18" fmla="*/ 101 w 102"/>
                    <a:gd name="T19" fmla="*/ 97 h 101"/>
                    <a:gd name="T20" fmla="*/ 101 w 102"/>
                    <a:gd name="T21" fmla="*/ 44 h 101"/>
                    <a:gd name="T22" fmla="*/ 52 w 102"/>
                    <a:gd name="T23" fmla="*/ 0 h 101"/>
                    <a:gd name="T24" fmla="*/ 0 w 102"/>
                    <a:gd name="T25" fmla="*/ 44 h 101"/>
                    <a:gd name="T26" fmla="*/ 0 w 102"/>
                    <a:gd name="T27" fmla="*/ 98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2" h="101">
                      <a:moveTo>
                        <a:pt x="0" y="98"/>
                      </a:moveTo>
                      <a:cubicBezTo>
                        <a:pt x="0" y="98"/>
                        <a:pt x="0" y="101"/>
                        <a:pt x="3" y="101"/>
                      </a:cubicBezTo>
                      <a:cubicBezTo>
                        <a:pt x="7" y="101"/>
                        <a:pt x="39" y="101"/>
                        <a:pt x="39" y="101"/>
                      </a:cubicBezTo>
                      <a:cubicBezTo>
                        <a:pt x="39" y="72"/>
                        <a:pt x="39" y="72"/>
                        <a:pt x="39" y="72"/>
                      </a:cubicBezTo>
                      <a:cubicBezTo>
                        <a:pt x="39" y="72"/>
                        <a:pt x="38" y="68"/>
                        <a:pt x="43" y="68"/>
                      </a:cubicBezTo>
                      <a:cubicBezTo>
                        <a:pt x="58" y="68"/>
                        <a:pt x="58" y="68"/>
                        <a:pt x="58" y="68"/>
                      </a:cubicBezTo>
                      <a:cubicBezTo>
                        <a:pt x="63" y="68"/>
                        <a:pt x="63" y="72"/>
                        <a:pt x="63" y="72"/>
                      </a:cubicBezTo>
                      <a:cubicBezTo>
                        <a:pt x="63" y="101"/>
                        <a:pt x="63" y="101"/>
                        <a:pt x="63" y="101"/>
                      </a:cubicBezTo>
                      <a:cubicBezTo>
                        <a:pt x="63" y="101"/>
                        <a:pt x="93" y="101"/>
                        <a:pt x="98" y="101"/>
                      </a:cubicBezTo>
                      <a:cubicBezTo>
                        <a:pt x="102" y="101"/>
                        <a:pt x="101" y="97"/>
                        <a:pt x="101" y="97"/>
                      </a:cubicBezTo>
                      <a:cubicBezTo>
                        <a:pt x="101" y="44"/>
                        <a:pt x="101" y="44"/>
                        <a:pt x="101" y="4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lnTo>
                        <a:pt x="0" y="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2"/>
                <p:cNvSpPr/>
                <p:nvPr/>
              </p:nvSpPr>
              <p:spPr bwMode="auto">
                <a:xfrm>
                  <a:off x="20638" y="2970213"/>
                  <a:ext cx="387350" cy="193675"/>
                </a:xfrm>
                <a:custGeom>
                  <a:avLst/>
                  <a:gdLst>
                    <a:gd name="T0" fmla="*/ 0 w 141"/>
                    <a:gd name="T1" fmla="*/ 63 h 71"/>
                    <a:gd name="T2" fmla="*/ 14 w 141"/>
                    <a:gd name="T3" fmla="*/ 63 h 71"/>
                    <a:gd name="T4" fmla="*/ 72 w 141"/>
                    <a:gd name="T5" fmla="*/ 14 h 71"/>
                    <a:gd name="T6" fmla="*/ 126 w 141"/>
                    <a:gd name="T7" fmla="*/ 62 h 71"/>
                    <a:gd name="T8" fmla="*/ 141 w 141"/>
                    <a:gd name="T9" fmla="*/ 62 h 71"/>
                    <a:gd name="T10" fmla="*/ 72 w 141"/>
                    <a:gd name="T11" fmla="*/ 0 h 71"/>
                    <a:gd name="T12" fmla="*/ 0 w 141"/>
                    <a:gd name="T13" fmla="*/ 6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1" h="71">
                      <a:moveTo>
                        <a:pt x="0" y="63"/>
                      </a:moveTo>
                      <a:cubicBezTo>
                        <a:pt x="0" y="63"/>
                        <a:pt x="5" y="71"/>
                        <a:pt x="14" y="63"/>
                      </a:cubicBezTo>
                      <a:cubicBezTo>
                        <a:pt x="72" y="14"/>
                        <a:pt x="72" y="14"/>
                        <a:pt x="72" y="14"/>
                      </a:cubicBezTo>
                      <a:cubicBezTo>
                        <a:pt x="126" y="62"/>
                        <a:pt x="126" y="62"/>
                        <a:pt x="126" y="62"/>
                      </a:cubicBezTo>
                      <a:cubicBezTo>
                        <a:pt x="137" y="70"/>
                        <a:pt x="141" y="62"/>
                        <a:pt x="141" y="62"/>
                      </a:cubicBezTo>
                      <a:cubicBezTo>
                        <a:pt x="72" y="0"/>
                        <a:pt x="72" y="0"/>
                        <a:pt x="72" y="0"/>
                      </a:cubicBezTo>
                      <a:lnTo>
                        <a:pt x="0" y="6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3"/>
                <p:cNvSpPr/>
                <p:nvPr/>
              </p:nvSpPr>
              <p:spPr bwMode="auto">
                <a:xfrm>
                  <a:off x="325438" y="3008313"/>
                  <a:ext cx="34925" cy="76200"/>
                </a:xfrm>
                <a:custGeom>
                  <a:avLst/>
                  <a:gdLst>
                    <a:gd name="T0" fmla="*/ 22 w 22"/>
                    <a:gd name="T1" fmla="*/ 0 h 48"/>
                    <a:gd name="T2" fmla="*/ 0 w 22"/>
                    <a:gd name="T3" fmla="*/ 0 h 48"/>
                    <a:gd name="T4" fmla="*/ 0 w 22"/>
                    <a:gd name="T5" fmla="*/ 29 h 48"/>
                    <a:gd name="T6" fmla="*/ 22 w 22"/>
                    <a:gd name="T7" fmla="*/ 48 h 48"/>
                    <a:gd name="T8" fmla="*/ 22 w 22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48">
                      <a:moveTo>
                        <a:pt x="22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22" y="48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0" name="TextBox 12"/>
              <p:cNvSpPr txBox="1"/>
              <p:nvPr/>
            </p:nvSpPr>
            <p:spPr>
              <a:xfrm>
                <a:off x="4202" y="6083"/>
                <a:ext cx="2090" cy="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竞价原则</a:t>
                </a:r>
                <a:endPara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4766310" y="4095115"/>
            <a:ext cx="71780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、不要给太低使得就算广告活动的权重起来了也没有点击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、不同的核心大词可以放在同一个广告活动，也可以放在不同的广告活动，判断方法是不同大词的转化率是否相近，如果相近，那就放在一起；反之，差的词会拉低好的词的表现，不要放在一起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4425" y="1657350"/>
            <a:ext cx="7096125" cy="3543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291522" y="1102995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第一组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0.42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93535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0.12%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91522" y="181737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第二组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4.85%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46111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0.12%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37.74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24.37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291522" y="252222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第三组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4.07%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44402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109.09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7313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1.34%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102.03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3291522" y="3217545"/>
          <a:ext cx="5608638" cy="6724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第四组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12.47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16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0.60%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34.87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3291522" y="3922395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第五组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2.93%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69.6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12219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2981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6"/>
            </p:custDataLst>
          </p:nvPr>
        </p:nvGraphicFramePr>
        <p:xfrm>
          <a:off x="3291522" y="463677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第六组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4.97%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277.73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21160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0.21%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50.91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1.14%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p:transition advClick="0" advTm="0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898457" y="1819275"/>
          <a:ext cx="5608955" cy="708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第一组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0.42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93535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0.12%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16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第一种：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65" y="3174365"/>
            <a:ext cx="10324465" cy="23768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第二种：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291522" y="2141220"/>
          <a:ext cx="5608638" cy="6724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第二组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4.85%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46111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0.12%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37.74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16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24.37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" y="3628390"/>
            <a:ext cx="10972800" cy="2362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第三种：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5" y="3256915"/>
            <a:ext cx="10306050" cy="337185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291522" y="2226945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第三组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4.07%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44402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109.09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7313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1.34%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102.03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advClick="0" advTm="0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第四种：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630" y="3495040"/>
            <a:ext cx="9763125" cy="274320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91522" y="223647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第四组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12.47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0.60%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34.87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advClick="0" advTm="0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第五种：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415" y="3026410"/>
            <a:ext cx="10285730" cy="337883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91522" y="2093595"/>
          <a:ext cx="5608955" cy="708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771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第五组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2.93%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69.6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12219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2981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advClick="0" advTm="0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58820" y="12128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第六种：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5995" y="3719830"/>
            <a:ext cx="9054465" cy="290576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91522" y="242697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第六组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4.97%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277.73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21160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0.21%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50.91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1.14%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advClick="0" advTm="0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六种广告报告基本形态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47"/>
          <p:cNvSpPr txBox="1"/>
          <p:nvPr/>
        </p:nvSpPr>
        <p:spPr>
          <a:xfrm>
            <a:off x="2134235" y="1454150"/>
            <a:ext cx="7851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思考一个问题：已知模式都为只降低，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第五种竞价是1.3美金，第六种竞价是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，两组首页的CPC都高于其他位置，那两者到底是关键词权重不够导致的CPC较高还是广告费溢出造成的CPC过高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291522" y="3074670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第五组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2.93%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69.6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12219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2981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91522" y="3789045"/>
          <a:ext cx="5608638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762000"/>
                <a:gridCol w="685800"/>
                <a:gridCol w="685800"/>
                <a:gridCol w="963613"/>
                <a:gridCol w="685800"/>
                <a:gridCol w="615950"/>
                <a:gridCol w="523875"/>
              </a:tblGrid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曝光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CTR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花费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CPC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51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第六组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首行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3343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4.97%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277.73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商品页面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21160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0.21%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50.91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其余位置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1.14%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7"/>
          <p:cNvSpPr txBox="1"/>
          <p:nvPr/>
        </p:nvSpPr>
        <p:spPr>
          <a:xfrm>
            <a:off x="4443095" y="3067050"/>
            <a:ext cx="6547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TextBox 49"/>
          <p:cNvSpPr txBox="1"/>
          <p:nvPr/>
        </p:nvSpPr>
        <p:spPr>
          <a:xfrm>
            <a:off x="4443095" y="4040505"/>
            <a:ext cx="659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3837766" y="1513652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广告的权重在哪里？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95450" y="2840990"/>
            <a:ext cx="2387600" cy="1777365"/>
            <a:chOff x="2793" y="3478"/>
            <a:chExt cx="3760" cy="2799"/>
          </a:xfrm>
        </p:grpSpPr>
        <p:sp>
          <p:nvSpPr>
            <p:cNvPr id="8" name="Rounded Rectangle 45"/>
            <p:cNvSpPr/>
            <p:nvPr/>
          </p:nvSpPr>
          <p:spPr>
            <a:xfrm>
              <a:off x="3941" y="5007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ounded Rectangle 46"/>
            <p:cNvSpPr/>
            <p:nvPr/>
          </p:nvSpPr>
          <p:spPr>
            <a:xfrm>
              <a:off x="3941" y="3478"/>
              <a:ext cx="2613" cy="127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38"/>
            <p:cNvSpPr/>
            <p:nvPr/>
          </p:nvSpPr>
          <p:spPr>
            <a:xfrm>
              <a:off x="2793" y="5007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ounded Rectangle 3"/>
            <p:cNvSpPr/>
            <p:nvPr/>
          </p:nvSpPr>
          <p:spPr>
            <a:xfrm>
              <a:off x="2793" y="3478"/>
              <a:ext cx="1199" cy="1271"/>
            </a:xfrm>
            <a:prstGeom prst="roundRect">
              <a:avLst>
                <a:gd name="adj" fmla="val 6000"/>
              </a:avLst>
            </a:prstGeom>
            <a:solidFill>
              <a:srgbClr val="72719F"/>
            </a:solidFill>
            <a:ln>
              <a:noFill/>
            </a:ln>
            <a:effectLst>
              <a:outerShdw blurRad="152400" dist="38100" algn="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4077" y="3774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实验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1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4077" y="5348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实验</a:t>
              </a: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 2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3286" y="5507"/>
              <a:ext cx="285" cy="286"/>
              <a:chOff x="7938" y="928688"/>
              <a:chExt cx="385763" cy="387350"/>
            </a:xfrm>
            <a:solidFill>
              <a:schemeClr val="bg2"/>
            </a:solidFill>
          </p:grpSpPr>
          <p:sp>
            <p:nvSpPr>
              <p:cNvPr id="20" name="Freeform 5"/>
              <p:cNvSpPr/>
              <p:nvPr/>
            </p:nvSpPr>
            <p:spPr bwMode="auto">
              <a:xfrm>
                <a:off x="7938" y="947738"/>
                <a:ext cx="369888" cy="368300"/>
              </a:xfrm>
              <a:custGeom>
                <a:avLst/>
                <a:gdLst>
                  <a:gd name="T0" fmla="*/ 68 w 135"/>
                  <a:gd name="T1" fmla="*/ 0 h 135"/>
                  <a:gd name="T2" fmla="*/ 0 w 135"/>
                  <a:gd name="T3" fmla="*/ 68 h 135"/>
                  <a:gd name="T4" fmla="*/ 68 w 135"/>
                  <a:gd name="T5" fmla="*/ 135 h 135"/>
                  <a:gd name="T6" fmla="*/ 135 w 135"/>
                  <a:gd name="T7" fmla="*/ 68 h 135"/>
                  <a:gd name="T8" fmla="*/ 68 w 135"/>
                  <a:gd name="T9" fmla="*/ 68 h 135"/>
                  <a:gd name="T10" fmla="*/ 68 w 135"/>
                  <a:gd name="T1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35"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5"/>
                      <a:pt x="68" y="135"/>
                    </a:cubicBezTo>
                    <a:cubicBezTo>
                      <a:pt x="105" y="135"/>
                      <a:pt x="135" y="105"/>
                      <a:pt x="135" y="68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07963" y="928688"/>
                <a:ext cx="185738" cy="188913"/>
              </a:xfrm>
              <a:custGeom>
                <a:avLst/>
                <a:gdLst>
                  <a:gd name="T0" fmla="*/ 48 w 68"/>
                  <a:gd name="T1" fmla="*/ 16 h 69"/>
                  <a:gd name="T2" fmla="*/ 48 w 68"/>
                  <a:gd name="T3" fmla="*/ 15 h 69"/>
                  <a:gd name="T4" fmla="*/ 47 w 68"/>
                  <a:gd name="T5" fmla="*/ 15 h 69"/>
                  <a:gd name="T6" fmla="*/ 47 w 68"/>
                  <a:gd name="T7" fmla="*/ 15 h 69"/>
                  <a:gd name="T8" fmla="*/ 47 w 68"/>
                  <a:gd name="T9" fmla="*/ 15 h 69"/>
                  <a:gd name="T10" fmla="*/ 4 w 68"/>
                  <a:gd name="T11" fmla="*/ 0 h 69"/>
                  <a:gd name="T12" fmla="*/ 0 w 68"/>
                  <a:gd name="T13" fmla="*/ 4 h 69"/>
                  <a:gd name="T14" fmla="*/ 0 w 68"/>
                  <a:gd name="T15" fmla="*/ 65 h 69"/>
                  <a:gd name="T16" fmla="*/ 3 w 68"/>
                  <a:gd name="T17" fmla="*/ 69 h 69"/>
                  <a:gd name="T18" fmla="*/ 4 w 68"/>
                  <a:gd name="T19" fmla="*/ 69 h 69"/>
                  <a:gd name="T20" fmla="*/ 4 w 68"/>
                  <a:gd name="T21" fmla="*/ 69 h 69"/>
                  <a:gd name="T22" fmla="*/ 4 w 68"/>
                  <a:gd name="T23" fmla="*/ 69 h 69"/>
                  <a:gd name="T24" fmla="*/ 64 w 68"/>
                  <a:gd name="T25" fmla="*/ 69 h 69"/>
                  <a:gd name="T26" fmla="*/ 68 w 68"/>
                  <a:gd name="T27" fmla="*/ 65 h 69"/>
                  <a:gd name="T28" fmla="*/ 48 w 68"/>
                  <a:gd name="T29" fmla="*/ 16 h 69"/>
                  <a:gd name="T30" fmla="*/ 8 w 68"/>
                  <a:gd name="T31" fmla="*/ 55 h 69"/>
                  <a:gd name="T32" fmla="*/ 8 w 68"/>
                  <a:gd name="T33" fmla="*/ 8 h 69"/>
                  <a:gd name="T34" fmla="*/ 40 w 68"/>
                  <a:gd name="T35" fmla="*/ 19 h 69"/>
                  <a:gd name="T36" fmla="*/ 8 w 68"/>
                  <a:gd name="T37" fmla="*/ 5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9">
                    <a:moveTo>
                      <a:pt x="48" y="16"/>
                    </a:moveTo>
                    <a:cubicBezTo>
                      <a:pt x="48" y="16"/>
                      <a:pt x="48" y="15"/>
                      <a:pt x="48" y="15"/>
                    </a:cubicBezTo>
                    <a:cubicBezTo>
                      <a:pt x="48" y="15"/>
                      <a:pt x="48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35" y="5"/>
                      <a:pt x="20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7"/>
                      <a:pt x="1" y="68"/>
                      <a:pt x="3" y="69"/>
                    </a:cubicBezTo>
                    <a:cubicBezTo>
                      <a:pt x="3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66" y="69"/>
                      <a:pt x="68" y="67"/>
                      <a:pt x="68" y="65"/>
                    </a:cubicBezTo>
                    <a:cubicBezTo>
                      <a:pt x="68" y="47"/>
                      <a:pt x="61" y="29"/>
                      <a:pt x="48" y="16"/>
                    </a:cubicBezTo>
                    <a:close/>
                    <a:moveTo>
                      <a:pt x="8" y="55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9" y="8"/>
                      <a:pt x="30" y="12"/>
                      <a:pt x="40" y="19"/>
                    </a:cubicBezTo>
                    <a:lnTo>
                      <a:pt x="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25"/>
            <p:cNvGrpSpPr/>
            <p:nvPr/>
          </p:nvGrpSpPr>
          <p:grpSpPr>
            <a:xfrm>
              <a:off x="3288" y="3927"/>
              <a:ext cx="285" cy="276"/>
              <a:chOff x="842963" y="938213"/>
              <a:chExt cx="385763" cy="373062"/>
            </a:xfrm>
            <a:solidFill>
              <a:schemeClr val="bg2"/>
            </a:solidFill>
          </p:grpSpPr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842963" y="1311275"/>
                <a:ext cx="385763" cy="0"/>
              </a:xfrm>
              <a:prstGeom prst="line">
                <a:avLst/>
              </a:prstGeom>
              <a:grpFill/>
              <a:ln w="61913" cap="rnd">
                <a:solidFill>
                  <a:schemeClr val="bg2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5"/>
              <p:cNvSpPr/>
              <p:nvPr/>
            </p:nvSpPr>
            <p:spPr bwMode="auto">
              <a:xfrm>
                <a:off x="842963" y="1141413"/>
                <a:ext cx="117475" cy="125413"/>
              </a:xfrm>
              <a:custGeom>
                <a:avLst/>
                <a:gdLst>
                  <a:gd name="T0" fmla="*/ 37 w 43"/>
                  <a:gd name="T1" fmla="*/ 0 h 46"/>
                  <a:gd name="T2" fmla="*/ 6 w 43"/>
                  <a:gd name="T3" fmla="*/ 0 h 46"/>
                  <a:gd name="T4" fmla="*/ 0 w 43"/>
                  <a:gd name="T5" fmla="*/ 6 h 46"/>
                  <a:gd name="T6" fmla="*/ 0 w 43"/>
                  <a:gd name="T7" fmla="*/ 40 h 46"/>
                  <a:gd name="T8" fmla="*/ 6 w 43"/>
                  <a:gd name="T9" fmla="*/ 46 h 46"/>
                  <a:gd name="T10" fmla="*/ 37 w 43"/>
                  <a:gd name="T11" fmla="*/ 46 h 46"/>
                  <a:gd name="T12" fmla="*/ 43 w 43"/>
                  <a:gd name="T13" fmla="*/ 40 h 46"/>
                  <a:gd name="T14" fmla="*/ 43 w 43"/>
                  <a:gd name="T15" fmla="*/ 6 h 46"/>
                  <a:gd name="T16" fmla="*/ 37 w 43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6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3" y="46"/>
                      <a:pt x="6" y="4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40" y="46"/>
                      <a:pt x="43" y="43"/>
                      <a:pt x="43" y="40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6"/>
              <p:cNvSpPr/>
              <p:nvPr/>
            </p:nvSpPr>
            <p:spPr bwMode="auto">
              <a:xfrm>
                <a:off x="977901" y="938213"/>
                <a:ext cx="117475" cy="328613"/>
              </a:xfrm>
              <a:custGeom>
                <a:avLst/>
                <a:gdLst>
                  <a:gd name="T0" fmla="*/ 37 w 43"/>
                  <a:gd name="T1" fmla="*/ 0 h 121"/>
                  <a:gd name="T2" fmla="*/ 6 w 43"/>
                  <a:gd name="T3" fmla="*/ 0 h 121"/>
                  <a:gd name="T4" fmla="*/ 0 w 43"/>
                  <a:gd name="T5" fmla="*/ 6 h 121"/>
                  <a:gd name="T6" fmla="*/ 0 w 43"/>
                  <a:gd name="T7" fmla="*/ 115 h 121"/>
                  <a:gd name="T8" fmla="*/ 6 w 43"/>
                  <a:gd name="T9" fmla="*/ 121 h 121"/>
                  <a:gd name="T10" fmla="*/ 37 w 43"/>
                  <a:gd name="T11" fmla="*/ 121 h 121"/>
                  <a:gd name="T12" fmla="*/ 43 w 43"/>
                  <a:gd name="T13" fmla="*/ 115 h 121"/>
                  <a:gd name="T14" fmla="*/ 43 w 43"/>
                  <a:gd name="T15" fmla="*/ 6 h 121"/>
                  <a:gd name="T16" fmla="*/ 37 w 43"/>
                  <a:gd name="T1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21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8"/>
                      <a:pt x="3" y="121"/>
                      <a:pt x="6" y="121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40" y="121"/>
                      <a:pt x="43" y="118"/>
                      <a:pt x="43" y="115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7"/>
              <p:cNvSpPr/>
              <p:nvPr/>
            </p:nvSpPr>
            <p:spPr bwMode="auto">
              <a:xfrm>
                <a:off x="1111251" y="1057275"/>
                <a:ext cx="117475" cy="209550"/>
              </a:xfrm>
              <a:custGeom>
                <a:avLst/>
                <a:gdLst>
                  <a:gd name="T0" fmla="*/ 37 w 43"/>
                  <a:gd name="T1" fmla="*/ 0 h 77"/>
                  <a:gd name="T2" fmla="*/ 6 w 43"/>
                  <a:gd name="T3" fmla="*/ 0 h 77"/>
                  <a:gd name="T4" fmla="*/ 0 w 43"/>
                  <a:gd name="T5" fmla="*/ 6 h 77"/>
                  <a:gd name="T6" fmla="*/ 0 w 43"/>
                  <a:gd name="T7" fmla="*/ 71 h 77"/>
                  <a:gd name="T8" fmla="*/ 6 w 43"/>
                  <a:gd name="T9" fmla="*/ 77 h 77"/>
                  <a:gd name="T10" fmla="*/ 37 w 43"/>
                  <a:gd name="T11" fmla="*/ 77 h 77"/>
                  <a:gd name="T12" fmla="*/ 43 w 43"/>
                  <a:gd name="T13" fmla="*/ 71 h 77"/>
                  <a:gd name="T14" fmla="*/ 43 w 43"/>
                  <a:gd name="T15" fmla="*/ 6 h 77"/>
                  <a:gd name="T16" fmla="*/ 37 w 43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7">
                    <a:moveTo>
                      <a:pt x="3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4"/>
                      <a:pt x="3" y="77"/>
                      <a:pt x="6" y="77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40" y="77"/>
                      <a:pt x="43" y="74"/>
                      <a:pt x="43" y="71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3" y="3"/>
                      <a:pt x="40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4" name="等腰三角形 3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1082675"/>
            <a:ext cx="11999595" cy="26555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" y="4044315"/>
            <a:ext cx="11901170" cy="2363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广告模型框架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  <a:solidFill>
            <a:schemeClr val="accent2"/>
          </a:solidFill>
        </p:grpSpPr>
        <p:sp>
          <p:nvSpPr>
            <p:cNvPr id="4" name="等腰三角形 3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85" y="2016760"/>
            <a:ext cx="11003915" cy="26269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6545" y="4084320"/>
            <a:ext cx="9013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Advertising model and basic form of advertising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42910" y="2330353"/>
            <a:ext cx="55168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判断及调整策略</a:t>
            </a:r>
            <a:endParaRPr lang="zh-CN" altLang="en-US" sz="6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28" name="文本框 27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6918722" y="3925"/>
            <a:ext cx="5273279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grpSp>
        <p:nvGrpSpPr>
          <p:cNvPr id="53" name="Gruppieren"/>
          <p:cNvGrpSpPr/>
          <p:nvPr/>
        </p:nvGrpSpPr>
        <p:grpSpPr>
          <a:xfrm>
            <a:off x="8800376" y="1799829"/>
            <a:ext cx="1962875" cy="3960210"/>
            <a:chOff x="8153" y="0"/>
            <a:chExt cx="3925748" cy="7920418"/>
          </a:xfrm>
        </p:grpSpPr>
        <p:grpSp>
          <p:nvGrpSpPr>
            <p:cNvPr id="54" name="Gruppieren"/>
            <p:cNvGrpSpPr/>
            <p:nvPr/>
          </p:nvGrpSpPr>
          <p:grpSpPr>
            <a:xfrm>
              <a:off x="8153" y="1026206"/>
              <a:ext cx="115314" cy="1905482"/>
              <a:chOff x="0" y="0"/>
              <a:chExt cx="115312" cy="1905481"/>
            </a:xfrm>
          </p:grpSpPr>
          <p:sp>
            <p:nvSpPr>
              <p:cNvPr id="85" name="Form"/>
              <p:cNvSpPr/>
              <p:nvPr/>
            </p:nvSpPr>
            <p:spPr>
              <a:xfrm>
                <a:off x="0" y="0"/>
                <a:ext cx="95912" cy="2948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0960"/>
                      <a:pt x="0" y="19920"/>
                    </a:cubicBezTo>
                    <a:lnTo>
                      <a:pt x="0" y="1680"/>
                    </a:lnTo>
                    <a:cubicBezTo>
                      <a:pt x="0" y="640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6" name="Form"/>
              <p:cNvSpPr/>
              <p:nvPr/>
            </p:nvSpPr>
            <p:spPr>
              <a:xfrm>
                <a:off x="0" y="654931"/>
                <a:ext cx="115313" cy="556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404" y="21600"/>
                    </a:lnTo>
                    <a:cubicBezTo>
                      <a:pt x="1887" y="21600"/>
                      <a:pt x="0" y="21258"/>
                      <a:pt x="0" y="20704"/>
                    </a:cubicBezTo>
                    <a:lnTo>
                      <a:pt x="0" y="896"/>
                    </a:lnTo>
                    <a:cubicBezTo>
                      <a:pt x="0" y="384"/>
                      <a:pt x="1887" y="0"/>
                      <a:pt x="440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  <p:sp>
            <p:nvSpPr>
              <p:cNvPr id="87" name="Form"/>
              <p:cNvSpPr/>
              <p:nvPr/>
            </p:nvSpPr>
            <p:spPr>
              <a:xfrm>
                <a:off x="0" y="1363229"/>
                <a:ext cx="95912" cy="5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1249"/>
                      <a:pt x="0" y="20680"/>
                    </a:cubicBezTo>
                    <a:lnTo>
                      <a:pt x="0" y="920"/>
                    </a:lnTo>
                    <a:cubicBezTo>
                      <a:pt x="0" y="394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9528" tIns="29528" rIns="29528" bIns="29528" numCol="1" anchor="ctr">
                <a:noAutofit/>
              </a:bodyPr>
              <a:lstStyle/>
              <a:p>
                <a:pPr defTabSz="729615">
                  <a:lnSpc>
                    <a:spcPct val="93000"/>
                  </a:lnSpc>
                  <a:defRPr sz="5800" spc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900">
                  <a:cs typeface="+mn-ea"/>
                  <a:sym typeface="+mn-lt"/>
                </a:endParaRPr>
              </a:p>
            </p:txBody>
          </p:sp>
        </p:grpSp>
        <p:sp>
          <p:nvSpPr>
            <p:cNvPr id="88" name="Form"/>
            <p:cNvSpPr/>
            <p:nvPr/>
          </p:nvSpPr>
          <p:spPr>
            <a:xfrm>
              <a:off x="3852542" y="1794279"/>
              <a:ext cx="81360" cy="963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6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5386" y="0"/>
                  </a:lnTo>
                  <a:cubicBezTo>
                    <a:pt x="19233" y="0"/>
                    <a:pt x="21600" y="372"/>
                    <a:pt x="21600" y="867"/>
                  </a:cubicBezTo>
                  <a:lnTo>
                    <a:pt x="21600" y="20733"/>
                  </a:lnTo>
                  <a:cubicBezTo>
                    <a:pt x="21600" y="21146"/>
                    <a:pt x="18641" y="21600"/>
                    <a:pt x="15386" y="21600"/>
                  </a:cubicBezTo>
                </a:path>
              </a:pathLst>
            </a:custGeom>
            <a:solidFill>
              <a:srgbClr val="24282B"/>
            </a:solidFill>
            <a:ln w="12700" cap="flat">
              <a:noFill/>
              <a:miter lim="400000"/>
            </a:ln>
            <a:effectLst/>
          </p:spPr>
          <p:txBody>
            <a:bodyPr wrap="square" lIns="29528" tIns="29528" rIns="29528" bIns="29528" numCol="1" anchor="ctr">
              <a:noAutofit/>
            </a:bodyPr>
            <a:lstStyle/>
            <a:p>
              <a:pPr defTabSz="729615">
                <a:lnSpc>
                  <a:spcPct val="93000"/>
                </a:lnSpc>
                <a:defRPr sz="5800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900">
                <a:cs typeface="+mn-ea"/>
                <a:sym typeface="+mn-lt"/>
              </a:endParaRPr>
            </a:p>
          </p:txBody>
        </p:sp>
        <p:grpSp>
          <p:nvGrpSpPr>
            <p:cNvPr id="89" name="Gruppieren"/>
            <p:cNvGrpSpPr/>
            <p:nvPr/>
          </p:nvGrpSpPr>
          <p:grpSpPr>
            <a:xfrm>
              <a:off x="35704" y="0"/>
              <a:ext cx="3868005" cy="7920419"/>
              <a:chOff x="0" y="0"/>
              <a:chExt cx="3868004" cy="7920418"/>
            </a:xfrm>
          </p:grpSpPr>
          <p:sp>
            <p:nvSpPr>
              <p:cNvPr id="90" name="Abgerundetes Rechteck"/>
              <p:cNvSpPr/>
              <p:nvPr/>
            </p:nvSpPr>
            <p:spPr>
              <a:xfrm>
                <a:off x="0" y="0"/>
                <a:ext cx="3868005" cy="7920419"/>
              </a:xfrm>
              <a:prstGeom prst="roundRect">
                <a:avLst>
                  <a:gd name="adj" fmla="val 14497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1" name="Abgerundetes Rechteck"/>
              <p:cNvSpPr/>
              <p:nvPr/>
            </p:nvSpPr>
            <p:spPr>
              <a:xfrm>
                <a:off x="64694" y="28269"/>
                <a:ext cx="3738616" cy="7863880"/>
              </a:xfrm>
              <a:prstGeom prst="roundRect">
                <a:avLst>
                  <a:gd name="adj" fmla="val 14999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2" name="Abgerundetes Rechteck"/>
              <p:cNvSpPr/>
              <p:nvPr/>
            </p:nvSpPr>
            <p:spPr>
              <a:xfrm>
                <a:off x="29834" y="63128"/>
                <a:ext cx="3808336" cy="7794162"/>
              </a:xfrm>
              <a:prstGeom prst="roundRect">
                <a:avLst>
                  <a:gd name="adj" fmla="val 14725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3" name="Abgerundetes Rechteck"/>
              <p:cNvSpPr/>
              <p:nvPr/>
            </p:nvSpPr>
            <p:spPr>
              <a:xfrm>
                <a:off x="70503" y="108674"/>
                <a:ext cx="3726998" cy="7703072"/>
              </a:xfrm>
              <a:prstGeom prst="roundRect">
                <a:avLst>
                  <a:gd name="adj" fmla="val 14386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  <p:sp>
            <p:nvSpPr>
              <p:cNvPr id="94" name="Abgerundetes Rechteck"/>
              <p:cNvSpPr/>
              <p:nvPr/>
            </p:nvSpPr>
            <p:spPr>
              <a:xfrm>
                <a:off x="125119" y="82529"/>
                <a:ext cx="3617766" cy="7768325"/>
              </a:xfrm>
              <a:prstGeom prst="roundRect">
                <a:avLst>
                  <a:gd name="adj" fmla="val 13411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algn="ctr" defTabSz="292100">
                  <a:defRPr sz="2400" spc="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12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95" name="Bildplatzhalter 1"/>
          <p:cNvSpPr txBox="1"/>
          <p:nvPr/>
        </p:nvSpPr>
        <p:spPr>
          <a:xfrm flipH="1">
            <a:off x="8903417" y="1891228"/>
            <a:ext cx="1773329" cy="3784706"/>
          </a:xfrm>
          <a:prstGeom prst="roundRect">
            <a:avLst>
              <a:gd name="adj" fmla="val 12018"/>
            </a:avLst>
          </a:prstGeom>
          <a:blipFill dpi="0" rotWithShape="1">
            <a:blip r:embed="rId1" cstate="screen"/>
            <a:srcRect/>
            <a:stretch>
              <a:fillRect/>
            </a:stretch>
          </a:blipFill>
          <a:ln w="12700">
            <a:miter lim="400000"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6" name="Form"/>
          <p:cNvSpPr/>
          <p:nvPr/>
        </p:nvSpPr>
        <p:spPr>
          <a:xfrm>
            <a:off x="4062865" y="33938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7" name="Form"/>
          <p:cNvSpPr/>
          <p:nvPr/>
        </p:nvSpPr>
        <p:spPr>
          <a:xfrm>
            <a:off x="4062865" y="47908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8" name="Form"/>
          <p:cNvSpPr/>
          <p:nvPr/>
        </p:nvSpPr>
        <p:spPr>
          <a:xfrm>
            <a:off x="4062865" y="2034956"/>
            <a:ext cx="406401" cy="406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4838" y="0"/>
                  <a:pt x="0" y="4838"/>
                  <a:pt x="0" y="10807"/>
                </a:cubicBezTo>
                <a:cubicBezTo>
                  <a:pt x="0" y="16777"/>
                  <a:pt x="4838" y="21600"/>
                  <a:pt x="10807" y="21600"/>
                </a:cubicBezTo>
                <a:cubicBezTo>
                  <a:pt x="16777" y="21600"/>
                  <a:pt x="21600" y="16777"/>
                  <a:pt x="21600" y="10807"/>
                </a:cubicBezTo>
                <a:cubicBezTo>
                  <a:pt x="21600" y="4838"/>
                  <a:pt x="16777" y="0"/>
                  <a:pt x="10807" y="0"/>
                </a:cubicBezTo>
                <a:close/>
                <a:moveTo>
                  <a:pt x="10807" y="1184"/>
                </a:moveTo>
                <a:cubicBezTo>
                  <a:pt x="16066" y="1184"/>
                  <a:pt x="20371" y="5489"/>
                  <a:pt x="20371" y="10748"/>
                </a:cubicBezTo>
                <a:cubicBezTo>
                  <a:pt x="20371" y="16054"/>
                  <a:pt x="16113" y="20327"/>
                  <a:pt x="10807" y="20327"/>
                </a:cubicBezTo>
                <a:cubicBezTo>
                  <a:pt x="5549" y="20327"/>
                  <a:pt x="1229" y="16007"/>
                  <a:pt x="1229" y="10748"/>
                </a:cubicBezTo>
                <a:cubicBezTo>
                  <a:pt x="1229" y="5490"/>
                  <a:pt x="5549" y="1184"/>
                  <a:pt x="10807" y="1184"/>
                </a:cubicBezTo>
                <a:close/>
                <a:moveTo>
                  <a:pt x="14849" y="7491"/>
                </a:moveTo>
                <a:cubicBezTo>
                  <a:pt x="14689" y="7491"/>
                  <a:pt x="14523" y="7550"/>
                  <a:pt x="14405" y="7669"/>
                </a:cubicBezTo>
                <a:lnTo>
                  <a:pt x="9431" y="12643"/>
                </a:lnTo>
                <a:lnTo>
                  <a:pt x="7210" y="10408"/>
                </a:lnTo>
                <a:cubicBezTo>
                  <a:pt x="6973" y="10171"/>
                  <a:pt x="6588" y="10171"/>
                  <a:pt x="6351" y="10408"/>
                </a:cubicBezTo>
                <a:cubicBezTo>
                  <a:pt x="6114" y="10645"/>
                  <a:pt x="6114" y="11029"/>
                  <a:pt x="6351" y="11266"/>
                </a:cubicBezTo>
                <a:lnTo>
                  <a:pt x="9001" y="13916"/>
                </a:lnTo>
                <a:cubicBezTo>
                  <a:pt x="9143" y="14058"/>
                  <a:pt x="9288" y="14109"/>
                  <a:pt x="9431" y="14109"/>
                </a:cubicBezTo>
                <a:cubicBezTo>
                  <a:pt x="9573" y="14109"/>
                  <a:pt x="9765" y="14058"/>
                  <a:pt x="9860" y="13916"/>
                </a:cubicBezTo>
                <a:lnTo>
                  <a:pt x="15264" y="8513"/>
                </a:lnTo>
                <a:cubicBezTo>
                  <a:pt x="15500" y="8276"/>
                  <a:pt x="15500" y="7906"/>
                  <a:pt x="15264" y="7669"/>
                </a:cubicBezTo>
                <a:cubicBezTo>
                  <a:pt x="15169" y="7550"/>
                  <a:pt x="15009" y="7491"/>
                  <a:pt x="14849" y="7491"/>
                </a:cubicBezTo>
                <a:close/>
              </a:path>
            </a:pathLst>
          </a:custGeom>
          <a:solidFill>
            <a:srgbClr val="605E8C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2286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cs typeface="+mn-ea"/>
              <a:sym typeface="+mn-lt"/>
            </a:endParaRPr>
          </a:p>
        </p:txBody>
      </p:sp>
      <p:sp>
        <p:nvSpPr>
          <p:cNvPr id="99" name="Rectangle 29"/>
          <p:cNvSpPr/>
          <p:nvPr/>
        </p:nvSpPr>
        <p:spPr>
          <a:xfrm>
            <a:off x="5001100" y="2175219"/>
            <a:ext cx="3089036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关键词如何区分？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Rectangle 30"/>
          <p:cNvSpPr/>
          <p:nvPr/>
        </p:nvSpPr>
        <p:spPr>
          <a:xfrm>
            <a:off x="5001260" y="1854200"/>
            <a:ext cx="21367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广告报告判断标准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1" name="Rectangle 29"/>
          <p:cNvSpPr/>
          <p:nvPr/>
        </p:nvSpPr>
        <p:spPr>
          <a:xfrm>
            <a:off x="5000465" y="3606290"/>
            <a:ext cx="3089036" cy="60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自动广告调整逻辑是什么？手动广告调整逻辑是什么？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2" name="Rectangle 30"/>
          <p:cNvSpPr/>
          <p:nvPr/>
        </p:nvSpPr>
        <p:spPr>
          <a:xfrm>
            <a:off x="5000625" y="3284855"/>
            <a:ext cx="24295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广告活动调整策略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3" name="Rectangle 29"/>
          <p:cNvSpPr/>
          <p:nvPr/>
        </p:nvSpPr>
        <p:spPr>
          <a:xfrm>
            <a:off x="5001100" y="4935734"/>
            <a:ext cx="3089036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如何进行变量的相对状态分析？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Rectangle 30"/>
          <p:cNvSpPr/>
          <p:nvPr/>
        </p:nvSpPr>
        <p:spPr>
          <a:xfrm>
            <a:off x="5001260" y="4614545"/>
            <a:ext cx="180086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广告权重分析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05" name="Straight Connector 19"/>
          <p:cNvCxnSpPr/>
          <p:nvPr/>
        </p:nvCxnSpPr>
        <p:spPr>
          <a:xfrm>
            <a:off x="958385" y="4836921"/>
            <a:ext cx="662954" cy="0"/>
          </a:xfrm>
          <a:prstGeom prst="line">
            <a:avLst/>
          </a:prstGeom>
          <a:ln w="28575">
            <a:solidFill>
              <a:srgbClr val="605E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7"/>
          <p:cNvSpPr txBox="1"/>
          <p:nvPr/>
        </p:nvSpPr>
        <p:spPr>
          <a:xfrm>
            <a:off x="788035" y="3677920"/>
            <a:ext cx="2405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主要板块介绍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Google Shape;86;p19"/>
          <p:cNvSpPr txBox="1"/>
          <p:nvPr/>
        </p:nvSpPr>
        <p:spPr>
          <a:xfrm>
            <a:off x="788036" y="2804843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05E8C"/>
                </a:solidFill>
                <a:cs typeface="+mn-ea"/>
                <a:sym typeface="+mn-lt"/>
              </a:rPr>
              <a:t>Core Idea</a:t>
            </a:r>
            <a:endParaRPr lang="en-US" sz="2000" b="0" i="0" u="none" strike="noStrike" cap="none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2400" dirty="0">
                <a:solidFill>
                  <a:srgbClr val="474479"/>
                </a:solidFill>
                <a:cs typeface="+mn-ea"/>
                <a:sym typeface="+mn-lt"/>
              </a:rPr>
              <a:t>主要板块</a:t>
            </a:r>
            <a:endParaRPr lang="zh-CN" altLang="en-US" sz="24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8936" y="273050"/>
            <a:ext cx="1882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FFFF"/>
                </a:solidFill>
              </a:rPr>
              <a:t>https://www.ypppt.com/</a:t>
            </a:r>
            <a:endParaRPr lang="zh-CN" altLang="en-US" sz="1100" dirty="0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0" y="5949950"/>
            <a:ext cx="12233275" cy="938530"/>
            <a:chOff x="0" y="9370"/>
            <a:chExt cx="19265" cy="1478"/>
          </a:xfrm>
        </p:grpSpPr>
        <p:sp>
          <p:nvSpPr>
            <p:cNvPr id="10" name="矩形 9"/>
            <p:cNvSpPr/>
            <p:nvPr/>
          </p:nvSpPr>
          <p:spPr>
            <a:xfrm>
              <a:off x="0" y="10585"/>
              <a:ext cx="19200" cy="263"/>
            </a:xfrm>
            <a:prstGeom prst="rect">
              <a:avLst/>
            </a:prstGeom>
            <a:solidFill>
              <a:srgbClr val="C32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" name="组合 3"/>
            <p:cNvGrpSpPr/>
            <p:nvPr/>
          </p:nvGrpSpPr>
          <p:grpSpPr bwMode="auto">
            <a:xfrm flipH="1">
              <a:off x="15000" y="9370"/>
              <a:ext cx="4200" cy="1478"/>
              <a:chOff x="0" y="2297125"/>
              <a:chExt cx="13100952" cy="4560877"/>
            </a:xfrm>
          </p:grpSpPr>
          <p:sp>
            <p:nvSpPr>
              <p:cNvPr id="12" name="等腰三角形 11"/>
              <p:cNvSpPr/>
              <p:nvPr/>
            </p:nvSpPr>
            <p:spPr>
              <a:xfrm>
                <a:off x="0" y="3454707"/>
                <a:ext cx="12477097" cy="3403295"/>
              </a:xfrm>
              <a:prstGeom prst="triangle">
                <a:avLst>
                  <a:gd name="adj" fmla="val 0"/>
                </a:avLst>
              </a:prstGeom>
              <a:solidFill>
                <a:srgbClr val="554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921371">
                <a:off x="148163" y="2297125"/>
                <a:ext cx="12952789" cy="2924827"/>
              </a:xfrm>
              <a:prstGeom prst="triangle">
                <a:avLst>
                  <a:gd name="adj" fmla="val 20586"/>
                </a:avLst>
              </a:prstGeom>
              <a:solidFill>
                <a:srgbClr val="554FA5"/>
              </a:solidFill>
              <a:ln>
                <a:solidFill>
                  <a:srgbClr val="554F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7017" y="9762"/>
              <a:ext cx="2248" cy="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微软雅黑" panose="020B0503020204020204" charset="-122"/>
                  <a:ea typeface="微软雅黑" panose="020B0503020204020204" charset="-122"/>
                </a:rPr>
                <a:t>HZY</a:t>
              </a:r>
              <a:endParaRPr lang="en-US" altLang="zh-CN" sz="28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96" grpId="0" bldLvl="0" animBg="1"/>
      <p:bldP spid="97" grpId="0" bldLvl="0" animBg="1"/>
      <p:bldP spid="98" grpId="0" bldLvl="0" animBg="1"/>
      <p:bldP spid="99" grpId="0"/>
      <p:bldP spid="100" grpId="0"/>
      <p:bldP spid="101" grpId="0"/>
      <p:bldP spid="102" grpId="0"/>
      <p:bldP spid="103" grpId="0"/>
      <p:bldP spid="104" grpId="0"/>
      <p:bldP spid="106" grpId="0"/>
      <p:bldP spid="10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广告报告判断标准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745" y="880745"/>
            <a:ext cx="3902075" cy="3872865"/>
          </a:xfrm>
          <a:prstGeom prst="rect">
            <a:avLst/>
          </a:prstGeom>
        </p:spPr>
      </p:pic>
      <p:grpSp>
        <p:nvGrpSpPr>
          <p:cNvPr id="4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" y="4308475"/>
            <a:ext cx="9610725" cy="2057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广告报告判断标准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991870"/>
            <a:ext cx="3388360" cy="3384550"/>
          </a:xfrm>
          <a:prstGeom prst="rect">
            <a:avLst/>
          </a:prstGeom>
        </p:spPr>
      </p:pic>
      <p:grpSp>
        <p:nvGrpSpPr>
          <p:cNvPr id="4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4376420"/>
            <a:ext cx="7886700" cy="1171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 advTm="0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广告报告判断标准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5" name="等腰三角形 4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784672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dirty="0">
                <a:solidFill>
                  <a:srgbClr val="474479"/>
                </a:solidFill>
                <a:cs typeface="+mn-ea"/>
                <a:sym typeface="+mn-lt"/>
              </a:rPr>
              <a:t>如何区分关键词</a:t>
            </a:r>
            <a:endParaRPr lang="zh-CN" altLang="zh-CN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90370"/>
            <a:ext cx="8077200" cy="4972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高曝光词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575" y="2090420"/>
            <a:ext cx="7562850" cy="2676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高曝光词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025" y="2371725"/>
            <a:ext cx="7219950" cy="2114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高曝光词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798320"/>
            <a:ext cx="11490325" cy="44792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40163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中等曝光词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150110"/>
            <a:ext cx="7448550" cy="289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40163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中等曝光词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2310130"/>
            <a:ext cx="7343775" cy="2238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40163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中等曝光词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1798320"/>
            <a:ext cx="7324725" cy="4267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低曝光词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0" y="1721485"/>
            <a:ext cx="7353300" cy="4143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低曝光词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70" y="1711960"/>
            <a:ext cx="8201025" cy="4219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低曝光词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2371725"/>
            <a:ext cx="11458575" cy="2114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低曝光词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8025" y="2400300"/>
            <a:ext cx="5695950" cy="20574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手动广告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注意事项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050" y="1696085"/>
            <a:ext cx="8903335" cy="4447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27971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自动广告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作用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680" y="1850390"/>
            <a:ext cx="10090785" cy="4236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27971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自动广告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特点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970" y="1854835"/>
            <a:ext cx="9763125" cy="3886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自动广告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调整策略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1700530"/>
            <a:ext cx="11487150" cy="4362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4082876" y="948502"/>
            <a:ext cx="3609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自动广告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-</a:t>
            </a:r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注意事项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广告活动调整策略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75" y="2621915"/>
            <a:ext cx="6029325" cy="1171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1485091" y="1116777"/>
            <a:ext cx="90043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1600" dirty="0">
                <a:solidFill>
                  <a:srgbClr val="474479"/>
                </a:solidFill>
                <a:cs typeface="+mn-ea"/>
                <a:sym typeface="+mn-lt"/>
              </a:rPr>
              <a:t>广告权重=CPC Bid x Ad Grade（关键词质量得分）=CPC Bid x Ad CTR Grade x Ad CVR Grade</a:t>
            </a:r>
            <a:endParaRPr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广告活动权重分析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070" y="3187700"/>
            <a:ext cx="9039225" cy="1762125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3900631" y="1983552"/>
            <a:ext cx="47529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3200" dirty="0">
                <a:solidFill>
                  <a:srgbClr val="474479"/>
                </a:solidFill>
                <a:cs typeface="+mn-ea"/>
                <a:sym typeface="+mn-lt"/>
              </a:rPr>
              <a:t>三个变量</a:t>
            </a:r>
            <a:r>
              <a:rPr lang="en-US" altLang="zh-CN" sz="3200" dirty="0">
                <a:solidFill>
                  <a:srgbClr val="474479"/>
                </a:solidFill>
                <a:cs typeface="+mn-ea"/>
                <a:sym typeface="+mn-lt"/>
              </a:rPr>
              <a:t>: CPC-CTR-CVR</a:t>
            </a:r>
            <a:endParaRPr lang="en-US" altLang="zh-CN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/>
          <p:cNvGrpSpPr/>
          <p:nvPr/>
        </p:nvGrpSpPr>
        <p:grpSpPr>
          <a:xfrm>
            <a:off x="2165923" y="489564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1485091" y="1116777"/>
            <a:ext cx="90043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1600" dirty="0">
                <a:solidFill>
                  <a:srgbClr val="474479"/>
                </a:solidFill>
                <a:cs typeface="+mn-ea"/>
                <a:sym typeface="+mn-lt"/>
              </a:rPr>
              <a:t>广告权重=CPC Bid x Ad Grade（关键词质量得分）=CPC Bid x Ad CTR Grade x Ad CVR Grade</a:t>
            </a:r>
            <a:endParaRPr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广告活动权重分析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677035"/>
            <a:ext cx="11430000" cy="3657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6545" y="4084320"/>
            <a:ext cx="9013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Other knowledge points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4910" y="2330353"/>
            <a:ext cx="39928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其他知识点</a:t>
            </a:r>
            <a:endParaRPr lang="zh-CN" altLang="en-US" sz="6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07695" y="1696720"/>
            <a:ext cx="11139170" cy="3442970"/>
            <a:chOff x="957" y="2672"/>
            <a:chExt cx="17542" cy="5422"/>
          </a:xfrm>
        </p:grpSpPr>
        <p:sp>
          <p:nvSpPr>
            <p:cNvPr id="28" name="文本框 27"/>
            <p:cNvSpPr txBox="1"/>
            <p:nvPr/>
          </p:nvSpPr>
          <p:spPr>
            <a:xfrm rot="16200000">
              <a:off x="-1513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 rot="16200000">
              <a:off x="15547" y="5142"/>
              <a:ext cx="54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>
                      <a:alpha val="64000"/>
                    </a:schemeClr>
                  </a:solidFill>
                  <a:cs typeface="+mn-ea"/>
                  <a:sym typeface="+mn-lt"/>
                </a:rPr>
                <a:t>将来的你一定会感谢现在奋斗的自己</a:t>
              </a:r>
              <a:endParaRPr lang="en-US" altLang="zh-CN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30448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SP.SB.SD的特点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055" y="2249805"/>
            <a:ext cx="9667875" cy="2914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其他广告类型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5" y="2002790"/>
            <a:ext cx="10829925" cy="4143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993466" y="1175197"/>
            <a:ext cx="11404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AC标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235" y="2517775"/>
            <a:ext cx="9620250" cy="13430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5041091" y="1127572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新品期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75" y="2776220"/>
            <a:ext cx="9696450" cy="13049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3900631" y="1213932"/>
            <a:ext cx="40862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Item Type Keywords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2419350"/>
            <a:ext cx="8258175" cy="2019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5251911" y="1184722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评论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1690" y="2573655"/>
            <a:ext cx="5314950" cy="714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3239596" y="1368237"/>
            <a:ext cx="5872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不同的广告组需要关注的核心点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2350770"/>
            <a:ext cx="9067800" cy="3152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2876" y="105073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新品广告打法推荐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125" y="1737360"/>
            <a:ext cx="6600825" cy="4514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 txBox="1"/>
          <p:nvPr/>
        </p:nvSpPr>
        <p:spPr>
          <a:xfrm>
            <a:off x="4083511" y="222062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474479"/>
                </a:solidFill>
                <a:cs typeface="+mn-ea"/>
                <a:sym typeface="+mn-lt"/>
              </a:rPr>
              <a:t>新品广告打法推荐</a:t>
            </a:r>
            <a:endParaRPr lang="zh-CN" altLang="en-US" sz="3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6628" name="组合 6"/>
          <p:cNvGrpSpPr/>
          <p:nvPr/>
        </p:nvGrpSpPr>
        <p:grpSpPr bwMode="auto">
          <a:xfrm rot="5400000">
            <a:off x="-465931" y="465931"/>
            <a:ext cx="1436688" cy="504825"/>
            <a:chOff x="0" y="2297125"/>
            <a:chExt cx="13100952" cy="4560877"/>
          </a:xfrm>
        </p:grpSpPr>
        <p:sp>
          <p:nvSpPr>
            <p:cNvPr id="46" name="等腰三角形 45"/>
            <p:cNvSpPr/>
            <p:nvPr/>
          </p:nvSpPr>
          <p:spPr>
            <a:xfrm>
              <a:off x="9" y="3473209"/>
              <a:ext cx="12478471" cy="3399149"/>
            </a:xfrm>
            <a:prstGeom prst="triangle">
              <a:avLst>
                <a:gd name="adj" fmla="val 0"/>
              </a:avLst>
            </a:prstGeom>
            <a:solidFill>
              <a:srgbClr val="554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 rot="921371">
              <a:off x="144771" y="2297134"/>
              <a:ext cx="12956190" cy="2925846"/>
            </a:xfrm>
            <a:prstGeom prst="triangle">
              <a:avLst>
                <a:gd name="adj" fmla="val 20586"/>
              </a:avLst>
            </a:prstGeom>
            <a:solidFill>
              <a:srgbClr val="554FA5"/>
            </a:solidFill>
            <a:ln>
              <a:solidFill>
                <a:srgbClr val="554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6629" name="文本框 9"/>
          <p:cNvSpPr txBox="1">
            <a:spLocks noChangeArrowheads="1"/>
          </p:cNvSpPr>
          <p:nvPr/>
        </p:nvSpPr>
        <p:spPr bwMode="auto">
          <a:xfrm>
            <a:off x="687388" y="222250"/>
            <a:ext cx="3395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微软雅黑" panose="020B0503020204020204" charset="-122"/>
                <a:ea typeface="微软雅黑" panose="020B0503020204020204" charset="-122"/>
              </a:rPr>
              <a:t>其他知识点</a:t>
            </a:r>
            <a:endParaRPr lang="zh-CN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1690" y="805815"/>
            <a:ext cx="1120013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新链接前期要做好文案里关键词的埋词，前台可视页面的埋词不少于20个。可视页面包含标题 五点  A+/文字描述。注意做了A+的，文字描述部分前台页面不显示，文字描述内容仅后台显示，可以放入更多的关键词，特别注意不要打乱关键词的顺序，按照买家的搜索习惯的顺序来填充，关键词的选词来源于亚马逊搜索下拉框 ABA 和老链接出单词为主，其他拓展工作为辅助。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buAutoNum type="arabicPeriod"/>
            </a:pP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对于平板产品，新品不要开自动，直接开广泛+精准，给产品做精准定位，来提高转化率。跑两周之后，开柳叶刀广告模型，就已经有了关键词来源和选词依据。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广泛组选已经埋入文案和ST的词根词3-5个。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精准组选3-5词，可以从后台商机探测器里选近期搜索量增长的词。注意操作要点：精准组的词也要埋入文案或者ST里面。有些词不适合亚马逊也不允许展示在文案里，可以埋入ST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 descr="lQLPJxZ4LCRQ6eHNBV3NB5OwKhlJzXXgzEACxfTxnYAGAA_1939_13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3332480"/>
            <a:ext cx="6879590" cy="34912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Click="0" advTm="0"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1a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43976" y="1049020"/>
            <a:ext cx="7320824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1600" dirty="0">
                <a:gradFill>
                  <a:gsLst>
                    <a:gs pos="0">
                      <a:srgbClr val="4A2AA9">
                        <a:alpha val="26000"/>
                      </a:srgb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16200000" scaled="0"/>
                </a:gradFill>
                <a:cs typeface="+mn-ea"/>
                <a:sym typeface="+mn-lt"/>
              </a:rPr>
              <a:t>2022</a:t>
            </a:r>
            <a:endParaRPr lang="en-US" altLang="zh-CN" sz="21600" dirty="0">
              <a:gradFill>
                <a:gsLst>
                  <a:gs pos="0">
                    <a:srgbClr val="4A2AA9">
                      <a:alpha val="26000"/>
                    </a:srgbClr>
                  </a:gs>
                  <a:gs pos="100000">
                    <a:schemeClr val="bg1">
                      <a:alpha val="24000"/>
                    </a:schemeClr>
                  </a:gs>
                </a:gsLst>
                <a:lin ang="16200000" scaled="0"/>
              </a:gradFill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64385" y="1892935"/>
            <a:ext cx="8136890" cy="2331085"/>
            <a:chOff x="3251" y="2998"/>
            <a:chExt cx="12814" cy="3671"/>
          </a:xfrm>
        </p:grpSpPr>
        <p:sp>
          <p:nvSpPr>
            <p:cNvPr id="5" name="文本框 4"/>
            <p:cNvSpPr txBox="1"/>
            <p:nvPr/>
          </p:nvSpPr>
          <p:spPr>
            <a:xfrm>
              <a:off x="3251" y="4393"/>
              <a:ext cx="12501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感</a:t>
              </a:r>
              <a:r>
                <a:rPr lang="en-US" altLang="zh-CN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  </a:t>
              </a:r>
              <a:r>
                <a:rPr lang="zh-CN" altLang="en-US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谢</a:t>
              </a:r>
              <a:r>
                <a:rPr lang="en-US" altLang="zh-CN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  </a:t>
              </a:r>
              <a:r>
                <a:rPr lang="zh-CN" altLang="en-US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相</a:t>
              </a:r>
              <a:r>
                <a:rPr lang="en-US" altLang="zh-CN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 </a:t>
              </a:r>
              <a:r>
                <a:rPr lang="zh-CN" altLang="en-US" sz="8800" i="1" dirty="0">
                  <a:solidFill>
                    <a:schemeClr val="bg1"/>
                  </a:solidFill>
                  <a:latin typeface="印品粗朗体" panose="02000000000000000000" pitchFamily="2" charset="-122"/>
                  <a:ea typeface="印品粗朗体" panose="02000000000000000000" pitchFamily="2" charset="-122"/>
                  <a:cs typeface="+mn-ea"/>
                  <a:sym typeface="+mn-lt"/>
                </a:rPr>
                <a:t>遇</a:t>
              </a:r>
              <a:endParaRPr lang="zh-CN" altLang="en-US" sz="8800" i="1" dirty="0">
                <a:solidFill>
                  <a:schemeClr val="bg1"/>
                </a:solidFill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 cstate="email">
              <a:biLevel thresh="25000"/>
            </a:blip>
            <a:stretch>
              <a:fillRect/>
            </a:stretch>
          </p:blipFill>
          <p:spPr>
            <a:xfrm>
              <a:off x="3365" y="2998"/>
              <a:ext cx="3218" cy="178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>
              <a:biLevel thresh="25000"/>
            </a:blip>
            <a:stretch>
              <a:fillRect/>
            </a:stretch>
          </p:blipFill>
          <p:spPr>
            <a:xfrm>
              <a:off x="13091" y="3814"/>
              <a:ext cx="2974" cy="2650"/>
            </a:xfrm>
            <a:prstGeom prst="rect">
              <a:avLst/>
            </a:prstGeom>
          </p:spPr>
        </p:pic>
      </p:grpSp>
      <p:cxnSp>
        <p:nvCxnSpPr>
          <p:cNvPr id="19" name="直接连接符 18"/>
          <p:cNvCxnSpPr/>
          <p:nvPr/>
        </p:nvCxnSpPr>
        <p:spPr>
          <a:xfrm flipV="1">
            <a:off x="5967730" y="5064125"/>
            <a:ext cx="553085" cy="8890"/>
          </a:xfrm>
          <a:prstGeom prst="line">
            <a:avLst/>
          </a:prstGeom>
          <a:ln w="19050">
            <a:solidFill>
              <a:schemeClr val="bg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591" y="5593850"/>
            <a:ext cx="249238" cy="54960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 flipV="1">
            <a:off x="3592996" y="40860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p:transition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PLACING_PICTURE_USER_VIEWPORT" val="{&quot;height&quot;:4725,&quot;width&quot;:11145}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TABLE_BEAUTIFY" val="smartTable{3beaa1b9-0ee0-4818-bf47-515ad4c0ccf4}"/>
</p:tagLst>
</file>

<file path=ppt/tags/tag106.xml><?xml version="1.0" encoding="utf-8"?>
<p:tagLst xmlns:p="http://schemas.openxmlformats.org/presentationml/2006/main">
  <p:tag name="KSO_WM_UNIT_TABLE_BEAUTIFY" val="smartTable{e1072bb4-0dd4-4cd4-9678-6f2fea0bc09e}"/>
</p:tagLst>
</file>

<file path=ppt/tags/tag107.xml><?xml version="1.0" encoding="utf-8"?>
<p:tagLst xmlns:p="http://schemas.openxmlformats.org/presentationml/2006/main">
  <p:tag name="KSO_WM_UNIT_TABLE_BEAUTIFY" val="smartTable{d1cd6203-dd73-4520-8458-88d3f001a6ae}"/>
</p:tagLst>
</file>

<file path=ppt/tags/tag108.xml><?xml version="1.0" encoding="utf-8"?>
<p:tagLst xmlns:p="http://schemas.openxmlformats.org/presentationml/2006/main">
  <p:tag name="KSO_WM_UNIT_TABLE_BEAUTIFY" val="smartTable{4f937ba5-4186-42cb-a054-d455958af30f}"/>
</p:tagLst>
</file>

<file path=ppt/tags/tag109.xml><?xml version="1.0" encoding="utf-8"?>
<p:tagLst xmlns:p="http://schemas.openxmlformats.org/presentationml/2006/main">
  <p:tag name="KSO_WM_UNIT_TABLE_BEAUTIFY" val="smartTable{50d3ad8d-befd-4d87-a6a6-21641ea059a2}"/>
</p:tagLst>
</file>

<file path=ppt/tags/tag110.xml><?xml version="1.0" encoding="utf-8"?>
<p:tagLst xmlns:p="http://schemas.openxmlformats.org/presentationml/2006/main">
  <p:tag name="KSO_WM_UNIT_TABLE_BEAUTIFY" val="smartTable{69228e0a-5e29-437b-9338-54a1d2edc2f2}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TABLE_BEAUTIFY" val="smartTable{2b8e49a1-bb64-42c5-a3c3-076cabfdb321}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TABLE_BEAUTIFY" val="smartTable{6b230beb-7a69-4bfb-b501-2abb2aed447b}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TABLE_BEAUTIFY" val="smartTable{c323d499-ac1e-4277-93df-bbf8fcc54ea7}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TABLE_BEAUTIFY" val="smartTable{408249da-8d10-4321-9dc7-19591135c813}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TABLE_BEAUTIFY" val="smartTable{66b1a9f8-2a4a-4322-9e54-c2ebb91d0ac7}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TABLE_BEAUTIFY" val="smartTable{364d0155-cbef-436c-a32a-4e3e81fb08da}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TABLE_BEAUTIFY" val="smartTable{8c4e911c-e193-43aa-9532-4fc7c55c3f56}"/>
</p:tagLst>
</file>

<file path=ppt/tags/tag125.xml><?xml version="1.0" encoding="utf-8"?>
<p:tagLst xmlns:p="http://schemas.openxmlformats.org/presentationml/2006/main">
  <p:tag name="KSO_WM_UNIT_TABLE_BEAUTIFY" val="smartTable{ad854d9d-d7b0-4230-aa1f-dcc60363a68f}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COMMONDATA" val="eyJoZGlkIjoiZjI2MDg5NDk5YTZjNmM1ZWYxNWQyZjQ2ZDJlZjJmNWEifQ=="/>
  <p:tag name="KSO_WPP_MARK_KEY" val="f7f1b2b2-01da-499d-bfe7-cb1a87bfed78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dy2ldpj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字魂59号-创粗黑"/>
        <a:font script="Hebr" typeface="字魂59号-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9号-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字魂59号-创粗黑"/>
        <a:font script="Hebr" typeface="字魂59号-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9号-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5513</Words>
  <Application>WPS 演示</Application>
  <PresentationFormat>宽屏</PresentationFormat>
  <Paragraphs>1519</Paragraphs>
  <Slides>76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76</vt:i4>
      </vt:variant>
    </vt:vector>
  </HeadingPairs>
  <TitlesOfParts>
    <vt:vector size="92" baseType="lpstr">
      <vt:lpstr>Arial</vt:lpstr>
      <vt:lpstr>宋体</vt:lpstr>
      <vt:lpstr>Wingdings</vt:lpstr>
      <vt:lpstr>字魂59号-创粗黑</vt:lpstr>
      <vt:lpstr>黑体</vt:lpstr>
      <vt:lpstr>Wingdings</vt:lpstr>
      <vt:lpstr>印品粗朗体</vt:lpstr>
      <vt:lpstr>Helvetica Light</vt:lpstr>
      <vt:lpstr>Arial</vt:lpstr>
      <vt:lpstr>Gill Sans</vt:lpstr>
      <vt:lpstr>微软雅黑</vt:lpstr>
      <vt:lpstr>Calibri</vt:lpstr>
      <vt:lpstr>Arial Unicode MS</vt:lpstr>
      <vt:lpstr>Segoe Print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李大鹏</cp:lastModifiedBy>
  <cp:revision>178</cp:revision>
  <dcterms:created xsi:type="dcterms:W3CDTF">2019-06-19T02:08:00Z</dcterms:created>
  <dcterms:modified xsi:type="dcterms:W3CDTF">2023-06-26T12:58:47Z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4CA6DE199B38468BB4B385452E61FF04</vt:lpwstr>
  </property>
</Properties>
</file>
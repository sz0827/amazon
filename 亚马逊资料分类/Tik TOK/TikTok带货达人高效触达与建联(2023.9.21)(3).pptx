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3"/>
    <p:sldId id="545" r:id="rId4"/>
    <p:sldId id="322" r:id="rId5"/>
    <p:sldId id="547" r:id="rId6"/>
    <p:sldId id="548" r:id="rId7"/>
    <p:sldId id="546" r:id="rId8"/>
    <p:sldId id="549" r:id="rId9"/>
    <p:sldId id="530" r:id="rId10"/>
    <p:sldId id="528" r:id="rId11"/>
    <p:sldId id="383" r:id="rId12"/>
    <p:sldId id="444" r:id="rId13"/>
    <p:sldId id="531" r:id="rId14"/>
    <p:sldId id="384" r:id="rId15"/>
    <p:sldId id="532" r:id="rId16"/>
    <p:sldId id="535" r:id="rId17"/>
    <p:sldId id="537" r:id="rId18"/>
    <p:sldId id="538" r:id="rId19"/>
    <p:sldId id="539" r:id="rId20"/>
    <p:sldId id="540" r:id="rId21"/>
    <p:sldId id="567" r:id="rId22"/>
    <p:sldId id="568" r:id="rId23"/>
    <p:sldId id="541" r:id="rId24"/>
    <p:sldId id="569" r:id="rId25"/>
    <p:sldId id="570" r:id="rId26"/>
    <p:sldId id="550" r:id="rId27"/>
    <p:sldId id="571" r:id="rId28"/>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7" userDrawn="1">
          <p15:clr>
            <a:srgbClr val="A4A3A4"/>
          </p15:clr>
        </p15:guide>
        <p15:guide id="2" pos="39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 id="3" name="lsbn1529" initials="l"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232928"/>
    <a:srgbClr val="FB37B8"/>
    <a:srgbClr val="FD5D7F"/>
    <a:srgbClr val="FC2B55"/>
    <a:srgbClr val="26F5EF"/>
    <a:srgbClr val="8B70B8"/>
    <a:srgbClr val="230F0F"/>
    <a:srgbClr val="A902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47"/>
        <p:guide pos="390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gs" Target="tags/tag135.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image" Target="../media/image1.png"/><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6.xml"/><Relationship Id="rId2" Type="http://schemas.openxmlformats.org/officeDocument/2006/relationships/image" Target="../media/image1.png"/><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9.xml"/><Relationship Id="rId3" Type="http://schemas.openxmlformats.org/officeDocument/2006/relationships/image" Target="../media/image2.jpeg"/><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72.xml"/><Relationship Id="rId3" Type="http://schemas.openxmlformats.org/officeDocument/2006/relationships/image" Target="../media/image3.png"/><Relationship Id="rId2" Type="http://schemas.openxmlformats.org/officeDocument/2006/relationships/tags" Target="../tags/tag71.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76.xml"/><Relationship Id="rId4" Type="http://schemas.openxmlformats.org/officeDocument/2006/relationships/image" Target="../media/image4.png"/><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79.xml"/><Relationship Id="rId3" Type="http://schemas.openxmlformats.org/officeDocument/2006/relationships/image" Target="../media/image5.png"/><Relationship Id="rId2" Type="http://schemas.openxmlformats.org/officeDocument/2006/relationships/tags" Target="../tags/tag78.xml"/><Relationship Id="rId1" Type="http://schemas.openxmlformats.org/officeDocument/2006/relationships/tags" Target="../tags/tag77.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image" Target="../media/image6.png"/><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image" Target="../media/image7.png"/><Relationship Id="rId1" Type="http://schemas.openxmlformats.org/officeDocument/2006/relationships/tags" Target="../tags/tag8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7.xml"/><Relationship Id="rId2" Type="http://schemas.openxmlformats.org/officeDocument/2006/relationships/image" Target="../media/image8.png"/><Relationship Id="rId1" Type="http://schemas.openxmlformats.org/officeDocument/2006/relationships/tags" Target="../tags/tag8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image" Target="../media/image9.png"/><Relationship Id="rId1" Type="http://schemas.openxmlformats.org/officeDocument/2006/relationships/tags" Target="../tags/tag9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5.xml"/><Relationship Id="rId2" Type="http://schemas.openxmlformats.org/officeDocument/2006/relationships/image" Target="../media/image1.png"/><Relationship Id="rId1" Type="http://schemas.openxmlformats.org/officeDocument/2006/relationships/tags" Target="../tags/tag94.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image" Target="../media/image10.png"/><Relationship Id="rId1" Type="http://schemas.openxmlformats.org/officeDocument/2006/relationships/tags" Target="../tags/tag96.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00.xml"/><Relationship Id="rId2" Type="http://schemas.openxmlformats.org/officeDocument/2006/relationships/image" Target="../media/image1.png"/><Relationship Id="rId1" Type="http://schemas.openxmlformats.org/officeDocument/2006/relationships/tags" Target="../tags/tag99.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05.xml"/><Relationship Id="rId2" Type="http://schemas.openxmlformats.org/officeDocument/2006/relationships/image" Target="../media/image1.png"/><Relationship Id="rId1" Type="http://schemas.openxmlformats.org/officeDocument/2006/relationships/tags" Target="../tags/tag104.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10.xml"/><Relationship Id="rId2" Type="http://schemas.openxmlformats.org/officeDocument/2006/relationships/image" Target="../media/image1.png"/><Relationship Id="rId1" Type="http://schemas.openxmlformats.org/officeDocument/2006/relationships/tags" Target="../tags/tag109.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257935" y="2343150"/>
            <a:ext cx="9409430" cy="1838960"/>
          </a:xfrm>
        </p:spPr>
        <p:txBody>
          <a:bodyPr>
            <a:noAutofit/>
          </a:bodyPr>
          <a:p>
            <a:r>
              <a:rPr sz="4800">
                <a:ln w="9525">
                  <a:solidFill>
                    <a:schemeClr val="bg1"/>
                  </a:solidFill>
                  <a:prstDash val="solid"/>
                </a:ln>
                <a:solidFill>
                  <a:schemeClr val="bg1"/>
                </a:solidFill>
                <a:effectLst>
                  <a:outerShdw blurRad="12700" dist="38100" dir="2700000" algn="tl" rotWithShape="0">
                    <a:srgbClr val="E41908"/>
                  </a:outerShdw>
                </a:effectLst>
                <a:sym typeface="+mn-ea"/>
              </a:rPr>
              <a:t>TikTok带货达人</a:t>
            </a:r>
            <a:br>
              <a:rPr sz="4800">
                <a:ln w="9525">
                  <a:solidFill>
                    <a:schemeClr val="bg1"/>
                  </a:solidFill>
                  <a:prstDash val="solid"/>
                </a:ln>
                <a:solidFill>
                  <a:schemeClr val="bg1"/>
                </a:solidFill>
                <a:effectLst>
                  <a:outerShdw blurRad="12700" dist="38100" dir="2700000" algn="tl" rotWithShape="0">
                    <a:srgbClr val="E41908"/>
                  </a:outerShdw>
                </a:effectLst>
                <a:sym typeface="+mn-ea"/>
              </a:rPr>
            </a:br>
            <a:r>
              <a:rPr sz="4800">
                <a:ln w="9525">
                  <a:solidFill>
                    <a:schemeClr val="bg1"/>
                  </a:solidFill>
                  <a:prstDash val="solid"/>
                </a:ln>
                <a:solidFill>
                  <a:schemeClr val="bg1"/>
                </a:solidFill>
                <a:effectLst>
                  <a:outerShdw blurRad="12700" dist="38100" dir="2700000" algn="tl" rotWithShape="0">
                    <a:srgbClr val="E41908"/>
                  </a:outerShdw>
                </a:effectLst>
                <a:sym typeface="+mn-ea"/>
              </a:rPr>
              <a:t>高效触达与建联</a:t>
            </a:r>
            <a:endParaRPr lang="zh-CN" altLang="en-US" sz="4800">
              <a:ln w="9525">
                <a:solidFill>
                  <a:schemeClr val="bg1"/>
                </a:solidFill>
                <a:prstDash val="solid"/>
              </a:ln>
              <a:solidFill>
                <a:schemeClr val="bg1"/>
              </a:solidFill>
              <a:effectLst>
                <a:outerShdw blurRad="12700" dist="38100" dir="2700000" algn="tl" rotWithShape="0">
                  <a:srgbClr val="E41908"/>
                </a:outerShdw>
              </a:effectLst>
            </a:endParaRPr>
          </a:p>
        </p:txBody>
      </p:sp>
      <p:sp>
        <p:nvSpPr>
          <p:cNvPr id="4" name="任意多边形 3"/>
          <p:cNvSpPr/>
          <p:nvPr/>
        </p:nvSpPr>
        <p:spPr>
          <a:xfrm rot="8700000">
            <a:off x="-128178" y="6092621"/>
            <a:ext cx="2064481" cy="513715"/>
          </a:xfrm>
          <a:custGeom>
            <a:avLst/>
            <a:gdLst/>
            <a:ahLst/>
            <a:cxnLst>
              <a:cxn ang="3">
                <a:pos x="hc" y="t"/>
              </a:cxn>
              <a:cxn ang="cd2">
                <a:pos x="l" y="vc"/>
              </a:cxn>
              <a:cxn ang="cd4">
                <a:pos x="hc" y="b"/>
              </a:cxn>
              <a:cxn ang="0">
                <a:pos x="r" y="vc"/>
              </a:cxn>
            </a:cxnLst>
            <a:rect l="l" t="t" r="r" b="b"/>
            <a:pathLst>
              <a:path w="3251" h="809">
                <a:moveTo>
                  <a:pt x="0" y="0"/>
                </a:moveTo>
                <a:lnTo>
                  <a:pt x="2444" y="0"/>
                </a:lnTo>
                <a:lnTo>
                  <a:pt x="3251" y="565"/>
                </a:lnTo>
                <a:lnTo>
                  <a:pt x="3080" y="809"/>
                </a:lnTo>
                <a:lnTo>
                  <a:pt x="0" y="809"/>
                </a:lnTo>
                <a:lnTo>
                  <a:pt x="0" y="0"/>
                </a:lnTo>
                <a:close/>
              </a:path>
            </a:pathLst>
          </a:custGeom>
          <a:gradFill>
            <a:gsLst>
              <a:gs pos="34000">
                <a:srgbClr val="CE0101">
                  <a:alpha val="100000"/>
                </a:srgbClr>
              </a:gs>
              <a:gs pos="50000">
                <a:srgbClr val="B80202">
                  <a:alpha val="100000"/>
                </a:srgbClr>
              </a:gs>
              <a:gs pos="0">
                <a:srgbClr val="E30000"/>
              </a:gs>
              <a:gs pos="100000">
                <a:srgbClr val="8C030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rot="19500000">
            <a:off x="-349835" y="5277142"/>
            <a:ext cx="2299957" cy="494665"/>
          </a:xfrm>
          <a:custGeom>
            <a:avLst/>
            <a:gdLst/>
            <a:ahLst/>
            <a:cxnLst>
              <a:cxn ang="3">
                <a:pos x="hc" y="t"/>
              </a:cxn>
              <a:cxn ang="cd2">
                <a:pos x="l" y="vc"/>
              </a:cxn>
              <a:cxn ang="cd4">
                <a:pos x="hc" y="b"/>
              </a:cxn>
              <a:cxn ang="0">
                <a:pos x="r" y="vc"/>
              </a:cxn>
            </a:cxnLst>
            <a:rect l="l" t="t" r="r" b="b"/>
            <a:pathLst>
              <a:path w="3622" h="779">
                <a:moveTo>
                  <a:pt x="545" y="0"/>
                </a:moveTo>
                <a:lnTo>
                  <a:pt x="3622" y="0"/>
                </a:lnTo>
                <a:lnTo>
                  <a:pt x="3622"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3" name="任意多边形 12"/>
          <p:cNvSpPr/>
          <p:nvPr/>
        </p:nvSpPr>
        <p:spPr>
          <a:xfrm rot="19560000">
            <a:off x="906270" y="6093381"/>
            <a:ext cx="2583488" cy="494665"/>
          </a:xfrm>
          <a:custGeom>
            <a:avLst/>
            <a:gdLst/>
            <a:ahLst/>
            <a:cxnLst>
              <a:cxn ang="3">
                <a:pos x="hc" y="t"/>
              </a:cxn>
              <a:cxn ang="cd2">
                <a:pos x="l" y="vc"/>
              </a:cxn>
              <a:cxn ang="cd4">
                <a:pos x="hc" y="b"/>
              </a:cxn>
              <a:cxn ang="0">
                <a:pos x="r" y="vc"/>
              </a:cxn>
            </a:cxnLst>
            <a:rect l="l" t="t" r="r" b="b"/>
            <a:pathLst>
              <a:path w="4068" h="779">
                <a:moveTo>
                  <a:pt x="0" y="0"/>
                </a:moveTo>
                <a:lnTo>
                  <a:pt x="4068" y="0"/>
                </a:lnTo>
                <a:lnTo>
                  <a:pt x="4068" y="779"/>
                </a:lnTo>
                <a:lnTo>
                  <a:pt x="1155" y="779"/>
                </a:lnTo>
                <a:lnTo>
                  <a:pt x="0"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7" name="任意多边形 16"/>
          <p:cNvSpPr/>
          <p:nvPr/>
        </p:nvSpPr>
        <p:spPr>
          <a:xfrm rot="8700000" flipH="1" flipV="1">
            <a:off x="11044853" y="707593"/>
            <a:ext cx="1423163" cy="513715"/>
          </a:xfrm>
          <a:custGeom>
            <a:avLst/>
            <a:gdLst/>
            <a:ahLst/>
            <a:cxnLst>
              <a:cxn ang="3">
                <a:pos x="hc" y="t"/>
              </a:cxn>
              <a:cxn ang="cd2">
                <a:pos x="l" y="vc"/>
              </a:cxn>
              <a:cxn ang="cd4">
                <a:pos x="hc" y="b"/>
              </a:cxn>
              <a:cxn ang="0">
                <a:pos x="r" y="vc"/>
              </a:cxn>
            </a:cxnLst>
            <a:rect l="l" t="t" r="r" b="b"/>
            <a:pathLst>
              <a:path w="2241" h="809">
                <a:moveTo>
                  <a:pt x="0" y="0"/>
                </a:moveTo>
                <a:lnTo>
                  <a:pt x="2241" y="0"/>
                </a:lnTo>
                <a:lnTo>
                  <a:pt x="1675" y="809"/>
                </a:lnTo>
                <a:lnTo>
                  <a:pt x="0" y="809"/>
                </a:lnTo>
                <a:lnTo>
                  <a:pt x="0" y="0"/>
                </a:lnTo>
                <a:close/>
              </a:path>
            </a:pathLst>
          </a:custGeom>
          <a:gradFill>
            <a:gsLst>
              <a:gs pos="0">
                <a:srgbClr val="F62A54"/>
              </a:gs>
              <a:gs pos="100000">
                <a:srgbClr val="A90226"/>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8" name="任意多边形 17"/>
          <p:cNvSpPr/>
          <p:nvPr/>
        </p:nvSpPr>
        <p:spPr>
          <a:xfrm rot="8700000">
            <a:off x="11039438" y="1547797"/>
            <a:ext cx="1423109" cy="494665"/>
          </a:xfrm>
          <a:custGeom>
            <a:avLst/>
            <a:gdLst/>
            <a:ahLst/>
            <a:cxnLst>
              <a:cxn ang="3">
                <a:pos x="hc" y="t"/>
              </a:cxn>
              <a:cxn ang="cd2">
                <a:pos x="l" y="vc"/>
              </a:cxn>
              <a:cxn ang="cd4">
                <a:pos x="hc" y="b"/>
              </a:cxn>
              <a:cxn ang="0">
                <a:pos x="r" y="vc"/>
              </a:cxn>
            </a:cxnLst>
            <a:rect l="l" t="t" r="r" b="b"/>
            <a:pathLst>
              <a:path w="2241" h="779">
                <a:moveTo>
                  <a:pt x="545" y="0"/>
                </a:moveTo>
                <a:lnTo>
                  <a:pt x="2241" y="0"/>
                </a:lnTo>
                <a:lnTo>
                  <a:pt x="2241"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9" name="任意多边形 18"/>
          <p:cNvSpPr/>
          <p:nvPr/>
        </p:nvSpPr>
        <p:spPr>
          <a:xfrm rot="19560000" flipH="1" flipV="1">
            <a:off x="9937622" y="312346"/>
            <a:ext cx="2385881" cy="494665"/>
          </a:xfrm>
          <a:custGeom>
            <a:avLst/>
            <a:gdLst/>
            <a:ahLst/>
            <a:cxnLst>
              <a:cxn ang="3">
                <a:pos x="hc" y="t"/>
              </a:cxn>
              <a:cxn ang="cd2">
                <a:pos x="l" y="vc"/>
              </a:cxn>
              <a:cxn ang="cd4">
                <a:pos x="hc" y="b"/>
              </a:cxn>
              <a:cxn ang="0">
                <a:pos x="r" y="vc"/>
              </a:cxn>
            </a:cxnLst>
            <a:rect l="l" t="t" r="r" b="b"/>
            <a:pathLst>
              <a:path w="3757" h="779">
                <a:moveTo>
                  <a:pt x="125" y="0"/>
                </a:moveTo>
                <a:lnTo>
                  <a:pt x="3757" y="0"/>
                </a:lnTo>
                <a:lnTo>
                  <a:pt x="3757" y="779"/>
                </a:lnTo>
                <a:lnTo>
                  <a:pt x="880" y="779"/>
                </a:lnTo>
                <a:lnTo>
                  <a:pt x="0" y="185"/>
                </a:lnTo>
                <a:lnTo>
                  <a:pt x="125"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2" name="椭圆 21"/>
          <p:cNvSpPr/>
          <p:nvPr/>
        </p:nvSpPr>
        <p:spPr>
          <a:xfrm rot="4260000">
            <a:off x="948690" y="3409315"/>
            <a:ext cx="681990" cy="681990"/>
          </a:xfrm>
          <a:prstGeom prst="ellipse">
            <a:avLst/>
          </a:pr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任意多边形 22"/>
          <p:cNvSpPr/>
          <p:nvPr/>
        </p:nvSpPr>
        <p:spPr>
          <a:xfrm>
            <a:off x="0" y="1583055"/>
            <a:ext cx="798830" cy="11880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77" h="1006">
                <a:moveTo>
                  <a:pt x="174" y="0"/>
                </a:moveTo>
                <a:cubicBezTo>
                  <a:pt x="452" y="0"/>
                  <a:pt x="677" y="225"/>
                  <a:pt x="677" y="503"/>
                </a:cubicBezTo>
                <a:cubicBezTo>
                  <a:pt x="677" y="781"/>
                  <a:pt x="452" y="1006"/>
                  <a:pt x="174" y="1006"/>
                </a:cubicBezTo>
                <a:cubicBezTo>
                  <a:pt x="113" y="1006"/>
                  <a:pt x="55" y="995"/>
                  <a:pt x="1" y="975"/>
                </a:cubicBezTo>
                <a:lnTo>
                  <a:pt x="0" y="975"/>
                </a:lnTo>
                <a:lnTo>
                  <a:pt x="0" y="31"/>
                </a:lnTo>
                <a:lnTo>
                  <a:pt x="1" y="31"/>
                </a:lnTo>
                <a:cubicBezTo>
                  <a:pt x="55" y="11"/>
                  <a:pt x="113" y="0"/>
                  <a:pt x="174" y="0"/>
                </a:cubicBezTo>
                <a:close/>
              </a:path>
            </a:pathLst>
          </a:custGeom>
          <a:gradFill>
            <a:gsLst>
              <a:gs pos="0">
                <a:srgbClr val="F82A9E"/>
              </a:gs>
              <a:gs pos="37000">
                <a:srgbClr val="A38DC6">
                  <a:alpha val="100000"/>
                </a:srgbClr>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5" name="矩形 24"/>
          <p:cNvSpPr/>
          <p:nvPr/>
        </p:nvSpPr>
        <p:spPr>
          <a:xfrm>
            <a:off x="7969885" y="4547870"/>
            <a:ext cx="4222115" cy="865505"/>
          </a:xfrm>
          <a:prstGeom prst="rect">
            <a:avLst/>
          </a:prstGeom>
          <a:gradFill>
            <a:gsLst>
              <a:gs pos="1000">
                <a:srgbClr val="000000"/>
              </a:gs>
              <a:gs pos="68000">
                <a:srgbClr val="901D32">
                  <a:alpha val="100000"/>
                </a:srgbClr>
              </a:gs>
              <a:gs pos="19000">
                <a:srgbClr val="230F0F"/>
              </a:gs>
              <a:gs pos="100000">
                <a:srgbClr val="FC2B55"/>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椭圆 26"/>
          <p:cNvSpPr/>
          <p:nvPr/>
        </p:nvSpPr>
        <p:spPr>
          <a:xfrm>
            <a:off x="9289415" y="5847080"/>
            <a:ext cx="539750" cy="539750"/>
          </a:xfrm>
          <a:prstGeom prst="ellipse">
            <a:avLst/>
          </a:prstGeom>
          <a:gradFill>
            <a:gsLst>
              <a:gs pos="0">
                <a:srgbClr val="F82A9E"/>
              </a:gs>
              <a:gs pos="2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椭圆 28"/>
          <p:cNvSpPr/>
          <p:nvPr/>
        </p:nvSpPr>
        <p:spPr>
          <a:xfrm rot="6300000">
            <a:off x="11397615" y="3649345"/>
            <a:ext cx="302895" cy="302895"/>
          </a:xfrm>
          <a:prstGeom prst="ellipse">
            <a:avLst/>
          </a:prstGeom>
          <a:gradFill>
            <a:gsLst>
              <a:gs pos="0">
                <a:srgbClr val="F82A9E"/>
              </a:gs>
              <a:gs pos="62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任意多边形 27"/>
          <p:cNvSpPr/>
          <p:nvPr/>
        </p:nvSpPr>
        <p:spPr>
          <a:xfrm rot="16020000">
            <a:off x="11177734" y="5850606"/>
            <a:ext cx="1041746" cy="1023327"/>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41" h="1612">
                <a:moveTo>
                  <a:pt x="688" y="0"/>
                </a:moveTo>
                <a:cubicBezTo>
                  <a:pt x="1214" y="0"/>
                  <a:pt x="1641" y="420"/>
                  <a:pt x="1641" y="937"/>
                </a:cubicBezTo>
                <a:cubicBezTo>
                  <a:pt x="1641" y="1196"/>
                  <a:pt x="1534" y="1430"/>
                  <a:pt x="1361" y="1600"/>
                </a:cubicBezTo>
                <a:lnTo>
                  <a:pt x="1349" y="1612"/>
                </a:lnTo>
                <a:lnTo>
                  <a:pt x="0" y="1541"/>
                </a:lnTo>
                <a:lnTo>
                  <a:pt x="69" y="224"/>
                </a:lnTo>
                <a:lnTo>
                  <a:pt x="81" y="214"/>
                </a:lnTo>
                <a:cubicBezTo>
                  <a:pt x="246" y="80"/>
                  <a:pt x="457" y="0"/>
                  <a:pt x="688" y="0"/>
                </a:cubicBezTo>
                <a:close/>
              </a:path>
            </a:pathLst>
          </a:cu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cxnSp>
        <p:nvCxnSpPr>
          <p:cNvPr id="33" name="直接连接符 32"/>
          <p:cNvCxnSpPr/>
          <p:nvPr/>
        </p:nvCxnSpPr>
        <p:spPr>
          <a:xfrm>
            <a:off x="667385" y="227330"/>
            <a:ext cx="265430" cy="381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32815" y="13398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42340" y="157924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1236980" y="1524000"/>
            <a:ext cx="196215" cy="254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1347470" y="1651000"/>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583690" y="157797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968500" y="1541145"/>
            <a:ext cx="259715" cy="1270"/>
          </a:xfrm>
          <a:prstGeom prst="line">
            <a:avLst/>
          </a:prstGeom>
          <a:ln w="5397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64185" y="132715"/>
            <a:ext cx="203200" cy="1270"/>
          </a:xfrm>
          <a:prstGeom prst="line">
            <a:avLst/>
          </a:prstGeom>
          <a:ln w="571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339090" y="324485"/>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984885" y="226695"/>
            <a:ext cx="399415" cy="5715"/>
          </a:xfrm>
          <a:prstGeom prst="line">
            <a:avLst/>
          </a:prstGeom>
          <a:ln w="349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1329690" y="316230"/>
            <a:ext cx="154305" cy="63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583690" y="1431925"/>
            <a:ext cx="384810" cy="1270"/>
          </a:xfrm>
          <a:prstGeom prst="line">
            <a:avLst/>
          </a:prstGeom>
          <a:ln w="317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1849120" y="1651635"/>
            <a:ext cx="346710" cy="190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257935" y="187325"/>
            <a:ext cx="406400" cy="0"/>
          </a:xfrm>
          <a:prstGeom prst="line">
            <a:avLst/>
          </a:prstGeom>
          <a:ln w="190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065020" y="1455420"/>
            <a:ext cx="534670" cy="0"/>
          </a:xfrm>
          <a:prstGeom prst="line">
            <a:avLst/>
          </a:prstGeom>
          <a:ln w="15875">
            <a:solidFill>
              <a:srgbClr val="FB37B8"/>
            </a:solidFill>
          </a:ln>
        </p:spPr>
        <p:style>
          <a:lnRef idx="1">
            <a:schemeClr val="accent1"/>
          </a:lnRef>
          <a:fillRef idx="0">
            <a:schemeClr val="accent1"/>
          </a:fillRef>
          <a:effectRef idx="0">
            <a:schemeClr val="accent1"/>
          </a:effectRef>
          <a:fontRef idx="minor">
            <a:schemeClr val="tx1"/>
          </a:fontRef>
        </p:style>
      </p:cxnSp>
      <p:pic>
        <p:nvPicPr>
          <p:cNvPr id="50" name="图片 49" descr="Sub_Brand_TT-Shop V2_20220914193836-1"/>
          <p:cNvPicPr>
            <a:picLocks noChangeAspect="1"/>
          </p:cNvPicPr>
          <p:nvPr/>
        </p:nvPicPr>
        <p:blipFill>
          <a:blip r:embed="rId2"/>
          <a:srcRect r="79232"/>
          <a:stretch>
            <a:fillRect/>
          </a:stretch>
        </p:blipFill>
        <p:spPr>
          <a:xfrm>
            <a:off x="798830" y="239395"/>
            <a:ext cx="600710" cy="1101725"/>
          </a:xfrm>
          <a:prstGeom prst="rect">
            <a:avLst/>
          </a:prstGeom>
        </p:spPr>
      </p:pic>
      <p:pic>
        <p:nvPicPr>
          <p:cNvPr id="52" name="图片 51" descr="Sub_Brand_TT-Shop V2_20220914193836-1"/>
          <p:cNvPicPr>
            <a:picLocks noChangeAspect="1"/>
          </p:cNvPicPr>
          <p:nvPr/>
        </p:nvPicPr>
        <p:blipFill>
          <a:blip r:embed="rId2"/>
          <a:srcRect l="21215" t="23800" r="41066" b="44523"/>
          <a:stretch>
            <a:fillRect/>
          </a:stretch>
        </p:blipFill>
        <p:spPr>
          <a:xfrm>
            <a:off x="1402080" y="558165"/>
            <a:ext cx="1860550" cy="594995"/>
          </a:xfrm>
          <a:prstGeom prst="rect">
            <a:avLst/>
          </a:prstGeom>
        </p:spPr>
      </p:pic>
      <p:sp>
        <p:nvSpPr>
          <p:cNvPr id="59" name="文本框 58"/>
          <p:cNvSpPr txBox="1"/>
          <p:nvPr/>
        </p:nvSpPr>
        <p:spPr>
          <a:xfrm>
            <a:off x="7922260" y="4230370"/>
            <a:ext cx="309880" cy="368300"/>
          </a:xfrm>
          <a:prstGeom prst="rect">
            <a:avLst/>
          </a:prstGeom>
          <a:noFill/>
        </p:spPr>
        <p:txBody>
          <a:bodyPr wrap="none" rtlCol="0">
            <a:spAutoFit/>
          </a:bodyPr>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animBg="1"/>
      <p:bldP spid="4" grpId="1" animBg="1"/>
      <p:bldP spid="13" grpId="1" animBg="1"/>
      <p:bldP spid="18" grpId="1" animBg="1"/>
      <p:bldP spid="19" grpId="1" animBg="1"/>
      <p:bldP spid="17" grpId="1" animBg="1"/>
      <p:bldP spid="27" grpId="1" animBg="1"/>
      <p:bldP spid="29" grpId="1" animBg="1"/>
      <p:bldP spid="28" grpId="1" animBg="1"/>
      <p:bldP spid="22" grpId="1" animBg="1"/>
      <p:bldP spid="23" grpId="1" animBg="1"/>
      <p:bldP spid="25" grpId="1" animBg="1"/>
      <p:bldP spid="2" grpId="0"/>
      <p:bldP spid="2"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483995" y="3165475"/>
            <a:ext cx="9409430" cy="868680"/>
          </a:xfrm>
        </p:spPr>
        <p:txBody>
          <a:bodyPr>
            <a:noAutofit/>
          </a:bodyPr>
          <a:p>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TikTok shop </a:t>
            </a: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店铺达人广场建</a:t>
            </a:r>
            <a:r>
              <a:rPr 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联</a:t>
            </a:r>
            <a:endParaRPr 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4" name="任意多边形 3"/>
          <p:cNvSpPr/>
          <p:nvPr/>
        </p:nvSpPr>
        <p:spPr>
          <a:xfrm rot="8700000">
            <a:off x="-128178" y="6092621"/>
            <a:ext cx="2064481" cy="513715"/>
          </a:xfrm>
          <a:custGeom>
            <a:avLst/>
            <a:gdLst/>
            <a:ahLst/>
            <a:cxnLst>
              <a:cxn ang="3">
                <a:pos x="hc" y="t"/>
              </a:cxn>
              <a:cxn ang="cd2">
                <a:pos x="l" y="vc"/>
              </a:cxn>
              <a:cxn ang="cd4">
                <a:pos x="hc" y="b"/>
              </a:cxn>
              <a:cxn ang="0">
                <a:pos x="r" y="vc"/>
              </a:cxn>
            </a:cxnLst>
            <a:rect l="l" t="t" r="r" b="b"/>
            <a:pathLst>
              <a:path w="3251" h="809">
                <a:moveTo>
                  <a:pt x="0" y="0"/>
                </a:moveTo>
                <a:lnTo>
                  <a:pt x="2444" y="0"/>
                </a:lnTo>
                <a:lnTo>
                  <a:pt x="3251" y="565"/>
                </a:lnTo>
                <a:lnTo>
                  <a:pt x="3080" y="809"/>
                </a:lnTo>
                <a:lnTo>
                  <a:pt x="0" y="809"/>
                </a:lnTo>
                <a:lnTo>
                  <a:pt x="0" y="0"/>
                </a:lnTo>
                <a:close/>
              </a:path>
            </a:pathLst>
          </a:custGeom>
          <a:gradFill>
            <a:gsLst>
              <a:gs pos="34000">
                <a:srgbClr val="CE0101">
                  <a:alpha val="100000"/>
                </a:srgbClr>
              </a:gs>
              <a:gs pos="50000">
                <a:srgbClr val="B80202">
                  <a:alpha val="100000"/>
                </a:srgbClr>
              </a:gs>
              <a:gs pos="0">
                <a:srgbClr val="E30000"/>
              </a:gs>
              <a:gs pos="100000">
                <a:srgbClr val="8C030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rot="19500000">
            <a:off x="-349835" y="5277142"/>
            <a:ext cx="2299957" cy="494665"/>
          </a:xfrm>
          <a:custGeom>
            <a:avLst/>
            <a:gdLst/>
            <a:ahLst/>
            <a:cxnLst>
              <a:cxn ang="3">
                <a:pos x="hc" y="t"/>
              </a:cxn>
              <a:cxn ang="cd2">
                <a:pos x="l" y="vc"/>
              </a:cxn>
              <a:cxn ang="cd4">
                <a:pos x="hc" y="b"/>
              </a:cxn>
              <a:cxn ang="0">
                <a:pos x="r" y="vc"/>
              </a:cxn>
            </a:cxnLst>
            <a:rect l="l" t="t" r="r" b="b"/>
            <a:pathLst>
              <a:path w="3622" h="779">
                <a:moveTo>
                  <a:pt x="545" y="0"/>
                </a:moveTo>
                <a:lnTo>
                  <a:pt x="3622" y="0"/>
                </a:lnTo>
                <a:lnTo>
                  <a:pt x="3622"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3" name="任意多边形 12"/>
          <p:cNvSpPr/>
          <p:nvPr/>
        </p:nvSpPr>
        <p:spPr>
          <a:xfrm rot="19560000">
            <a:off x="906270" y="6093381"/>
            <a:ext cx="2583488" cy="494665"/>
          </a:xfrm>
          <a:custGeom>
            <a:avLst/>
            <a:gdLst/>
            <a:ahLst/>
            <a:cxnLst>
              <a:cxn ang="3">
                <a:pos x="hc" y="t"/>
              </a:cxn>
              <a:cxn ang="cd2">
                <a:pos x="l" y="vc"/>
              </a:cxn>
              <a:cxn ang="cd4">
                <a:pos x="hc" y="b"/>
              </a:cxn>
              <a:cxn ang="0">
                <a:pos x="r" y="vc"/>
              </a:cxn>
            </a:cxnLst>
            <a:rect l="l" t="t" r="r" b="b"/>
            <a:pathLst>
              <a:path w="4068" h="779">
                <a:moveTo>
                  <a:pt x="0" y="0"/>
                </a:moveTo>
                <a:lnTo>
                  <a:pt x="4068" y="0"/>
                </a:lnTo>
                <a:lnTo>
                  <a:pt x="4068" y="779"/>
                </a:lnTo>
                <a:lnTo>
                  <a:pt x="1155" y="779"/>
                </a:lnTo>
                <a:lnTo>
                  <a:pt x="0"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7" name="任意多边形 16"/>
          <p:cNvSpPr/>
          <p:nvPr/>
        </p:nvSpPr>
        <p:spPr>
          <a:xfrm rot="8700000" flipH="1" flipV="1">
            <a:off x="11044853" y="707593"/>
            <a:ext cx="1423163" cy="513715"/>
          </a:xfrm>
          <a:custGeom>
            <a:avLst/>
            <a:gdLst/>
            <a:ahLst/>
            <a:cxnLst>
              <a:cxn ang="3">
                <a:pos x="hc" y="t"/>
              </a:cxn>
              <a:cxn ang="cd2">
                <a:pos x="l" y="vc"/>
              </a:cxn>
              <a:cxn ang="cd4">
                <a:pos x="hc" y="b"/>
              </a:cxn>
              <a:cxn ang="0">
                <a:pos x="r" y="vc"/>
              </a:cxn>
            </a:cxnLst>
            <a:rect l="l" t="t" r="r" b="b"/>
            <a:pathLst>
              <a:path w="2241" h="809">
                <a:moveTo>
                  <a:pt x="0" y="0"/>
                </a:moveTo>
                <a:lnTo>
                  <a:pt x="2241" y="0"/>
                </a:lnTo>
                <a:lnTo>
                  <a:pt x="1675" y="809"/>
                </a:lnTo>
                <a:lnTo>
                  <a:pt x="0" y="809"/>
                </a:lnTo>
                <a:lnTo>
                  <a:pt x="0" y="0"/>
                </a:lnTo>
                <a:close/>
              </a:path>
            </a:pathLst>
          </a:custGeom>
          <a:gradFill>
            <a:gsLst>
              <a:gs pos="0">
                <a:srgbClr val="F62A54"/>
              </a:gs>
              <a:gs pos="100000">
                <a:srgbClr val="A90226"/>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8" name="任意多边形 17"/>
          <p:cNvSpPr/>
          <p:nvPr/>
        </p:nvSpPr>
        <p:spPr>
          <a:xfrm rot="8700000">
            <a:off x="11039438" y="1547797"/>
            <a:ext cx="1423109" cy="494665"/>
          </a:xfrm>
          <a:custGeom>
            <a:avLst/>
            <a:gdLst/>
            <a:ahLst/>
            <a:cxnLst>
              <a:cxn ang="3">
                <a:pos x="hc" y="t"/>
              </a:cxn>
              <a:cxn ang="cd2">
                <a:pos x="l" y="vc"/>
              </a:cxn>
              <a:cxn ang="cd4">
                <a:pos x="hc" y="b"/>
              </a:cxn>
              <a:cxn ang="0">
                <a:pos x="r" y="vc"/>
              </a:cxn>
            </a:cxnLst>
            <a:rect l="l" t="t" r="r" b="b"/>
            <a:pathLst>
              <a:path w="2241" h="779">
                <a:moveTo>
                  <a:pt x="545" y="0"/>
                </a:moveTo>
                <a:lnTo>
                  <a:pt x="2241" y="0"/>
                </a:lnTo>
                <a:lnTo>
                  <a:pt x="2241"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9" name="任意多边形 18"/>
          <p:cNvSpPr/>
          <p:nvPr/>
        </p:nvSpPr>
        <p:spPr>
          <a:xfrm rot="19560000" flipH="1" flipV="1">
            <a:off x="9937622" y="312346"/>
            <a:ext cx="2385881" cy="494665"/>
          </a:xfrm>
          <a:custGeom>
            <a:avLst/>
            <a:gdLst/>
            <a:ahLst/>
            <a:cxnLst>
              <a:cxn ang="3">
                <a:pos x="hc" y="t"/>
              </a:cxn>
              <a:cxn ang="cd2">
                <a:pos x="l" y="vc"/>
              </a:cxn>
              <a:cxn ang="cd4">
                <a:pos x="hc" y="b"/>
              </a:cxn>
              <a:cxn ang="0">
                <a:pos x="r" y="vc"/>
              </a:cxn>
            </a:cxnLst>
            <a:rect l="l" t="t" r="r" b="b"/>
            <a:pathLst>
              <a:path w="3757" h="779">
                <a:moveTo>
                  <a:pt x="125" y="0"/>
                </a:moveTo>
                <a:lnTo>
                  <a:pt x="3757" y="0"/>
                </a:lnTo>
                <a:lnTo>
                  <a:pt x="3757" y="779"/>
                </a:lnTo>
                <a:lnTo>
                  <a:pt x="880" y="779"/>
                </a:lnTo>
                <a:lnTo>
                  <a:pt x="0" y="185"/>
                </a:lnTo>
                <a:lnTo>
                  <a:pt x="125"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2" name="椭圆 21"/>
          <p:cNvSpPr/>
          <p:nvPr/>
        </p:nvSpPr>
        <p:spPr>
          <a:xfrm rot="4260000">
            <a:off x="948690" y="3409315"/>
            <a:ext cx="681990" cy="681990"/>
          </a:xfrm>
          <a:prstGeom prst="ellipse">
            <a:avLst/>
          </a:pr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任意多边形 22"/>
          <p:cNvSpPr/>
          <p:nvPr/>
        </p:nvSpPr>
        <p:spPr>
          <a:xfrm>
            <a:off x="0" y="1583055"/>
            <a:ext cx="798830" cy="11880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77" h="1006">
                <a:moveTo>
                  <a:pt x="174" y="0"/>
                </a:moveTo>
                <a:cubicBezTo>
                  <a:pt x="452" y="0"/>
                  <a:pt x="677" y="225"/>
                  <a:pt x="677" y="503"/>
                </a:cubicBezTo>
                <a:cubicBezTo>
                  <a:pt x="677" y="781"/>
                  <a:pt x="452" y="1006"/>
                  <a:pt x="174" y="1006"/>
                </a:cubicBezTo>
                <a:cubicBezTo>
                  <a:pt x="113" y="1006"/>
                  <a:pt x="55" y="995"/>
                  <a:pt x="1" y="975"/>
                </a:cubicBezTo>
                <a:lnTo>
                  <a:pt x="0" y="975"/>
                </a:lnTo>
                <a:lnTo>
                  <a:pt x="0" y="31"/>
                </a:lnTo>
                <a:lnTo>
                  <a:pt x="1" y="31"/>
                </a:lnTo>
                <a:cubicBezTo>
                  <a:pt x="55" y="11"/>
                  <a:pt x="113" y="0"/>
                  <a:pt x="174" y="0"/>
                </a:cubicBezTo>
                <a:close/>
              </a:path>
            </a:pathLst>
          </a:custGeom>
          <a:gradFill>
            <a:gsLst>
              <a:gs pos="0">
                <a:srgbClr val="F82A9E"/>
              </a:gs>
              <a:gs pos="37000">
                <a:srgbClr val="A38DC6">
                  <a:alpha val="100000"/>
                </a:srgbClr>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5" name="矩形 24"/>
          <p:cNvSpPr/>
          <p:nvPr/>
        </p:nvSpPr>
        <p:spPr>
          <a:xfrm>
            <a:off x="7969885" y="4547870"/>
            <a:ext cx="4222115" cy="865505"/>
          </a:xfrm>
          <a:prstGeom prst="rect">
            <a:avLst/>
          </a:prstGeom>
          <a:gradFill>
            <a:gsLst>
              <a:gs pos="1000">
                <a:srgbClr val="000000"/>
              </a:gs>
              <a:gs pos="68000">
                <a:srgbClr val="901D32">
                  <a:alpha val="100000"/>
                </a:srgbClr>
              </a:gs>
              <a:gs pos="19000">
                <a:srgbClr val="230F0F"/>
              </a:gs>
              <a:gs pos="100000">
                <a:srgbClr val="FC2B55"/>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椭圆 26"/>
          <p:cNvSpPr/>
          <p:nvPr/>
        </p:nvSpPr>
        <p:spPr>
          <a:xfrm>
            <a:off x="9289415" y="5847080"/>
            <a:ext cx="539750" cy="539750"/>
          </a:xfrm>
          <a:prstGeom prst="ellipse">
            <a:avLst/>
          </a:prstGeom>
          <a:gradFill>
            <a:gsLst>
              <a:gs pos="0">
                <a:srgbClr val="F82A9E"/>
              </a:gs>
              <a:gs pos="2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椭圆 28"/>
          <p:cNvSpPr/>
          <p:nvPr/>
        </p:nvSpPr>
        <p:spPr>
          <a:xfrm rot="6300000">
            <a:off x="11397615" y="3649345"/>
            <a:ext cx="302895" cy="302895"/>
          </a:xfrm>
          <a:prstGeom prst="ellipse">
            <a:avLst/>
          </a:prstGeom>
          <a:gradFill>
            <a:gsLst>
              <a:gs pos="0">
                <a:srgbClr val="F82A9E"/>
              </a:gs>
              <a:gs pos="62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任意多边形 27"/>
          <p:cNvSpPr/>
          <p:nvPr/>
        </p:nvSpPr>
        <p:spPr>
          <a:xfrm rot="16020000">
            <a:off x="11177734" y="5850606"/>
            <a:ext cx="1041746" cy="1023327"/>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41" h="1612">
                <a:moveTo>
                  <a:pt x="688" y="0"/>
                </a:moveTo>
                <a:cubicBezTo>
                  <a:pt x="1214" y="0"/>
                  <a:pt x="1641" y="420"/>
                  <a:pt x="1641" y="937"/>
                </a:cubicBezTo>
                <a:cubicBezTo>
                  <a:pt x="1641" y="1196"/>
                  <a:pt x="1534" y="1430"/>
                  <a:pt x="1361" y="1600"/>
                </a:cubicBezTo>
                <a:lnTo>
                  <a:pt x="1349" y="1612"/>
                </a:lnTo>
                <a:lnTo>
                  <a:pt x="0" y="1541"/>
                </a:lnTo>
                <a:lnTo>
                  <a:pt x="69" y="224"/>
                </a:lnTo>
                <a:lnTo>
                  <a:pt x="81" y="214"/>
                </a:lnTo>
                <a:cubicBezTo>
                  <a:pt x="246" y="80"/>
                  <a:pt x="457" y="0"/>
                  <a:pt x="688" y="0"/>
                </a:cubicBezTo>
                <a:close/>
              </a:path>
            </a:pathLst>
          </a:cu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cxnSp>
        <p:nvCxnSpPr>
          <p:cNvPr id="33" name="直接连接符 32"/>
          <p:cNvCxnSpPr/>
          <p:nvPr/>
        </p:nvCxnSpPr>
        <p:spPr>
          <a:xfrm>
            <a:off x="667385" y="227330"/>
            <a:ext cx="265430" cy="381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32815" y="13398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42340" y="157924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1236980" y="1524000"/>
            <a:ext cx="196215" cy="254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1347470" y="1651000"/>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583690" y="157797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968500" y="1541145"/>
            <a:ext cx="259715" cy="1270"/>
          </a:xfrm>
          <a:prstGeom prst="line">
            <a:avLst/>
          </a:prstGeom>
          <a:ln w="5397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64185" y="132715"/>
            <a:ext cx="203200" cy="1270"/>
          </a:xfrm>
          <a:prstGeom prst="line">
            <a:avLst/>
          </a:prstGeom>
          <a:ln w="571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339090" y="324485"/>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984885" y="226695"/>
            <a:ext cx="399415" cy="5715"/>
          </a:xfrm>
          <a:prstGeom prst="line">
            <a:avLst/>
          </a:prstGeom>
          <a:ln w="349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1329690" y="316230"/>
            <a:ext cx="154305" cy="63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583690" y="1431925"/>
            <a:ext cx="384810" cy="1270"/>
          </a:xfrm>
          <a:prstGeom prst="line">
            <a:avLst/>
          </a:prstGeom>
          <a:ln w="317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1849120" y="1651635"/>
            <a:ext cx="346710" cy="190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257935" y="187325"/>
            <a:ext cx="406400" cy="0"/>
          </a:xfrm>
          <a:prstGeom prst="line">
            <a:avLst/>
          </a:prstGeom>
          <a:ln w="190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065020" y="1455420"/>
            <a:ext cx="534670" cy="0"/>
          </a:xfrm>
          <a:prstGeom prst="line">
            <a:avLst/>
          </a:prstGeom>
          <a:ln w="15875">
            <a:solidFill>
              <a:srgbClr val="FB37B8"/>
            </a:solidFill>
          </a:ln>
        </p:spPr>
        <p:style>
          <a:lnRef idx="1">
            <a:schemeClr val="accent1"/>
          </a:lnRef>
          <a:fillRef idx="0">
            <a:schemeClr val="accent1"/>
          </a:fillRef>
          <a:effectRef idx="0">
            <a:schemeClr val="accent1"/>
          </a:effectRef>
          <a:fontRef idx="minor">
            <a:schemeClr val="tx1"/>
          </a:fontRef>
        </p:style>
      </p:cxnSp>
      <p:pic>
        <p:nvPicPr>
          <p:cNvPr id="50" name="图片 49" descr="Sub_Brand_TT-Shop V2_20220914193836-1"/>
          <p:cNvPicPr>
            <a:picLocks noChangeAspect="1"/>
          </p:cNvPicPr>
          <p:nvPr/>
        </p:nvPicPr>
        <p:blipFill>
          <a:blip r:embed="rId2"/>
          <a:srcRect r="79232"/>
          <a:stretch>
            <a:fillRect/>
          </a:stretch>
        </p:blipFill>
        <p:spPr>
          <a:xfrm>
            <a:off x="798830" y="239395"/>
            <a:ext cx="600710" cy="1101725"/>
          </a:xfrm>
          <a:prstGeom prst="rect">
            <a:avLst/>
          </a:prstGeom>
        </p:spPr>
      </p:pic>
      <p:pic>
        <p:nvPicPr>
          <p:cNvPr id="52" name="图片 51" descr="Sub_Brand_TT-Shop V2_20220914193836-1"/>
          <p:cNvPicPr>
            <a:picLocks noChangeAspect="1"/>
          </p:cNvPicPr>
          <p:nvPr/>
        </p:nvPicPr>
        <p:blipFill>
          <a:blip r:embed="rId2"/>
          <a:srcRect l="21215" t="23800" r="41066" b="44523"/>
          <a:stretch>
            <a:fillRect/>
          </a:stretch>
        </p:blipFill>
        <p:spPr>
          <a:xfrm>
            <a:off x="1402080" y="558165"/>
            <a:ext cx="1860550" cy="594995"/>
          </a:xfrm>
          <a:prstGeom prst="rect">
            <a:avLst/>
          </a:prstGeom>
        </p:spPr>
      </p:pic>
      <p:sp>
        <p:nvSpPr>
          <p:cNvPr id="59" name="文本框 58"/>
          <p:cNvSpPr txBox="1"/>
          <p:nvPr/>
        </p:nvSpPr>
        <p:spPr>
          <a:xfrm>
            <a:off x="7922260" y="4230370"/>
            <a:ext cx="309880" cy="368300"/>
          </a:xfrm>
          <a:prstGeom prst="rect">
            <a:avLst/>
          </a:prstGeom>
          <a:noFill/>
        </p:spPr>
        <p:txBody>
          <a:bodyPr wrap="none" rtlCol="0">
            <a:spAutoFit/>
          </a:bodyPr>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animBg="1"/>
      <p:bldP spid="4" grpId="1" animBg="1"/>
      <p:bldP spid="13" grpId="1" animBg="1"/>
      <p:bldP spid="18" grpId="1" animBg="1"/>
      <p:bldP spid="19" grpId="1" animBg="1"/>
      <p:bldP spid="17" grpId="1" animBg="1"/>
      <p:bldP spid="27" grpId="1" animBg="1"/>
      <p:bldP spid="29" grpId="1" animBg="1"/>
      <p:bldP spid="28" grpId="1" animBg="1"/>
      <p:bldP spid="22" grpId="1" animBg="1"/>
      <p:bldP spid="23" grpId="1" animBg="1"/>
      <p:bldP spid="25" grpId="1" animBg="1"/>
      <p:bldP spid="2" grpId="0"/>
      <p:bldP spid="2"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pic>
        <p:nvPicPr>
          <p:cNvPr id="3" name="图片 2" descr="微信图片_20220916223342"/>
          <p:cNvPicPr>
            <a:picLocks noChangeAspect="1"/>
          </p:cNvPicPr>
          <p:nvPr>
            <p:custDataLst>
              <p:tags r:id="rId2"/>
            </p:custDataLst>
          </p:nvPr>
        </p:nvPicPr>
        <p:blipFill>
          <a:blip r:embed="rId3"/>
          <a:stretch>
            <a:fillRect/>
          </a:stretch>
        </p:blipFill>
        <p:spPr>
          <a:xfrm>
            <a:off x="1416050" y="1436370"/>
            <a:ext cx="9379585" cy="4625975"/>
          </a:xfrm>
          <a:prstGeom prst="rect">
            <a:avLst/>
          </a:prstGeom>
        </p:spPr>
      </p:pic>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2" name="文本框 1"/>
          <p:cNvSpPr txBox="1"/>
          <p:nvPr>
            <p:custDataLst>
              <p:tags r:id="rId2"/>
            </p:custDataLst>
          </p:nvPr>
        </p:nvSpPr>
        <p:spPr>
          <a:xfrm>
            <a:off x="866140" y="1278255"/>
            <a:ext cx="10434320" cy="1198880"/>
          </a:xfrm>
          <a:prstGeom prst="rect">
            <a:avLst/>
          </a:prstGeom>
          <a:noFill/>
        </p:spPr>
        <p:txBody>
          <a:bodyPr wrap="square" rtlCol="0">
            <a:spAutoFit/>
          </a:bodyPr>
          <a:p>
            <a:pPr fontAlgn="auto">
              <a:lnSpc>
                <a:spcPct val="200000"/>
              </a:lnSpc>
            </a:pPr>
            <a:r>
              <a:rPr lang="en-US" altLang="zh-CN" b="1">
                <a:solidFill>
                  <a:schemeClr val="bg2"/>
                </a:solidFill>
                <a:latin typeface="+mn-ea"/>
                <a:cs typeface="+mn-ea"/>
              </a:rPr>
              <a:t>       </a:t>
            </a:r>
            <a:r>
              <a:rPr lang="zh-CN" altLang="en-US" b="1">
                <a:solidFill>
                  <a:schemeClr val="bg2"/>
                </a:solidFill>
                <a:latin typeface="+mn-ea"/>
                <a:cs typeface="+mn-ea"/>
              </a:rPr>
              <a:t>从店铺的联盟营销菜单栏进入，可以看到有计划管理、达人广场、招商活动、数据罗盘等工具，如下图示以东南亚店铺届面为例，</a:t>
            </a:r>
            <a:r>
              <a:rPr lang="en-US" altLang="zh-CN" b="1">
                <a:solidFill>
                  <a:schemeClr val="bg2"/>
                </a:solidFill>
                <a:latin typeface="+mn-ea"/>
                <a:cs typeface="+mn-ea"/>
              </a:rPr>
              <a:t> </a:t>
            </a:r>
            <a:r>
              <a:rPr lang="zh-CN" altLang="en-US" b="1">
                <a:solidFill>
                  <a:schemeClr val="bg2"/>
                </a:solidFill>
                <a:latin typeface="+mn-ea"/>
                <a:cs typeface="+mn-ea"/>
              </a:rPr>
              <a:t>与英美店铺功能有所差别，东南亚店铺的联盟营销工具较为</a:t>
            </a:r>
            <a:r>
              <a:rPr lang="zh-CN" altLang="en-US" b="1">
                <a:solidFill>
                  <a:schemeClr val="bg2"/>
                </a:solidFill>
                <a:latin typeface="+mn-ea"/>
                <a:cs typeface="+mn-ea"/>
              </a:rPr>
              <a:t>完善。</a:t>
            </a:r>
            <a:endParaRPr lang="zh-CN" altLang="en-US" b="1">
              <a:solidFill>
                <a:schemeClr val="bg2"/>
              </a:solidFill>
              <a:latin typeface="+mn-ea"/>
              <a:cs typeface="+mn-ea"/>
            </a:endParaRPr>
          </a:p>
        </p:txBody>
      </p:sp>
      <p:pic>
        <p:nvPicPr>
          <p:cNvPr id="11" name="图片 10"/>
          <p:cNvPicPr>
            <a:picLocks noChangeAspect="1"/>
          </p:cNvPicPr>
          <p:nvPr/>
        </p:nvPicPr>
        <p:blipFill>
          <a:blip r:embed="rId3"/>
          <a:stretch>
            <a:fillRect/>
          </a:stretch>
        </p:blipFill>
        <p:spPr>
          <a:xfrm>
            <a:off x="1210945" y="2649220"/>
            <a:ext cx="9742170" cy="3476625"/>
          </a:xfrm>
          <a:prstGeom prst="rect">
            <a:avLst/>
          </a:prstGeom>
        </p:spPr>
      </p:pic>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2" name="文本框 1"/>
          <p:cNvSpPr txBox="1"/>
          <p:nvPr>
            <p:custDataLst>
              <p:tags r:id="rId2"/>
            </p:custDataLst>
          </p:nvPr>
        </p:nvSpPr>
        <p:spPr>
          <a:xfrm>
            <a:off x="878840" y="1198880"/>
            <a:ext cx="10434320" cy="1753235"/>
          </a:xfrm>
          <a:prstGeom prst="rect">
            <a:avLst/>
          </a:prstGeom>
          <a:noFill/>
        </p:spPr>
        <p:txBody>
          <a:bodyPr wrap="square" rtlCol="0">
            <a:spAutoFit/>
          </a:bodyPr>
          <a:p>
            <a:pPr fontAlgn="auto">
              <a:lnSpc>
                <a:spcPct val="200000"/>
              </a:lnSpc>
            </a:pPr>
            <a:r>
              <a:rPr lang="zh-CN" altLang="en-US" b="1">
                <a:solidFill>
                  <a:schemeClr val="bg2"/>
                </a:solidFill>
                <a:latin typeface="+mn-ea"/>
                <a:cs typeface="+mn-ea"/>
              </a:rPr>
              <a:t>公开计</a:t>
            </a:r>
            <a:r>
              <a:rPr lang="zh-CN" altLang="en-US" b="1">
                <a:solidFill>
                  <a:schemeClr val="bg2"/>
                </a:solidFill>
                <a:latin typeface="+mn-ea"/>
                <a:cs typeface="+mn-ea"/>
              </a:rPr>
              <a:t>划：</a:t>
            </a:r>
            <a:endParaRPr lang="zh-CN" altLang="en-US" b="1">
              <a:solidFill>
                <a:schemeClr val="bg2"/>
              </a:solidFill>
              <a:latin typeface="+mn-ea"/>
              <a:cs typeface="+mn-ea"/>
            </a:endParaRPr>
          </a:p>
          <a:p>
            <a:pPr fontAlgn="auto">
              <a:lnSpc>
                <a:spcPct val="200000"/>
              </a:lnSpc>
            </a:pPr>
            <a:r>
              <a:rPr lang="zh-CN" altLang="en-US" b="1">
                <a:solidFill>
                  <a:schemeClr val="bg2"/>
                </a:solidFill>
                <a:latin typeface="+mn-ea"/>
                <a:cs typeface="+mn-ea"/>
              </a:rPr>
              <a:t>新建公开计划，根据产品的利润空间给予达人相应的佣金率，也可以在计划里，开启免费样品功能，增加产品在联盟里的曝光度，同时触发达</a:t>
            </a:r>
            <a:r>
              <a:rPr lang="zh-CN" altLang="en-US" b="1">
                <a:solidFill>
                  <a:schemeClr val="bg2"/>
                </a:solidFill>
                <a:latin typeface="+mn-ea"/>
                <a:cs typeface="+mn-ea"/>
              </a:rPr>
              <a:t>人申请样品（根据达人带货能力及与产品的匹配度可寄</a:t>
            </a:r>
            <a:r>
              <a:rPr lang="zh-CN" altLang="en-US" b="1">
                <a:solidFill>
                  <a:schemeClr val="bg2"/>
                </a:solidFill>
                <a:latin typeface="+mn-ea"/>
                <a:cs typeface="+mn-ea"/>
              </a:rPr>
              <a:t>样）。</a:t>
            </a:r>
            <a:endParaRPr lang="zh-CN" altLang="en-US" b="1">
              <a:solidFill>
                <a:schemeClr val="bg2"/>
              </a:solidFill>
              <a:latin typeface="+mn-ea"/>
              <a:cs typeface="+mn-ea"/>
            </a:endParaRPr>
          </a:p>
        </p:txBody>
      </p:sp>
      <p:pic>
        <p:nvPicPr>
          <p:cNvPr id="3" name="图片 2"/>
          <p:cNvPicPr>
            <a:picLocks noChangeAspect="1"/>
          </p:cNvPicPr>
          <p:nvPr>
            <p:custDataLst>
              <p:tags r:id="rId3"/>
            </p:custDataLst>
          </p:nvPr>
        </p:nvPicPr>
        <p:blipFill>
          <a:blip r:embed="rId4"/>
          <a:stretch>
            <a:fillRect/>
          </a:stretch>
        </p:blipFill>
        <p:spPr>
          <a:xfrm>
            <a:off x="1077595" y="3072130"/>
            <a:ext cx="9975215" cy="3132455"/>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942975" y="1183640"/>
            <a:ext cx="10306050" cy="2306955"/>
          </a:xfrm>
          <a:prstGeom prst="rect">
            <a:avLst/>
          </a:prstGeom>
          <a:noFill/>
        </p:spPr>
        <p:txBody>
          <a:bodyPr wrap="square" rtlCol="0">
            <a:spAutoFit/>
          </a:bodyPr>
          <a:p>
            <a:pPr fontAlgn="auto">
              <a:lnSpc>
                <a:spcPct val="200000"/>
              </a:lnSpc>
            </a:pPr>
            <a:r>
              <a:rPr lang="zh-CN" altLang="en-US" b="1">
                <a:solidFill>
                  <a:schemeClr val="bg2"/>
                </a:solidFill>
                <a:latin typeface="+mn-ea"/>
                <a:cs typeface="+mn-ea"/>
              </a:rPr>
              <a:t>定向计</a:t>
            </a:r>
            <a:r>
              <a:rPr lang="zh-CN" altLang="en-US" b="1">
                <a:solidFill>
                  <a:schemeClr val="bg2"/>
                </a:solidFill>
                <a:latin typeface="+mn-ea"/>
                <a:cs typeface="+mn-ea"/>
              </a:rPr>
              <a:t>划：</a:t>
            </a:r>
            <a:endParaRPr lang="zh-CN" altLang="en-US" b="1">
              <a:solidFill>
                <a:schemeClr val="bg2"/>
              </a:solidFill>
              <a:latin typeface="+mn-ea"/>
              <a:cs typeface="+mn-ea"/>
            </a:endParaRPr>
          </a:p>
          <a:p>
            <a:pPr fontAlgn="auto">
              <a:lnSpc>
                <a:spcPct val="200000"/>
              </a:lnSpc>
            </a:pPr>
            <a:r>
              <a:rPr lang="zh-CN" altLang="en-US" b="1">
                <a:solidFill>
                  <a:schemeClr val="bg2"/>
                </a:solidFill>
                <a:latin typeface="+mn-ea"/>
                <a:cs typeface="+mn-ea"/>
                <a:sym typeface="+mn-ea"/>
              </a:rPr>
              <a:t>每天店铺可以定向</a:t>
            </a:r>
            <a:r>
              <a:rPr lang="en-US" altLang="zh-CN" b="1">
                <a:solidFill>
                  <a:schemeClr val="bg2"/>
                </a:solidFill>
                <a:latin typeface="+mn-ea"/>
                <a:cs typeface="+mn-ea"/>
                <a:sym typeface="+mn-ea"/>
              </a:rPr>
              <a:t>100</a:t>
            </a:r>
            <a:r>
              <a:rPr lang="zh-CN" altLang="en-US" b="1">
                <a:solidFill>
                  <a:schemeClr val="bg2"/>
                </a:solidFill>
                <a:latin typeface="+mn-ea"/>
                <a:cs typeface="+mn-ea"/>
                <a:sym typeface="+mn-ea"/>
              </a:rPr>
              <a:t>组</a:t>
            </a:r>
            <a:r>
              <a:rPr lang="en-US" altLang="zh-CN" b="1">
                <a:solidFill>
                  <a:schemeClr val="bg2"/>
                </a:solidFill>
                <a:latin typeface="+mn-ea"/>
                <a:cs typeface="+mn-ea"/>
                <a:sym typeface="+mn-ea"/>
              </a:rPr>
              <a:t>*30</a:t>
            </a:r>
            <a:r>
              <a:rPr lang="zh-CN" altLang="en-US" b="1">
                <a:solidFill>
                  <a:schemeClr val="bg2"/>
                </a:solidFill>
                <a:latin typeface="+mn-ea"/>
                <a:cs typeface="+mn-ea"/>
                <a:sym typeface="+mn-ea"/>
              </a:rPr>
              <a:t>个</a:t>
            </a:r>
            <a:r>
              <a:rPr lang="en-US" altLang="zh-CN" b="1">
                <a:solidFill>
                  <a:schemeClr val="bg2"/>
                </a:solidFill>
                <a:latin typeface="+mn-ea"/>
                <a:cs typeface="+mn-ea"/>
                <a:sym typeface="+mn-ea"/>
              </a:rPr>
              <a:t>=3000</a:t>
            </a:r>
            <a:r>
              <a:rPr lang="zh-CN" altLang="en-US" b="1">
                <a:solidFill>
                  <a:schemeClr val="bg2"/>
                </a:solidFill>
                <a:latin typeface="+mn-ea"/>
                <a:cs typeface="+mn-ea"/>
                <a:sym typeface="+mn-ea"/>
              </a:rPr>
              <a:t>人为定向上限人数，当有达人未添加橱窗时，需要在管理达人里进行删除，以免占用定向计划名额。</a:t>
            </a:r>
            <a:endParaRPr lang="zh-CN" altLang="en-US" b="1">
              <a:solidFill>
                <a:schemeClr val="bg2"/>
              </a:solidFill>
              <a:latin typeface="+mn-ea"/>
              <a:cs typeface="+mn-ea"/>
            </a:endParaRPr>
          </a:p>
          <a:p>
            <a:pPr fontAlgn="auto">
              <a:lnSpc>
                <a:spcPct val="200000"/>
              </a:lnSpc>
            </a:pPr>
            <a:endParaRPr lang="zh-CN" altLang="en-US" b="1">
              <a:solidFill>
                <a:schemeClr val="bg2"/>
              </a:solidFill>
              <a:latin typeface="+mn-ea"/>
              <a:cs typeface="+mn-ea"/>
            </a:endParaRPr>
          </a:p>
        </p:txBody>
      </p:sp>
      <p:pic>
        <p:nvPicPr>
          <p:cNvPr id="3" name="图片 2"/>
          <p:cNvPicPr>
            <a:picLocks noChangeAspect="1"/>
          </p:cNvPicPr>
          <p:nvPr/>
        </p:nvPicPr>
        <p:blipFill>
          <a:blip r:embed="rId3"/>
          <a:stretch>
            <a:fillRect/>
          </a:stretch>
        </p:blipFill>
        <p:spPr>
          <a:xfrm>
            <a:off x="1191895" y="3004820"/>
            <a:ext cx="9726295" cy="3129915"/>
          </a:xfrm>
          <a:prstGeom prst="rect">
            <a:avLst/>
          </a:prstGeom>
        </p:spPr>
      </p:pic>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pic>
        <p:nvPicPr>
          <p:cNvPr id="2" name="图片 1"/>
          <p:cNvPicPr>
            <a:picLocks noChangeAspect="1"/>
          </p:cNvPicPr>
          <p:nvPr/>
        </p:nvPicPr>
        <p:blipFill>
          <a:blip r:embed="rId2"/>
          <a:stretch>
            <a:fillRect/>
          </a:stretch>
        </p:blipFill>
        <p:spPr>
          <a:xfrm>
            <a:off x="1268730" y="1262380"/>
            <a:ext cx="9654540" cy="3385185"/>
          </a:xfrm>
          <a:prstGeom prst="rect">
            <a:avLst/>
          </a:prstGeom>
        </p:spPr>
      </p:pic>
      <p:sp>
        <p:nvSpPr>
          <p:cNvPr id="9" name="文本框 8"/>
          <p:cNvSpPr txBox="1"/>
          <p:nvPr>
            <p:custDataLst>
              <p:tags r:id="rId3"/>
            </p:custDataLst>
          </p:nvPr>
        </p:nvSpPr>
        <p:spPr>
          <a:xfrm>
            <a:off x="1024890" y="4647565"/>
            <a:ext cx="10306050" cy="1753235"/>
          </a:xfrm>
          <a:prstGeom prst="rect">
            <a:avLst/>
          </a:prstGeom>
          <a:noFill/>
        </p:spPr>
        <p:txBody>
          <a:bodyPr wrap="square" rtlCol="0">
            <a:spAutoFit/>
          </a:bodyPr>
          <a:p>
            <a:pPr fontAlgn="auto">
              <a:lnSpc>
                <a:spcPct val="200000"/>
              </a:lnSpc>
            </a:pPr>
            <a:r>
              <a:rPr lang="zh-CN" altLang="en-US" b="1">
                <a:solidFill>
                  <a:schemeClr val="bg2"/>
                </a:solidFill>
                <a:latin typeface="+mn-ea"/>
                <a:cs typeface="+mn-ea"/>
              </a:rPr>
              <a:t>店铺联盟营销中：</a:t>
            </a:r>
            <a:endParaRPr lang="zh-CN" altLang="en-US" b="1">
              <a:solidFill>
                <a:schemeClr val="bg2"/>
              </a:solidFill>
              <a:latin typeface="+mn-ea"/>
              <a:cs typeface="+mn-ea"/>
            </a:endParaRPr>
          </a:p>
          <a:p>
            <a:pPr fontAlgn="auto">
              <a:lnSpc>
                <a:spcPct val="200000"/>
              </a:lnSpc>
            </a:pPr>
            <a:r>
              <a:rPr lang="zh-CN" altLang="en-US" b="1">
                <a:solidFill>
                  <a:schemeClr val="bg2"/>
                </a:solidFill>
                <a:latin typeface="+mn-ea"/>
                <a:cs typeface="+mn-ea"/>
              </a:rPr>
              <a:t>店铺计划、公开计划、定向计划，这</a:t>
            </a:r>
            <a:r>
              <a:rPr lang="en-US" altLang="zh-CN" b="1">
                <a:solidFill>
                  <a:schemeClr val="bg2"/>
                </a:solidFill>
                <a:latin typeface="+mn-ea"/>
                <a:cs typeface="+mn-ea"/>
              </a:rPr>
              <a:t>3</a:t>
            </a:r>
            <a:r>
              <a:rPr lang="zh-CN" altLang="en-US" b="1">
                <a:solidFill>
                  <a:schemeClr val="bg2"/>
                </a:solidFill>
                <a:latin typeface="+mn-ea"/>
                <a:cs typeface="+mn-ea"/>
              </a:rPr>
              <a:t>个店铺的联盟计划里，定向计划的权重占比最高。</a:t>
            </a:r>
            <a:endParaRPr lang="zh-CN" altLang="en-US" b="1">
              <a:solidFill>
                <a:schemeClr val="bg2"/>
              </a:solidFill>
              <a:latin typeface="+mn-ea"/>
              <a:cs typeface="+mn-ea"/>
            </a:endParaRPr>
          </a:p>
          <a:p>
            <a:pPr fontAlgn="auto">
              <a:lnSpc>
                <a:spcPct val="200000"/>
              </a:lnSpc>
            </a:pPr>
            <a:r>
              <a:rPr lang="zh-CN" altLang="en-US" b="1">
                <a:solidFill>
                  <a:schemeClr val="bg2"/>
                </a:solidFill>
                <a:latin typeface="+mn-ea"/>
                <a:cs typeface="+mn-ea"/>
              </a:rPr>
              <a:t>注：</a:t>
            </a:r>
            <a:r>
              <a:rPr lang="zh-CN" altLang="en-US" b="1">
                <a:solidFill>
                  <a:schemeClr val="bg2"/>
                </a:solidFill>
                <a:latin typeface="+mn-ea"/>
                <a:cs typeface="+mn-ea"/>
                <a:sym typeface="+mn-ea"/>
              </a:rPr>
              <a:t>上图为美本店铺届面。</a:t>
            </a:r>
            <a:endParaRPr lang="zh-CN" altLang="en-US" b="1">
              <a:solidFill>
                <a:schemeClr val="bg2"/>
              </a:solidFill>
              <a:latin typeface="+mn-ea"/>
              <a:cs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pic>
        <p:nvPicPr>
          <p:cNvPr id="3" name="图片 2"/>
          <p:cNvPicPr>
            <a:picLocks noChangeAspect="1"/>
          </p:cNvPicPr>
          <p:nvPr/>
        </p:nvPicPr>
        <p:blipFill>
          <a:blip r:embed="rId2"/>
          <a:stretch>
            <a:fillRect/>
          </a:stretch>
        </p:blipFill>
        <p:spPr>
          <a:xfrm>
            <a:off x="1216025" y="1243330"/>
            <a:ext cx="9627235" cy="2790825"/>
          </a:xfrm>
          <a:prstGeom prst="rect">
            <a:avLst/>
          </a:prstGeom>
        </p:spPr>
      </p:pic>
      <p:sp>
        <p:nvSpPr>
          <p:cNvPr id="9" name="文本框 8"/>
          <p:cNvSpPr txBox="1"/>
          <p:nvPr>
            <p:custDataLst>
              <p:tags r:id="rId3"/>
            </p:custDataLst>
          </p:nvPr>
        </p:nvSpPr>
        <p:spPr>
          <a:xfrm>
            <a:off x="1024890" y="4034155"/>
            <a:ext cx="10306050" cy="2306955"/>
          </a:xfrm>
          <a:prstGeom prst="rect">
            <a:avLst/>
          </a:prstGeom>
          <a:noFill/>
        </p:spPr>
        <p:txBody>
          <a:bodyPr wrap="square" rtlCol="0">
            <a:spAutoFit/>
          </a:bodyPr>
          <a:p>
            <a:pPr fontAlgn="auto">
              <a:lnSpc>
                <a:spcPct val="200000"/>
              </a:lnSpc>
            </a:pPr>
            <a:r>
              <a:rPr lang="zh-CN" altLang="en-US" b="1">
                <a:solidFill>
                  <a:schemeClr val="bg2"/>
                </a:solidFill>
                <a:latin typeface="+mn-ea"/>
                <a:cs typeface="+mn-ea"/>
              </a:rPr>
              <a:t>店铺的达人广</a:t>
            </a:r>
            <a:r>
              <a:rPr lang="zh-CN" altLang="en-US" b="1">
                <a:solidFill>
                  <a:schemeClr val="bg2"/>
                </a:solidFill>
                <a:latin typeface="+mn-ea"/>
                <a:cs typeface="+mn-ea"/>
              </a:rPr>
              <a:t>场：</a:t>
            </a:r>
            <a:endParaRPr lang="zh-CN" altLang="en-US" b="1">
              <a:solidFill>
                <a:schemeClr val="bg2"/>
              </a:solidFill>
              <a:latin typeface="+mn-ea"/>
              <a:cs typeface="+mn-ea"/>
            </a:endParaRPr>
          </a:p>
          <a:p>
            <a:pPr fontAlgn="auto">
              <a:lnSpc>
                <a:spcPct val="200000"/>
              </a:lnSpc>
            </a:pPr>
            <a:r>
              <a:rPr lang="zh-CN" altLang="en-US" b="1">
                <a:solidFill>
                  <a:schemeClr val="bg2"/>
                </a:solidFill>
                <a:latin typeface="+mn-ea"/>
                <a:cs typeface="+mn-ea"/>
              </a:rPr>
              <a:t>在达人广场，我们可以通过站内邀请信（发送邮件）、定向计划、在线沟通等去触达，可以根据自己的产品特性去针对性与匹配的达人建联，目前东南亚达人以</a:t>
            </a:r>
            <a:r>
              <a:rPr lang="en-US" altLang="zh-CN" b="1">
                <a:solidFill>
                  <a:schemeClr val="bg2"/>
                </a:solidFill>
                <a:latin typeface="+mn-ea"/>
                <a:cs typeface="+mn-ea"/>
              </a:rPr>
              <a:t>whatsapp</a:t>
            </a:r>
            <a:r>
              <a:rPr lang="zh-CN" altLang="en-US" b="1">
                <a:solidFill>
                  <a:schemeClr val="bg2"/>
                </a:solidFill>
                <a:latin typeface="+mn-ea"/>
                <a:cs typeface="+mn-ea"/>
              </a:rPr>
              <a:t>的联系方式居多，可以主动添加，英美区以邮件、Linktree的联系方</a:t>
            </a:r>
            <a:r>
              <a:rPr lang="zh-CN" altLang="en-US" b="1">
                <a:solidFill>
                  <a:schemeClr val="bg2"/>
                </a:solidFill>
                <a:latin typeface="+mn-ea"/>
                <a:cs typeface="+mn-ea"/>
              </a:rPr>
              <a:t>式居</a:t>
            </a:r>
            <a:r>
              <a:rPr lang="zh-CN" altLang="en-US" b="1">
                <a:solidFill>
                  <a:schemeClr val="bg2"/>
                </a:solidFill>
                <a:latin typeface="+mn-ea"/>
                <a:cs typeface="+mn-ea"/>
              </a:rPr>
              <a:t>多。</a:t>
            </a:r>
            <a:endParaRPr lang="zh-CN" altLang="en-US" b="1">
              <a:solidFill>
                <a:schemeClr val="bg2"/>
              </a:solidFill>
              <a:latin typeface="+mn-ea"/>
              <a:cs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pic>
        <p:nvPicPr>
          <p:cNvPr id="10" name="图片 9"/>
          <p:cNvPicPr>
            <a:picLocks noChangeAspect="1"/>
          </p:cNvPicPr>
          <p:nvPr/>
        </p:nvPicPr>
        <p:blipFill>
          <a:blip r:embed="rId2"/>
          <a:stretch>
            <a:fillRect/>
          </a:stretch>
        </p:blipFill>
        <p:spPr>
          <a:xfrm>
            <a:off x="1123950" y="1337945"/>
            <a:ext cx="9944100" cy="4824095"/>
          </a:xfrm>
          <a:prstGeom prst="rect">
            <a:avLst/>
          </a:prstGeom>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990600" y="1751965"/>
            <a:ext cx="10306050" cy="3996055"/>
          </a:xfrm>
          <a:prstGeom prst="rect">
            <a:avLst/>
          </a:prstGeom>
          <a:noFill/>
        </p:spPr>
        <p:txBody>
          <a:bodyPr wrap="square" rtlCol="0">
            <a:noAutofit/>
          </a:bodyPr>
          <a:p>
            <a:pPr fontAlgn="auto">
              <a:lnSpc>
                <a:spcPct val="200000"/>
              </a:lnSpc>
            </a:pPr>
            <a:r>
              <a:rPr lang="zh-CN" altLang="en-US" sz="2000" b="1">
                <a:solidFill>
                  <a:schemeClr val="bg2"/>
                </a:solidFill>
                <a:latin typeface="+mn-ea"/>
                <a:cs typeface="+mn-ea"/>
              </a:rPr>
              <a:t>达人的建联方式：</a:t>
            </a:r>
            <a:endParaRPr lang="zh-CN" altLang="en-US" sz="2000" b="1">
              <a:solidFill>
                <a:schemeClr val="bg2"/>
              </a:solidFill>
              <a:latin typeface="+mn-ea"/>
              <a:cs typeface="+mn-ea"/>
            </a:endParaRPr>
          </a:p>
          <a:p>
            <a:pPr indent="0" fontAlgn="auto">
              <a:lnSpc>
                <a:spcPct val="100000"/>
              </a:lnSpc>
            </a:pP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如上页图示，店铺内的</a:t>
            </a:r>
            <a:r>
              <a:rPr lang="en-US" altLang="zh-CN" sz="2000" b="1">
                <a:solidFill>
                  <a:schemeClr val="bg2"/>
                </a:solidFill>
                <a:latin typeface="+mn-ea"/>
                <a:cs typeface="+mn-ea"/>
              </a:rPr>
              <a:t>3</a:t>
            </a:r>
            <a:r>
              <a:rPr lang="zh-CN" altLang="en-US" sz="2000" b="1">
                <a:solidFill>
                  <a:schemeClr val="bg2"/>
                </a:solidFill>
                <a:latin typeface="+mn-ea"/>
                <a:cs typeface="+mn-ea"/>
              </a:rPr>
              <a:t>种与达人建联方式（目前排在前面是在线沟通功能）。</a:t>
            </a: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进入达人信息页面，我们可以很清楚的看到达人在短视频、直播方面的播放量、在线人数，以及带货的</a:t>
            </a:r>
            <a:r>
              <a:rPr lang="en-US" altLang="zh-CN" sz="2000" b="1">
                <a:solidFill>
                  <a:schemeClr val="bg2"/>
                </a:solidFill>
                <a:latin typeface="+mn-ea"/>
                <a:cs typeface="+mn-ea"/>
              </a:rPr>
              <a:t>GPM</a:t>
            </a:r>
            <a:r>
              <a:rPr lang="zh-CN" altLang="en-US" sz="2000" b="1">
                <a:solidFill>
                  <a:schemeClr val="bg2"/>
                </a:solidFill>
                <a:latin typeface="+mn-ea"/>
                <a:cs typeface="+mn-ea"/>
              </a:rPr>
              <a:t>等指</a:t>
            </a:r>
            <a:r>
              <a:rPr lang="zh-CN" altLang="en-US" sz="2000" b="1">
                <a:solidFill>
                  <a:schemeClr val="bg2"/>
                </a:solidFill>
                <a:latin typeface="+mn-ea"/>
                <a:cs typeface="+mn-ea"/>
              </a:rPr>
              <a:t>标，根据这些可以让我们分析达人</a:t>
            </a:r>
            <a:r>
              <a:rPr lang="zh-CN" altLang="en-US" sz="2000" b="1">
                <a:solidFill>
                  <a:schemeClr val="bg2"/>
                </a:solidFill>
                <a:latin typeface="+mn-ea"/>
                <a:cs typeface="+mn-ea"/>
              </a:rPr>
              <a:t>的带货能力，另外也可以看到达人的及时履约、快速回应、勤奋度等相关指标。</a:t>
            </a: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pic>
        <p:nvPicPr>
          <p:cNvPr id="3" name="图片 2"/>
          <p:cNvPicPr>
            <a:picLocks noChangeAspect="1"/>
          </p:cNvPicPr>
          <p:nvPr/>
        </p:nvPicPr>
        <p:blipFill>
          <a:blip r:embed="rId2"/>
          <a:stretch>
            <a:fillRect/>
          </a:stretch>
        </p:blipFill>
        <p:spPr>
          <a:xfrm>
            <a:off x="1217295" y="1403350"/>
            <a:ext cx="9758045" cy="3423920"/>
          </a:xfrm>
          <a:prstGeom prst="rect">
            <a:avLst/>
          </a:prstGeom>
        </p:spPr>
      </p:pic>
      <p:sp>
        <p:nvSpPr>
          <p:cNvPr id="9" name="文本框 8"/>
          <p:cNvSpPr txBox="1"/>
          <p:nvPr>
            <p:custDataLst>
              <p:tags r:id="rId3"/>
            </p:custDataLst>
          </p:nvPr>
        </p:nvSpPr>
        <p:spPr>
          <a:xfrm>
            <a:off x="1024890" y="4827270"/>
            <a:ext cx="10306050" cy="1198880"/>
          </a:xfrm>
          <a:prstGeom prst="rect">
            <a:avLst/>
          </a:prstGeom>
          <a:noFill/>
        </p:spPr>
        <p:txBody>
          <a:bodyPr wrap="square" rtlCol="0">
            <a:spAutoFit/>
          </a:bodyPr>
          <a:p>
            <a:pPr fontAlgn="auto">
              <a:lnSpc>
                <a:spcPct val="200000"/>
              </a:lnSpc>
            </a:pPr>
            <a:r>
              <a:rPr lang="zh-CN" altLang="en-US" b="1">
                <a:solidFill>
                  <a:schemeClr val="bg2"/>
                </a:solidFill>
                <a:latin typeface="+mn-ea"/>
                <a:cs typeface="+mn-ea"/>
              </a:rPr>
              <a:t>特别是最近美区的达人在线沟通功能开通，发送话术及商品卡时，可</a:t>
            </a:r>
            <a:r>
              <a:rPr lang="zh-CN" altLang="en-US" b="1">
                <a:solidFill>
                  <a:schemeClr val="bg2"/>
                </a:solidFill>
                <a:latin typeface="+mn-ea"/>
                <a:cs typeface="+mn-ea"/>
              </a:rPr>
              <a:t>以提升产品在商城的曝光度，更快更有效的触发达人的带货及购买行为。</a:t>
            </a:r>
            <a:endParaRPr lang="zh-CN" altLang="en-US" b="1">
              <a:solidFill>
                <a:schemeClr val="bg2"/>
              </a:solidFill>
              <a:latin typeface="+mn-ea"/>
              <a:cs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483995" y="3165475"/>
            <a:ext cx="9409430" cy="868680"/>
          </a:xfrm>
        </p:spPr>
        <p:txBody>
          <a:bodyPr>
            <a:noAutofit/>
          </a:bodyPr>
          <a:p>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TikTok shop </a:t>
            </a: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创作者市场</a:t>
            </a:r>
            <a:r>
              <a:rPr 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的建</a:t>
            </a:r>
            <a:r>
              <a:rPr 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联</a:t>
            </a:r>
            <a:endParaRPr 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4" name="任意多边形 3"/>
          <p:cNvSpPr/>
          <p:nvPr/>
        </p:nvSpPr>
        <p:spPr>
          <a:xfrm rot="8700000">
            <a:off x="-128178" y="6092621"/>
            <a:ext cx="2064481" cy="513715"/>
          </a:xfrm>
          <a:custGeom>
            <a:avLst/>
            <a:gdLst/>
            <a:ahLst/>
            <a:cxnLst>
              <a:cxn ang="3">
                <a:pos x="hc" y="t"/>
              </a:cxn>
              <a:cxn ang="cd2">
                <a:pos x="l" y="vc"/>
              </a:cxn>
              <a:cxn ang="cd4">
                <a:pos x="hc" y="b"/>
              </a:cxn>
              <a:cxn ang="0">
                <a:pos x="r" y="vc"/>
              </a:cxn>
            </a:cxnLst>
            <a:rect l="l" t="t" r="r" b="b"/>
            <a:pathLst>
              <a:path w="3251" h="809">
                <a:moveTo>
                  <a:pt x="0" y="0"/>
                </a:moveTo>
                <a:lnTo>
                  <a:pt x="2444" y="0"/>
                </a:lnTo>
                <a:lnTo>
                  <a:pt x="3251" y="565"/>
                </a:lnTo>
                <a:lnTo>
                  <a:pt x="3080" y="809"/>
                </a:lnTo>
                <a:lnTo>
                  <a:pt x="0" y="809"/>
                </a:lnTo>
                <a:lnTo>
                  <a:pt x="0" y="0"/>
                </a:lnTo>
                <a:close/>
              </a:path>
            </a:pathLst>
          </a:custGeom>
          <a:gradFill>
            <a:gsLst>
              <a:gs pos="34000">
                <a:srgbClr val="CE0101">
                  <a:alpha val="100000"/>
                </a:srgbClr>
              </a:gs>
              <a:gs pos="50000">
                <a:srgbClr val="B80202">
                  <a:alpha val="100000"/>
                </a:srgbClr>
              </a:gs>
              <a:gs pos="0">
                <a:srgbClr val="E30000"/>
              </a:gs>
              <a:gs pos="100000">
                <a:srgbClr val="8C030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rot="19500000">
            <a:off x="-349835" y="5277142"/>
            <a:ext cx="2299957" cy="494665"/>
          </a:xfrm>
          <a:custGeom>
            <a:avLst/>
            <a:gdLst/>
            <a:ahLst/>
            <a:cxnLst>
              <a:cxn ang="3">
                <a:pos x="hc" y="t"/>
              </a:cxn>
              <a:cxn ang="cd2">
                <a:pos x="l" y="vc"/>
              </a:cxn>
              <a:cxn ang="cd4">
                <a:pos x="hc" y="b"/>
              </a:cxn>
              <a:cxn ang="0">
                <a:pos x="r" y="vc"/>
              </a:cxn>
            </a:cxnLst>
            <a:rect l="l" t="t" r="r" b="b"/>
            <a:pathLst>
              <a:path w="3622" h="779">
                <a:moveTo>
                  <a:pt x="545" y="0"/>
                </a:moveTo>
                <a:lnTo>
                  <a:pt x="3622" y="0"/>
                </a:lnTo>
                <a:lnTo>
                  <a:pt x="3622"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3" name="任意多边形 12"/>
          <p:cNvSpPr/>
          <p:nvPr/>
        </p:nvSpPr>
        <p:spPr>
          <a:xfrm rot="19560000">
            <a:off x="906270" y="6093381"/>
            <a:ext cx="2583488" cy="494665"/>
          </a:xfrm>
          <a:custGeom>
            <a:avLst/>
            <a:gdLst/>
            <a:ahLst/>
            <a:cxnLst>
              <a:cxn ang="3">
                <a:pos x="hc" y="t"/>
              </a:cxn>
              <a:cxn ang="cd2">
                <a:pos x="l" y="vc"/>
              </a:cxn>
              <a:cxn ang="cd4">
                <a:pos x="hc" y="b"/>
              </a:cxn>
              <a:cxn ang="0">
                <a:pos x="r" y="vc"/>
              </a:cxn>
            </a:cxnLst>
            <a:rect l="l" t="t" r="r" b="b"/>
            <a:pathLst>
              <a:path w="4068" h="779">
                <a:moveTo>
                  <a:pt x="0" y="0"/>
                </a:moveTo>
                <a:lnTo>
                  <a:pt x="4068" y="0"/>
                </a:lnTo>
                <a:lnTo>
                  <a:pt x="4068" y="779"/>
                </a:lnTo>
                <a:lnTo>
                  <a:pt x="1155" y="779"/>
                </a:lnTo>
                <a:lnTo>
                  <a:pt x="0"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7" name="任意多边形 16"/>
          <p:cNvSpPr/>
          <p:nvPr/>
        </p:nvSpPr>
        <p:spPr>
          <a:xfrm rot="8700000" flipH="1" flipV="1">
            <a:off x="11044853" y="707593"/>
            <a:ext cx="1423163" cy="513715"/>
          </a:xfrm>
          <a:custGeom>
            <a:avLst/>
            <a:gdLst/>
            <a:ahLst/>
            <a:cxnLst>
              <a:cxn ang="3">
                <a:pos x="hc" y="t"/>
              </a:cxn>
              <a:cxn ang="cd2">
                <a:pos x="l" y="vc"/>
              </a:cxn>
              <a:cxn ang="cd4">
                <a:pos x="hc" y="b"/>
              </a:cxn>
              <a:cxn ang="0">
                <a:pos x="r" y="vc"/>
              </a:cxn>
            </a:cxnLst>
            <a:rect l="l" t="t" r="r" b="b"/>
            <a:pathLst>
              <a:path w="2241" h="809">
                <a:moveTo>
                  <a:pt x="0" y="0"/>
                </a:moveTo>
                <a:lnTo>
                  <a:pt x="2241" y="0"/>
                </a:lnTo>
                <a:lnTo>
                  <a:pt x="1675" y="809"/>
                </a:lnTo>
                <a:lnTo>
                  <a:pt x="0" y="809"/>
                </a:lnTo>
                <a:lnTo>
                  <a:pt x="0" y="0"/>
                </a:lnTo>
                <a:close/>
              </a:path>
            </a:pathLst>
          </a:custGeom>
          <a:gradFill>
            <a:gsLst>
              <a:gs pos="0">
                <a:srgbClr val="F62A54"/>
              </a:gs>
              <a:gs pos="100000">
                <a:srgbClr val="A90226"/>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8" name="任意多边形 17"/>
          <p:cNvSpPr/>
          <p:nvPr/>
        </p:nvSpPr>
        <p:spPr>
          <a:xfrm rot="8700000">
            <a:off x="11039438" y="1547797"/>
            <a:ext cx="1423109" cy="494665"/>
          </a:xfrm>
          <a:custGeom>
            <a:avLst/>
            <a:gdLst/>
            <a:ahLst/>
            <a:cxnLst>
              <a:cxn ang="3">
                <a:pos x="hc" y="t"/>
              </a:cxn>
              <a:cxn ang="cd2">
                <a:pos x="l" y="vc"/>
              </a:cxn>
              <a:cxn ang="cd4">
                <a:pos x="hc" y="b"/>
              </a:cxn>
              <a:cxn ang="0">
                <a:pos x="r" y="vc"/>
              </a:cxn>
            </a:cxnLst>
            <a:rect l="l" t="t" r="r" b="b"/>
            <a:pathLst>
              <a:path w="2241" h="779">
                <a:moveTo>
                  <a:pt x="545" y="0"/>
                </a:moveTo>
                <a:lnTo>
                  <a:pt x="2241" y="0"/>
                </a:lnTo>
                <a:lnTo>
                  <a:pt x="2241"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9" name="任意多边形 18"/>
          <p:cNvSpPr/>
          <p:nvPr/>
        </p:nvSpPr>
        <p:spPr>
          <a:xfrm rot="19560000" flipH="1" flipV="1">
            <a:off x="9937622" y="312346"/>
            <a:ext cx="2385881" cy="494665"/>
          </a:xfrm>
          <a:custGeom>
            <a:avLst/>
            <a:gdLst/>
            <a:ahLst/>
            <a:cxnLst>
              <a:cxn ang="3">
                <a:pos x="hc" y="t"/>
              </a:cxn>
              <a:cxn ang="cd2">
                <a:pos x="l" y="vc"/>
              </a:cxn>
              <a:cxn ang="cd4">
                <a:pos x="hc" y="b"/>
              </a:cxn>
              <a:cxn ang="0">
                <a:pos x="r" y="vc"/>
              </a:cxn>
            </a:cxnLst>
            <a:rect l="l" t="t" r="r" b="b"/>
            <a:pathLst>
              <a:path w="3757" h="779">
                <a:moveTo>
                  <a:pt x="125" y="0"/>
                </a:moveTo>
                <a:lnTo>
                  <a:pt x="3757" y="0"/>
                </a:lnTo>
                <a:lnTo>
                  <a:pt x="3757" y="779"/>
                </a:lnTo>
                <a:lnTo>
                  <a:pt x="880" y="779"/>
                </a:lnTo>
                <a:lnTo>
                  <a:pt x="0" y="185"/>
                </a:lnTo>
                <a:lnTo>
                  <a:pt x="125"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2" name="椭圆 21"/>
          <p:cNvSpPr/>
          <p:nvPr/>
        </p:nvSpPr>
        <p:spPr>
          <a:xfrm rot="4260000">
            <a:off x="948690" y="3409315"/>
            <a:ext cx="681990" cy="681990"/>
          </a:xfrm>
          <a:prstGeom prst="ellipse">
            <a:avLst/>
          </a:pr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任意多边形 22"/>
          <p:cNvSpPr/>
          <p:nvPr/>
        </p:nvSpPr>
        <p:spPr>
          <a:xfrm>
            <a:off x="0" y="1583055"/>
            <a:ext cx="798830" cy="11880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77" h="1006">
                <a:moveTo>
                  <a:pt x="174" y="0"/>
                </a:moveTo>
                <a:cubicBezTo>
                  <a:pt x="452" y="0"/>
                  <a:pt x="677" y="225"/>
                  <a:pt x="677" y="503"/>
                </a:cubicBezTo>
                <a:cubicBezTo>
                  <a:pt x="677" y="781"/>
                  <a:pt x="452" y="1006"/>
                  <a:pt x="174" y="1006"/>
                </a:cubicBezTo>
                <a:cubicBezTo>
                  <a:pt x="113" y="1006"/>
                  <a:pt x="55" y="995"/>
                  <a:pt x="1" y="975"/>
                </a:cubicBezTo>
                <a:lnTo>
                  <a:pt x="0" y="975"/>
                </a:lnTo>
                <a:lnTo>
                  <a:pt x="0" y="31"/>
                </a:lnTo>
                <a:lnTo>
                  <a:pt x="1" y="31"/>
                </a:lnTo>
                <a:cubicBezTo>
                  <a:pt x="55" y="11"/>
                  <a:pt x="113" y="0"/>
                  <a:pt x="174" y="0"/>
                </a:cubicBezTo>
                <a:close/>
              </a:path>
            </a:pathLst>
          </a:custGeom>
          <a:gradFill>
            <a:gsLst>
              <a:gs pos="0">
                <a:srgbClr val="F82A9E"/>
              </a:gs>
              <a:gs pos="37000">
                <a:srgbClr val="A38DC6">
                  <a:alpha val="100000"/>
                </a:srgbClr>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5" name="矩形 24"/>
          <p:cNvSpPr/>
          <p:nvPr/>
        </p:nvSpPr>
        <p:spPr>
          <a:xfrm>
            <a:off x="7969885" y="4547870"/>
            <a:ext cx="4222115" cy="865505"/>
          </a:xfrm>
          <a:prstGeom prst="rect">
            <a:avLst/>
          </a:prstGeom>
          <a:gradFill>
            <a:gsLst>
              <a:gs pos="1000">
                <a:srgbClr val="000000"/>
              </a:gs>
              <a:gs pos="68000">
                <a:srgbClr val="901D32">
                  <a:alpha val="100000"/>
                </a:srgbClr>
              </a:gs>
              <a:gs pos="19000">
                <a:srgbClr val="230F0F"/>
              </a:gs>
              <a:gs pos="100000">
                <a:srgbClr val="FC2B55"/>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椭圆 26"/>
          <p:cNvSpPr/>
          <p:nvPr/>
        </p:nvSpPr>
        <p:spPr>
          <a:xfrm>
            <a:off x="9289415" y="5847080"/>
            <a:ext cx="539750" cy="539750"/>
          </a:xfrm>
          <a:prstGeom prst="ellipse">
            <a:avLst/>
          </a:prstGeom>
          <a:gradFill>
            <a:gsLst>
              <a:gs pos="0">
                <a:srgbClr val="F82A9E"/>
              </a:gs>
              <a:gs pos="2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椭圆 28"/>
          <p:cNvSpPr/>
          <p:nvPr/>
        </p:nvSpPr>
        <p:spPr>
          <a:xfrm rot="6300000">
            <a:off x="11397615" y="3649345"/>
            <a:ext cx="302895" cy="302895"/>
          </a:xfrm>
          <a:prstGeom prst="ellipse">
            <a:avLst/>
          </a:prstGeom>
          <a:gradFill>
            <a:gsLst>
              <a:gs pos="0">
                <a:srgbClr val="F82A9E"/>
              </a:gs>
              <a:gs pos="62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任意多边形 27"/>
          <p:cNvSpPr/>
          <p:nvPr/>
        </p:nvSpPr>
        <p:spPr>
          <a:xfrm rot="16020000">
            <a:off x="11177734" y="5850606"/>
            <a:ext cx="1041746" cy="1023327"/>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41" h="1612">
                <a:moveTo>
                  <a:pt x="688" y="0"/>
                </a:moveTo>
                <a:cubicBezTo>
                  <a:pt x="1214" y="0"/>
                  <a:pt x="1641" y="420"/>
                  <a:pt x="1641" y="937"/>
                </a:cubicBezTo>
                <a:cubicBezTo>
                  <a:pt x="1641" y="1196"/>
                  <a:pt x="1534" y="1430"/>
                  <a:pt x="1361" y="1600"/>
                </a:cubicBezTo>
                <a:lnTo>
                  <a:pt x="1349" y="1612"/>
                </a:lnTo>
                <a:lnTo>
                  <a:pt x="0" y="1541"/>
                </a:lnTo>
                <a:lnTo>
                  <a:pt x="69" y="224"/>
                </a:lnTo>
                <a:lnTo>
                  <a:pt x="81" y="214"/>
                </a:lnTo>
                <a:cubicBezTo>
                  <a:pt x="246" y="80"/>
                  <a:pt x="457" y="0"/>
                  <a:pt x="688" y="0"/>
                </a:cubicBezTo>
                <a:close/>
              </a:path>
            </a:pathLst>
          </a:cu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cxnSp>
        <p:nvCxnSpPr>
          <p:cNvPr id="33" name="直接连接符 32"/>
          <p:cNvCxnSpPr/>
          <p:nvPr/>
        </p:nvCxnSpPr>
        <p:spPr>
          <a:xfrm>
            <a:off x="667385" y="227330"/>
            <a:ext cx="265430" cy="381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32815" y="13398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42340" y="157924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1236980" y="1524000"/>
            <a:ext cx="196215" cy="254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1347470" y="1651000"/>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583690" y="157797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968500" y="1541145"/>
            <a:ext cx="259715" cy="1270"/>
          </a:xfrm>
          <a:prstGeom prst="line">
            <a:avLst/>
          </a:prstGeom>
          <a:ln w="5397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64185" y="132715"/>
            <a:ext cx="203200" cy="1270"/>
          </a:xfrm>
          <a:prstGeom prst="line">
            <a:avLst/>
          </a:prstGeom>
          <a:ln w="571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339090" y="324485"/>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984885" y="226695"/>
            <a:ext cx="399415" cy="5715"/>
          </a:xfrm>
          <a:prstGeom prst="line">
            <a:avLst/>
          </a:prstGeom>
          <a:ln w="349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1329690" y="316230"/>
            <a:ext cx="154305" cy="63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583690" y="1431925"/>
            <a:ext cx="384810" cy="1270"/>
          </a:xfrm>
          <a:prstGeom prst="line">
            <a:avLst/>
          </a:prstGeom>
          <a:ln w="317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1849120" y="1651635"/>
            <a:ext cx="346710" cy="190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257935" y="187325"/>
            <a:ext cx="406400" cy="0"/>
          </a:xfrm>
          <a:prstGeom prst="line">
            <a:avLst/>
          </a:prstGeom>
          <a:ln w="190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065020" y="1455420"/>
            <a:ext cx="534670" cy="0"/>
          </a:xfrm>
          <a:prstGeom prst="line">
            <a:avLst/>
          </a:prstGeom>
          <a:ln w="15875">
            <a:solidFill>
              <a:srgbClr val="FB37B8"/>
            </a:solidFill>
          </a:ln>
        </p:spPr>
        <p:style>
          <a:lnRef idx="1">
            <a:schemeClr val="accent1"/>
          </a:lnRef>
          <a:fillRef idx="0">
            <a:schemeClr val="accent1"/>
          </a:fillRef>
          <a:effectRef idx="0">
            <a:schemeClr val="accent1"/>
          </a:effectRef>
          <a:fontRef idx="minor">
            <a:schemeClr val="tx1"/>
          </a:fontRef>
        </p:style>
      </p:cxnSp>
      <p:pic>
        <p:nvPicPr>
          <p:cNvPr id="50" name="图片 49" descr="Sub_Brand_TT-Shop V2_20220914193836-1"/>
          <p:cNvPicPr>
            <a:picLocks noChangeAspect="1"/>
          </p:cNvPicPr>
          <p:nvPr/>
        </p:nvPicPr>
        <p:blipFill>
          <a:blip r:embed="rId2"/>
          <a:srcRect r="79232"/>
          <a:stretch>
            <a:fillRect/>
          </a:stretch>
        </p:blipFill>
        <p:spPr>
          <a:xfrm>
            <a:off x="798830" y="239395"/>
            <a:ext cx="600710" cy="1101725"/>
          </a:xfrm>
          <a:prstGeom prst="rect">
            <a:avLst/>
          </a:prstGeom>
        </p:spPr>
      </p:pic>
      <p:pic>
        <p:nvPicPr>
          <p:cNvPr id="52" name="图片 51" descr="Sub_Brand_TT-Shop V2_20220914193836-1"/>
          <p:cNvPicPr>
            <a:picLocks noChangeAspect="1"/>
          </p:cNvPicPr>
          <p:nvPr/>
        </p:nvPicPr>
        <p:blipFill>
          <a:blip r:embed="rId2"/>
          <a:srcRect l="21215" t="23800" r="41066" b="44523"/>
          <a:stretch>
            <a:fillRect/>
          </a:stretch>
        </p:blipFill>
        <p:spPr>
          <a:xfrm>
            <a:off x="1402080" y="558165"/>
            <a:ext cx="1860550" cy="594995"/>
          </a:xfrm>
          <a:prstGeom prst="rect">
            <a:avLst/>
          </a:prstGeom>
        </p:spPr>
      </p:pic>
      <p:sp>
        <p:nvSpPr>
          <p:cNvPr id="59" name="文本框 58"/>
          <p:cNvSpPr txBox="1"/>
          <p:nvPr/>
        </p:nvSpPr>
        <p:spPr>
          <a:xfrm>
            <a:off x="7922260" y="4230370"/>
            <a:ext cx="309880" cy="368300"/>
          </a:xfrm>
          <a:prstGeom prst="rect">
            <a:avLst/>
          </a:prstGeom>
          <a:noFill/>
        </p:spPr>
        <p:txBody>
          <a:bodyPr wrap="none" rtlCol="0">
            <a:spAutoFit/>
          </a:bodyPr>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animBg="1"/>
      <p:bldP spid="4" grpId="1" animBg="1"/>
      <p:bldP spid="13" grpId="1" animBg="1"/>
      <p:bldP spid="18" grpId="1" animBg="1"/>
      <p:bldP spid="19" grpId="1" animBg="1"/>
      <p:bldP spid="17" grpId="1" animBg="1"/>
      <p:bldP spid="27" grpId="1" animBg="1"/>
      <p:bldP spid="29" grpId="1" animBg="1"/>
      <p:bldP spid="28" grpId="1" animBg="1"/>
      <p:bldP spid="22" grpId="1" animBg="1"/>
      <p:bldP spid="23" grpId="1" animBg="1"/>
      <p:bldP spid="25" grpId="1" animBg="1"/>
      <p:bldP spid="2" grpId="0"/>
      <p:bldP spid="2"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pic>
        <p:nvPicPr>
          <p:cNvPr id="2" name="图片 1"/>
          <p:cNvPicPr>
            <a:picLocks noChangeAspect="1"/>
          </p:cNvPicPr>
          <p:nvPr/>
        </p:nvPicPr>
        <p:blipFill>
          <a:blip r:embed="rId2"/>
          <a:stretch>
            <a:fillRect/>
          </a:stretch>
        </p:blipFill>
        <p:spPr>
          <a:xfrm>
            <a:off x="1270635" y="1393190"/>
            <a:ext cx="9690100" cy="3280410"/>
          </a:xfrm>
          <a:prstGeom prst="rect">
            <a:avLst/>
          </a:prstGeom>
        </p:spPr>
      </p:pic>
      <p:sp>
        <p:nvSpPr>
          <p:cNvPr id="9" name="文本框 8"/>
          <p:cNvSpPr txBox="1"/>
          <p:nvPr>
            <p:custDataLst>
              <p:tags r:id="rId3"/>
            </p:custDataLst>
          </p:nvPr>
        </p:nvSpPr>
        <p:spPr>
          <a:xfrm>
            <a:off x="1024890" y="4827270"/>
            <a:ext cx="10306050" cy="1198880"/>
          </a:xfrm>
          <a:prstGeom prst="rect">
            <a:avLst/>
          </a:prstGeom>
          <a:noFill/>
        </p:spPr>
        <p:txBody>
          <a:bodyPr wrap="square" rtlCol="0">
            <a:spAutoFit/>
          </a:bodyPr>
          <a:p>
            <a:pPr fontAlgn="auto">
              <a:lnSpc>
                <a:spcPct val="200000"/>
              </a:lnSpc>
            </a:pPr>
            <a:r>
              <a:rPr lang="zh-CN" altLang="en-US" b="1">
                <a:solidFill>
                  <a:schemeClr val="bg2"/>
                </a:solidFill>
                <a:latin typeface="+mn-ea"/>
                <a:cs typeface="+mn-ea"/>
              </a:rPr>
              <a:t>除了店铺达人广场外，也可以在</a:t>
            </a:r>
            <a:r>
              <a:rPr lang="en-US" altLang="zh-CN" b="1">
                <a:solidFill>
                  <a:schemeClr val="bg2"/>
                </a:solidFill>
                <a:latin typeface="+mn-ea"/>
                <a:cs typeface="+mn-ea"/>
              </a:rPr>
              <a:t>TikTok</a:t>
            </a:r>
            <a:r>
              <a:rPr lang="zh-CN" altLang="en-US" b="1">
                <a:solidFill>
                  <a:schemeClr val="bg2"/>
                </a:solidFill>
                <a:latin typeface="+mn-ea"/>
                <a:cs typeface="+mn-ea"/>
              </a:rPr>
              <a:t>的创作者市场与达人进行建联，同时可以了解</a:t>
            </a:r>
            <a:r>
              <a:rPr lang="en-US" altLang="zh-CN" b="1">
                <a:solidFill>
                  <a:schemeClr val="bg2"/>
                </a:solidFill>
                <a:latin typeface="+mn-ea"/>
                <a:cs typeface="+mn-ea"/>
                <a:sym typeface="+mn-ea"/>
              </a:rPr>
              <a:t>TikTok</a:t>
            </a:r>
            <a:r>
              <a:rPr lang="zh-CN" altLang="en-US" b="1">
                <a:solidFill>
                  <a:schemeClr val="bg2"/>
                </a:solidFill>
                <a:latin typeface="+mn-ea"/>
                <a:cs typeface="+mn-ea"/>
                <a:sym typeface="+mn-ea"/>
              </a:rPr>
              <a:t>的流行趋势、热门话题、关键词洞察，在上品时产品标题可添加相</a:t>
            </a:r>
            <a:r>
              <a:rPr lang="zh-CN" altLang="en-US" b="1">
                <a:solidFill>
                  <a:schemeClr val="bg2"/>
                </a:solidFill>
                <a:latin typeface="+mn-ea"/>
                <a:cs typeface="+mn-ea"/>
                <a:sym typeface="+mn-ea"/>
              </a:rPr>
              <a:t>关话题、关键词等。</a:t>
            </a:r>
            <a:endParaRPr lang="zh-CN" altLang="en-US" b="1">
              <a:solidFill>
                <a:schemeClr val="bg2"/>
              </a:solidFill>
              <a:latin typeface="+mn-ea"/>
              <a:cs typeface="+mn-ea"/>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483995" y="3165475"/>
            <a:ext cx="9409430" cy="868680"/>
          </a:xfrm>
        </p:spPr>
        <p:txBody>
          <a:bodyPr>
            <a:noAutofit/>
          </a:bodyPr>
          <a:p>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TikTok shop </a:t>
            </a: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lang="en-US"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MCN\TAP</a:t>
            </a:r>
            <a:r>
              <a:rPr lang="zh-CN" altLang="en-US"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等达人机</a:t>
            </a:r>
            <a:r>
              <a:rPr lang="zh-CN" altLang="en-US"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构</a:t>
            </a:r>
            <a:endParaRPr lang="zh-CN" altLang="en-US"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4" name="任意多边形 3"/>
          <p:cNvSpPr/>
          <p:nvPr/>
        </p:nvSpPr>
        <p:spPr>
          <a:xfrm rot="8700000">
            <a:off x="-128178" y="6092621"/>
            <a:ext cx="2064481" cy="513715"/>
          </a:xfrm>
          <a:custGeom>
            <a:avLst/>
            <a:gdLst/>
            <a:ahLst/>
            <a:cxnLst>
              <a:cxn ang="3">
                <a:pos x="hc" y="t"/>
              </a:cxn>
              <a:cxn ang="cd2">
                <a:pos x="l" y="vc"/>
              </a:cxn>
              <a:cxn ang="cd4">
                <a:pos x="hc" y="b"/>
              </a:cxn>
              <a:cxn ang="0">
                <a:pos x="r" y="vc"/>
              </a:cxn>
            </a:cxnLst>
            <a:rect l="l" t="t" r="r" b="b"/>
            <a:pathLst>
              <a:path w="3251" h="809">
                <a:moveTo>
                  <a:pt x="0" y="0"/>
                </a:moveTo>
                <a:lnTo>
                  <a:pt x="2444" y="0"/>
                </a:lnTo>
                <a:lnTo>
                  <a:pt x="3251" y="565"/>
                </a:lnTo>
                <a:lnTo>
                  <a:pt x="3080" y="809"/>
                </a:lnTo>
                <a:lnTo>
                  <a:pt x="0" y="809"/>
                </a:lnTo>
                <a:lnTo>
                  <a:pt x="0" y="0"/>
                </a:lnTo>
                <a:close/>
              </a:path>
            </a:pathLst>
          </a:custGeom>
          <a:gradFill>
            <a:gsLst>
              <a:gs pos="34000">
                <a:srgbClr val="CE0101">
                  <a:alpha val="100000"/>
                </a:srgbClr>
              </a:gs>
              <a:gs pos="50000">
                <a:srgbClr val="B80202">
                  <a:alpha val="100000"/>
                </a:srgbClr>
              </a:gs>
              <a:gs pos="0">
                <a:srgbClr val="E30000"/>
              </a:gs>
              <a:gs pos="100000">
                <a:srgbClr val="8C030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rot="19500000">
            <a:off x="-349835" y="5277142"/>
            <a:ext cx="2299957" cy="494665"/>
          </a:xfrm>
          <a:custGeom>
            <a:avLst/>
            <a:gdLst/>
            <a:ahLst/>
            <a:cxnLst>
              <a:cxn ang="3">
                <a:pos x="hc" y="t"/>
              </a:cxn>
              <a:cxn ang="cd2">
                <a:pos x="l" y="vc"/>
              </a:cxn>
              <a:cxn ang="cd4">
                <a:pos x="hc" y="b"/>
              </a:cxn>
              <a:cxn ang="0">
                <a:pos x="r" y="vc"/>
              </a:cxn>
            </a:cxnLst>
            <a:rect l="l" t="t" r="r" b="b"/>
            <a:pathLst>
              <a:path w="3622" h="779">
                <a:moveTo>
                  <a:pt x="545" y="0"/>
                </a:moveTo>
                <a:lnTo>
                  <a:pt x="3622" y="0"/>
                </a:lnTo>
                <a:lnTo>
                  <a:pt x="3622"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3" name="任意多边形 12"/>
          <p:cNvSpPr/>
          <p:nvPr/>
        </p:nvSpPr>
        <p:spPr>
          <a:xfrm rot="19560000">
            <a:off x="906270" y="6093381"/>
            <a:ext cx="2583488" cy="494665"/>
          </a:xfrm>
          <a:custGeom>
            <a:avLst/>
            <a:gdLst/>
            <a:ahLst/>
            <a:cxnLst>
              <a:cxn ang="3">
                <a:pos x="hc" y="t"/>
              </a:cxn>
              <a:cxn ang="cd2">
                <a:pos x="l" y="vc"/>
              </a:cxn>
              <a:cxn ang="cd4">
                <a:pos x="hc" y="b"/>
              </a:cxn>
              <a:cxn ang="0">
                <a:pos x="r" y="vc"/>
              </a:cxn>
            </a:cxnLst>
            <a:rect l="l" t="t" r="r" b="b"/>
            <a:pathLst>
              <a:path w="4068" h="779">
                <a:moveTo>
                  <a:pt x="0" y="0"/>
                </a:moveTo>
                <a:lnTo>
                  <a:pt x="4068" y="0"/>
                </a:lnTo>
                <a:lnTo>
                  <a:pt x="4068" y="779"/>
                </a:lnTo>
                <a:lnTo>
                  <a:pt x="1155" y="779"/>
                </a:lnTo>
                <a:lnTo>
                  <a:pt x="0"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7" name="任意多边形 16"/>
          <p:cNvSpPr/>
          <p:nvPr/>
        </p:nvSpPr>
        <p:spPr>
          <a:xfrm rot="8700000" flipH="1" flipV="1">
            <a:off x="11044853" y="707593"/>
            <a:ext cx="1423163" cy="513715"/>
          </a:xfrm>
          <a:custGeom>
            <a:avLst/>
            <a:gdLst/>
            <a:ahLst/>
            <a:cxnLst>
              <a:cxn ang="3">
                <a:pos x="hc" y="t"/>
              </a:cxn>
              <a:cxn ang="cd2">
                <a:pos x="l" y="vc"/>
              </a:cxn>
              <a:cxn ang="cd4">
                <a:pos x="hc" y="b"/>
              </a:cxn>
              <a:cxn ang="0">
                <a:pos x="r" y="vc"/>
              </a:cxn>
            </a:cxnLst>
            <a:rect l="l" t="t" r="r" b="b"/>
            <a:pathLst>
              <a:path w="2241" h="809">
                <a:moveTo>
                  <a:pt x="0" y="0"/>
                </a:moveTo>
                <a:lnTo>
                  <a:pt x="2241" y="0"/>
                </a:lnTo>
                <a:lnTo>
                  <a:pt x="1675" y="809"/>
                </a:lnTo>
                <a:lnTo>
                  <a:pt x="0" y="809"/>
                </a:lnTo>
                <a:lnTo>
                  <a:pt x="0" y="0"/>
                </a:lnTo>
                <a:close/>
              </a:path>
            </a:pathLst>
          </a:custGeom>
          <a:gradFill>
            <a:gsLst>
              <a:gs pos="0">
                <a:srgbClr val="F62A54"/>
              </a:gs>
              <a:gs pos="100000">
                <a:srgbClr val="A90226"/>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8" name="任意多边形 17"/>
          <p:cNvSpPr/>
          <p:nvPr/>
        </p:nvSpPr>
        <p:spPr>
          <a:xfrm rot="8700000">
            <a:off x="11039438" y="1547797"/>
            <a:ext cx="1423109" cy="494665"/>
          </a:xfrm>
          <a:custGeom>
            <a:avLst/>
            <a:gdLst/>
            <a:ahLst/>
            <a:cxnLst>
              <a:cxn ang="3">
                <a:pos x="hc" y="t"/>
              </a:cxn>
              <a:cxn ang="cd2">
                <a:pos x="l" y="vc"/>
              </a:cxn>
              <a:cxn ang="cd4">
                <a:pos x="hc" y="b"/>
              </a:cxn>
              <a:cxn ang="0">
                <a:pos x="r" y="vc"/>
              </a:cxn>
            </a:cxnLst>
            <a:rect l="l" t="t" r="r" b="b"/>
            <a:pathLst>
              <a:path w="2241" h="779">
                <a:moveTo>
                  <a:pt x="545" y="0"/>
                </a:moveTo>
                <a:lnTo>
                  <a:pt x="2241" y="0"/>
                </a:lnTo>
                <a:lnTo>
                  <a:pt x="2241"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9" name="任意多边形 18"/>
          <p:cNvSpPr/>
          <p:nvPr/>
        </p:nvSpPr>
        <p:spPr>
          <a:xfrm rot="19560000" flipH="1" flipV="1">
            <a:off x="9937622" y="312346"/>
            <a:ext cx="2385881" cy="494665"/>
          </a:xfrm>
          <a:custGeom>
            <a:avLst/>
            <a:gdLst/>
            <a:ahLst/>
            <a:cxnLst>
              <a:cxn ang="3">
                <a:pos x="hc" y="t"/>
              </a:cxn>
              <a:cxn ang="cd2">
                <a:pos x="l" y="vc"/>
              </a:cxn>
              <a:cxn ang="cd4">
                <a:pos x="hc" y="b"/>
              </a:cxn>
              <a:cxn ang="0">
                <a:pos x="r" y="vc"/>
              </a:cxn>
            </a:cxnLst>
            <a:rect l="l" t="t" r="r" b="b"/>
            <a:pathLst>
              <a:path w="3757" h="779">
                <a:moveTo>
                  <a:pt x="125" y="0"/>
                </a:moveTo>
                <a:lnTo>
                  <a:pt x="3757" y="0"/>
                </a:lnTo>
                <a:lnTo>
                  <a:pt x="3757" y="779"/>
                </a:lnTo>
                <a:lnTo>
                  <a:pt x="880" y="779"/>
                </a:lnTo>
                <a:lnTo>
                  <a:pt x="0" y="185"/>
                </a:lnTo>
                <a:lnTo>
                  <a:pt x="125"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2" name="椭圆 21"/>
          <p:cNvSpPr/>
          <p:nvPr/>
        </p:nvSpPr>
        <p:spPr>
          <a:xfrm rot="4260000">
            <a:off x="948690" y="3409315"/>
            <a:ext cx="681990" cy="681990"/>
          </a:xfrm>
          <a:prstGeom prst="ellipse">
            <a:avLst/>
          </a:pr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任意多边形 22"/>
          <p:cNvSpPr/>
          <p:nvPr/>
        </p:nvSpPr>
        <p:spPr>
          <a:xfrm>
            <a:off x="0" y="1583055"/>
            <a:ext cx="798830" cy="11880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77" h="1006">
                <a:moveTo>
                  <a:pt x="174" y="0"/>
                </a:moveTo>
                <a:cubicBezTo>
                  <a:pt x="452" y="0"/>
                  <a:pt x="677" y="225"/>
                  <a:pt x="677" y="503"/>
                </a:cubicBezTo>
                <a:cubicBezTo>
                  <a:pt x="677" y="781"/>
                  <a:pt x="452" y="1006"/>
                  <a:pt x="174" y="1006"/>
                </a:cubicBezTo>
                <a:cubicBezTo>
                  <a:pt x="113" y="1006"/>
                  <a:pt x="55" y="995"/>
                  <a:pt x="1" y="975"/>
                </a:cubicBezTo>
                <a:lnTo>
                  <a:pt x="0" y="975"/>
                </a:lnTo>
                <a:lnTo>
                  <a:pt x="0" y="31"/>
                </a:lnTo>
                <a:lnTo>
                  <a:pt x="1" y="31"/>
                </a:lnTo>
                <a:cubicBezTo>
                  <a:pt x="55" y="11"/>
                  <a:pt x="113" y="0"/>
                  <a:pt x="174" y="0"/>
                </a:cubicBezTo>
                <a:close/>
              </a:path>
            </a:pathLst>
          </a:custGeom>
          <a:gradFill>
            <a:gsLst>
              <a:gs pos="0">
                <a:srgbClr val="F82A9E"/>
              </a:gs>
              <a:gs pos="37000">
                <a:srgbClr val="A38DC6">
                  <a:alpha val="100000"/>
                </a:srgbClr>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5" name="矩形 24"/>
          <p:cNvSpPr/>
          <p:nvPr/>
        </p:nvSpPr>
        <p:spPr>
          <a:xfrm>
            <a:off x="7969885" y="4547870"/>
            <a:ext cx="4222115" cy="865505"/>
          </a:xfrm>
          <a:prstGeom prst="rect">
            <a:avLst/>
          </a:prstGeom>
          <a:gradFill>
            <a:gsLst>
              <a:gs pos="1000">
                <a:srgbClr val="000000"/>
              </a:gs>
              <a:gs pos="68000">
                <a:srgbClr val="901D32">
                  <a:alpha val="100000"/>
                </a:srgbClr>
              </a:gs>
              <a:gs pos="19000">
                <a:srgbClr val="230F0F"/>
              </a:gs>
              <a:gs pos="100000">
                <a:srgbClr val="FC2B55"/>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椭圆 26"/>
          <p:cNvSpPr/>
          <p:nvPr/>
        </p:nvSpPr>
        <p:spPr>
          <a:xfrm>
            <a:off x="9289415" y="5847080"/>
            <a:ext cx="539750" cy="539750"/>
          </a:xfrm>
          <a:prstGeom prst="ellipse">
            <a:avLst/>
          </a:prstGeom>
          <a:gradFill>
            <a:gsLst>
              <a:gs pos="0">
                <a:srgbClr val="F82A9E"/>
              </a:gs>
              <a:gs pos="2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椭圆 28"/>
          <p:cNvSpPr/>
          <p:nvPr/>
        </p:nvSpPr>
        <p:spPr>
          <a:xfrm rot="6300000">
            <a:off x="11397615" y="3649345"/>
            <a:ext cx="302895" cy="302895"/>
          </a:xfrm>
          <a:prstGeom prst="ellipse">
            <a:avLst/>
          </a:prstGeom>
          <a:gradFill>
            <a:gsLst>
              <a:gs pos="0">
                <a:srgbClr val="F82A9E"/>
              </a:gs>
              <a:gs pos="62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任意多边形 27"/>
          <p:cNvSpPr/>
          <p:nvPr/>
        </p:nvSpPr>
        <p:spPr>
          <a:xfrm rot="16020000">
            <a:off x="11177734" y="5850606"/>
            <a:ext cx="1041746" cy="1023327"/>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41" h="1612">
                <a:moveTo>
                  <a:pt x="688" y="0"/>
                </a:moveTo>
                <a:cubicBezTo>
                  <a:pt x="1214" y="0"/>
                  <a:pt x="1641" y="420"/>
                  <a:pt x="1641" y="937"/>
                </a:cubicBezTo>
                <a:cubicBezTo>
                  <a:pt x="1641" y="1196"/>
                  <a:pt x="1534" y="1430"/>
                  <a:pt x="1361" y="1600"/>
                </a:cubicBezTo>
                <a:lnTo>
                  <a:pt x="1349" y="1612"/>
                </a:lnTo>
                <a:lnTo>
                  <a:pt x="0" y="1541"/>
                </a:lnTo>
                <a:lnTo>
                  <a:pt x="69" y="224"/>
                </a:lnTo>
                <a:lnTo>
                  <a:pt x="81" y="214"/>
                </a:lnTo>
                <a:cubicBezTo>
                  <a:pt x="246" y="80"/>
                  <a:pt x="457" y="0"/>
                  <a:pt x="688" y="0"/>
                </a:cubicBezTo>
                <a:close/>
              </a:path>
            </a:pathLst>
          </a:cu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cxnSp>
        <p:nvCxnSpPr>
          <p:cNvPr id="33" name="直接连接符 32"/>
          <p:cNvCxnSpPr/>
          <p:nvPr/>
        </p:nvCxnSpPr>
        <p:spPr>
          <a:xfrm>
            <a:off x="667385" y="227330"/>
            <a:ext cx="265430" cy="381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32815" y="13398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42340" y="157924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1236980" y="1524000"/>
            <a:ext cx="196215" cy="254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1347470" y="1651000"/>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583690" y="157797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968500" y="1541145"/>
            <a:ext cx="259715" cy="1270"/>
          </a:xfrm>
          <a:prstGeom prst="line">
            <a:avLst/>
          </a:prstGeom>
          <a:ln w="5397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64185" y="132715"/>
            <a:ext cx="203200" cy="1270"/>
          </a:xfrm>
          <a:prstGeom prst="line">
            <a:avLst/>
          </a:prstGeom>
          <a:ln w="571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339090" y="324485"/>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984885" y="226695"/>
            <a:ext cx="399415" cy="5715"/>
          </a:xfrm>
          <a:prstGeom prst="line">
            <a:avLst/>
          </a:prstGeom>
          <a:ln w="349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1329690" y="316230"/>
            <a:ext cx="154305" cy="63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583690" y="1431925"/>
            <a:ext cx="384810" cy="1270"/>
          </a:xfrm>
          <a:prstGeom prst="line">
            <a:avLst/>
          </a:prstGeom>
          <a:ln w="317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1849120" y="1651635"/>
            <a:ext cx="346710" cy="190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257935" y="187325"/>
            <a:ext cx="406400" cy="0"/>
          </a:xfrm>
          <a:prstGeom prst="line">
            <a:avLst/>
          </a:prstGeom>
          <a:ln w="190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065020" y="1455420"/>
            <a:ext cx="534670" cy="0"/>
          </a:xfrm>
          <a:prstGeom prst="line">
            <a:avLst/>
          </a:prstGeom>
          <a:ln w="15875">
            <a:solidFill>
              <a:srgbClr val="FB37B8"/>
            </a:solidFill>
          </a:ln>
        </p:spPr>
        <p:style>
          <a:lnRef idx="1">
            <a:schemeClr val="accent1"/>
          </a:lnRef>
          <a:fillRef idx="0">
            <a:schemeClr val="accent1"/>
          </a:fillRef>
          <a:effectRef idx="0">
            <a:schemeClr val="accent1"/>
          </a:effectRef>
          <a:fontRef idx="minor">
            <a:schemeClr val="tx1"/>
          </a:fontRef>
        </p:style>
      </p:cxnSp>
      <p:pic>
        <p:nvPicPr>
          <p:cNvPr id="50" name="图片 49" descr="Sub_Brand_TT-Shop V2_20220914193836-1"/>
          <p:cNvPicPr>
            <a:picLocks noChangeAspect="1"/>
          </p:cNvPicPr>
          <p:nvPr/>
        </p:nvPicPr>
        <p:blipFill>
          <a:blip r:embed="rId2"/>
          <a:srcRect r="79232"/>
          <a:stretch>
            <a:fillRect/>
          </a:stretch>
        </p:blipFill>
        <p:spPr>
          <a:xfrm>
            <a:off x="798830" y="239395"/>
            <a:ext cx="600710" cy="1101725"/>
          </a:xfrm>
          <a:prstGeom prst="rect">
            <a:avLst/>
          </a:prstGeom>
        </p:spPr>
      </p:pic>
      <p:pic>
        <p:nvPicPr>
          <p:cNvPr id="52" name="图片 51" descr="Sub_Brand_TT-Shop V2_20220914193836-1"/>
          <p:cNvPicPr>
            <a:picLocks noChangeAspect="1"/>
          </p:cNvPicPr>
          <p:nvPr/>
        </p:nvPicPr>
        <p:blipFill>
          <a:blip r:embed="rId2"/>
          <a:srcRect l="21215" t="23800" r="41066" b="44523"/>
          <a:stretch>
            <a:fillRect/>
          </a:stretch>
        </p:blipFill>
        <p:spPr>
          <a:xfrm>
            <a:off x="1402080" y="558165"/>
            <a:ext cx="1860550" cy="594995"/>
          </a:xfrm>
          <a:prstGeom prst="rect">
            <a:avLst/>
          </a:prstGeom>
        </p:spPr>
      </p:pic>
      <p:sp>
        <p:nvSpPr>
          <p:cNvPr id="59" name="文本框 58"/>
          <p:cNvSpPr txBox="1"/>
          <p:nvPr/>
        </p:nvSpPr>
        <p:spPr>
          <a:xfrm>
            <a:off x="7922260" y="4230370"/>
            <a:ext cx="309880" cy="368300"/>
          </a:xfrm>
          <a:prstGeom prst="rect">
            <a:avLst/>
          </a:prstGeom>
          <a:noFill/>
        </p:spPr>
        <p:txBody>
          <a:bodyPr wrap="none" rtlCol="0">
            <a:spAutoFit/>
          </a:bodyPr>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animBg="1"/>
      <p:bldP spid="4" grpId="1" animBg="1"/>
      <p:bldP spid="13" grpId="1" animBg="1"/>
      <p:bldP spid="18" grpId="1" animBg="1"/>
      <p:bldP spid="19" grpId="1" animBg="1"/>
      <p:bldP spid="17" grpId="1" animBg="1"/>
      <p:bldP spid="27" grpId="1" animBg="1"/>
      <p:bldP spid="29" grpId="1" animBg="1"/>
      <p:bldP spid="28" grpId="1" animBg="1"/>
      <p:bldP spid="22" grpId="1" animBg="1"/>
      <p:bldP spid="23" grpId="1" animBg="1"/>
      <p:bldP spid="25" grpId="1" animBg="1"/>
      <p:bldP spid="2" grpId="0"/>
      <p:bldP spid="2"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990600" y="2058670"/>
            <a:ext cx="10306050" cy="3996055"/>
          </a:xfrm>
          <a:prstGeom prst="rect">
            <a:avLst/>
          </a:prstGeom>
          <a:noFill/>
        </p:spPr>
        <p:txBody>
          <a:bodyPr wrap="square" rtlCol="0">
            <a:noAutofit/>
          </a:bodyPr>
          <a:p>
            <a:pPr fontAlgn="auto">
              <a:lnSpc>
                <a:spcPct val="200000"/>
              </a:lnSpc>
            </a:pPr>
            <a:r>
              <a:rPr lang="en-US" altLang="zh-CN" sz="2400" b="1">
                <a:solidFill>
                  <a:schemeClr val="bg2"/>
                </a:solidFill>
                <a:latin typeface="+mn-ea"/>
                <a:cs typeface="+mn-ea"/>
              </a:rPr>
              <a:t>      </a:t>
            </a:r>
            <a:r>
              <a:rPr lang="zh-CN" altLang="en-US" sz="2400" b="1">
                <a:solidFill>
                  <a:schemeClr val="bg2"/>
                </a:solidFill>
                <a:latin typeface="+mn-ea"/>
                <a:cs typeface="+mn-ea"/>
              </a:rPr>
              <a:t>在以上达人建联方式中，也可以通过官方飞书群，与</a:t>
            </a:r>
            <a:r>
              <a:rPr lang="en-US" altLang="zh-CN" sz="2400" b="1">
                <a:solidFill>
                  <a:schemeClr val="bg2"/>
                </a:solidFill>
                <a:latin typeface="+mn-ea"/>
                <a:cs typeface="+mn-ea"/>
              </a:rPr>
              <a:t>MCN</a:t>
            </a:r>
            <a:r>
              <a:rPr lang="zh-CN" altLang="en-US" sz="2400" b="1">
                <a:solidFill>
                  <a:schemeClr val="bg2"/>
                </a:solidFill>
                <a:latin typeface="+mn-ea"/>
                <a:cs typeface="+mn-ea"/>
              </a:rPr>
              <a:t>、</a:t>
            </a:r>
            <a:r>
              <a:rPr lang="en-US" altLang="zh-CN" sz="2400" b="1">
                <a:solidFill>
                  <a:schemeClr val="bg2"/>
                </a:solidFill>
                <a:latin typeface="+mn-ea"/>
                <a:cs typeface="+mn-ea"/>
              </a:rPr>
              <a:t>TAP</a:t>
            </a:r>
            <a:r>
              <a:rPr lang="zh-CN" altLang="en-US" sz="2400" b="1">
                <a:solidFill>
                  <a:schemeClr val="bg2"/>
                </a:solidFill>
                <a:latin typeface="+mn-ea"/>
                <a:cs typeface="+mn-ea"/>
              </a:rPr>
              <a:t>机构以及第三方的红人机构合作，</a:t>
            </a:r>
            <a:r>
              <a:rPr lang="en-US" altLang="zh-CN" sz="2400" b="1">
                <a:solidFill>
                  <a:schemeClr val="bg2"/>
                </a:solidFill>
                <a:latin typeface="+mn-ea"/>
                <a:cs typeface="+mn-ea"/>
              </a:rPr>
              <a:t> </a:t>
            </a:r>
            <a:r>
              <a:rPr lang="zh-CN" altLang="en-US" sz="2400" b="1">
                <a:solidFill>
                  <a:schemeClr val="bg2"/>
                </a:solidFill>
                <a:latin typeface="+mn-ea"/>
                <a:cs typeface="+mn-ea"/>
              </a:rPr>
              <a:t>让他们根据产品属性匹配精准有带货能力的达人，同</a:t>
            </a:r>
            <a:r>
              <a:rPr lang="zh-CN" altLang="en-US" sz="2400" b="1">
                <a:solidFill>
                  <a:schemeClr val="bg2"/>
                </a:solidFill>
                <a:latin typeface="+mn-ea"/>
                <a:cs typeface="+mn-ea"/>
              </a:rPr>
              <a:t>时需要支付相应的费用给达人机构。</a:t>
            </a:r>
            <a:endParaRPr lang="zh-CN" altLang="en-US" sz="24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483995" y="3165475"/>
            <a:ext cx="9409430" cy="868680"/>
          </a:xfrm>
        </p:spPr>
        <p:txBody>
          <a:bodyPr>
            <a:noAutofit/>
          </a:bodyPr>
          <a:p>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TikTok shop </a:t>
            </a: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lang="zh-CN" altLang="en-US"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带货达人直播间</a:t>
            </a:r>
            <a:endParaRPr lang="en-US"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4" name="任意多边形 3"/>
          <p:cNvSpPr/>
          <p:nvPr/>
        </p:nvSpPr>
        <p:spPr>
          <a:xfrm rot="8700000">
            <a:off x="-128178" y="6092621"/>
            <a:ext cx="2064481" cy="513715"/>
          </a:xfrm>
          <a:custGeom>
            <a:avLst/>
            <a:gdLst/>
            <a:ahLst/>
            <a:cxnLst>
              <a:cxn ang="3">
                <a:pos x="hc" y="t"/>
              </a:cxn>
              <a:cxn ang="cd2">
                <a:pos x="l" y="vc"/>
              </a:cxn>
              <a:cxn ang="cd4">
                <a:pos x="hc" y="b"/>
              </a:cxn>
              <a:cxn ang="0">
                <a:pos x="r" y="vc"/>
              </a:cxn>
            </a:cxnLst>
            <a:rect l="l" t="t" r="r" b="b"/>
            <a:pathLst>
              <a:path w="3251" h="809">
                <a:moveTo>
                  <a:pt x="0" y="0"/>
                </a:moveTo>
                <a:lnTo>
                  <a:pt x="2444" y="0"/>
                </a:lnTo>
                <a:lnTo>
                  <a:pt x="3251" y="565"/>
                </a:lnTo>
                <a:lnTo>
                  <a:pt x="3080" y="809"/>
                </a:lnTo>
                <a:lnTo>
                  <a:pt x="0" y="809"/>
                </a:lnTo>
                <a:lnTo>
                  <a:pt x="0" y="0"/>
                </a:lnTo>
                <a:close/>
              </a:path>
            </a:pathLst>
          </a:custGeom>
          <a:gradFill>
            <a:gsLst>
              <a:gs pos="34000">
                <a:srgbClr val="CE0101">
                  <a:alpha val="100000"/>
                </a:srgbClr>
              </a:gs>
              <a:gs pos="50000">
                <a:srgbClr val="B80202">
                  <a:alpha val="100000"/>
                </a:srgbClr>
              </a:gs>
              <a:gs pos="0">
                <a:srgbClr val="E30000"/>
              </a:gs>
              <a:gs pos="100000">
                <a:srgbClr val="8C030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rot="19500000">
            <a:off x="-349835" y="5277142"/>
            <a:ext cx="2299957" cy="494665"/>
          </a:xfrm>
          <a:custGeom>
            <a:avLst/>
            <a:gdLst/>
            <a:ahLst/>
            <a:cxnLst>
              <a:cxn ang="3">
                <a:pos x="hc" y="t"/>
              </a:cxn>
              <a:cxn ang="cd2">
                <a:pos x="l" y="vc"/>
              </a:cxn>
              <a:cxn ang="cd4">
                <a:pos x="hc" y="b"/>
              </a:cxn>
              <a:cxn ang="0">
                <a:pos x="r" y="vc"/>
              </a:cxn>
            </a:cxnLst>
            <a:rect l="l" t="t" r="r" b="b"/>
            <a:pathLst>
              <a:path w="3622" h="779">
                <a:moveTo>
                  <a:pt x="545" y="0"/>
                </a:moveTo>
                <a:lnTo>
                  <a:pt x="3622" y="0"/>
                </a:lnTo>
                <a:lnTo>
                  <a:pt x="3622"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3" name="任意多边形 12"/>
          <p:cNvSpPr/>
          <p:nvPr/>
        </p:nvSpPr>
        <p:spPr>
          <a:xfrm rot="19560000">
            <a:off x="906270" y="6093381"/>
            <a:ext cx="2583488" cy="494665"/>
          </a:xfrm>
          <a:custGeom>
            <a:avLst/>
            <a:gdLst/>
            <a:ahLst/>
            <a:cxnLst>
              <a:cxn ang="3">
                <a:pos x="hc" y="t"/>
              </a:cxn>
              <a:cxn ang="cd2">
                <a:pos x="l" y="vc"/>
              </a:cxn>
              <a:cxn ang="cd4">
                <a:pos x="hc" y="b"/>
              </a:cxn>
              <a:cxn ang="0">
                <a:pos x="r" y="vc"/>
              </a:cxn>
            </a:cxnLst>
            <a:rect l="l" t="t" r="r" b="b"/>
            <a:pathLst>
              <a:path w="4068" h="779">
                <a:moveTo>
                  <a:pt x="0" y="0"/>
                </a:moveTo>
                <a:lnTo>
                  <a:pt x="4068" y="0"/>
                </a:lnTo>
                <a:lnTo>
                  <a:pt x="4068" y="779"/>
                </a:lnTo>
                <a:lnTo>
                  <a:pt x="1155" y="779"/>
                </a:lnTo>
                <a:lnTo>
                  <a:pt x="0"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7" name="任意多边形 16"/>
          <p:cNvSpPr/>
          <p:nvPr/>
        </p:nvSpPr>
        <p:spPr>
          <a:xfrm rot="8700000" flipH="1" flipV="1">
            <a:off x="11044853" y="707593"/>
            <a:ext cx="1423163" cy="513715"/>
          </a:xfrm>
          <a:custGeom>
            <a:avLst/>
            <a:gdLst/>
            <a:ahLst/>
            <a:cxnLst>
              <a:cxn ang="3">
                <a:pos x="hc" y="t"/>
              </a:cxn>
              <a:cxn ang="cd2">
                <a:pos x="l" y="vc"/>
              </a:cxn>
              <a:cxn ang="cd4">
                <a:pos x="hc" y="b"/>
              </a:cxn>
              <a:cxn ang="0">
                <a:pos x="r" y="vc"/>
              </a:cxn>
            </a:cxnLst>
            <a:rect l="l" t="t" r="r" b="b"/>
            <a:pathLst>
              <a:path w="2241" h="809">
                <a:moveTo>
                  <a:pt x="0" y="0"/>
                </a:moveTo>
                <a:lnTo>
                  <a:pt x="2241" y="0"/>
                </a:lnTo>
                <a:lnTo>
                  <a:pt x="1675" y="809"/>
                </a:lnTo>
                <a:lnTo>
                  <a:pt x="0" y="809"/>
                </a:lnTo>
                <a:lnTo>
                  <a:pt x="0" y="0"/>
                </a:lnTo>
                <a:close/>
              </a:path>
            </a:pathLst>
          </a:custGeom>
          <a:gradFill>
            <a:gsLst>
              <a:gs pos="0">
                <a:srgbClr val="F62A54"/>
              </a:gs>
              <a:gs pos="100000">
                <a:srgbClr val="A90226"/>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8" name="任意多边形 17"/>
          <p:cNvSpPr/>
          <p:nvPr/>
        </p:nvSpPr>
        <p:spPr>
          <a:xfrm rot="8700000">
            <a:off x="11039438" y="1547797"/>
            <a:ext cx="1423109" cy="494665"/>
          </a:xfrm>
          <a:custGeom>
            <a:avLst/>
            <a:gdLst/>
            <a:ahLst/>
            <a:cxnLst>
              <a:cxn ang="3">
                <a:pos x="hc" y="t"/>
              </a:cxn>
              <a:cxn ang="cd2">
                <a:pos x="l" y="vc"/>
              </a:cxn>
              <a:cxn ang="cd4">
                <a:pos x="hc" y="b"/>
              </a:cxn>
              <a:cxn ang="0">
                <a:pos x="r" y="vc"/>
              </a:cxn>
            </a:cxnLst>
            <a:rect l="l" t="t" r="r" b="b"/>
            <a:pathLst>
              <a:path w="2241" h="779">
                <a:moveTo>
                  <a:pt x="545" y="0"/>
                </a:moveTo>
                <a:lnTo>
                  <a:pt x="2241" y="0"/>
                </a:lnTo>
                <a:lnTo>
                  <a:pt x="2241"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9" name="任意多边形 18"/>
          <p:cNvSpPr/>
          <p:nvPr/>
        </p:nvSpPr>
        <p:spPr>
          <a:xfrm rot="19560000" flipH="1" flipV="1">
            <a:off x="9937622" y="312346"/>
            <a:ext cx="2385881" cy="494665"/>
          </a:xfrm>
          <a:custGeom>
            <a:avLst/>
            <a:gdLst/>
            <a:ahLst/>
            <a:cxnLst>
              <a:cxn ang="3">
                <a:pos x="hc" y="t"/>
              </a:cxn>
              <a:cxn ang="cd2">
                <a:pos x="l" y="vc"/>
              </a:cxn>
              <a:cxn ang="cd4">
                <a:pos x="hc" y="b"/>
              </a:cxn>
              <a:cxn ang="0">
                <a:pos x="r" y="vc"/>
              </a:cxn>
            </a:cxnLst>
            <a:rect l="l" t="t" r="r" b="b"/>
            <a:pathLst>
              <a:path w="3757" h="779">
                <a:moveTo>
                  <a:pt x="125" y="0"/>
                </a:moveTo>
                <a:lnTo>
                  <a:pt x="3757" y="0"/>
                </a:lnTo>
                <a:lnTo>
                  <a:pt x="3757" y="779"/>
                </a:lnTo>
                <a:lnTo>
                  <a:pt x="880" y="779"/>
                </a:lnTo>
                <a:lnTo>
                  <a:pt x="0" y="185"/>
                </a:lnTo>
                <a:lnTo>
                  <a:pt x="125"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2" name="椭圆 21"/>
          <p:cNvSpPr/>
          <p:nvPr/>
        </p:nvSpPr>
        <p:spPr>
          <a:xfrm rot="4260000">
            <a:off x="948690" y="3409315"/>
            <a:ext cx="681990" cy="681990"/>
          </a:xfrm>
          <a:prstGeom prst="ellipse">
            <a:avLst/>
          </a:pr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任意多边形 22"/>
          <p:cNvSpPr/>
          <p:nvPr/>
        </p:nvSpPr>
        <p:spPr>
          <a:xfrm>
            <a:off x="0" y="1583055"/>
            <a:ext cx="798830" cy="11880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77" h="1006">
                <a:moveTo>
                  <a:pt x="174" y="0"/>
                </a:moveTo>
                <a:cubicBezTo>
                  <a:pt x="452" y="0"/>
                  <a:pt x="677" y="225"/>
                  <a:pt x="677" y="503"/>
                </a:cubicBezTo>
                <a:cubicBezTo>
                  <a:pt x="677" y="781"/>
                  <a:pt x="452" y="1006"/>
                  <a:pt x="174" y="1006"/>
                </a:cubicBezTo>
                <a:cubicBezTo>
                  <a:pt x="113" y="1006"/>
                  <a:pt x="55" y="995"/>
                  <a:pt x="1" y="975"/>
                </a:cubicBezTo>
                <a:lnTo>
                  <a:pt x="0" y="975"/>
                </a:lnTo>
                <a:lnTo>
                  <a:pt x="0" y="31"/>
                </a:lnTo>
                <a:lnTo>
                  <a:pt x="1" y="31"/>
                </a:lnTo>
                <a:cubicBezTo>
                  <a:pt x="55" y="11"/>
                  <a:pt x="113" y="0"/>
                  <a:pt x="174" y="0"/>
                </a:cubicBezTo>
                <a:close/>
              </a:path>
            </a:pathLst>
          </a:custGeom>
          <a:gradFill>
            <a:gsLst>
              <a:gs pos="0">
                <a:srgbClr val="F82A9E"/>
              </a:gs>
              <a:gs pos="37000">
                <a:srgbClr val="A38DC6">
                  <a:alpha val="100000"/>
                </a:srgbClr>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5" name="矩形 24"/>
          <p:cNvSpPr/>
          <p:nvPr/>
        </p:nvSpPr>
        <p:spPr>
          <a:xfrm>
            <a:off x="7969885" y="4547870"/>
            <a:ext cx="4222115" cy="865505"/>
          </a:xfrm>
          <a:prstGeom prst="rect">
            <a:avLst/>
          </a:prstGeom>
          <a:gradFill>
            <a:gsLst>
              <a:gs pos="1000">
                <a:srgbClr val="000000"/>
              </a:gs>
              <a:gs pos="68000">
                <a:srgbClr val="901D32">
                  <a:alpha val="100000"/>
                </a:srgbClr>
              </a:gs>
              <a:gs pos="19000">
                <a:srgbClr val="230F0F"/>
              </a:gs>
              <a:gs pos="100000">
                <a:srgbClr val="FC2B55"/>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椭圆 26"/>
          <p:cNvSpPr/>
          <p:nvPr/>
        </p:nvSpPr>
        <p:spPr>
          <a:xfrm>
            <a:off x="9289415" y="5847080"/>
            <a:ext cx="539750" cy="539750"/>
          </a:xfrm>
          <a:prstGeom prst="ellipse">
            <a:avLst/>
          </a:prstGeom>
          <a:gradFill>
            <a:gsLst>
              <a:gs pos="0">
                <a:srgbClr val="F82A9E"/>
              </a:gs>
              <a:gs pos="2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椭圆 28"/>
          <p:cNvSpPr/>
          <p:nvPr/>
        </p:nvSpPr>
        <p:spPr>
          <a:xfrm rot="6300000">
            <a:off x="11397615" y="3649345"/>
            <a:ext cx="302895" cy="302895"/>
          </a:xfrm>
          <a:prstGeom prst="ellipse">
            <a:avLst/>
          </a:prstGeom>
          <a:gradFill>
            <a:gsLst>
              <a:gs pos="0">
                <a:srgbClr val="F82A9E"/>
              </a:gs>
              <a:gs pos="62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任意多边形 27"/>
          <p:cNvSpPr/>
          <p:nvPr/>
        </p:nvSpPr>
        <p:spPr>
          <a:xfrm rot="16020000">
            <a:off x="11177734" y="5850606"/>
            <a:ext cx="1041746" cy="1023327"/>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41" h="1612">
                <a:moveTo>
                  <a:pt x="688" y="0"/>
                </a:moveTo>
                <a:cubicBezTo>
                  <a:pt x="1214" y="0"/>
                  <a:pt x="1641" y="420"/>
                  <a:pt x="1641" y="937"/>
                </a:cubicBezTo>
                <a:cubicBezTo>
                  <a:pt x="1641" y="1196"/>
                  <a:pt x="1534" y="1430"/>
                  <a:pt x="1361" y="1600"/>
                </a:cubicBezTo>
                <a:lnTo>
                  <a:pt x="1349" y="1612"/>
                </a:lnTo>
                <a:lnTo>
                  <a:pt x="0" y="1541"/>
                </a:lnTo>
                <a:lnTo>
                  <a:pt x="69" y="224"/>
                </a:lnTo>
                <a:lnTo>
                  <a:pt x="81" y="214"/>
                </a:lnTo>
                <a:cubicBezTo>
                  <a:pt x="246" y="80"/>
                  <a:pt x="457" y="0"/>
                  <a:pt x="688" y="0"/>
                </a:cubicBezTo>
                <a:close/>
              </a:path>
            </a:pathLst>
          </a:cu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cxnSp>
        <p:nvCxnSpPr>
          <p:cNvPr id="33" name="直接连接符 32"/>
          <p:cNvCxnSpPr/>
          <p:nvPr/>
        </p:nvCxnSpPr>
        <p:spPr>
          <a:xfrm>
            <a:off x="667385" y="227330"/>
            <a:ext cx="265430" cy="381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32815" y="13398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42340" y="157924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1236980" y="1524000"/>
            <a:ext cx="196215" cy="254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1347470" y="1651000"/>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583690" y="157797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968500" y="1541145"/>
            <a:ext cx="259715" cy="1270"/>
          </a:xfrm>
          <a:prstGeom prst="line">
            <a:avLst/>
          </a:prstGeom>
          <a:ln w="5397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64185" y="132715"/>
            <a:ext cx="203200" cy="1270"/>
          </a:xfrm>
          <a:prstGeom prst="line">
            <a:avLst/>
          </a:prstGeom>
          <a:ln w="571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339090" y="324485"/>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984885" y="226695"/>
            <a:ext cx="399415" cy="5715"/>
          </a:xfrm>
          <a:prstGeom prst="line">
            <a:avLst/>
          </a:prstGeom>
          <a:ln w="349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1329690" y="316230"/>
            <a:ext cx="154305" cy="63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583690" y="1431925"/>
            <a:ext cx="384810" cy="1270"/>
          </a:xfrm>
          <a:prstGeom prst="line">
            <a:avLst/>
          </a:prstGeom>
          <a:ln w="317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1849120" y="1651635"/>
            <a:ext cx="346710" cy="190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257935" y="187325"/>
            <a:ext cx="406400" cy="0"/>
          </a:xfrm>
          <a:prstGeom prst="line">
            <a:avLst/>
          </a:prstGeom>
          <a:ln w="190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065020" y="1455420"/>
            <a:ext cx="534670" cy="0"/>
          </a:xfrm>
          <a:prstGeom prst="line">
            <a:avLst/>
          </a:prstGeom>
          <a:ln w="15875">
            <a:solidFill>
              <a:srgbClr val="FB37B8"/>
            </a:solidFill>
          </a:ln>
        </p:spPr>
        <p:style>
          <a:lnRef idx="1">
            <a:schemeClr val="accent1"/>
          </a:lnRef>
          <a:fillRef idx="0">
            <a:schemeClr val="accent1"/>
          </a:fillRef>
          <a:effectRef idx="0">
            <a:schemeClr val="accent1"/>
          </a:effectRef>
          <a:fontRef idx="minor">
            <a:schemeClr val="tx1"/>
          </a:fontRef>
        </p:style>
      </p:cxnSp>
      <p:pic>
        <p:nvPicPr>
          <p:cNvPr id="50" name="图片 49" descr="Sub_Brand_TT-Shop V2_20220914193836-1"/>
          <p:cNvPicPr>
            <a:picLocks noChangeAspect="1"/>
          </p:cNvPicPr>
          <p:nvPr/>
        </p:nvPicPr>
        <p:blipFill>
          <a:blip r:embed="rId2"/>
          <a:srcRect r="79232"/>
          <a:stretch>
            <a:fillRect/>
          </a:stretch>
        </p:blipFill>
        <p:spPr>
          <a:xfrm>
            <a:off x="798830" y="239395"/>
            <a:ext cx="600710" cy="1101725"/>
          </a:xfrm>
          <a:prstGeom prst="rect">
            <a:avLst/>
          </a:prstGeom>
        </p:spPr>
      </p:pic>
      <p:pic>
        <p:nvPicPr>
          <p:cNvPr id="52" name="图片 51" descr="Sub_Brand_TT-Shop V2_20220914193836-1"/>
          <p:cNvPicPr>
            <a:picLocks noChangeAspect="1"/>
          </p:cNvPicPr>
          <p:nvPr/>
        </p:nvPicPr>
        <p:blipFill>
          <a:blip r:embed="rId2"/>
          <a:srcRect l="21215" t="23800" r="41066" b="44523"/>
          <a:stretch>
            <a:fillRect/>
          </a:stretch>
        </p:blipFill>
        <p:spPr>
          <a:xfrm>
            <a:off x="1402080" y="558165"/>
            <a:ext cx="1860550" cy="594995"/>
          </a:xfrm>
          <a:prstGeom prst="rect">
            <a:avLst/>
          </a:prstGeom>
        </p:spPr>
      </p:pic>
      <p:sp>
        <p:nvSpPr>
          <p:cNvPr id="59" name="文本框 58"/>
          <p:cNvSpPr txBox="1"/>
          <p:nvPr/>
        </p:nvSpPr>
        <p:spPr>
          <a:xfrm>
            <a:off x="7922260" y="4230370"/>
            <a:ext cx="309880" cy="368300"/>
          </a:xfrm>
          <a:prstGeom prst="rect">
            <a:avLst/>
          </a:prstGeom>
          <a:noFill/>
        </p:spPr>
        <p:txBody>
          <a:bodyPr wrap="none" rtlCol="0">
            <a:spAutoFit/>
          </a:bodyPr>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animBg="1"/>
      <p:bldP spid="4" grpId="1" animBg="1"/>
      <p:bldP spid="13" grpId="1" animBg="1"/>
      <p:bldP spid="18" grpId="1" animBg="1"/>
      <p:bldP spid="19" grpId="1" animBg="1"/>
      <p:bldP spid="17" grpId="1" animBg="1"/>
      <p:bldP spid="27" grpId="1" animBg="1"/>
      <p:bldP spid="29" grpId="1" animBg="1"/>
      <p:bldP spid="28" grpId="1" animBg="1"/>
      <p:bldP spid="22" grpId="1" animBg="1"/>
      <p:bldP spid="23" grpId="1" animBg="1"/>
      <p:bldP spid="25" grpId="1" animBg="1"/>
      <p:bldP spid="2" grpId="0"/>
      <p:bldP spid="2" grpId="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990600" y="2058670"/>
            <a:ext cx="10306050" cy="3996055"/>
          </a:xfrm>
          <a:prstGeom prst="rect">
            <a:avLst/>
          </a:prstGeom>
          <a:noFill/>
        </p:spPr>
        <p:txBody>
          <a:bodyPr wrap="square" rtlCol="0">
            <a:noAutofit/>
          </a:bodyPr>
          <a:p>
            <a:pPr fontAlgn="auto">
              <a:lnSpc>
                <a:spcPct val="200000"/>
              </a:lnSpc>
            </a:pPr>
            <a:r>
              <a:rPr lang="en-US" altLang="zh-CN" sz="2400" b="1">
                <a:solidFill>
                  <a:schemeClr val="bg2"/>
                </a:solidFill>
                <a:latin typeface="+mn-ea"/>
                <a:cs typeface="+mn-ea"/>
              </a:rPr>
              <a:t>      </a:t>
            </a:r>
            <a:r>
              <a:rPr lang="zh-CN" altLang="en-US" sz="2400" b="1">
                <a:solidFill>
                  <a:schemeClr val="bg2"/>
                </a:solidFill>
                <a:latin typeface="+mn-ea"/>
                <a:cs typeface="+mn-ea"/>
              </a:rPr>
              <a:t>店铺可以绑定</a:t>
            </a:r>
            <a:r>
              <a:rPr lang="en-US" altLang="zh-CN" sz="2400" b="1">
                <a:solidFill>
                  <a:schemeClr val="bg2"/>
                </a:solidFill>
                <a:latin typeface="+mn-ea"/>
                <a:cs typeface="+mn-ea"/>
              </a:rPr>
              <a:t>TikTok</a:t>
            </a:r>
            <a:r>
              <a:rPr lang="zh-CN" altLang="en-US" sz="2400" b="1">
                <a:solidFill>
                  <a:schemeClr val="bg2"/>
                </a:solidFill>
                <a:latin typeface="+mn-ea"/>
                <a:cs typeface="+mn-ea"/>
              </a:rPr>
              <a:t>账号，成为店铺自营的达人账号，通过这个账号可以自己发布短视频、直播</a:t>
            </a:r>
            <a:r>
              <a:rPr lang="zh-CN" altLang="en-US" sz="2400" b="1">
                <a:solidFill>
                  <a:schemeClr val="bg2"/>
                </a:solidFill>
                <a:latin typeface="+mn-ea"/>
                <a:cs typeface="+mn-ea"/>
              </a:rPr>
              <a:t>等。同时可以去寻找对标产品的带货直播间，在直播间发布您的需求，或是主动关注达人后，与其建</a:t>
            </a:r>
            <a:r>
              <a:rPr lang="zh-CN" altLang="en-US" sz="2400" b="1">
                <a:solidFill>
                  <a:schemeClr val="bg2"/>
                </a:solidFill>
                <a:latin typeface="+mn-ea"/>
                <a:cs typeface="+mn-ea"/>
              </a:rPr>
              <a:t>联。</a:t>
            </a:r>
            <a:endParaRPr lang="zh-CN" altLang="en-US" sz="24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483995" y="3165475"/>
            <a:ext cx="9409430" cy="868680"/>
          </a:xfrm>
        </p:spPr>
        <p:txBody>
          <a:bodyPr>
            <a:noAutofit/>
          </a:bodyPr>
          <a:p>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TikTok shop </a:t>
            </a:r>
            <a:br>
              <a:rPr altLang="zh-CN"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br>
            <a:r>
              <a:rPr lang="zh-CN" altLang="en-US"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达人建联话</a:t>
            </a:r>
            <a:r>
              <a:rPr lang="zh-CN" altLang="en-US"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术</a:t>
            </a:r>
            <a:endParaRPr lang="zh-CN" altLang="en-US" sz="4800"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endParaRPr>
          </a:p>
        </p:txBody>
      </p:sp>
      <p:sp>
        <p:nvSpPr>
          <p:cNvPr id="4" name="任意多边形 3"/>
          <p:cNvSpPr/>
          <p:nvPr/>
        </p:nvSpPr>
        <p:spPr>
          <a:xfrm rot="8700000">
            <a:off x="-128178" y="6092621"/>
            <a:ext cx="2064481" cy="513715"/>
          </a:xfrm>
          <a:custGeom>
            <a:avLst/>
            <a:gdLst/>
            <a:ahLst/>
            <a:cxnLst>
              <a:cxn ang="3">
                <a:pos x="hc" y="t"/>
              </a:cxn>
              <a:cxn ang="cd2">
                <a:pos x="l" y="vc"/>
              </a:cxn>
              <a:cxn ang="cd4">
                <a:pos x="hc" y="b"/>
              </a:cxn>
              <a:cxn ang="0">
                <a:pos x="r" y="vc"/>
              </a:cxn>
            </a:cxnLst>
            <a:rect l="l" t="t" r="r" b="b"/>
            <a:pathLst>
              <a:path w="3251" h="809">
                <a:moveTo>
                  <a:pt x="0" y="0"/>
                </a:moveTo>
                <a:lnTo>
                  <a:pt x="2444" y="0"/>
                </a:lnTo>
                <a:lnTo>
                  <a:pt x="3251" y="565"/>
                </a:lnTo>
                <a:lnTo>
                  <a:pt x="3080" y="809"/>
                </a:lnTo>
                <a:lnTo>
                  <a:pt x="0" y="809"/>
                </a:lnTo>
                <a:lnTo>
                  <a:pt x="0" y="0"/>
                </a:lnTo>
                <a:close/>
              </a:path>
            </a:pathLst>
          </a:custGeom>
          <a:gradFill>
            <a:gsLst>
              <a:gs pos="34000">
                <a:srgbClr val="CE0101">
                  <a:alpha val="100000"/>
                </a:srgbClr>
              </a:gs>
              <a:gs pos="50000">
                <a:srgbClr val="B80202">
                  <a:alpha val="100000"/>
                </a:srgbClr>
              </a:gs>
              <a:gs pos="0">
                <a:srgbClr val="E30000"/>
              </a:gs>
              <a:gs pos="100000">
                <a:srgbClr val="8C030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rot="19500000">
            <a:off x="-349835" y="5277142"/>
            <a:ext cx="2299957" cy="494665"/>
          </a:xfrm>
          <a:custGeom>
            <a:avLst/>
            <a:gdLst/>
            <a:ahLst/>
            <a:cxnLst>
              <a:cxn ang="3">
                <a:pos x="hc" y="t"/>
              </a:cxn>
              <a:cxn ang="cd2">
                <a:pos x="l" y="vc"/>
              </a:cxn>
              <a:cxn ang="cd4">
                <a:pos x="hc" y="b"/>
              </a:cxn>
              <a:cxn ang="0">
                <a:pos x="r" y="vc"/>
              </a:cxn>
            </a:cxnLst>
            <a:rect l="l" t="t" r="r" b="b"/>
            <a:pathLst>
              <a:path w="3622" h="779">
                <a:moveTo>
                  <a:pt x="545" y="0"/>
                </a:moveTo>
                <a:lnTo>
                  <a:pt x="3622" y="0"/>
                </a:lnTo>
                <a:lnTo>
                  <a:pt x="3622"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3" name="任意多边形 12"/>
          <p:cNvSpPr/>
          <p:nvPr/>
        </p:nvSpPr>
        <p:spPr>
          <a:xfrm rot="19560000">
            <a:off x="906270" y="6093381"/>
            <a:ext cx="2583488" cy="494665"/>
          </a:xfrm>
          <a:custGeom>
            <a:avLst/>
            <a:gdLst/>
            <a:ahLst/>
            <a:cxnLst>
              <a:cxn ang="3">
                <a:pos x="hc" y="t"/>
              </a:cxn>
              <a:cxn ang="cd2">
                <a:pos x="l" y="vc"/>
              </a:cxn>
              <a:cxn ang="cd4">
                <a:pos x="hc" y="b"/>
              </a:cxn>
              <a:cxn ang="0">
                <a:pos x="r" y="vc"/>
              </a:cxn>
            </a:cxnLst>
            <a:rect l="l" t="t" r="r" b="b"/>
            <a:pathLst>
              <a:path w="4068" h="779">
                <a:moveTo>
                  <a:pt x="0" y="0"/>
                </a:moveTo>
                <a:lnTo>
                  <a:pt x="4068" y="0"/>
                </a:lnTo>
                <a:lnTo>
                  <a:pt x="4068" y="779"/>
                </a:lnTo>
                <a:lnTo>
                  <a:pt x="1155" y="779"/>
                </a:lnTo>
                <a:lnTo>
                  <a:pt x="0"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7" name="任意多边形 16"/>
          <p:cNvSpPr/>
          <p:nvPr/>
        </p:nvSpPr>
        <p:spPr>
          <a:xfrm rot="8700000" flipH="1" flipV="1">
            <a:off x="11044853" y="707593"/>
            <a:ext cx="1423163" cy="513715"/>
          </a:xfrm>
          <a:custGeom>
            <a:avLst/>
            <a:gdLst/>
            <a:ahLst/>
            <a:cxnLst>
              <a:cxn ang="3">
                <a:pos x="hc" y="t"/>
              </a:cxn>
              <a:cxn ang="cd2">
                <a:pos x="l" y="vc"/>
              </a:cxn>
              <a:cxn ang="cd4">
                <a:pos x="hc" y="b"/>
              </a:cxn>
              <a:cxn ang="0">
                <a:pos x="r" y="vc"/>
              </a:cxn>
            </a:cxnLst>
            <a:rect l="l" t="t" r="r" b="b"/>
            <a:pathLst>
              <a:path w="2241" h="809">
                <a:moveTo>
                  <a:pt x="0" y="0"/>
                </a:moveTo>
                <a:lnTo>
                  <a:pt x="2241" y="0"/>
                </a:lnTo>
                <a:lnTo>
                  <a:pt x="1675" y="809"/>
                </a:lnTo>
                <a:lnTo>
                  <a:pt x="0" y="809"/>
                </a:lnTo>
                <a:lnTo>
                  <a:pt x="0" y="0"/>
                </a:lnTo>
                <a:close/>
              </a:path>
            </a:pathLst>
          </a:custGeom>
          <a:gradFill>
            <a:gsLst>
              <a:gs pos="0">
                <a:srgbClr val="F62A54"/>
              </a:gs>
              <a:gs pos="100000">
                <a:srgbClr val="A90226"/>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8" name="任意多边形 17"/>
          <p:cNvSpPr/>
          <p:nvPr/>
        </p:nvSpPr>
        <p:spPr>
          <a:xfrm rot="8700000">
            <a:off x="11039438" y="1547797"/>
            <a:ext cx="1423109" cy="494665"/>
          </a:xfrm>
          <a:custGeom>
            <a:avLst/>
            <a:gdLst/>
            <a:ahLst/>
            <a:cxnLst>
              <a:cxn ang="3">
                <a:pos x="hc" y="t"/>
              </a:cxn>
              <a:cxn ang="cd2">
                <a:pos x="l" y="vc"/>
              </a:cxn>
              <a:cxn ang="cd4">
                <a:pos x="hc" y="b"/>
              </a:cxn>
              <a:cxn ang="0">
                <a:pos x="r" y="vc"/>
              </a:cxn>
            </a:cxnLst>
            <a:rect l="l" t="t" r="r" b="b"/>
            <a:pathLst>
              <a:path w="2241" h="779">
                <a:moveTo>
                  <a:pt x="545" y="0"/>
                </a:moveTo>
                <a:lnTo>
                  <a:pt x="2241" y="0"/>
                </a:lnTo>
                <a:lnTo>
                  <a:pt x="2241" y="779"/>
                </a:lnTo>
                <a:lnTo>
                  <a:pt x="0" y="779"/>
                </a:lnTo>
                <a:lnTo>
                  <a:pt x="545" y="0"/>
                </a:lnTo>
                <a:close/>
              </a:path>
            </a:pathLst>
          </a:custGeom>
          <a:gradFill>
            <a:gsLst>
              <a:gs pos="84000">
                <a:srgbClr val="DFDFDF">
                  <a:alpha val="100000"/>
                </a:srgbClr>
              </a:gs>
              <a:gs pos="65000">
                <a:srgbClr val="BFBFBF">
                  <a:alpha val="100000"/>
                </a:srgbClr>
              </a:gs>
              <a:gs pos="0">
                <a:schemeClr val="bg1">
                  <a:lumMod val="50000"/>
                </a:schemeClr>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9" name="任意多边形 18"/>
          <p:cNvSpPr/>
          <p:nvPr/>
        </p:nvSpPr>
        <p:spPr>
          <a:xfrm rot="19560000" flipH="1" flipV="1">
            <a:off x="9937622" y="312346"/>
            <a:ext cx="2385881" cy="494665"/>
          </a:xfrm>
          <a:custGeom>
            <a:avLst/>
            <a:gdLst/>
            <a:ahLst/>
            <a:cxnLst>
              <a:cxn ang="3">
                <a:pos x="hc" y="t"/>
              </a:cxn>
              <a:cxn ang="cd2">
                <a:pos x="l" y="vc"/>
              </a:cxn>
              <a:cxn ang="cd4">
                <a:pos x="hc" y="b"/>
              </a:cxn>
              <a:cxn ang="0">
                <a:pos x="r" y="vc"/>
              </a:cxn>
            </a:cxnLst>
            <a:rect l="l" t="t" r="r" b="b"/>
            <a:pathLst>
              <a:path w="3757" h="779">
                <a:moveTo>
                  <a:pt x="125" y="0"/>
                </a:moveTo>
                <a:lnTo>
                  <a:pt x="3757" y="0"/>
                </a:lnTo>
                <a:lnTo>
                  <a:pt x="3757" y="779"/>
                </a:lnTo>
                <a:lnTo>
                  <a:pt x="880" y="779"/>
                </a:lnTo>
                <a:lnTo>
                  <a:pt x="0" y="185"/>
                </a:lnTo>
                <a:lnTo>
                  <a:pt x="125" y="0"/>
                </a:lnTo>
                <a:close/>
              </a:path>
            </a:pathLst>
          </a:custGeom>
          <a:gradFill>
            <a:gsLst>
              <a:gs pos="49000">
                <a:srgbClr val="33D2D1">
                  <a:alpha val="100000"/>
                </a:srgbClr>
              </a:gs>
              <a:gs pos="0">
                <a:srgbClr val="117978"/>
              </a:gs>
              <a:gs pos="100000">
                <a:srgbClr val="4DEFE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2" name="椭圆 21"/>
          <p:cNvSpPr/>
          <p:nvPr/>
        </p:nvSpPr>
        <p:spPr>
          <a:xfrm rot="4260000">
            <a:off x="948690" y="3409315"/>
            <a:ext cx="681990" cy="681990"/>
          </a:xfrm>
          <a:prstGeom prst="ellipse">
            <a:avLst/>
          </a:pr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任意多边形 22"/>
          <p:cNvSpPr/>
          <p:nvPr/>
        </p:nvSpPr>
        <p:spPr>
          <a:xfrm>
            <a:off x="0" y="1583055"/>
            <a:ext cx="798830" cy="11880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77" h="1006">
                <a:moveTo>
                  <a:pt x="174" y="0"/>
                </a:moveTo>
                <a:cubicBezTo>
                  <a:pt x="452" y="0"/>
                  <a:pt x="677" y="225"/>
                  <a:pt x="677" y="503"/>
                </a:cubicBezTo>
                <a:cubicBezTo>
                  <a:pt x="677" y="781"/>
                  <a:pt x="452" y="1006"/>
                  <a:pt x="174" y="1006"/>
                </a:cubicBezTo>
                <a:cubicBezTo>
                  <a:pt x="113" y="1006"/>
                  <a:pt x="55" y="995"/>
                  <a:pt x="1" y="975"/>
                </a:cubicBezTo>
                <a:lnTo>
                  <a:pt x="0" y="975"/>
                </a:lnTo>
                <a:lnTo>
                  <a:pt x="0" y="31"/>
                </a:lnTo>
                <a:lnTo>
                  <a:pt x="1" y="31"/>
                </a:lnTo>
                <a:cubicBezTo>
                  <a:pt x="55" y="11"/>
                  <a:pt x="113" y="0"/>
                  <a:pt x="174" y="0"/>
                </a:cubicBezTo>
                <a:close/>
              </a:path>
            </a:pathLst>
          </a:custGeom>
          <a:gradFill>
            <a:gsLst>
              <a:gs pos="0">
                <a:srgbClr val="F82A9E"/>
              </a:gs>
              <a:gs pos="37000">
                <a:srgbClr val="A38DC6">
                  <a:alpha val="100000"/>
                </a:srgbClr>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5" name="矩形 24"/>
          <p:cNvSpPr/>
          <p:nvPr/>
        </p:nvSpPr>
        <p:spPr>
          <a:xfrm>
            <a:off x="7969885" y="4547870"/>
            <a:ext cx="4222115" cy="865505"/>
          </a:xfrm>
          <a:prstGeom prst="rect">
            <a:avLst/>
          </a:prstGeom>
          <a:gradFill>
            <a:gsLst>
              <a:gs pos="1000">
                <a:srgbClr val="000000"/>
              </a:gs>
              <a:gs pos="68000">
                <a:srgbClr val="901D32">
                  <a:alpha val="100000"/>
                </a:srgbClr>
              </a:gs>
              <a:gs pos="19000">
                <a:srgbClr val="230F0F"/>
              </a:gs>
              <a:gs pos="100000">
                <a:srgbClr val="FC2B55"/>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椭圆 26"/>
          <p:cNvSpPr/>
          <p:nvPr/>
        </p:nvSpPr>
        <p:spPr>
          <a:xfrm>
            <a:off x="9289415" y="5847080"/>
            <a:ext cx="539750" cy="539750"/>
          </a:xfrm>
          <a:prstGeom prst="ellipse">
            <a:avLst/>
          </a:prstGeom>
          <a:gradFill>
            <a:gsLst>
              <a:gs pos="0">
                <a:srgbClr val="F82A9E"/>
              </a:gs>
              <a:gs pos="2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椭圆 28"/>
          <p:cNvSpPr/>
          <p:nvPr/>
        </p:nvSpPr>
        <p:spPr>
          <a:xfrm rot="6300000">
            <a:off x="11397615" y="3649345"/>
            <a:ext cx="302895" cy="302895"/>
          </a:xfrm>
          <a:prstGeom prst="ellipse">
            <a:avLst/>
          </a:prstGeom>
          <a:gradFill>
            <a:gsLst>
              <a:gs pos="0">
                <a:srgbClr val="F82A9E"/>
              </a:gs>
              <a:gs pos="62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任意多边形 27"/>
          <p:cNvSpPr/>
          <p:nvPr/>
        </p:nvSpPr>
        <p:spPr>
          <a:xfrm rot="16020000">
            <a:off x="11177734" y="5850606"/>
            <a:ext cx="1041746" cy="1023327"/>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41" h="1612">
                <a:moveTo>
                  <a:pt x="688" y="0"/>
                </a:moveTo>
                <a:cubicBezTo>
                  <a:pt x="1214" y="0"/>
                  <a:pt x="1641" y="420"/>
                  <a:pt x="1641" y="937"/>
                </a:cubicBezTo>
                <a:cubicBezTo>
                  <a:pt x="1641" y="1196"/>
                  <a:pt x="1534" y="1430"/>
                  <a:pt x="1361" y="1600"/>
                </a:cubicBezTo>
                <a:lnTo>
                  <a:pt x="1349" y="1612"/>
                </a:lnTo>
                <a:lnTo>
                  <a:pt x="0" y="1541"/>
                </a:lnTo>
                <a:lnTo>
                  <a:pt x="69" y="224"/>
                </a:lnTo>
                <a:lnTo>
                  <a:pt x="81" y="214"/>
                </a:lnTo>
                <a:cubicBezTo>
                  <a:pt x="246" y="80"/>
                  <a:pt x="457" y="0"/>
                  <a:pt x="688" y="0"/>
                </a:cubicBezTo>
                <a:close/>
              </a:path>
            </a:pathLst>
          </a:custGeom>
          <a:gradFill>
            <a:gsLst>
              <a:gs pos="0">
                <a:srgbClr val="F82A9E"/>
              </a:gs>
              <a:gs pos="47000">
                <a:srgbClr val="8B70B8"/>
              </a:gs>
              <a:gs pos="100000">
                <a:srgbClr val="4DEFEE"/>
              </a:gs>
            </a:gsLst>
            <a:lin ang="19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cxnSp>
        <p:nvCxnSpPr>
          <p:cNvPr id="33" name="直接连接符 32"/>
          <p:cNvCxnSpPr/>
          <p:nvPr/>
        </p:nvCxnSpPr>
        <p:spPr>
          <a:xfrm>
            <a:off x="667385" y="227330"/>
            <a:ext cx="265430" cy="381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32815" y="13398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42340" y="157924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1236980" y="1524000"/>
            <a:ext cx="196215" cy="2540"/>
          </a:xfrm>
          <a:prstGeom prst="line">
            <a:avLst/>
          </a:prstGeom>
          <a:ln w="444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1347470" y="1651000"/>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583690" y="1577975"/>
            <a:ext cx="313055" cy="1270"/>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968500" y="1541145"/>
            <a:ext cx="259715" cy="1270"/>
          </a:xfrm>
          <a:prstGeom prst="line">
            <a:avLst/>
          </a:prstGeom>
          <a:ln w="5397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64185" y="132715"/>
            <a:ext cx="203200" cy="1270"/>
          </a:xfrm>
          <a:prstGeom prst="line">
            <a:avLst/>
          </a:prstGeom>
          <a:ln w="571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339090" y="324485"/>
            <a:ext cx="330835" cy="1905"/>
          </a:xfrm>
          <a:prstGeom prst="line">
            <a:avLst/>
          </a:prstGeom>
          <a:ln w="222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984885" y="226695"/>
            <a:ext cx="399415" cy="5715"/>
          </a:xfrm>
          <a:prstGeom prst="line">
            <a:avLst/>
          </a:prstGeom>
          <a:ln w="34925">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1329690" y="316230"/>
            <a:ext cx="154305" cy="63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583690" y="1431925"/>
            <a:ext cx="384810" cy="1270"/>
          </a:xfrm>
          <a:prstGeom prst="line">
            <a:avLst/>
          </a:prstGeom>
          <a:ln w="31750">
            <a:solidFill>
              <a:srgbClr val="26F5E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1849120" y="1651635"/>
            <a:ext cx="346710" cy="1905"/>
          </a:xfrm>
          <a:prstGeom prst="line">
            <a:avLst/>
          </a:prstGeom>
          <a:ln w="28575">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257935" y="187325"/>
            <a:ext cx="406400" cy="0"/>
          </a:xfrm>
          <a:prstGeom prst="line">
            <a:avLst/>
          </a:prstGeom>
          <a:ln w="19050">
            <a:solidFill>
              <a:srgbClr val="FB37B8"/>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065020" y="1455420"/>
            <a:ext cx="534670" cy="0"/>
          </a:xfrm>
          <a:prstGeom prst="line">
            <a:avLst/>
          </a:prstGeom>
          <a:ln w="15875">
            <a:solidFill>
              <a:srgbClr val="FB37B8"/>
            </a:solidFill>
          </a:ln>
        </p:spPr>
        <p:style>
          <a:lnRef idx="1">
            <a:schemeClr val="accent1"/>
          </a:lnRef>
          <a:fillRef idx="0">
            <a:schemeClr val="accent1"/>
          </a:fillRef>
          <a:effectRef idx="0">
            <a:schemeClr val="accent1"/>
          </a:effectRef>
          <a:fontRef idx="minor">
            <a:schemeClr val="tx1"/>
          </a:fontRef>
        </p:style>
      </p:cxnSp>
      <p:pic>
        <p:nvPicPr>
          <p:cNvPr id="50" name="图片 49" descr="Sub_Brand_TT-Shop V2_20220914193836-1"/>
          <p:cNvPicPr>
            <a:picLocks noChangeAspect="1"/>
          </p:cNvPicPr>
          <p:nvPr/>
        </p:nvPicPr>
        <p:blipFill>
          <a:blip r:embed="rId2"/>
          <a:srcRect r="79232"/>
          <a:stretch>
            <a:fillRect/>
          </a:stretch>
        </p:blipFill>
        <p:spPr>
          <a:xfrm>
            <a:off x="798830" y="239395"/>
            <a:ext cx="600710" cy="1101725"/>
          </a:xfrm>
          <a:prstGeom prst="rect">
            <a:avLst/>
          </a:prstGeom>
        </p:spPr>
      </p:pic>
      <p:pic>
        <p:nvPicPr>
          <p:cNvPr id="52" name="图片 51" descr="Sub_Brand_TT-Shop V2_20220914193836-1"/>
          <p:cNvPicPr>
            <a:picLocks noChangeAspect="1"/>
          </p:cNvPicPr>
          <p:nvPr/>
        </p:nvPicPr>
        <p:blipFill>
          <a:blip r:embed="rId2"/>
          <a:srcRect l="21215" t="23800" r="41066" b="44523"/>
          <a:stretch>
            <a:fillRect/>
          </a:stretch>
        </p:blipFill>
        <p:spPr>
          <a:xfrm>
            <a:off x="1402080" y="558165"/>
            <a:ext cx="1860550" cy="594995"/>
          </a:xfrm>
          <a:prstGeom prst="rect">
            <a:avLst/>
          </a:prstGeom>
        </p:spPr>
      </p:pic>
      <p:sp>
        <p:nvSpPr>
          <p:cNvPr id="59" name="文本框 58"/>
          <p:cNvSpPr txBox="1"/>
          <p:nvPr/>
        </p:nvSpPr>
        <p:spPr>
          <a:xfrm>
            <a:off x="7922260" y="4230370"/>
            <a:ext cx="309880" cy="368300"/>
          </a:xfrm>
          <a:prstGeom prst="rect">
            <a:avLst/>
          </a:prstGeom>
          <a:noFill/>
        </p:spPr>
        <p:txBody>
          <a:bodyPr wrap="none" rtlCol="0">
            <a:spAutoFit/>
          </a:bodyPr>
          <a:p>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animBg="1"/>
      <p:bldP spid="4" grpId="1" animBg="1"/>
      <p:bldP spid="13" grpId="1" animBg="1"/>
      <p:bldP spid="18" grpId="1" animBg="1"/>
      <p:bldP spid="19" grpId="1" animBg="1"/>
      <p:bldP spid="17" grpId="1" animBg="1"/>
      <p:bldP spid="27" grpId="1" animBg="1"/>
      <p:bldP spid="29" grpId="1" animBg="1"/>
      <p:bldP spid="28" grpId="1" animBg="1"/>
      <p:bldP spid="22" grpId="1" animBg="1"/>
      <p:bldP spid="23" grpId="1" animBg="1"/>
      <p:bldP spid="25" grpId="1" animBg="1"/>
      <p:bldP spid="2" grpId="0"/>
      <p:bldP spid="2" grpI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1041400" y="1352550"/>
            <a:ext cx="10306050" cy="4623435"/>
          </a:xfrm>
          <a:prstGeom prst="rect">
            <a:avLst/>
          </a:prstGeom>
          <a:noFill/>
        </p:spPr>
        <p:txBody>
          <a:bodyPr wrap="square" rtlCol="0">
            <a:noAutofit/>
          </a:bodyPr>
          <a:p>
            <a:pPr fontAlgn="auto">
              <a:lnSpc>
                <a:spcPct val="200000"/>
              </a:lnSpc>
            </a:pPr>
            <a:r>
              <a:rPr lang="zh-CN" altLang="en-US" sz="2800" b="1">
                <a:solidFill>
                  <a:schemeClr val="bg2"/>
                </a:solidFill>
                <a:latin typeface="+mn-ea"/>
                <a:cs typeface="+mn-ea"/>
              </a:rPr>
              <a:t>达人建联话术：</a:t>
            </a:r>
            <a:r>
              <a:rPr lang="zh-CN" altLang="en-US" b="1">
                <a:solidFill>
                  <a:schemeClr val="bg2"/>
                </a:solidFill>
                <a:latin typeface="+mn-ea"/>
                <a:cs typeface="+mn-ea"/>
              </a:rPr>
              <a:t>（仅作参考，可以根据自身产品优化更加原生态话术）</a:t>
            </a:r>
            <a:endParaRPr lang="zh-CN" altLang="en-US" sz="2800" b="1">
              <a:solidFill>
                <a:schemeClr val="bg2"/>
              </a:solidFill>
              <a:latin typeface="+mn-ea"/>
              <a:cs typeface="+mn-ea"/>
            </a:endParaRPr>
          </a:p>
          <a:p>
            <a:pPr fontAlgn="auto">
              <a:lnSpc>
                <a:spcPct val="200000"/>
              </a:lnSpc>
            </a:pPr>
            <a:r>
              <a:rPr lang="en-US" altLang="zh-CN" sz="2000" b="1">
                <a:solidFill>
                  <a:schemeClr val="bg2"/>
                </a:solidFill>
                <a:latin typeface="+mn-ea"/>
                <a:cs typeface="+mn-ea"/>
              </a:rPr>
              <a:t>1</a:t>
            </a:r>
            <a:r>
              <a:rPr lang="zh-CN" altLang="en-US" sz="2000" b="1">
                <a:solidFill>
                  <a:schemeClr val="bg2"/>
                </a:solidFill>
                <a:latin typeface="+mn-ea"/>
                <a:cs typeface="+mn-ea"/>
              </a:rPr>
              <a:t>、Hi {xxx}! You're doing great on TikTok and we'd like to invite you to promote products for our store. We have many great high commission products in our store, please add these products to your display and we will become a partner.</a:t>
            </a: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嗨{xxx}！您</a:t>
            </a:r>
            <a:r>
              <a:rPr lang="zh-CN" altLang="en-US" sz="2000" b="1">
                <a:solidFill>
                  <a:schemeClr val="bg2"/>
                </a:solidFill>
                <a:latin typeface="+mn-ea"/>
                <a:cs typeface="+mn-ea"/>
              </a:rPr>
              <a:t>在 TikTok 上的表现很棒，我们想邀请您为我们的商店做产品推广。我们店铺有很多不错的高佣金的产品，请将产品添加到您的橱窗中，我们将成为合作伙伴。</a:t>
            </a:r>
            <a:endParaRPr lang="zh-CN" altLang="en-US" sz="2000" b="1">
              <a:solidFill>
                <a:schemeClr val="bg2"/>
              </a:solidFill>
              <a:latin typeface="+mn-ea"/>
              <a:cs typeface="+mn-ea"/>
            </a:endParaRPr>
          </a:p>
          <a:p>
            <a:pPr fontAlgn="auto">
              <a:lnSpc>
                <a:spcPct val="200000"/>
              </a:lnSpc>
            </a:pPr>
            <a:endParaRPr lang="zh-CN" altLang="en-US" sz="2000" b="1">
              <a:solidFill>
                <a:schemeClr val="bg2"/>
              </a:solidFill>
              <a:latin typeface="+mn-ea"/>
              <a:cs typeface="+mn-ea"/>
            </a:endParaRPr>
          </a:p>
          <a:p>
            <a:pPr fontAlgn="auto">
              <a:lnSpc>
                <a:spcPct val="200000"/>
              </a:lnSpc>
            </a:pP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1041400" y="1352550"/>
            <a:ext cx="10306050" cy="4623435"/>
          </a:xfrm>
          <a:prstGeom prst="rect">
            <a:avLst/>
          </a:prstGeom>
          <a:noFill/>
        </p:spPr>
        <p:txBody>
          <a:bodyPr wrap="square" rtlCol="0">
            <a:noAutofit/>
          </a:bodyPr>
          <a:p>
            <a:pPr fontAlgn="auto">
              <a:lnSpc>
                <a:spcPct val="200000"/>
              </a:lnSpc>
            </a:pPr>
            <a:r>
              <a:rPr lang="zh-CN" altLang="en-US" sz="2800" b="1">
                <a:solidFill>
                  <a:schemeClr val="bg2"/>
                </a:solidFill>
                <a:latin typeface="+mn-ea"/>
                <a:cs typeface="+mn-ea"/>
                <a:sym typeface="+mn-ea"/>
              </a:rPr>
              <a:t>达人建联话术：</a:t>
            </a:r>
            <a:r>
              <a:rPr lang="zh-CN" altLang="en-US" b="1">
                <a:solidFill>
                  <a:schemeClr val="bg2"/>
                </a:solidFill>
                <a:latin typeface="+mn-ea"/>
                <a:cs typeface="+mn-ea"/>
                <a:sym typeface="+mn-ea"/>
              </a:rPr>
              <a:t>（仅作参考，可以根据自身产品优化更加原生态话术）</a:t>
            </a:r>
            <a:endParaRPr lang="zh-CN" altLang="en-US" sz="2800" b="1">
              <a:solidFill>
                <a:schemeClr val="bg2"/>
              </a:solidFill>
              <a:latin typeface="+mn-ea"/>
              <a:cs typeface="+mn-ea"/>
            </a:endParaRPr>
          </a:p>
          <a:p>
            <a:pPr fontAlgn="auto">
              <a:lnSpc>
                <a:spcPct val="200000"/>
              </a:lnSpc>
            </a:pPr>
            <a:r>
              <a:rPr lang="en-US" altLang="zh-CN" sz="2000" b="1">
                <a:solidFill>
                  <a:schemeClr val="bg2"/>
                </a:solidFill>
                <a:latin typeface="+mn-ea"/>
                <a:cs typeface="+mn-ea"/>
              </a:rPr>
              <a:t>2</a:t>
            </a:r>
            <a:r>
              <a:rPr lang="zh-CN" altLang="en-US" sz="2000" b="1">
                <a:solidFill>
                  <a:schemeClr val="bg2"/>
                </a:solidFill>
                <a:latin typeface="+mn-ea"/>
                <a:cs typeface="+mn-ea"/>
              </a:rPr>
              <a:t>、Hello, you can promote our products, we have high commissions and can help advertise your videos and increase the number of views. Please get back to us if you can.</a:t>
            </a: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您好，您可以推广我们的产品，我们有很高的佣金，我们可以帮助您的视频</a:t>
            </a:r>
            <a:r>
              <a:rPr lang="zh-CN" altLang="en-US" sz="2000" b="1">
                <a:solidFill>
                  <a:schemeClr val="bg2"/>
                </a:solidFill>
                <a:latin typeface="+mn-ea"/>
                <a:cs typeface="+mn-ea"/>
              </a:rPr>
              <a:t>投广告，提高播放量。如果可以的话请回复我们。</a:t>
            </a:r>
            <a:endParaRPr lang="zh-CN" altLang="en-US" sz="2000" b="1">
              <a:solidFill>
                <a:schemeClr val="bg2"/>
              </a:solidFill>
              <a:latin typeface="+mn-ea"/>
              <a:cs typeface="+mn-ea"/>
            </a:endParaRPr>
          </a:p>
          <a:p>
            <a:pPr fontAlgn="auto">
              <a:lnSpc>
                <a:spcPct val="200000"/>
              </a:lnSpc>
            </a:pP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1041400" y="1352550"/>
            <a:ext cx="10306050" cy="4623435"/>
          </a:xfrm>
          <a:prstGeom prst="rect">
            <a:avLst/>
          </a:prstGeom>
          <a:noFill/>
        </p:spPr>
        <p:txBody>
          <a:bodyPr wrap="square" rtlCol="0">
            <a:noAutofit/>
          </a:bodyPr>
          <a:p>
            <a:pPr fontAlgn="auto">
              <a:lnSpc>
                <a:spcPct val="200000"/>
              </a:lnSpc>
            </a:pPr>
            <a:r>
              <a:rPr lang="zh-CN" altLang="en-US" sz="2800" b="1">
                <a:solidFill>
                  <a:schemeClr val="bg2"/>
                </a:solidFill>
                <a:latin typeface="+mn-ea"/>
                <a:cs typeface="+mn-ea"/>
              </a:rPr>
              <a:t>达人建联话术：</a:t>
            </a:r>
            <a:r>
              <a:rPr lang="zh-CN" altLang="en-US" b="1">
                <a:solidFill>
                  <a:schemeClr val="bg2"/>
                </a:solidFill>
                <a:latin typeface="+mn-ea"/>
                <a:cs typeface="+mn-ea"/>
                <a:sym typeface="+mn-ea"/>
              </a:rPr>
              <a:t>（仅作参考，可以根据自身产品优化更加原生态话术）</a:t>
            </a:r>
            <a:endParaRPr lang="zh-CN" altLang="en-US" sz="2800" b="1">
              <a:solidFill>
                <a:schemeClr val="bg2"/>
              </a:solidFill>
              <a:latin typeface="+mn-ea"/>
              <a:cs typeface="+mn-ea"/>
            </a:endParaRPr>
          </a:p>
          <a:p>
            <a:pPr fontAlgn="auto">
              <a:lnSpc>
                <a:spcPct val="200000"/>
              </a:lnSpc>
            </a:pPr>
            <a:r>
              <a:rPr lang="en-US" altLang="zh-CN" sz="2000" b="1">
                <a:solidFill>
                  <a:schemeClr val="bg2"/>
                </a:solidFill>
                <a:latin typeface="+mn-ea"/>
                <a:cs typeface="+mn-ea"/>
              </a:rPr>
              <a:t>3</a:t>
            </a:r>
            <a:r>
              <a:rPr lang="zh-CN" altLang="en-US" sz="2000" b="1">
                <a:solidFill>
                  <a:schemeClr val="bg2"/>
                </a:solidFill>
                <a:latin typeface="+mn-ea"/>
                <a:cs typeface="+mn-ea"/>
              </a:rPr>
              <a:t>、This is our store name {xxx}. If you help us promote it, you can enter my TikTok account {xxx} to watch the product video. Remember to bring your shopping cart.</a:t>
            </a: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这是我们的店铺名</a:t>
            </a:r>
            <a:r>
              <a:rPr lang="zh-CN" altLang="en-US" sz="2000" b="1">
                <a:solidFill>
                  <a:schemeClr val="bg2"/>
                </a:solidFill>
                <a:latin typeface="+mn-ea"/>
                <a:cs typeface="+mn-ea"/>
                <a:sym typeface="+mn-ea"/>
              </a:rPr>
              <a:t>{xxx}</a:t>
            </a:r>
            <a:r>
              <a:rPr lang="zh-CN" altLang="en-US" sz="2000" b="1">
                <a:solidFill>
                  <a:schemeClr val="bg2"/>
                </a:solidFill>
                <a:latin typeface="+mn-ea"/>
                <a:cs typeface="+mn-ea"/>
              </a:rPr>
              <a:t>，您如果帮我们推广的话，可以进我的TikTok账号</a:t>
            </a:r>
            <a:r>
              <a:rPr lang="zh-CN" altLang="en-US" sz="2000" b="1">
                <a:solidFill>
                  <a:schemeClr val="bg2"/>
                </a:solidFill>
                <a:latin typeface="+mn-ea"/>
                <a:cs typeface="+mn-ea"/>
                <a:sym typeface="+mn-ea"/>
              </a:rPr>
              <a:t>{xxx}</a:t>
            </a:r>
            <a:r>
              <a:rPr lang="zh-CN" altLang="en-US" sz="2000" b="1">
                <a:solidFill>
                  <a:schemeClr val="bg2"/>
                </a:solidFill>
                <a:latin typeface="+mn-ea"/>
                <a:cs typeface="+mn-ea"/>
              </a:rPr>
              <a:t>有产品的视频。记得带上购物车。</a:t>
            </a: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1024890" y="1291590"/>
            <a:ext cx="10306050" cy="4916805"/>
          </a:xfrm>
          <a:prstGeom prst="rect">
            <a:avLst/>
          </a:prstGeom>
          <a:noFill/>
        </p:spPr>
        <p:txBody>
          <a:bodyPr wrap="square" rtlCol="0">
            <a:noAutofit/>
          </a:bodyPr>
          <a:p>
            <a:pPr fontAlgn="auto">
              <a:lnSpc>
                <a:spcPct val="200000"/>
              </a:lnSpc>
            </a:pPr>
            <a:r>
              <a:rPr lang="zh-CN" altLang="en-US" sz="2800" b="1">
                <a:solidFill>
                  <a:schemeClr val="bg2"/>
                </a:solidFill>
                <a:latin typeface="+mn-ea"/>
                <a:cs typeface="+mn-ea"/>
              </a:rPr>
              <a:t>达人建联话术：</a:t>
            </a:r>
            <a:r>
              <a:rPr lang="zh-CN" altLang="en-US" b="1">
                <a:solidFill>
                  <a:schemeClr val="bg2"/>
                </a:solidFill>
                <a:latin typeface="+mn-ea"/>
                <a:cs typeface="+mn-ea"/>
                <a:sym typeface="+mn-ea"/>
              </a:rPr>
              <a:t>（仅作参考，可以根据自身产品优化更加原生态话术）</a:t>
            </a:r>
            <a:endParaRPr lang="zh-CN" altLang="en-US" sz="2800" b="1">
              <a:solidFill>
                <a:schemeClr val="bg2"/>
              </a:solidFill>
              <a:latin typeface="+mn-ea"/>
              <a:cs typeface="+mn-ea"/>
            </a:endParaRPr>
          </a:p>
          <a:p>
            <a:pPr fontAlgn="auto">
              <a:lnSpc>
                <a:spcPct val="200000"/>
              </a:lnSpc>
            </a:pPr>
            <a:r>
              <a:rPr lang="en-US" altLang="zh-CN" sz="2000" b="1">
                <a:solidFill>
                  <a:schemeClr val="bg2"/>
                </a:solidFill>
                <a:latin typeface="+mn-ea"/>
                <a:cs typeface="+mn-ea"/>
              </a:rPr>
              <a:t>4</a:t>
            </a:r>
            <a:r>
              <a:rPr lang="zh-CN" altLang="en-US" sz="2000" b="1">
                <a:solidFill>
                  <a:schemeClr val="bg2"/>
                </a:solidFill>
                <a:latin typeface="+mn-ea"/>
                <a:cs typeface="+mn-ea"/>
              </a:rPr>
              <a:t>、These are our hot selling styles, you can start by putting them in your display case. After adding, you can get xx% commission for successful promotion. If the sales are good, we will contact you and send you free samples.这是我们比较热卖的款式，您可以先将它们放在您的展示柜中。添加后，推广成功可获得</a:t>
            </a:r>
            <a:r>
              <a:rPr lang="en-US" altLang="zh-CN" sz="2000" b="1">
                <a:solidFill>
                  <a:schemeClr val="bg2"/>
                </a:solidFill>
                <a:latin typeface="+mn-ea"/>
                <a:cs typeface="+mn-ea"/>
              </a:rPr>
              <a:t> </a:t>
            </a:r>
            <a:r>
              <a:rPr lang="zh-CN" altLang="en-US" sz="2000" b="1">
                <a:solidFill>
                  <a:schemeClr val="bg2"/>
                </a:solidFill>
                <a:latin typeface="+mn-ea"/>
                <a:cs typeface="+mn-ea"/>
                <a:sym typeface="+mn-ea"/>
              </a:rPr>
              <a:t>xx</a:t>
            </a:r>
            <a:r>
              <a:rPr lang="en-US" altLang="zh-CN" sz="2000" b="1">
                <a:solidFill>
                  <a:schemeClr val="bg2"/>
                </a:solidFill>
                <a:latin typeface="+mn-ea"/>
                <a:cs typeface="+mn-ea"/>
              </a:rPr>
              <a:t> </a:t>
            </a:r>
            <a:r>
              <a:rPr lang="zh-CN" altLang="en-US" sz="2000" b="1">
                <a:solidFill>
                  <a:schemeClr val="bg2"/>
                </a:solidFill>
                <a:latin typeface="+mn-ea"/>
                <a:cs typeface="+mn-ea"/>
              </a:rPr>
              <a:t>%佣金。如果销售良好，我们会联系您免费寄样给您。</a:t>
            </a:r>
            <a:endParaRPr lang="zh-CN" altLang="en-US" sz="2000" b="1">
              <a:solidFill>
                <a:schemeClr val="bg2"/>
              </a:solidFill>
              <a:latin typeface="+mn-ea"/>
              <a:cs typeface="+mn-ea"/>
            </a:endParaRPr>
          </a:p>
          <a:p>
            <a:pPr fontAlgn="auto">
              <a:lnSpc>
                <a:spcPct val="200000"/>
              </a:lnSpc>
            </a:pP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1093470" y="1098550"/>
            <a:ext cx="10306050" cy="4916805"/>
          </a:xfrm>
          <a:prstGeom prst="rect">
            <a:avLst/>
          </a:prstGeom>
          <a:noFill/>
        </p:spPr>
        <p:txBody>
          <a:bodyPr wrap="square" rtlCol="0">
            <a:noAutofit/>
          </a:bodyPr>
          <a:p>
            <a:pPr fontAlgn="auto">
              <a:lnSpc>
                <a:spcPct val="200000"/>
              </a:lnSpc>
            </a:pPr>
            <a:r>
              <a:rPr lang="zh-CN" altLang="en-US" sz="2800" b="1">
                <a:solidFill>
                  <a:schemeClr val="bg2"/>
                </a:solidFill>
                <a:latin typeface="+mn-ea"/>
                <a:cs typeface="+mn-ea"/>
              </a:rPr>
              <a:t>达人建联话术：</a:t>
            </a:r>
            <a:r>
              <a:rPr lang="zh-CN" altLang="en-US" b="1">
                <a:solidFill>
                  <a:schemeClr val="bg2"/>
                </a:solidFill>
                <a:latin typeface="+mn-ea"/>
                <a:cs typeface="+mn-ea"/>
                <a:sym typeface="+mn-ea"/>
              </a:rPr>
              <a:t>（仅作参考，可以根据自身产品优化更加原生态话术）</a:t>
            </a:r>
            <a:endParaRPr lang="zh-CN" altLang="en-US" sz="2800" b="1">
              <a:solidFill>
                <a:schemeClr val="bg2"/>
              </a:solidFill>
              <a:latin typeface="+mn-ea"/>
              <a:cs typeface="+mn-ea"/>
            </a:endParaRPr>
          </a:p>
          <a:p>
            <a:pPr fontAlgn="auto">
              <a:lnSpc>
                <a:spcPct val="200000"/>
              </a:lnSpc>
            </a:pPr>
            <a:r>
              <a:rPr lang="en-US" altLang="zh-CN" sz="2000" b="1">
                <a:solidFill>
                  <a:schemeClr val="bg2"/>
                </a:solidFill>
                <a:latin typeface="+mn-ea"/>
                <a:cs typeface="+mn-ea"/>
              </a:rPr>
              <a:t>5</a:t>
            </a:r>
            <a:r>
              <a:rPr lang="zh-CN" altLang="en-US" sz="2000" b="1">
                <a:solidFill>
                  <a:schemeClr val="bg2"/>
                </a:solidFill>
                <a:latin typeface="+mn-ea"/>
                <a:cs typeface="+mn-ea"/>
              </a:rPr>
              <a:t>、Hello, you have successfully added our product. Product video materials will be sent to your email. You can edit it and publish it. If the video effect is good, we can provide traffic support. Please let me know when you post a video.</a:t>
            </a: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您好，您已经成功添加了我们的产品，产品的视频素材发到您的邮</a:t>
            </a:r>
            <a:r>
              <a:rPr lang="zh-CN" altLang="en-US" sz="2000" b="1">
                <a:solidFill>
                  <a:schemeClr val="bg2"/>
                </a:solidFill>
                <a:latin typeface="+mn-ea"/>
                <a:cs typeface="+mn-ea"/>
              </a:rPr>
              <a:t>箱，您可以剪辑后进行发布，如果视频效果不错的话我们可以提供流量支持，发布视频请告诉我。</a:t>
            </a:r>
            <a:endParaRPr lang="zh-CN" altLang="en-US" sz="2000" b="1">
              <a:solidFill>
                <a:schemeClr val="bg2"/>
              </a:solidFill>
              <a:latin typeface="+mn-ea"/>
              <a:cs typeface="+mn-ea"/>
            </a:endParaRPr>
          </a:p>
          <a:p>
            <a:pPr fontAlgn="auto">
              <a:lnSpc>
                <a:spcPct val="200000"/>
              </a:lnSpc>
            </a:pP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1093470" y="1098550"/>
            <a:ext cx="10306050" cy="5191125"/>
          </a:xfrm>
          <a:prstGeom prst="rect">
            <a:avLst/>
          </a:prstGeom>
          <a:noFill/>
        </p:spPr>
        <p:txBody>
          <a:bodyPr wrap="square" rtlCol="0">
            <a:noAutofit/>
          </a:bodyPr>
          <a:p>
            <a:pPr fontAlgn="auto">
              <a:lnSpc>
                <a:spcPct val="200000"/>
              </a:lnSpc>
            </a:pPr>
            <a:r>
              <a:rPr lang="zh-CN" altLang="en-US" sz="2800" b="1">
                <a:solidFill>
                  <a:schemeClr val="bg2"/>
                </a:solidFill>
                <a:latin typeface="+mn-ea"/>
                <a:cs typeface="+mn-ea"/>
              </a:rPr>
              <a:t>达人建联话术：</a:t>
            </a:r>
            <a:r>
              <a:rPr lang="zh-CN" altLang="en-US" b="1">
                <a:solidFill>
                  <a:schemeClr val="bg2"/>
                </a:solidFill>
                <a:latin typeface="+mn-ea"/>
                <a:cs typeface="+mn-ea"/>
                <a:sym typeface="+mn-ea"/>
              </a:rPr>
              <a:t>（仅作参考，可以根据自身产品优化更加原生态话术）</a:t>
            </a:r>
            <a:endParaRPr lang="zh-CN" altLang="en-US" sz="2800" b="1">
              <a:solidFill>
                <a:schemeClr val="bg2"/>
              </a:solidFill>
              <a:latin typeface="+mn-ea"/>
              <a:cs typeface="+mn-ea"/>
            </a:endParaRPr>
          </a:p>
          <a:p>
            <a:pPr fontAlgn="auto">
              <a:lnSpc>
                <a:spcPct val="200000"/>
              </a:lnSpc>
            </a:pPr>
            <a:r>
              <a:rPr lang="en-US" altLang="zh-CN" sz="2000" b="1">
                <a:solidFill>
                  <a:schemeClr val="bg2"/>
                </a:solidFill>
                <a:latin typeface="+mn-ea"/>
                <a:cs typeface="+mn-ea"/>
              </a:rPr>
              <a:t>6</a:t>
            </a:r>
            <a:r>
              <a:rPr lang="zh-CN" altLang="en-US" sz="2000" b="1">
                <a:solidFill>
                  <a:schemeClr val="bg2"/>
                </a:solidFill>
                <a:latin typeface="+mn-ea"/>
                <a:cs typeface="+mn-ea"/>
              </a:rPr>
              <a:t>、Hello, if you want to get product samples, the platform has recently launched coupons, shipping subsidies and other activities. This way, you can buy the product you want at a very low price. If you promote the order, we will also pay you a high commission.</a:t>
            </a: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您好，您如果要获取产品的样品，平台最近有优惠折扣券、运费补贴等活动，您可以通过这样的方式，用极低的价格就可以购买到您想要的产品，您有推广出订单时，我们还会支</a:t>
            </a:r>
            <a:r>
              <a:rPr lang="zh-CN" altLang="en-US" sz="2000" b="1">
                <a:solidFill>
                  <a:schemeClr val="bg2"/>
                </a:solidFill>
                <a:latin typeface="+mn-ea"/>
                <a:cs typeface="+mn-ea"/>
              </a:rPr>
              <a:t>付您高的佣金。</a:t>
            </a: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1041400" y="1022985"/>
            <a:ext cx="10306050" cy="5241925"/>
          </a:xfrm>
          <a:prstGeom prst="rect">
            <a:avLst/>
          </a:prstGeom>
          <a:noFill/>
        </p:spPr>
        <p:txBody>
          <a:bodyPr wrap="square" rtlCol="0">
            <a:noAutofit/>
          </a:bodyPr>
          <a:p>
            <a:pPr fontAlgn="auto">
              <a:lnSpc>
                <a:spcPct val="200000"/>
              </a:lnSpc>
            </a:pPr>
            <a:r>
              <a:rPr lang="zh-CN" altLang="en-US" sz="2800" b="1">
                <a:solidFill>
                  <a:schemeClr val="bg2"/>
                </a:solidFill>
                <a:latin typeface="+mn-ea"/>
                <a:cs typeface="+mn-ea"/>
              </a:rPr>
              <a:t>达人建联话术：</a:t>
            </a:r>
            <a:r>
              <a:rPr lang="zh-CN" altLang="en-US" b="1">
                <a:solidFill>
                  <a:schemeClr val="bg2"/>
                </a:solidFill>
                <a:latin typeface="+mn-ea"/>
                <a:cs typeface="+mn-ea"/>
                <a:sym typeface="+mn-ea"/>
              </a:rPr>
              <a:t>（仅作参考，可以根据自身产品优化更加原生态话术）</a:t>
            </a:r>
            <a:endParaRPr lang="zh-CN" altLang="en-US" sz="2800" b="1">
              <a:solidFill>
                <a:schemeClr val="bg2"/>
              </a:solidFill>
              <a:latin typeface="+mn-ea"/>
              <a:cs typeface="+mn-ea"/>
            </a:endParaRPr>
          </a:p>
          <a:p>
            <a:pPr fontAlgn="auto">
              <a:lnSpc>
                <a:spcPct val="200000"/>
              </a:lnSpc>
            </a:pPr>
            <a:r>
              <a:rPr lang="en-US" sz="2000" b="1">
                <a:solidFill>
                  <a:schemeClr val="bg2"/>
                </a:solidFill>
                <a:latin typeface="+mn-ea"/>
                <a:cs typeface="+mn-ea"/>
              </a:rPr>
              <a:t>7</a:t>
            </a:r>
            <a:r>
              <a:rPr lang="zh-CN" altLang="en-US" sz="2000" b="1">
                <a:solidFill>
                  <a:schemeClr val="bg2"/>
                </a:solidFill>
                <a:latin typeface="+mn-ea"/>
                <a:cs typeface="+mn-ea"/>
              </a:rPr>
              <a:t>、Hello, we are very sorry that it is difficult for us to provide free samples. Add my contact information if possible. I can provide you with some product pictures and videos. You can create videos according to your own style. You can contact us after publishing</a:t>
            </a: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您好，非常的抱歉，我们很难提供免费样品。如果可以的话添加一下我的联系方式，我可以提供一些产品图片和视频给您，您可以根据自己的风格进行制作视频，发布后可以与我们联</a:t>
            </a:r>
            <a:r>
              <a:rPr lang="zh-CN" altLang="en-US" sz="2000" b="1">
                <a:solidFill>
                  <a:schemeClr val="bg2"/>
                </a:solidFill>
                <a:latin typeface="+mn-ea"/>
                <a:cs typeface="+mn-ea"/>
              </a:rPr>
              <a:t>系。</a:t>
            </a:r>
            <a:endParaRPr lang="zh-CN" altLang="en-US" sz="2000" b="1">
              <a:solidFill>
                <a:schemeClr val="bg2"/>
              </a:solidFill>
              <a:latin typeface="+mn-ea"/>
              <a:cs typeface="+mn-ea"/>
            </a:endParaRPr>
          </a:p>
          <a:p>
            <a:pPr fontAlgn="auto">
              <a:lnSpc>
                <a:spcPct val="200000"/>
              </a:lnSpc>
            </a:pP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2" name="任意多边形 11"/>
          <p:cNvSpPr/>
          <p:nvPr/>
        </p:nvSpPr>
        <p:spPr>
          <a:xfrm>
            <a:off x="227965" y="275590"/>
            <a:ext cx="675767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35000">
                <a:srgbClr val="25827F">
                  <a:alpha val="100000"/>
                </a:srgbClr>
              </a:gs>
              <a:gs pos="52000">
                <a:srgbClr val="232928"/>
              </a:gs>
              <a:gs pos="0">
                <a:srgbClr val="26F5EF"/>
              </a:gs>
            </a:gsLst>
            <a:lin ang="17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图文框 6"/>
          <p:cNvSpPr/>
          <p:nvPr>
            <p:custDataLst>
              <p:tags r:id="rId1"/>
            </p:custDataLst>
          </p:nvPr>
        </p:nvSpPr>
        <p:spPr>
          <a:xfrm>
            <a:off x="457200" y="1098550"/>
            <a:ext cx="11277600" cy="5302250"/>
          </a:xfrm>
          <a:prstGeom prst="frame">
            <a:avLst>
              <a:gd name="adj1" fmla="val 1004"/>
            </a:avLst>
          </a:prstGeom>
          <a:solidFill>
            <a:srgbClr val="26F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7" name="任意多边形 6"/>
          <p:cNvSpPr/>
          <p:nvPr/>
        </p:nvSpPr>
        <p:spPr>
          <a:xfrm>
            <a:off x="128270" y="139065"/>
            <a:ext cx="6628130" cy="674370"/>
          </a:xfrm>
          <a:custGeom>
            <a:avLst/>
            <a:gdLst>
              <a:gd name="connsiteX0" fmla="*/ 0 w 5868"/>
              <a:gd name="connsiteY0" fmla="*/ 0 h 1062"/>
              <a:gd name="connsiteX1" fmla="*/ 5868 w 5868"/>
              <a:gd name="connsiteY1" fmla="*/ 0 h 1062"/>
              <a:gd name="connsiteX2" fmla="*/ 4492 w 5868"/>
              <a:gd name="connsiteY2" fmla="*/ 1062 h 1062"/>
              <a:gd name="connsiteX3" fmla="*/ 0 w 5868"/>
              <a:gd name="connsiteY3" fmla="*/ 1061 h 1062"/>
              <a:gd name="connsiteX4" fmla="*/ 0 w 5868"/>
              <a:gd name="connsiteY4" fmla="*/ 0 h 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8" h="1062">
                <a:moveTo>
                  <a:pt x="0" y="0"/>
                </a:moveTo>
                <a:lnTo>
                  <a:pt x="5868" y="0"/>
                </a:lnTo>
                <a:lnTo>
                  <a:pt x="4492" y="1062"/>
                </a:lnTo>
                <a:lnTo>
                  <a:pt x="0" y="1061"/>
                </a:lnTo>
                <a:lnTo>
                  <a:pt x="0" y="0"/>
                </a:lnTo>
                <a:close/>
              </a:path>
            </a:pathLst>
          </a:custGeom>
          <a:gradFill>
            <a:gsLst>
              <a:gs pos="100000">
                <a:srgbClr val="000000"/>
              </a:gs>
              <a:gs pos="44000">
                <a:srgbClr val="901D32"/>
              </a:gs>
              <a:gs pos="62000">
                <a:srgbClr val="230F0F"/>
              </a:gs>
              <a:gs pos="0">
                <a:srgbClr val="FC2B55"/>
              </a:gs>
            </a:gsLst>
            <a:lin ang="7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310515" y="245745"/>
            <a:ext cx="6005195" cy="534035"/>
          </a:xfrm>
          <a:prstGeom prst="rect">
            <a:avLst/>
          </a:prstGeom>
          <a:noFill/>
        </p:spPr>
        <p:txBody>
          <a:bodyPr wrap="square" rtlCol="0">
            <a:spAutoFit/>
          </a:bodyPr>
          <a:p>
            <a:pPr lvl="0" indent="0" algn="l" fontAlgn="ctr">
              <a:lnSpc>
                <a:spcPct val="120000"/>
              </a:lnSpc>
              <a:spcBef>
                <a:spcPts val="0"/>
              </a:spcBef>
              <a:spcAft>
                <a:spcPts val="800"/>
              </a:spcAft>
              <a:buSzPct val="100000"/>
              <a:buFont typeface="+mn-ea"/>
              <a:buNone/>
            </a:pPr>
            <a:r>
              <a:rPr lang="zh-CN" altLang="en-US" sz="2400" b="1" spc="160">
                <a:ln w="3175">
                  <a:noFill/>
                  <a:prstDash val="dash"/>
                </a:ln>
                <a:solidFill>
                  <a:schemeClr val="lt1"/>
                </a:solidFill>
                <a:latin typeface="微软雅黑" panose="020B0503020204020204" charset="-122"/>
                <a:ea typeface="微软雅黑" panose="020B0503020204020204" charset="-122"/>
                <a:cs typeface="微软雅黑" panose="020B0503020204020204" charset="-122"/>
                <a:sym typeface="+mn-ea"/>
              </a:rPr>
              <a:t>如何让TikTok达人分销自己的商品</a:t>
            </a:r>
            <a:endParaRPr lang="zh-CN" altLang="en-US" sz="2400" b="1">
              <a:solidFill>
                <a:schemeClr val="bg1"/>
              </a:solidFill>
            </a:endParaRPr>
          </a:p>
        </p:txBody>
      </p:sp>
      <p:sp>
        <p:nvSpPr>
          <p:cNvPr id="9" name="文本框 8"/>
          <p:cNvSpPr txBox="1"/>
          <p:nvPr>
            <p:custDataLst>
              <p:tags r:id="rId2"/>
            </p:custDataLst>
          </p:nvPr>
        </p:nvSpPr>
        <p:spPr>
          <a:xfrm>
            <a:off x="942975" y="1489710"/>
            <a:ext cx="10306050" cy="4623435"/>
          </a:xfrm>
          <a:prstGeom prst="rect">
            <a:avLst/>
          </a:prstGeom>
          <a:noFill/>
        </p:spPr>
        <p:txBody>
          <a:bodyPr wrap="square" rtlCol="0">
            <a:noAutofit/>
          </a:bodyPr>
          <a:p>
            <a:pPr fontAlgn="auto">
              <a:lnSpc>
                <a:spcPct val="200000"/>
              </a:lnSpc>
            </a:pPr>
            <a:r>
              <a:rPr lang="zh-CN" altLang="en-US" sz="2800" b="1">
                <a:solidFill>
                  <a:schemeClr val="bg2"/>
                </a:solidFill>
                <a:latin typeface="+mn-ea"/>
                <a:cs typeface="+mn-ea"/>
              </a:rPr>
              <a:t>达人建联话术：</a:t>
            </a:r>
            <a:r>
              <a:rPr lang="zh-CN" altLang="en-US" b="1">
                <a:solidFill>
                  <a:schemeClr val="bg2"/>
                </a:solidFill>
                <a:latin typeface="+mn-ea"/>
                <a:cs typeface="+mn-ea"/>
                <a:sym typeface="+mn-ea"/>
              </a:rPr>
              <a:t>（仅作参考，可以根据自身产品优化更加原生态话术）</a:t>
            </a:r>
            <a:endParaRPr lang="zh-CN" altLang="en-US" sz="2800" b="1">
              <a:solidFill>
                <a:schemeClr val="bg2"/>
              </a:solidFill>
              <a:latin typeface="+mn-ea"/>
              <a:cs typeface="+mn-ea"/>
            </a:endParaRPr>
          </a:p>
          <a:p>
            <a:pPr fontAlgn="auto">
              <a:lnSpc>
                <a:spcPct val="200000"/>
              </a:lnSpc>
            </a:pPr>
            <a:r>
              <a:rPr lang="en-US" altLang="zh-CN" sz="2000" b="1">
                <a:solidFill>
                  <a:schemeClr val="bg2"/>
                </a:solidFill>
                <a:latin typeface="+mn-ea"/>
                <a:cs typeface="+mn-ea"/>
              </a:rPr>
              <a:t>8</a:t>
            </a:r>
            <a:r>
              <a:rPr lang="zh-CN" altLang="en-US" sz="2000" b="1">
                <a:solidFill>
                  <a:schemeClr val="bg2"/>
                </a:solidFill>
                <a:latin typeface="+mn-ea"/>
                <a:cs typeface="+mn-ea"/>
              </a:rPr>
              <a:t>、You can add our product to your display and try making a video to promote it. Fans and opinions will have good results.</a:t>
            </a:r>
            <a:endParaRPr lang="zh-CN" altLang="en-US" sz="2000" b="1">
              <a:solidFill>
                <a:schemeClr val="bg2"/>
              </a:solidFill>
              <a:latin typeface="+mn-ea"/>
              <a:cs typeface="+mn-ea"/>
            </a:endParaRPr>
          </a:p>
          <a:p>
            <a:pPr fontAlgn="auto">
              <a:lnSpc>
                <a:spcPct val="200000"/>
              </a:lnSpc>
            </a:pPr>
            <a:r>
              <a:rPr lang="zh-CN" altLang="en-US" sz="2000" b="1">
                <a:solidFill>
                  <a:schemeClr val="bg2"/>
                </a:solidFill>
                <a:latin typeface="+mn-ea"/>
                <a:cs typeface="+mn-ea"/>
              </a:rPr>
              <a:t>您可以将我们的产品添加到您的橱窗中，然后尝试做一个视频进行推广，粉丝和播放量</a:t>
            </a:r>
            <a:r>
              <a:rPr lang="zh-CN" altLang="en-US" sz="2000" b="1">
                <a:solidFill>
                  <a:schemeClr val="bg2"/>
                </a:solidFill>
                <a:latin typeface="+mn-ea"/>
                <a:cs typeface="+mn-ea"/>
              </a:rPr>
              <a:t>都会有不错的效果哦。</a:t>
            </a:r>
            <a:endParaRPr lang="zh-CN" altLang="en-US" sz="2000" b="1">
              <a:solidFill>
                <a:schemeClr val="bg2"/>
              </a:solidFill>
              <a:latin typeface="+mn-ea"/>
              <a:cs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additive="base">
                                        <p:cTn id="7"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ID" val="custom20205176_1*a*1"/>
  <p:tag name="KSO_WM_TEMPLATE_CATEGORY" val="custom"/>
  <p:tag name="KSO_WM_TEMPLATE_INDEX" val="20205176"/>
  <p:tag name="KSO_WM_UNIT_LAYERLEVEL" val="1"/>
  <p:tag name="KSO_WM_TAG_VERSION" val="1.0"/>
</p:tagLst>
</file>

<file path=ppt/tags/tag6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ID" val="custom20205176_1*a*1"/>
  <p:tag name="KSO_WM_TEMPLATE_CATEGORY" val="custom"/>
  <p:tag name="KSO_WM_TEMPLATE_INDEX" val="20205176"/>
  <p:tag name="KSO_WM_UNIT_LAYERLEVEL" val="1"/>
  <p:tag name="KSO_WM_TAG_VERSION" val="1.0"/>
</p:tagLst>
</file>

<file path=ppt/tags/tag6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70.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73.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77.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80.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83.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86.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87.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88.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91.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94.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ID" val="custom20205176_1*a*1"/>
  <p:tag name="KSO_WM_TEMPLATE_CATEGORY" val="custom"/>
  <p:tag name="KSO_WM_TEMPLATE_INDEX" val="20205176"/>
  <p:tag name="KSO_WM_UNIT_LAYERLEVEL" val="1"/>
  <p:tag name="KSO_WM_TAG_VERSION" val="1.0"/>
</p:tagLst>
</file>

<file path=ppt/tags/tag9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6.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99.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ID" val="custom20205176_1*a*1"/>
  <p:tag name="KSO_WM_TEMPLATE_CATEGORY" val="custom"/>
  <p:tag name="KSO_WM_TEMPLATE_INDEX" val="20205176"/>
  <p:tag name="KSO_WM_UNIT_LAYERLEVEL" val="1"/>
  <p:tag name="KSO_WM_TAG_VERSION" val="1.0"/>
</p:tagLst>
</file>

<file path=ppt/tags/tag10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1.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04.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ID" val="custom20205176_1*a*1"/>
  <p:tag name="KSO_WM_TEMPLATE_CATEGORY" val="custom"/>
  <p:tag name="KSO_WM_TEMPLATE_INDEX" val="20205176"/>
  <p:tag name="KSO_WM_UNIT_LAYERLEVEL" val="1"/>
  <p:tag name="KSO_WM_TAG_VERSION" val="1.0"/>
</p:tagLst>
</file>

<file path=ppt/tags/tag10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6.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09.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ID" val="custom20205176_1*a*1"/>
  <p:tag name="KSO_WM_TEMPLATE_CATEGORY" val="custom"/>
  <p:tag name="KSO_WM_TEMPLATE_INDEX" val="20205176"/>
  <p:tag name="KSO_WM_UNIT_LAYERLEVEL" val="1"/>
  <p:tag name="KSO_WM_TAG_VERSION" val="1.0"/>
</p:tagLst>
</file>

<file path=ppt/tags/tag11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11.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14.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17.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20.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23.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26.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29.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32.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wm#"/>
  <p:tag name="KSO_WM_TEMPLATE_CATEGORY" val="diagram"/>
  <p:tag name="KSO_WM_TEMPLATE_INDEX" val="20211051"/>
  <p:tag name="KSO_WM_SLIDE_ID" val="diagram20211051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88*481"/>
  <p:tag name="KSO_WM_SLIDE_POSITION" val="36*23"/>
  <p:tag name="KSO_WM_TAG_VERSION" val="1.0"/>
  <p:tag name="KSO_WM_SLIDE_LAYOUT" val="d_f"/>
  <p:tag name="KSO_WM_SLIDE_LAYOUT_CNT" val="1_1"/>
  <p:tag name="KSO_WM_SLIDE_LAYOUT_INFO" val="{&quot;backgroundInfo&quot;:[{&quot;bottom&quot;:0,&quot;bottomAbs&quot;:false,&quot;left&quot;:0,&quot;leftAbs&quot;:false,&quot;right&quot;:0,&quot;rightAbs&quot;:false,&quot;top&quot;:0,&quot;topAbs&quot;:false,&quot;type&quot;:&quot;general&quot;}],&quot;direction&quot;:1,&quot;id&quot;:&quot;2021-04-01T15:10:23&quot;,&quot;maxSize&quot;:{&quot;size1&quot;:51.3},&quot;minSize&quot;:{&quot;size1&quot;:36.3},&quot;normalSize&quot;:{&quot;size1&quot;:51.29989583333334},&quot;subLayout&quot;:[{&quot;id&quot;:&quot;2021-04-01T15:10:23&quot;,&quot;margin&quot;:{&quot;bottom&quot;:3.8450000286102295,&quot;left&quot;:2.5399999618530273,&quot;right&quot;:0,&quot;top&quot;:3.8450000286102295},&quot;type&quot;:0},{&quot;id&quot;:&quot;2021-04-01T15:10:23&quot;,&quot;margin&quot;:{&quot;bottom&quot;:2.575000047683716,&quot;left&quot;:1.243999719619751,&quot;right&quot;:2.1519999504089355,&quot;top&quot;:2.575000047683716},&quot;type&quot;:0}],&quot;type&quot;:0}"/>
  <p:tag name="KSO_WM_SLIDE_CAN_ADD_NAVIGATION" val="1"/>
  <p:tag name="KSO_WM_SLIDE_BACKGROUND" val="[&quot;general&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2f928e478fb0c58a92be"/>
  <p:tag name="KSO_WM_CHIP_FILLPROP" val="[[{&quot;text_align&quot;:&quot;cm&quot;,&quot;text_direction&quot;:&quot;horizontal&quot;,&quot;support_big_font&quot;:false,&quot;fill_id&quot;:&quot;4b3d06a1f10d40ff8e06d4f6d0ab0ea3&quot;,&quot;fill_align&quot;:&quot;cm&quot;,&quot;chip_types&quot;:[&quot;text&quot;,&quot;header&quot;]},{&quot;text_align&quot;:&quot;lm&quot;,&quot;text_direction&quot;:&quot;horizontal&quot;,&quot;support_features&quot;:[&quot;collage&quot;,&quot;carousel&quot;,&quot;creativecrop&quot;],&quot;support_big_font&quot;:false,&quot;fill_id&quot;:&quot;8e40daf4927f4521bed00751a0febf31&quot;,&quot;fill_align&quot;:&quot;cm&quot;,&quot;chip_types&quot;:[&quot;diagram&quot;,&quot;pictext&quot;,&quot;text&quot;,&quot;picture&quot;,&quot;chart&quot;,&quot;table&quot;,&quot;video&quot;]}]]"/>
  <p:tag name="KSO_WM_CHIP_DECFILLPROP" val="[]"/>
  <p:tag name="KSO_WM_CHIP_GROUPID" val="5e757e9369be4861f5f86151"/>
  <p:tag name="KSO_WM_SLIDE_BK_DARK_LIGHT" val="1"/>
  <p:tag name="KSO_WM_SLIDE_BACKGROUND_TYPE" val="general"/>
  <p:tag name="KSO_WM_SLIDE_SUPPORT_FEATURE_TYPE" val="7"/>
  <p:tag name="KSO_WM_TEMPLATE_ASSEMBLE_XID" val="60656ea44054ed1e2fb7fce2"/>
  <p:tag name="KSO_WM_TEMPLATE_ASSEMBLE_GROUPID" val="60656ea44054ed1e2fb7fce2"/>
  <p:tag name="KSO_WM_SPECIAL_SOURCE" val="bdnull"/>
</p:tagLst>
</file>

<file path=ppt/tags/tag135.xml><?xml version="1.0" encoding="utf-8"?>
<p:tagLst xmlns:p="http://schemas.openxmlformats.org/presentationml/2006/main">
  <p:tag name="COMMONDATA" val="eyJoZGlkIjoiOTZjZDg5MDc1YzMxOTIyOWZhNDgyNzE5NmI0NmQzZDIifQ=="/>
  <p:tag name="KSO_WPP_MARK_KEY" val="f503bdd1-f8b7-4d59-855a-0e9ac35328fc"/>
  <p:tag name="commondata" val="eyJoZGlkIjoiZjE0YzBkYzM4ZjkyNDFkNjI0NGVhYmMxNTVkMjE4NjM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3873</Words>
  <Application>WPS 演示</Application>
  <PresentationFormat>宽屏</PresentationFormat>
  <Paragraphs>118</Paragraphs>
  <Slides>26</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26</vt:i4>
      </vt:variant>
    </vt:vector>
  </HeadingPairs>
  <TitlesOfParts>
    <vt:vector size="34" baseType="lpstr">
      <vt:lpstr>Arial</vt:lpstr>
      <vt:lpstr>宋体</vt:lpstr>
      <vt:lpstr>Wingdings</vt:lpstr>
      <vt:lpstr>Wingdings</vt:lpstr>
      <vt:lpstr>微软雅黑</vt:lpstr>
      <vt:lpstr>Arial Unicode MS</vt:lpstr>
      <vt:lpstr>Calibri</vt:lpstr>
      <vt:lpstr>Office 主题​​</vt:lpstr>
      <vt:lpstr>TikTok带货达人 高效触达与建联</vt:lpstr>
      <vt:lpstr>  TikTok shop  店铺达人广场建联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TikTok shop  创作者市场的建联</vt:lpstr>
      <vt:lpstr>PowerPoint 演示文稿</vt:lpstr>
      <vt:lpstr>  TikTok shop  MCN\TAP等达人机构</vt:lpstr>
      <vt:lpstr>PowerPoint 演示文稿</vt:lpstr>
      <vt:lpstr>  TikTok shop  带货达人直播间</vt:lpstr>
      <vt:lpstr>PowerPoint 演示文稿</vt:lpstr>
      <vt:lpstr>  TikTok shop  达人建联话术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A◤奋斗青年◢ ❤</cp:lastModifiedBy>
  <cp:revision>254</cp:revision>
  <dcterms:created xsi:type="dcterms:W3CDTF">2019-06-19T02:08:00Z</dcterms:created>
  <dcterms:modified xsi:type="dcterms:W3CDTF">2023-11-22T08:07:15Z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1866C1FD5C384D6C850A5EAD93FDE9A8_12</vt:lpwstr>
  </property>
</Properties>
</file>
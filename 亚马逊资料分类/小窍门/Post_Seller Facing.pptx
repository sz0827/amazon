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12"/>
  </p:notesMasterIdLst>
  <p:sldIdLst>
    <p:sldId id="462" r:id="rId2"/>
    <p:sldId id="485" r:id="rId3"/>
    <p:sldId id="464" r:id="rId4"/>
    <p:sldId id="486" r:id="rId5"/>
    <p:sldId id="484" r:id="rId6"/>
    <p:sldId id="490" r:id="rId7"/>
    <p:sldId id="488" r:id="rId8"/>
    <p:sldId id="489" r:id="rId9"/>
    <p:sldId id="491" r:id="rId10"/>
    <p:sldId id="49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3D20C02-D4C8-4758-94FF-65B728466E88}">
          <p14:sldIdLst>
            <p14:sldId id="462"/>
            <p14:sldId id="485"/>
            <p14:sldId id="464"/>
            <p14:sldId id="486"/>
            <p14:sldId id="484"/>
            <p14:sldId id="490"/>
            <p14:sldId id="488"/>
            <p14:sldId id="489"/>
            <p14:sldId id="491"/>
            <p14:sldId id="4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9800"/>
    <a:srgbClr val="FFFFFF"/>
    <a:srgbClr val="C0A1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529" autoAdjust="0"/>
  </p:normalViewPr>
  <p:slideViewPr>
    <p:cSldViewPr snapToGrid="0">
      <p:cViewPr varScale="1">
        <p:scale>
          <a:sx n="61" d="100"/>
          <a:sy n="61" d="100"/>
        </p:scale>
        <p:origin x="884" y="6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5BAE4-4AE2-4249-9821-4F60DF3CF4B8}" type="datetimeFigureOut">
              <a:rPr lang="zh-CN" altLang="en-US" smtClean="0"/>
              <a:t>2020/7/13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smtClean="0"/>
              <a:t>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E9380-A914-4B9C-938F-B4D493A95F79}" type="slidenum">
              <a:rPr lang="zh-CN" altLang="en-US" smtClean="0"/>
              <a:t>‹#›</a:t>
            </a:fld>
            <a:endParaRPr lang="zh-CN" altLang="en-US"/>
          </a:p>
        </p:txBody>
      </p:sp>
    </p:spTree>
    <p:extLst>
      <p:ext uri="{BB962C8B-B14F-4D97-AF65-F5344CB8AC3E}">
        <p14:creationId xmlns:p14="http://schemas.microsoft.com/office/powerpoint/2010/main" val="3145598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1</a:t>
            </a:fld>
            <a:endParaRPr lang="zh-CN" altLang="en-US"/>
          </a:p>
        </p:txBody>
      </p:sp>
    </p:spTree>
    <p:extLst>
      <p:ext uri="{BB962C8B-B14F-4D97-AF65-F5344CB8AC3E}">
        <p14:creationId xmlns:p14="http://schemas.microsoft.com/office/powerpoint/2010/main" val="415973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2</a:t>
            </a:fld>
            <a:endParaRPr lang="zh-CN" altLang="en-US"/>
          </a:p>
        </p:txBody>
      </p:sp>
    </p:spTree>
    <p:extLst>
      <p:ext uri="{BB962C8B-B14F-4D97-AF65-F5344CB8AC3E}">
        <p14:creationId xmlns:p14="http://schemas.microsoft.com/office/powerpoint/2010/main" val="4149334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3</a:t>
            </a:fld>
            <a:endParaRPr lang="zh-CN" altLang="en-US"/>
          </a:p>
        </p:txBody>
      </p:sp>
    </p:spTree>
    <p:extLst>
      <p:ext uri="{BB962C8B-B14F-4D97-AF65-F5344CB8AC3E}">
        <p14:creationId xmlns:p14="http://schemas.microsoft.com/office/powerpoint/2010/main" val="3447115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4</a:t>
            </a:fld>
            <a:endParaRPr lang="zh-CN" altLang="en-US"/>
          </a:p>
        </p:txBody>
      </p:sp>
    </p:spTree>
    <p:extLst>
      <p:ext uri="{BB962C8B-B14F-4D97-AF65-F5344CB8AC3E}">
        <p14:creationId xmlns:p14="http://schemas.microsoft.com/office/powerpoint/2010/main" val="2616349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5</a:t>
            </a:fld>
            <a:endParaRPr lang="zh-CN" altLang="en-US"/>
          </a:p>
        </p:txBody>
      </p:sp>
    </p:spTree>
    <p:extLst>
      <p:ext uri="{BB962C8B-B14F-4D97-AF65-F5344CB8AC3E}">
        <p14:creationId xmlns:p14="http://schemas.microsoft.com/office/powerpoint/2010/main" val="2252098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6</a:t>
            </a:fld>
            <a:endParaRPr lang="zh-CN" altLang="en-US"/>
          </a:p>
        </p:txBody>
      </p:sp>
    </p:spTree>
    <p:extLst>
      <p:ext uri="{BB962C8B-B14F-4D97-AF65-F5344CB8AC3E}">
        <p14:creationId xmlns:p14="http://schemas.microsoft.com/office/powerpoint/2010/main" val="3814258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7</a:t>
            </a:fld>
            <a:endParaRPr lang="zh-CN" altLang="en-US"/>
          </a:p>
        </p:txBody>
      </p:sp>
    </p:spTree>
    <p:extLst>
      <p:ext uri="{BB962C8B-B14F-4D97-AF65-F5344CB8AC3E}">
        <p14:creationId xmlns:p14="http://schemas.microsoft.com/office/powerpoint/2010/main" val="2444773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8</a:t>
            </a:fld>
            <a:endParaRPr lang="zh-CN" altLang="en-US"/>
          </a:p>
        </p:txBody>
      </p:sp>
    </p:spTree>
    <p:extLst>
      <p:ext uri="{BB962C8B-B14F-4D97-AF65-F5344CB8AC3E}">
        <p14:creationId xmlns:p14="http://schemas.microsoft.com/office/powerpoint/2010/main" val="3909919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AE9380-A914-4B9C-938F-B4D493A95F79}" type="slidenum">
              <a:rPr lang="zh-CN" altLang="en-US" smtClean="0"/>
              <a:t>9</a:t>
            </a:fld>
            <a:endParaRPr lang="zh-CN" altLang="en-US"/>
          </a:p>
        </p:txBody>
      </p:sp>
    </p:spTree>
    <p:extLst>
      <p:ext uri="{BB962C8B-B14F-4D97-AF65-F5344CB8AC3E}">
        <p14:creationId xmlns:p14="http://schemas.microsoft.com/office/powerpoint/2010/main" val="2562516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823BCE-6094-42BD-8AC2-3E973E0C56A2}" type="datetimeFigureOut">
              <a:rPr lang="zh-CN" altLang="en-US" smtClean="0"/>
              <a:t>2020/7/13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DED706-C875-4A29-A3BB-24056CF22D4E}" type="slidenum">
              <a:rPr lang="zh-CN" altLang="en-US" smtClean="0"/>
              <a:t>‹#›</a:t>
            </a:fld>
            <a:endParaRPr lang="zh-CN" altLang="en-US"/>
          </a:p>
        </p:txBody>
      </p:sp>
    </p:spTree>
    <p:extLst>
      <p:ext uri="{BB962C8B-B14F-4D97-AF65-F5344CB8AC3E}">
        <p14:creationId xmlns:p14="http://schemas.microsoft.com/office/powerpoint/2010/main" val="298248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5836372"/>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78566171"/>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712588-04B1-427B-82EE-E8DB90309F08}" type="datetimeFigureOut">
              <a:rPr lang="en-US" smtClean="0"/>
              <a:t>7/13/2020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675688967"/>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0525252"/>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0679287"/>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6352022"/>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7/13/2020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230937159"/>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48293132"/>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C6B4A9-1611-4792-9094-5F34BCA07E0B}" type="datetimeFigureOut">
              <a:rPr lang="en-US" smtClean="0"/>
              <a:t>7/13/2020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4050908537"/>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7/13/2020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85218"/>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G_with_logo_2">
    <p:spTree>
      <p:nvGrpSpPr>
        <p:cNvPr id="1" name=""/>
        <p:cNvGrpSpPr/>
        <p:nvPr/>
      </p:nvGrpSpPr>
      <p:grpSpPr>
        <a:xfrm>
          <a:off x="0" y="0"/>
          <a:ext cx="0" cy="0"/>
          <a:chOff x="0" y="0"/>
          <a:chExt cx="0" cy="0"/>
        </a:xfrm>
      </p:grpSpPr>
      <p:sp>
        <p:nvSpPr>
          <p:cNvPr id="8" name="任意多边形 2">
            <a:extLst>
              <a:ext uri="{FF2B5EF4-FFF2-40B4-BE49-F238E27FC236}">
                <a16:creationId xmlns:a16="http://schemas.microsoft.com/office/drawing/2014/main" id="{C9992E1E-5D50-BF47-90F5-7C2D6A74E264}"/>
              </a:ext>
            </a:extLst>
          </p:cNvPr>
          <p:cNvSpPr/>
          <p:nvPr userDrawn="1"/>
        </p:nvSpPr>
        <p:spPr>
          <a:xfrm>
            <a:off x="2867959" y="0"/>
            <a:ext cx="9324041" cy="6858000"/>
          </a:xfrm>
          <a:custGeom>
            <a:avLst/>
            <a:gdLst/>
            <a:ahLst/>
            <a:cxnLst>
              <a:cxn ang="0">
                <a:pos x="wd2" y="hd2"/>
              </a:cxn>
              <a:cxn ang="5400000">
                <a:pos x="wd2" y="hd2"/>
              </a:cxn>
              <a:cxn ang="10800000">
                <a:pos x="wd2" y="hd2"/>
              </a:cxn>
              <a:cxn ang="16200000">
                <a:pos x="wd2" y="hd2"/>
              </a:cxn>
            </a:cxnLst>
            <a:rect l="0" t="0" r="r" b="b"/>
            <a:pathLst>
              <a:path w="21600" h="21600" extrusionOk="0">
                <a:moveTo>
                  <a:pt x="15646" y="0"/>
                </a:moveTo>
                <a:lnTo>
                  <a:pt x="21600" y="0"/>
                </a:lnTo>
                <a:lnTo>
                  <a:pt x="21600" y="21600"/>
                </a:lnTo>
                <a:lnTo>
                  <a:pt x="0" y="21600"/>
                </a:lnTo>
                <a:close/>
              </a:path>
            </a:pathLst>
          </a:custGeom>
          <a:solidFill>
            <a:srgbClr val="FF9900"/>
          </a:solidFill>
          <a:ln w="3175">
            <a:miter lim="400000"/>
          </a:ln>
        </p:spPr>
        <p:txBody>
          <a:bodyPr lIns="45719" rIns="45719" anchor="ctr"/>
          <a:lstStyle/>
          <a:p>
            <a:pPr defTabSz="457200">
              <a:defRPr sz="1800" b="0">
                <a:solidFill>
                  <a:srgbClr val="FFFFFF"/>
                </a:solidFill>
                <a:latin typeface="Arial"/>
                <a:ea typeface="Arial"/>
                <a:cs typeface="Arial"/>
                <a:sym typeface="Arial"/>
              </a:defRPr>
            </a:pPr>
            <a:endParaRPr/>
          </a:p>
        </p:txBody>
      </p:sp>
      <p:sp>
        <p:nvSpPr>
          <p:cNvPr id="9" name="矩形 3">
            <a:extLst>
              <a:ext uri="{FF2B5EF4-FFF2-40B4-BE49-F238E27FC236}">
                <a16:creationId xmlns:a16="http://schemas.microsoft.com/office/drawing/2014/main" id="{5E33E899-F00D-2C4B-A420-807695266B8F}"/>
              </a:ext>
            </a:extLst>
          </p:cNvPr>
          <p:cNvSpPr/>
          <p:nvPr userDrawn="1"/>
        </p:nvSpPr>
        <p:spPr>
          <a:xfrm>
            <a:off x="308598" y="333304"/>
            <a:ext cx="11574804" cy="6191392"/>
          </a:xfrm>
          <a:prstGeom prst="rect">
            <a:avLst/>
          </a:prstGeom>
          <a:solidFill>
            <a:srgbClr val="FFFFFF"/>
          </a:solidFill>
          <a:ln w="3175">
            <a:miter lim="400000"/>
          </a:ln>
          <a:effectLst>
            <a:outerShdw blurRad="393700" dist="63500" dir="5400000" rotWithShape="0">
              <a:srgbClr val="000000">
                <a:alpha val="40000"/>
              </a:srgbClr>
            </a:outerShdw>
          </a:effectLst>
        </p:spPr>
        <p:txBody>
          <a:bodyPr lIns="45719" rIns="45719" anchor="ctr"/>
          <a:lstStyle/>
          <a:p>
            <a:pPr defTabSz="457200">
              <a:defRPr sz="1800" b="0">
                <a:solidFill>
                  <a:srgbClr val="FFFFFF"/>
                </a:solidFill>
                <a:latin typeface="Arial"/>
                <a:ea typeface="Arial"/>
                <a:cs typeface="Arial"/>
                <a:sym typeface="Arial"/>
              </a:defRPr>
            </a:pPr>
            <a:endParaRPr/>
          </a:p>
        </p:txBody>
      </p:sp>
      <p:sp>
        <p:nvSpPr>
          <p:cNvPr id="10" name="矩形">
            <a:extLst>
              <a:ext uri="{FF2B5EF4-FFF2-40B4-BE49-F238E27FC236}">
                <a16:creationId xmlns:a16="http://schemas.microsoft.com/office/drawing/2014/main" id="{F3CCCAFF-B9C6-8B4B-AB0E-531147DA23CD}"/>
              </a:ext>
            </a:extLst>
          </p:cNvPr>
          <p:cNvSpPr/>
          <p:nvPr userDrawn="1"/>
        </p:nvSpPr>
        <p:spPr>
          <a:xfrm>
            <a:off x="308598" y="333303"/>
            <a:ext cx="11574804" cy="6191394"/>
          </a:xfrm>
          <a:prstGeom prst="rect">
            <a:avLst/>
          </a:prstGeom>
          <a:gradFill>
            <a:gsLst>
              <a:gs pos="0">
                <a:srgbClr val="212121">
                  <a:alpha val="89817"/>
                </a:srgbClr>
              </a:gs>
              <a:gs pos="34079">
                <a:srgbClr val="212121">
                  <a:alpha val="94908"/>
                </a:srgbClr>
              </a:gs>
              <a:gs pos="100000">
                <a:srgbClr val="212121"/>
              </a:gs>
            </a:gsLst>
            <a:path path="circle">
              <a:fillToRect l="37721" t="-19636" r="62278" b="119636"/>
            </a:path>
          </a:gradFill>
          <a:ln w="3175">
            <a:miter lim="400000"/>
          </a:ln>
        </p:spPr>
        <p:txBody>
          <a:bodyPr lIns="0" tIns="0" rIns="0" bIns="0" anchor="ctr"/>
          <a:lstStyle/>
          <a:p>
            <a:pPr>
              <a:defRPr sz="1600" b="0">
                <a:solidFill>
                  <a:srgbClr val="FFFFFF"/>
                </a:solidFill>
                <a:latin typeface="+mn-lt"/>
                <a:ea typeface="+mn-ea"/>
                <a:cs typeface="+mn-cs"/>
                <a:sym typeface="Helvetica Neue Medium"/>
              </a:defRPr>
            </a:pPr>
            <a:endParaRPr/>
          </a:p>
        </p:txBody>
      </p:sp>
      <p:sp>
        <p:nvSpPr>
          <p:cNvPr id="11" name="矩形 7">
            <a:extLst>
              <a:ext uri="{FF2B5EF4-FFF2-40B4-BE49-F238E27FC236}">
                <a16:creationId xmlns:a16="http://schemas.microsoft.com/office/drawing/2014/main" id="{E4E50043-AD71-EA4A-A445-D073C23F2812}"/>
              </a:ext>
            </a:extLst>
          </p:cNvPr>
          <p:cNvSpPr txBox="1"/>
          <p:nvPr userDrawn="1"/>
        </p:nvSpPr>
        <p:spPr>
          <a:xfrm>
            <a:off x="10060682" y="6619822"/>
            <a:ext cx="1737528" cy="127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1321" tIns="11321" rIns="11321" bIns="11321">
            <a:spAutoFit/>
          </a:bodyPr>
          <a:lstStyle>
            <a:lvl1pPr algn="l" defTabSz="251583">
              <a:defRPr sz="600" b="0">
                <a:solidFill>
                  <a:srgbClr val="FFFFFF"/>
                </a:solidFill>
                <a:latin typeface="Microsoft YaHei"/>
                <a:ea typeface="Microsoft YaHei"/>
                <a:cs typeface="Microsoft YaHei"/>
                <a:sym typeface="Microsoft YaHei"/>
              </a:defRPr>
            </a:lvl1pPr>
          </a:lstStyle>
          <a:p>
            <a:r>
              <a:t>Copyright © 2019 Amazon. All rights reserved.</a:t>
            </a:r>
          </a:p>
        </p:txBody>
      </p:sp>
      <p:pic>
        <p:nvPicPr>
          <p:cNvPr id="12" name="图像" descr="图像">
            <a:extLst>
              <a:ext uri="{FF2B5EF4-FFF2-40B4-BE49-F238E27FC236}">
                <a16:creationId xmlns:a16="http://schemas.microsoft.com/office/drawing/2014/main" id="{BE9753A7-EB40-3644-9825-45EB16239FA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2430" y="761324"/>
            <a:ext cx="947913" cy="390106"/>
          </a:xfrm>
          <a:prstGeom prst="rect">
            <a:avLst/>
          </a:prstGeom>
          <a:ln w="3175">
            <a:miter lim="400000"/>
          </a:ln>
        </p:spPr>
      </p:pic>
      <p:sp>
        <p:nvSpPr>
          <p:cNvPr id="13" name="幻灯片编号">
            <a:extLst>
              <a:ext uri="{FF2B5EF4-FFF2-40B4-BE49-F238E27FC236}">
                <a16:creationId xmlns:a16="http://schemas.microsoft.com/office/drawing/2014/main" id="{4A18ACA5-46E4-A84D-8260-4CDACD3A78EF}"/>
              </a:ext>
            </a:extLst>
          </p:cNvPr>
          <p:cNvSpPr txBox="1">
            <a:spLocks noGrp="1"/>
          </p:cNvSpPr>
          <p:nvPr>
            <p:ph type="sldNum" sz="quarter" idx="2"/>
          </p:nvPr>
        </p:nvSpPr>
        <p:spPr>
          <a:xfrm>
            <a:off x="5976340" y="6540500"/>
            <a:ext cx="232970" cy="2368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490283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5A9C0B-F5ED-4164-BAB3-10364D1C49B1}" type="datetimeFigureOut">
              <a:rPr lang="en-US" smtClean="0"/>
              <a:t>7/13/2020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728749-776E-4F98-B07E-A7BB5422DD76}" type="slidenum">
              <a:rPr lang="en-US" smtClean="0"/>
              <a:t>‹#›</a:t>
            </a:fld>
            <a:endParaRPr lang="en-US"/>
          </a:p>
        </p:txBody>
      </p:sp>
      <p:pic>
        <p:nvPicPr>
          <p:cNvPr id="7" name="Picture 2" descr="image003"/>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0873822" y="109184"/>
            <a:ext cx="1236292" cy="544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2"/>
          <p:cNvCxnSpPr/>
          <p:nvPr userDrawn="1"/>
        </p:nvCxnSpPr>
        <p:spPr>
          <a:xfrm>
            <a:off x="230912" y="735731"/>
            <a:ext cx="1175072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矩形 5"/>
          <p:cNvSpPr/>
          <p:nvPr userDrawn="1"/>
        </p:nvSpPr>
        <p:spPr>
          <a:xfrm>
            <a:off x="0" y="6430297"/>
            <a:ext cx="3200400" cy="4277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457200" rtl="0" eaLnBrk="1" fontAlgn="auto" latinLnBrk="0" hangingPunct="1">
              <a:lnSpc>
                <a:spcPct val="100000"/>
              </a:lnSpc>
              <a:spcBef>
                <a:spcPts val="0"/>
              </a:spcBef>
              <a:spcAft>
                <a:spcPts val="0"/>
              </a:spcAft>
              <a:buClrTx/>
              <a:buSzTx/>
              <a:buFontTx/>
              <a:buNone/>
              <a:tabLst/>
              <a:defRPr/>
            </a:pPr>
            <a:r>
              <a:rPr lang="en-US" altLang="zh-CN" sz="1000" b="1" dirty="0" smtClean="0">
                <a:solidFill>
                  <a:schemeClr val="tx1"/>
                </a:solidFill>
                <a:latin typeface="微软雅黑" panose="020B0503020204020204" pitchFamily="34" charset="-122"/>
                <a:ea typeface="微软雅黑" panose="020B0503020204020204" pitchFamily="34" charset="-122"/>
              </a:rPr>
              <a:t>Amazon Global Selling     </a:t>
            </a:r>
            <a:r>
              <a:rPr lang="en-US" altLang="zh-CN" sz="1000" b="1" dirty="0" smtClean="0">
                <a:solidFill>
                  <a:srgbClr val="FF0000"/>
                </a:solidFill>
                <a:latin typeface="微软雅黑" panose="020B0503020204020204" pitchFamily="34" charset="-122"/>
                <a:ea typeface="微软雅黑" panose="020B0503020204020204" pitchFamily="34" charset="-122"/>
              </a:rPr>
              <a:t>Confidential </a:t>
            </a:r>
            <a:endParaRPr lang="zh-CN" altLang="en-US" sz="1000" b="1" dirty="0" smtClean="0">
              <a:solidFill>
                <a:srgbClr val="FF0000"/>
              </a:solidFill>
              <a:latin typeface="微软雅黑" panose="020B0503020204020204" pitchFamily="34" charset="-122"/>
              <a:ea typeface="微软雅黑" panose="020B0503020204020204" pitchFamily="34" charset="-122"/>
            </a:endParaRPr>
          </a:p>
        </p:txBody>
      </p:sp>
      <p:sp>
        <p:nvSpPr>
          <p:cNvPr id="10" name="矩形 6"/>
          <p:cNvSpPr/>
          <p:nvPr userDrawn="1"/>
        </p:nvSpPr>
        <p:spPr>
          <a:xfrm>
            <a:off x="11547985" y="6489288"/>
            <a:ext cx="516193" cy="368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B8E5B03E-E3D3-44E0-A356-F017E755ABE7}" type="slidenum">
              <a:rPr lang="en-US" altLang="zh-CN" sz="1000">
                <a:solidFill>
                  <a:schemeClr val="tx1"/>
                </a:solidFill>
                <a:latin typeface="微软雅黑" panose="020B0503020204020204" pitchFamily="34" charset="-122"/>
                <a:ea typeface="微软雅黑" panose="020B0503020204020204" pitchFamily="34" charset="-122"/>
              </a:rPr>
              <a:t>‹#›</a:t>
            </a:fld>
            <a:endParaRPr lang="en-US" sz="10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435569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advertising.amazon.com/zh-cn/lp/beta-posts"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 name="标题"/>
          <p:cNvSpPr txBox="1"/>
          <p:nvPr/>
        </p:nvSpPr>
        <p:spPr>
          <a:xfrm>
            <a:off x="894955" y="2695505"/>
            <a:ext cx="5375215" cy="54373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lvl1pPr algn="l">
              <a:defRPr sz="3000">
                <a:solidFill>
                  <a:srgbClr val="FF9900"/>
                </a:solidFill>
                <a:latin typeface="Microsoft YaHei"/>
                <a:ea typeface="Microsoft YaHei"/>
                <a:cs typeface="Microsoft YaHei"/>
                <a:sym typeface="Microsoft YaHei"/>
              </a:defRPr>
            </a:lvl1pPr>
          </a:lstStyle>
          <a:p>
            <a:endParaRPr lang="en-US" sz="3200" b="1" dirty="0" smtClean="0"/>
          </a:p>
        </p:txBody>
      </p:sp>
      <p:sp>
        <p:nvSpPr>
          <p:cNvPr id="2" name="TextBox 1"/>
          <p:cNvSpPr txBox="1"/>
          <p:nvPr/>
        </p:nvSpPr>
        <p:spPr>
          <a:xfrm>
            <a:off x="977462" y="2448910"/>
            <a:ext cx="5675586" cy="707886"/>
          </a:xfrm>
          <a:prstGeom prst="rect">
            <a:avLst/>
          </a:prstGeom>
          <a:noFill/>
        </p:spPr>
        <p:txBody>
          <a:bodyPr wrap="square" rtlCol="0">
            <a:spAutoFit/>
          </a:bodyPr>
          <a:lstStyle/>
          <a:p>
            <a:r>
              <a:rPr lang="en-US" altLang="zh-CN" sz="4000" b="1" dirty="0" smtClean="0">
                <a:solidFill>
                  <a:srgbClr val="F49800"/>
                </a:solidFill>
              </a:rPr>
              <a:t>Posts</a:t>
            </a:r>
            <a:endParaRPr lang="en-US" sz="4000" b="1" dirty="0">
              <a:solidFill>
                <a:srgbClr val="F49800"/>
              </a:solidFill>
            </a:endParaRPr>
          </a:p>
        </p:txBody>
      </p:sp>
    </p:spTree>
    <p:extLst>
      <p:ext uri="{BB962C8B-B14F-4D97-AF65-F5344CB8AC3E}">
        <p14:creationId xmlns:p14="http://schemas.microsoft.com/office/powerpoint/2010/main" val="1121140415"/>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sp>
        <p:nvSpPr>
          <p:cNvPr id="5" name="TextBox 4"/>
          <p:cNvSpPr txBox="1"/>
          <p:nvPr/>
        </p:nvSpPr>
        <p:spPr>
          <a:xfrm>
            <a:off x="252248" y="157654"/>
            <a:ext cx="3573517" cy="584775"/>
          </a:xfrm>
          <a:prstGeom prst="rect">
            <a:avLst/>
          </a:prstGeom>
          <a:noFill/>
        </p:spPr>
        <p:txBody>
          <a:bodyPr wrap="square" rtlCol="0">
            <a:spAutoFit/>
          </a:bodyPr>
          <a:lstStyle/>
          <a:p>
            <a:r>
              <a:rPr lang="en-US" altLang="zh-CN" sz="3200" b="1" dirty="0"/>
              <a:t>Posts</a:t>
            </a:r>
            <a:r>
              <a:rPr lang="en-US" sz="3200" b="1" dirty="0" smtClean="0"/>
              <a:t> Overview</a:t>
            </a:r>
            <a:endParaRPr lang="en-US" sz="32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68" y="742429"/>
            <a:ext cx="10908433" cy="5675464"/>
          </a:xfrm>
          <a:prstGeom prst="rect">
            <a:avLst/>
          </a:prstGeom>
        </p:spPr>
      </p:pic>
    </p:spTree>
    <p:extLst>
      <p:ext uri="{BB962C8B-B14F-4D97-AF65-F5344CB8AC3E}">
        <p14:creationId xmlns:p14="http://schemas.microsoft.com/office/powerpoint/2010/main" val="1896394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sp>
        <p:nvSpPr>
          <p:cNvPr id="5" name="TextBox 4"/>
          <p:cNvSpPr txBox="1"/>
          <p:nvPr/>
        </p:nvSpPr>
        <p:spPr>
          <a:xfrm>
            <a:off x="252248" y="157654"/>
            <a:ext cx="3573517" cy="584775"/>
          </a:xfrm>
          <a:prstGeom prst="rect">
            <a:avLst/>
          </a:prstGeom>
          <a:noFill/>
        </p:spPr>
        <p:txBody>
          <a:bodyPr wrap="square" rtlCol="0">
            <a:spAutoFit/>
          </a:bodyPr>
          <a:lstStyle/>
          <a:p>
            <a:r>
              <a:rPr lang="zh-CN" altLang="en-US" sz="3200" b="1" dirty="0"/>
              <a:t>创</a:t>
            </a:r>
            <a:r>
              <a:rPr lang="zh-CN" altLang="en-US" sz="3200" b="1" dirty="0" smtClean="0"/>
              <a:t>建</a:t>
            </a:r>
            <a:r>
              <a:rPr lang="en-US" altLang="zh-CN" sz="3200" b="1" dirty="0" smtClean="0"/>
              <a:t>posts</a:t>
            </a:r>
            <a:r>
              <a:rPr lang="zh-CN" altLang="en-US" sz="3200" b="1" dirty="0" smtClean="0"/>
              <a:t>的禁与行</a:t>
            </a:r>
            <a:endParaRPr lang="en-US" sz="3200" b="1" dirty="0"/>
          </a:p>
        </p:txBody>
      </p:sp>
      <p:sp>
        <p:nvSpPr>
          <p:cNvPr id="11" name="TextBox 10"/>
          <p:cNvSpPr txBox="1"/>
          <p:nvPr/>
        </p:nvSpPr>
        <p:spPr>
          <a:xfrm>
            <a:off x="352283" y="882937"/>
            <a:ext cx="11487433" cy="6278642"/>
          </a:xfrm>
          <a:prstGeom prst="rect">
            <a:avLst/>
          </a:prstGeom>
          <a:noFill/>
        </p:spPr>
        <p:txBody>
          <a:bodyPr wrap="square" rtlCol="0">
            <a:spAutoFit/>
          </a:bodyPr>
          <a:lstStyle/>
          <a:p>
            <a:pPr>
              <a:lnSpc>
                <a:spcPct val="150000"/>
              </a:lnSpc>
            </a:pPr>
            <a:r>
              <a:rPr lang="zh-CN" altLang="en-US" sz="2400" b="1" dirty="0" smtClean="0">
                <a:solidFill>
                  <a:srgbClr val="FF0000"/>
                </a:solidFill>
              </a:rPr>
              <a:t>禁止</a:t>
            </a:r>
            <a:r>
              <a:rPr lang="zh-CN" altLang="en-US" dirty="0" smtClean="0">
                <a:solidFill>
                  <a:srgbClr val="FF0000"/>
                </a:solidFill>
              </a:rPr>
              <a:t>：</a:t>
            </a:r>
            <a:endParaRPr lang="en-US" altLang="zh-CN" dirty="0" smtClean="0">
              <a:solidFill>
                <a:srgbClr val="FF0000"/>
              </a:solidFill>
            </a:endParaRPr>
          </a:p>
          <a:p>
            <a:pPr marL="285750" indent="-285750">
              <a:lnSpc>
                <a:spcPct val="150000"/>
              </a:lnSpc>
              <a:buFont typeface="Arial" panose="020B0604020202020204" pitchFamily="34" charset="0"/>
              <a:buChar char="•"/>
            </a:pPr>
            <a:r>
              <a:rPr lang="zh-CN" altLang="en-US" dirty="0"/>
              <a:t>帖</a:t>
            </a:r>
            <a:r>
              <a:rPr lang="zh-CN" altLang="en-US" dirty="0" smtClean="0"/>
              <a:t>子标题和图片不得相互矛盾。</a:t>
            </a:r>
            <a:r>
              <a:rPr lang="en-US" altLang="zh-CN" dirty="0" err="1" smtClean="0"/>
              <a:t>Eg</a:t>
            </a:r>
            <a:r>
              <a:rPr lang="en-US" altLang="zh-CN" dirty="0" smtClean="0"/>
              <a:t>:</a:t>
            </a:r>
            <a:r>
              <a:rPr lang="zh-CN" altLang="en-US" dirty="0" smtClean="0"/>
              <a:t>狗粮的帖子指向猫的商品</a:t>
            </a:r>
            <a:endParaRPr lang="en-US" altLang="zh-CN" dirty="0" smtClean="0"/>
          </a:p>
          <a:p>
            <a:pPr marL="285750" indent="-285750">
              <a:lnSpc>
                <a:spcPct val="150000"/>
              </a:lnSpc>
              <a:buFont typeface="Arial" panose="020B0604020202020204" pitchFamily="34" charset="0"/>
              <a:buChar char="•"/>
            </a:pPr>
            <a:r>
              <a:rPr lang="zh-CN" altLang="en-US" dirty="0"/>
              <a:t>避</a:t>
            </a:r>
            <a:r>
              <a:rPr lang="zh-CN" altLang="en-US" dirty="0" smtClean="0"/>
              <a:t>免重复相关商品详情页已有的内容，如文本和图片。</a:t>
            </a:r>
            <a:endParaRPr lang="en-US" altLang="zh-CN" dirty="0" smtClean="0"/>
          </a:p>
          <a:p>
            <a:pPr marL="285750" indent="-285750">
              <a:lnSpc>
                <a:spcPct val="150000"/>
              </a:lnSpc>
              <a:buFont typeface="Arial" panose="020B0604020202020204" pitchFamily="34" charset="0"/>
              <a:buChar char="•"/>
            </a:pPr>
            <a:r>
              <a:rPr lang="zh-CN" altLang="en-US" dirty="0"/>
              <a:t>提</a:t>
            </a:r>
            <a:r>
              <a:rPr lang="zh-CN" altLang="en-US" dirty="0" smtClean="0"/>
              <a:t>供单个白色背景的品牌徽标或徽标组合</a:t>
            </a:r>
            <a:endParaRPr lang="en-US" altLang="zh-CN" dirty="0" smtClean="0"/>
          </a:p>
          <a:p>
            <a:pPr marL="285750" indent="-285750">
              <a:lnSpc>
                <a:spcPct val="150000"/>
              </a:lnSpc>
              <a:buFont typeface="Arial" panose="020B0604020202020204" pitchFamily="34" charset="0"/>
              <a:buChar char="•"/>
            </a:pPr>
            <a:r>
              <a:rPr lang="zh-CN" altLang="en-US" dirty="0"/>
              <a:t>包</a:t>
            </a:r>
            <a:r>
              <a:rPr lang="zh-CN" altLang="en-US" dirty="0" smtClean="0"/>
              <a:t>含</a:t>
            </a:r>
            <a:r>
              <a:rPr lang="zh-CN" altLang="en-US" dirty="0"/>
              <a:t>拥</a:t>
            </a:r>
            <a:r>
              <a:rPr lang="zh-CN" altLang="en-US" dirty="0" smtClean="0"/>
              <a:t>挤、过量、剪裁不当或无法辨识的元素</a:t>
            </a:r>
            <a:endParaRPr lang="en-US" altLang="zh-CN" dirty="0" smtClean="0"/>
          </a:p>
          <a:p>
            <a:pPr marL="285750" indent="-285750">
              <a:lnSpc>
                <a:spcPct val="150000"/>
              </a:lnSpc>
              <a:buFont typeface="Arial" panose="020B0604020202020204" pitchFamily="34" charset="0"/>
              <a:buChar char="•"/>
            </a:pPr>
            <a:r>
              <a:rPr lang="zh-CN" altLang="en-US" dirty="0"/>
              <a:t>包</a:t>
            </a:r>
            <a:r>
              <a:rPr lang="zh-CN" altLang="en-US" dirty="0" smtClean="0"/>
              <a:t>含“立即购买”等行动诏令</a:t>
            </a:r>
            <a:endParaRPr lang="en-US" altLang="zh-CN" dirty="0" smtClean="0"/>
          </a:p>
          <a:p>
            <a:pPr marL="285750" indent="-285750">
              <a:lnSpc>
                <a:spcPct val="150000"/>
              </a:lnSpc>
              <a:buFont typeface="Arial" panose="020B0604020202020204" pitchFamily="34" charset="0"/>
              <a:buChar char="•"/>
            </a:pPr>
            <a:endParaRPr lang="en-US" altLang="zh-CN" dirty="0"/>
          </a:p>
          <a:p>
            <a:pPr>
              <a:lnSpc>
                <a:spcPct val="150000"/>
              </a:lnSpc>
            </a:pPr>
            <a:r>
              <a:rPr lang="zh-CN" altLang="en-US" sz="2400" b="1" dirty="0" smtClean="0">
                <a:solidFill>
                  <a:srgbClr val="00B050"/>
                </a:solidFill>
              </a:rPr>
              <a:t>通行</a:t>
            </a:r>
            <a:r>
              <a:rPr lang="zh-CN" altLang="en-US" sz="2400" dirty="0" smtClean="0">
                <a:solidFill>
                  <a:srgbClr val="00B050"/>
                </a:solidFill>
              </a:rPr>
              <a:t>：</a:t>
            </a:r>
            <a:endParaRPr lang="en-US" altLang="zh-CN" sz="2400" dirty="0" smtClean="0">
              <a:solidFill>
                <a:srgbClr val="00B050"/>
              </a:solidFill>
            </a:endParaRPr>
          </a:p>
          <a:p>
            <a:pPr marL="342900" indent="-342900">
              <a:lnSpc>
                <a:spcPct val="150000"/>
              </a:lnSpc>
              <a:buFont typeface="Arial" panose="020B0604020202020204" pitchFamily="34" charset="0"/>
              <a:buChar char="•"/>
            </a:pPr>
            <a:r>
              <a:rPr lang="zh-CN" altLang="en-US" dirty="0"/>
              <a:t>帖</a:t>
            </a:r>
            <a:r>
              <a:rPr lang="zh-CN" altLang="en-US" dirty="0" smtClean="0"/>
              <a:t>子</a:t>
            </a:r>
            <a:r>
              <a:rPr lang="zh-CN" altLang="en-US" dirty="0"/>
              <a:t>可</a:t>
            </a:r>
            <a:r>
              <a:rPr lang="zh-CN" altLang="en-US" dirty="0" smtClean="0"/>
              <a:t>以包含简写词语，主题标签和表情符合。</a:t>
            </a:r>
            <a:r>
              <a:rPr lang="en-US" altLang="zh-CN" dirty="0" err="1" smtClean="0"/>
              <a:t>Eg</a:t>
            </a:r>
            <a:r>
              <a:rPr lang="en-US" altLang="zh-CN" dirty="0" smtClean="0"/>
              <a:t>: #woman party dress#</a:t>
            </a:r>
          </a:p>
          <a:p>
            <a:pPr marL="342900" indent="-342900">
              <a:lnSpc>
                <a:spcPct val="150000"/>
              </a:lnSpc>
              <a:buFont typeface="Arial" panose="020B0604020202020204" pitchFamily="34" charset="0"/>
              <a:buChar char="•"/>
            </a:pPr>
            <a:r>
              <a:rPr lang="zh-CN" altLang="en-US" dirty="0"/>
              <a:t>展</a:t>
            </a:r>
            <a:r>
              <a:rPr lang="zh-CN" altLang="en-US" dirty="0" smtClean="0"/>
              <a:t>示相关背景或生活场景中的商品或品牌</a:t>
            </a:r>
            <a:endParaRPr lang="en-US" altLang="zh-CN" dirty="0" smtClean="0"/>
          </a:p>
          <a:p>
            <a:pPr marL="342900" indent="-342900">
              <a:lnSpc>
                <a:spcPct val="150000"/>
              </a:lnSpc>
              <a:buFont typeface="Arial" panose="020B0604020202020204" pitchFamily="34" charset="0"/>
              <a:buChar char="•"/>
            </a:pPr>
            <a:r>
              <a:rPr lang="zh-CN" altLang="en-US" dirty="0"/>
              <a:t>支</a:t>
            </a:r>
            <a:r>
              <a:rPr lang="zh-CN" altLang="en-US" dirty="0" smtClean="0"/>
              <a:t>持上传中的常见比例（</a:t>
            </a:r>
            <a:r>
              <a:rPr lang="en-US" altLang="zh-CN" dirty="0" err="1" smtClean="0"/>
              <a:t>eg</a:t>
            </a:r>
            <a:r>
              <a:rPr lang="en-US" altLang="zh-CN" dirty="0" smtClean="0"/>
              <a:t>: 1*1, 16*9, 4*3)</a:t>
            </a:r>
            <a:r>
              <a:rPr lang="zh-CN" altLang="en-US" dirty="0" smtClean="0"/>
              <a:t>的图片，格式</a:t>
            </a:r>
            <a:r>
              <a:rPr lang="en-US" altLang="zh-CN" dirty="0"/>
              <a:t>JPG</a:t>
            </a:r>
            <a:r>
              <a:rPr lang="zh-CN" altLang="en-US" dirty="0" smtClean="0"/>
              <a:t>或</a:t>
            </a:r>
            <a:r>
              <a:rPr lang="en-US" altLang="zh-CN" dirty="0" smtClean="0"/>
              <a:t>PNG</a:t>
            </a:r>
          </a:p>
          <a:p>
            <a:pPr marL="342900" indent="-342900">
              <a:lnSpc>
                <a:spcPct val="150000"/>
              </a:lnSpc>
              <a:buFont typeface="Arial" panose="020B0604020202020204" pitchFamily="34" charset="0"/>
              <a:buChar char="•"/>
            </a:pPr>
            <a:r>
              <a:rPr lang="zh-CN" altLang="en-US" dirty="0"/>
              <a:t>分辨</a:t>
            </a:r>
            <a:r>
              <a:rPr lang="zh-CN" altLang="en-US" dirty="0" smtClean="0"/>
              <a:t>率：</a:t>
            </a:r>
            <a:r>
              <a:rPr lang="en-US" altLang="zh-CN" dirty="0" smtClean="0"/>
              <a:t>640</a:t>
            </a:r>
            <a:r>
              <a:rPr lang="zh-CN" altLang="en-US" dirty="0" smtClean="0"/>
              <a:t>*</a:t>
            </a:r>
            <a:r>
              <a:rPr lang="en-US" altLang="zh-CN" dirty="0" smtClean="0"/>
              <a:t>640</a:t>
            </a:r>
            <a:r>
              <a:rPr lang="zh-CN" altLang="en-US" dirty="0" smtClean="0"/>
              <a:t>像素或更大，最大文件大小：</a:t>
            </a:r>
            <a:r>
              <a:rPr lang="en-US" altLang="zh-CN" dirty="0" smtClean="0"/>
              <a:t>100MB</a:t>
            </a:r>
            <a:endParaRPr lang="en-US" altLang="zh-CN" dirty="0"/>
          </a:p>
          <a:p>
            <a:pPr marL="342900" indent="-342900">
              <a:buFont typeface="Arial" panose="020B0604020202020204" pitchFamily="34" charset="0"/>
              <a:buChar char="•"/>
            </a:pPr>
            <a:endParaRPr lang="en-US" altLang="zh-CN" sz="2400" dirty="0">
              <a:solidFill>
                <a:srgbClr val="00B050"/>
              </a:solidFill>
            </a:endParaRPr>
          </a:p>
          <a:p>
            <a:endParaRPr lang="en-US" altLang="zh-CN" dirty="0" smtClean="0"/>
          </a:p>
          <a:p>
            <a:endParaRPr lang="en-US" dirty="0"/>
          </a:p>
        </p:txBody>
      </p:sp>
    </p:spTree>
    <p:extLst>
      <p:ext uri="{BB962C8B-B14F-4D97-AF65-F5344CB8AC3E}">
        <p14:creationId xmlns:p14="http://schemas.microsoft.com/office/powerpoint/2010/main" val="12025383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60403" t="14665" b="-320"/>
          <a:stretch/>
        </p:blipFill>
        <p:spPr>
          <a:xfrm>
            <a:off x="404648" y="1623920"/>
            <a:ext cx="3962401" cy="4914992"/>
          </a:xfrm>
          <a:prstGeom prst="rect">
            <a:avLst/>
          </a:prstGeom>
        </p:spPr>
      </p:pic>
      <p:sp>
        <p:nvSpPr>
          <p:cNvPr id="6" name="TextBox 5"/>
          <p:cNvSpPr txBox="1"/>
          <p:nvPr/>
        </p:nvSpPr>
        <p:spPr>
          <a:xfrm>
            <a:off x="404648" y="107021"/>
            <a:ext cx="3573517" cy="584775"/>
          </a:xfrm>
          <a:prstGeom prst="rect">
            <a:avLst/>
          </a:prstGeom>
          <a:noFill/>
        </p:spPr>
        <p:txBody>
          <a:bodyPr wrap="square" rtlCol="0">
            <a:spAutoFit/>
          </a:bodyPr>
          <a:lstStyle/>
          <a:p>
            <a:r>
              <a:rPr lang="en-US" sz="3200" b="1" dirty="0" smtClean="0"/>
              <a:t>Posts </a:t>
            </a:r>
            <a:r>
              <a:rPr lang="zh-CN" altLang="en-US" sz="3200" b="1" dirty="0" smtClean="0"/>
              <a:t>不合格案例</a:t>
            </a:r>
            <a:endParaRPr lang="en-US" sz="3200" b="1" dirty="0"/>
          </a:p>
        </p:txBody>
      </p:sp>
      <p:sp>
        <p:nvSpPr>
          <p:cNvPr id="8" name="TextBox 7"/>
          <p:cNvSpPr txBox="1"/>
          <p:nvPr/>
        </p:nvSpPr>
        <p:spPr>
          <a:xfrm>
            <a:off x="1556658" y="1227765"/>
            <a:ext cx="2688771" cy="369332"/>
          </a:xfrm>
          <a:prstGeom prst="rect">
            <a:avLst/>
          </a:prstGeom>
          <a:noFill/>
        </p:spPr>
        <p:txBody>
          <a:bodyPr wrap="square" rtlCol="0">
            <a:spAutoFit/>
          </a:bodyPr>
          <a:lstStyle/>
          <a:p>
            <a:r>
              <a:rPr lang="zh-CN" altLang="en-US" b="1" dirty="0" smtClean="0">
                <a:solidFill>
                  <a:srgbClr val="F49800"/>
                </a:solidFill>
              </a:rPr>
              <a:t>图片拥挤</a:t>
            </a:r>
            <a:endParaRPr lang="en-US" b="1" dirty="0">
              <a:solidFill>
                <a:srgbClr val="F49800"/>
              </a:solidFill>
            </a:endParaRPr>
          </a:p>
        </p:txBody>
      </p:sp>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t="8791"/>
          <a:stretch/>
        </p:blipFill>
        <p:spPr>
          <a:xfrm>
            <a:off x="4493828" y="1860127"/>
            <a:ext cx="7130238" cy="4442577"/>
          </a:xfrm>
          <a:prstGeom prst="rect">
            <a:avLst/>
          </a:prstGeom>
        </p:spPr>
      </p:pic>
      <p:sp>
        <p:nvSpPr>
          <p:cNvPr id="10" name="TextBox 9"/>
          <p:cNvSpPr txBox="1"/>
          <p:nvPr/>
        </p:nvSpPr>
        <p:spPr>
          <a:xfrm>
            <a:off x="5540830" y="1227765"/>
            <a:ext cx="2688771" cy="369332"/>
          </a:xfrm>
          <a:prstGeom prst="rect">
            <a:avLst/>
          </a:prstGeom>
          <a:noFill/>
        </p:spPr>
        <p:txBody>
          <a:bodyPr wrap="square" rtlCol="0">
            <a:spAutoFit/>
          </a:bodyPr>
          <a:lstStyle/>
          <a:p>
            <a:r>
              <a:rPr lang="zh-CN" altLang="en-US" b="1" dirty="0" smtClean="0">
                <a:solidFill>
                  <a:srgbClr val="F49800"/>
                </a:solidFill>
              </a:rPr>
              <a:t>包含买家评论</a:t>
            </a:r>
            <a:endParaRPr lang="en-US" b="1" dirty="0">
              <a:solidFill>
                <a:srgbClr val="F49800"/>
              </a:solidFill>
            </a:endParaRPr>
          </a:p>
        </p:txBody>
      </p:sp>
      <p:sp>
        <p:nvSpPr>
          <p:cNvPr id="11" name="TextBox 10"/>
          <p:cNvSpPr txBox="1"/>
          <p:nvPr/>
        </p:nvSpPr>
        <p:spPr>
          <a:xfrm>
            <a:off x="8773887" y="1227765"/>
            <a:ext cx="2688771" cy="369332"/>
          </a:xfrm>
          <a:prstGeom prst="rect">
            <a:avLst/>
          </a:prstGeom>
          <a:noFill/>
        </p:spPr>
        <p:txBody>
          <a:bodyPr wrap="square" rtlCol="0">
            <a:spAutoFit/>
          </a:bodyPr>
          <a:lstStyle/>
          <a:p>
            <a:r>
              <a:rPr lang="zh-CN" altLang="en-US" b="1" dirty="0" smtClean="0">
                <a:solidFill>
                  <a:srgbClr val="F49800"/>
                </a:solidFill>
              </a:rPr>
              <a:t>包含促销信息</a:t>
            </a:r>
            <a:endParaRPr lang="en-US" b="1" dirty="0">
              <a:solidFill>
                <a:srgbClr val="F49800"/>
              </a:solidFill>
            </a:endParaRPr>
          </a:p>
        </p:txBody>
      </p:sp>
    </p:spTree>
    <p:extLst>
      <p:ext uri="{BB962C8B-B14F-4D97-AF65-F5344CB8AC3E}">
        <p14:creationId xmlns:p14="http://schemas.microsoft.com/office/powerpoint/2010/main" val="22592217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sp>
        <p:nvSpPr>
          <p:cNvPr id="5" name="TextBox 4"/>
          <p:cNvSpPr txBox="1"/>
          <p:nvPr/>
        </p:nvSpPr>
        <p:spPr>
          <a:xfrm>
            <a:off x="252248" y="157654"/>
            <a:ext cx="3573517" cy="584775"/>
          </a:xfrm>
          <a:prstGeom prst="rect">
            <a:avLst/>
          </a:prstGeom>
          <a:noFill/>
        </p:spPr>
        <p:txBody>
          <a:bodyPr wrap="square" rtlCol="0">
            <a:spAutoFit/>
          </a:bodyPr>
          <a:lstStyle/>
          <a:p>
            <a:r>
              <a:rPr lang="en-US" sz="3200" b="1" dirty="0" smtClean="0"/>
              <a:t>Posts </a:t>
            </a:r>
            <a:r>
              <a:rPr lang="zh-CN" altLang="en-US" sz="3200" b="1" dirty="0" smtClean="0"/>
              <a:t>不合格案例</a:t>
            </a:r>
            <a:endParaRPr lang="en-US" sz="3200" b="1"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7655"/>
          <a:stretch/>
        </p:blipFill>
        <p:spPr>
          <a:xfrm>
            <a:off x="3849656" y="2329543"/>
            <a:ext cx="5060794" cy="3245034"/>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t="6835"/>
          <a:stretch/>
        </p:blipFill>
        <p:spPr>
          <a:xfrm>
            <a:off x="252248" y="1545769"/>
            <a:ext cx="3631157" cy="4543572"/>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76700" y="1606876"/>
            <a:ext cx="2858102" cy="4923620"/>
          </a:xfrm>
          <a:prstGeom prst="rect">
            <a:avLst/>
          </a:prstGeom>
        </p:spPr>
      </p:pic>
      <p:sp>
        <p:nvSpPr>
          <p:cNvPr id="8" name="TextBox 7"/>
          <p:cNvSpPr txBox="1"/>
          <p:nvPr/>
        </p:nvSpPr>
        <p:spPr>
          <a:xfrm>
            <a:off x="723440" y="1237544"/>
            <a:ext cx="2688771" cy="369332"/>
          </a:xfrm>
          <a:prstGeom prst="rect">
            <a:avLst/>
          </a:prstGeom>
          <a:noFill/>
        </p:spPr>
        <p:txBody>
          <a:bodyPr wrap="square" rtlCol="0">
            <a:spAutoFit/>
          </a:bodyPr>
          <a:lstStyle/>
          <a:p>
            <a:r>
              <a:rPr lang="zh-CN" altLang="en-US" b="1" dirty="0">
                <a:solidFill>
                  <a:srgbClr val="F49800"/>
                </a:solidFill>
              </a:rPr>
              <a:t>要</a:t>
            </a:r>
            <a:r>
              <a:rPr lang="zh-CN" altLang="en-US" b="1" dirty="0" smtClean="0">
                <a:solidFill>
                  <a:srgbClr val="F49800"/>
                </a:solidFill>
              </a:rPr>
              <a:t>求买家评论、分享</a:t>
            </a:r>
            <a:endParaRPr lang="en-US" b="1" dirty="0">
              <a:solidFill>
                <a:srgbClr val="F49800"/>
              </a:solidFill>
            </a:endParaRPr>
          </a:p>
        </p:txBody>
      </p:sp>
      <p:sp>
        <p:nvSpPr>
          <p:cNvPr id="9" name="TextBox 8"/>
          <p:cNvSpPr txBox="1"/>
          <p:nvPr/>
        </p:nvSpPr>
        <p:spPr>
          <a:xfrm>
            <a:off x="9268725" y="1237544"/>
            <a:ext cx="2688771" cy="369332"/>
          </a:xfrm>
          <a:prstGeom prst="rect">
            <a:avLst/>
          </a:prstGeom>
          <a:noFill/>
        </p:spPr>
        <p:txBody>
          <a:bodyPr wrap="square" rtlCol="0">
            <a:spAutoFit/>
          </a:bodyPr>
          <a:lstStyle/>
          <a:p>
            <a:r>
              <a:rPr lang="zh-CN" altLang="en-US" b="1" dirty="0">
                <a:solidFill>
                  <a:srgbClr val="F49800"/>
                </a:solidFill>
              </a:rPr>
              <a:t>照</a:t>
            </a:r>
            <a:r>
              <a:rPr lang="zh-CN" altLang="en-US" b="1" dirty="0" smtClean="0">
                <a:solidFill>
                  <a:srgbClr val="F49800"/>
                </a:solidFill>
              </a:rPr>
              <a:t>搬</a:t>
            </a:r>
            <a:r>
              <a:rPr lang="en-US" altLang="zh-CN" b="1" dirty="0" smtClean="0">
                <a:solidFill>
                  <a:srgbClr val="F49800"/>
                </a:solidFill>
              </a:rPr>
              <a:t>5</a:t>
            </a:r>
            <a:r>
              <a:rPr lang="zh-CN" altLang="en-US" b="1" dirty="0" smtClean="0">
                <a:solidFill>
                  <a:srgbClr val="F49800"/>
                </a:solidFill>
              </a:rPr>
              <a:t>点描述</a:t>
            </a:r>
            <a:endParaRPr lang="en-US" b="1" dirty="0">
              <a:solidFill>
                <a:srgbClr val="F49800"/>
              </a:solidFill>
            </a:endParaRPr>
          </a:p>
        </p:txBody>
      </p:sp>
      <p:sp>
        <p:nvSpPr>
          <p:cNvPr id="10" name="TextBox 9"/>
          <p:cNvSpPr txBox="1"/>
          <p:nvPr/>
        </p:nvSpPr>
        <p:spPr>
          <a:xfrm>
            <a:off x="5138058" y="1237544"/>
            <a:ext cx="2688771" cy="369332"/>
          </a:xfrm>
          <a:prstGeom prst="rect">
            <a:avLst/>
          </a:prstGeom>
          <a:noFill/>
        </p:spPr>
        <p:txBody>
          <a:bodyPr wrap="square" rtlCol="0">
            <a:spAutoFit/>
          </a:bodyPr>
          <a:lstStyle/>
          <a:p>
            <a:r>
              <a:rPr lang="zh-CN" altLang="en-US" b="1" dirty="0" smtClean="0">
                <a:solidFill>
                  <a:srgbClr val="F49800"/>
                </a:solidFill>
              </a:rPr>
              <a:t>留联系方式或联系请求</a:t>
            </a:r>
            <a:endParaRPr lang="en-US" b="1" dirty="0">
              <a:solidFill>
                <a:srgbClr val="F49800"/>
              </a:solidFill>
            </a:endParaRPr>
          </a:p>
        </p:txBody>
      </p:sp>
    </p:spTree>
    <p:extLst>
      <p:ext uri="{BB962C8B-B14F-4D97-AF65-F5344CB8AC3E}">
        <p14:creationId xmlns:p14="http://schemas.microsoft.com/office/powerpoint/2010/main" val="17543336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sp>
        <p:nvSpPr>
          <p:cNvPr id="5" name="TextBox 4"/>
          <p:cNvSpPr txBox="1"/>
          <p:nvPr/>
        </p:nvSpPr>
        <p:spPr>
          <a:xfrm>
            <a:off x="252248" y="157654"/>
            <a:ext cx="3573517" cy="584775"/>
          </a:xfrm>
          <a:prstGeom prst="rect">
            <a:avLst/>
          </a:prstGeom>
          <a:noFill/>
        </p:spPr>
        <p:txBody>
          <a:bodyPr wrap="square" rtlCol="0">
            <a:spAutoFit/>
          </a:bodyPr>
          <a:lstStyle/>
          <a:p>
            <a:r>
              <a:rPr lang="zh-CN" altLang="en-US" sz="3200" b="1" dirty="0"/>
              <a:t>帖</a:t>
            </a:r>
            <a:r>
              <a:rPr lang="zh-CN" altLang="en-US" sz="3200" b="1" dirty="0" smtClean="0"/>
              <a:t>子的用法建议</a:t>
            </a:r>
            <a:endParaRPr lang="en-US" sz="3200" b="1"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4203" r="35636"/>
          <a:stretch/>
        </p:blipFill>
        <p:spPr>
          <a:xfrm>
            <a:off x="94593" y="955235"/>
            <a:ext cx="6758152" cy="4811329"/>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63914" t="2021" b="11390"/>
          <a:stretch/>
        </p:blipFill>
        <p:spPr>
          <a:xfrm>
            <a:off x="7935310" y="933010"/>
            <a:ext cx="3788979" cy="4855780"/>
          </a:xfrm>
          <a:prstGeom prst="rect">
            <a:avLst/>
          </a:prstGeom>
        </p:spPr>
      </p:pic>
    </p:spTree>
    <p:extLst>
      <p:ext uri="{BB962C8B-B14F-4D97-AF65-F5344CB8AC3E}">
        <p14:creationId xmlns:p14="http://schemas.microsoft.com/office/powerpoint/2010/main" val="2246230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sp>
        <p:nvSpPr>
          <p:cNvPr id="5" name="TextBox 4"/>
          <p:cNvSpPr txBox="1"/>
          <p:nvPr/>
        </p:nvSpPr>
        <p:spPr>
          <a:xfrm>
            <a:off x="252248" y="157654"/>
            <a:ext cx="4424855" cy="584775"/>
          </a:xfrm>
          <a:prstGeom prst="rect">
            <a:avLst/>
          </a:prstGeom>
          <a:noFill/>
        </p:spPr>
        <p:txBody>
          <a:bodyPr wrap="square" rtlCol="0">
            <a:spAutoFit/>
          </a:bodyPr>
          <a:lstStyle/>
          <a:p>
            <a:r>
              <a:rPr lang="zh-CN" altLang="en-US" sz="3200" b="1" dirty="0" smtClean="0"/>
              <a:t>创建</a:t>
            </a:r>
            <a:r>
              <a:rPr lang="en-US" altLang="zh-CN" sz="3200" b="1" dirty="0" smtClean="0"/>
              <a:t>Posts </a:t>
            </a:r>
            <a:r>
              <a:rPr lang="zh-CN" altLang="en-US" sz="3200" b="1" dirty="0" smtClean="0"/>
              <a:t>常见问题</a:t>
            </a:r>
            <a:endParaRPr lang="en-US" sz="3200" b="1"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3278"/>
          <a:stretch/>
        </p:blipFill>
        <p:spPr>
          <a:xfrm>
            <a:off x="430923" y="1226645"/>
            <a:ext cx="10078463" cy="4065242"/>
          </a:xfrm>
          <a:prstGeom prst="rect">
            <a:avLst/>
          </a:prstGeom>
        </p:spPr>
      </p:pic>
    </p:spTree>
    <p:extLst>
      <p:ext uri="{BB962C8B-B14F-4D97-AF65-F5344CB8AC3E}">
        <p14:creationId xmlns:p14="http://schemas.microsoft.com/office/powerpoint/2010/main" val="2094118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US" dirty="0"/>
          </a:p>
        </p:txBody>
      </p:sp>
      <p:sp>
        <p:nvSpPr>
          <p:cNvPr id="5" name="TextBox 4"/>
          <p:cNvSpPr txBox="1"/>
          <p:nvPr/>
        </p:nvSpPr>
        <p:spPr>
          <a:xfrm>
            <a:off x="252248" y="157654"/>
            <a:ext cx="4424855" cy="584775"/>
          </a:xfrm>
          <a:prstGeom prst="rect">
            <a:avLst/>
          </a:prstGeom>
          <a:noFill/>
        </p:spPr>
        <p:txBody>
          <a:bodyPr wrap="square" rtlCol="0">
            <a:spAutoFit/>
          </a:bodyPr>
          <a:lstStyle/>
          <a:p>
            <a:r>
              <a:rPr lang="zh-CN" altLang="en-US" sz="3200" b="1" dirty="0" smtClean="0"/>
              <a:t>创建</a:t>
            </a:r>
            <a:r>
              <a:rPr lang="en-US" altLang="zh-CN" sz="3200" b="1" dirty="0" smtClean="0"/>
              <a:t>Posts </a:t>
            </a:r>
            <a:r>
              <a:rPr lang="zh-CN" altLang="en-US" sz="3200" b="1" dirty="0" smtClean="0"/>
              <a:t>常见问题</a:t>
            </a:r>
            <a:endParaRPr lang="en-US" sz="3200" b="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43" y="1139799"/>
            <a:ext cx="11899245" cy="3947207"/>
          </a:xfrm>
          <a:prstGeom prst="rect">
            <a:avLst/>
          </a:prstGeom>
        </p:spPr>
      </p:pic>
    </p:spTree>
    <p:extLst>
      <p:ext uri="{BB962C8B-B14F-4D97-AF65-F5344CB8AC3E}">
        <p14:creationId xmlns:p14="http://schemas.microsoft.com/office/powerpoint/2010/main" val="14924774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5171" y="186878"/>
            <a:ext cx="2420214" cy="461665"/>
          </a:xfrm>
          <a:prstGeom prst="rect">
            <a:avLst/>
          </a:prstGeom>
        </p:spPr>
        <p:txBody>
          <a:bodyPr wrap="none">
            <a:spAutoFit/>
          </a:bodyPr>
          <a:lstStyle/>
          <a:p>
            <a:r>
              <a:rPr lang="en-US" altLang="zh-CN" sz="2400" b="1" dirty="0">
                <a:ea typeface="微软雅黑" panose="020B0503020204020204" pitchFamily="34" charset="-122"/>
              </a:rPr>
              <a:t>Post Update (US</a:t>
            </a:r>
            <a:r>
              <a:rPr lang="en-US" altLang="zh-CN" sz="2400" b="1" dirty="0" smtClean="0">
                <a:ea typeface="微软雅黑" panose="020B0503020204020204" pitchFamily="34" charset="-122"/>
              </a:rPr>
              <a:t>) </a:t>
            </a:r>
            <a:endParaRPr lang="zh-CN" altLang="en-US" sz="2400" b="1" dirty="0">
              <a:ea typeface="微软雅黑" panose="020B0503020204020204" pitchFamily="34" charset="-122"/>
            </a:endParaRPr>
          </a:p>
        </p:txBody>
      </p:sp>
      <p:sp>
        <p:nvSpPr>
          <p:cNvPr id="5" name="Rectangle 4"/>
          <p:cNvSpPr/>
          <p:nvPr/>
        </p:nvSpPr>
        <p:spPr>
          <a:xfrm>
            <a:off x="116441" y="935796"/>
            <a:ext cx="11687632" cy="2862322"/>
          </a:xfrm>
          <a:prstGeom prst="rect">
            <a:avLst/>
          </a:prstGeom>
        </p:spPr>
        <p:txBody>
          <a:bodyPr wrap="square">
            <a:spAutoFit/>
          </a:bodyPr>
          <a:lstStyle/>
          <a:p>
            <a:pPr marL="285750" indent="-285750">
              <a:buFont typeface="Arial" panose="020B0604020202020204" pitchFamily="34" charset="0"/>
              <a:buChar char="•"/>
            </a:pPr>
            <a:endParaRPr lang="en-US" altLang="zh-CN" dirty="0">
              <a:latin typeface="+mn-ea"/>
            </a:endParaRPr>
          </a:p>
          <a:p>
            <a:pPr marL="285750" indent="-285750">
              <a:buFont typeface="Arial" panose="020B0604020202020204" pitchFamily="34" charset="0"/>
              <a:buChar char="•"/>
            </a:pPr>
            <a:endParaRPr lang="en-US" altLang="zh-CN" dirty="0" smtClean="0">
              <a:latin typeface="+mn-ea"/>
            </a:endParaRPr>
          </a:p>
          <a:p>
            <a:pPr marL="285750" indent="-285750">
              <a:buFont typeface="Arial" panose="020B0604020202020204" pitchFamily="34" charset="0"/>
              <a:buChar char="•"/>
            </a:pPr>
            <a:endParaRPr lang="en-US" altLang="zh-CN" dirty="0">
              <a:latin typeface="+mn-ea"/>
            </a:endParaRPr>
          </a:p>
          <a:p>
            <a:pPr marL="285750" indent="-285750">
              <a:buFont typeface="Arial" panose="020B0604020202020204" pitchFamily="34" charset="0"/>
              <a:buChar char="•"/>
            </a:pPr>
            <a:endParaRPr lang="en-US" altLang="zh-CN" dirty="0" smtClean="0">
              <a:latin typeface="+mn-ea"/>
            </a:endParaRPr>
          </a:p>
          <a:p>
            <a:pPr marL="285750" indent="-285750">
              <a:buFont typeface="Arial" panose="020B0604020202020204" pitchFamily="34" charset="0"/>
              <a:buChar char="•"/>
            </a:pPr>
            <a:endParaRPr lang="en-US" altLang="zh-CN" dirty="0">
              <a:latin typeface="+mn-ea"/>
            </a:endParaRPr>
          </a:p>
          <a:p>
            <a:pPr marL="285750" indent="-285750">
              <a:buFont typeface="Arial" panose="020B0604020202020204" pitchFamily="34" charset="0"/>
              <a:buChar char="•"/>
            </a:pPr>
            <a:endParaRPr lang="en-US" altLang="zh-CN" dirty="0" smtClean="0">
              <a:latin typeface="+mn-ea"/>
            </a:endParaRPr>
          </a:p>
          <a:p>
            <a:pPr marL="285750" indent="-285750">
              <a:buFont typeface="Arial" panose="020B0604020202020204" pitchFamily="34" charset="0"/>
              <a:buChar char="•"/>
            </a:pPr>
            <a:endParaRPr lang="en-US" altLang="zh-CN" dirty="0">
              <a:latin typeface="+mn-ea"/>
            </a:endParaRPr>
          </a:p>
          <a:p>
            <a:pPr marL="285750" indent="-285750">
              <a:buFont typeface="Arial" panose="020B0604020202020204" pitchFamily="34" charset="0"/>
              <a:buChar char="•"/>
            </a:pPr>
            <a:endParaRPr lang="en-US" altLang="zh-CN" dirty="0" smtClean="0">
              <a:latin typeface="+mn-ea"/>
            </a:endParaRPr>
          </a:p>
          <a:p>
            <a:pPr marL="285750" indent="-285750">
              <a:buFont typeface="Arial" panose="020B0604020202020204" pitchFamily="34" charset="0"/>
              <a:buChar char="•"/>
            </a:pPr>
            <a:endParaRPr lang="en-US" altLang="zh-CN" dirty="0" smtClean="0">
              <a:latin typeface="+mn-ea"/>
            </a:endParaRPr>
          </a:p>
          <a:p>
            <a:endParaRPr lang="zh-CN" altLang="en-US" dirty="0">
              <a:latin typeface="+mn-ea"/>
            </a:endParaRPr>
          </a:p>
        </p:txBody>
      </p:sp>
      <p:sp>
        <p:nvSpPr>
          <p:cNvPr id="11" name="标题 1"/>
          <p:cNvSpPr txBox="1">
            <a:spLocks/>
          </p:cNvSpPr>
          <p:nvPr/>
        </p:nvSpPr>
        <p:spPr>
          <a:xfrm>
            <a:off x="165171" y="935796"/>
            <a:ext cx="11638902" cy="664378"/>
          </a:xfrm>
          <a:prstGeom prst="rect">
            <a:avLst/>
          </a:prstGeom>
        </p:spPr>
        <p:txBody>
          <a:bodyPr/>
          <a:lstStyle>
            <a:lvl1pPr algn="l" defTabSz="457200" rtl="0" eaLnBrk="1" fontAlgn="base" hangingPunct="1">
              <a:spcBef>
                <a:spcPct val="0"/>
              </a:spcBef>
              <a:spcAft>
                <a:spcPct val="0"/>
              </a:spcAft>
              <a:defRPr kumimoji="1" sz="1000" kern="1200">
                <a:solidFill>
                  <a:srgbClr val="FF9900"/>
                </a:solidFill>
                <a:latin typeface="Century Gothic"/>
                <a:ea typeface="思源黑体 Regular"/>
                <a:cs typeface="宋体" charset="0"/>
              </a:defRPr>
            </a:lvl1pPr>
            <a:lvl2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2pPr>
            <a:lvl3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3pPr>
            <a:lvl4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4pPr>
            <a:lvl5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5pPr>
            <a:lvl6pPr marL="4572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6pPr>
            <a:lvl7pPr marL="9144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7pPr>
            <a:lvl8pPr marL="13716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8pPr>
            <a:lvl9pPr marL="18288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9pPr>
          </a:lstStyle>
          <a:p>
            <a:r>
              <a:rPr lang="en-US" altLang="zh-CN" sz="1800" b="1" dirty="0" smtClean="0">
                <a:solidFill>
                  <a:schemeClr val="tx1"/>
                </a:solidFill>
                <a:highlight>
                  <a:srgbClr val="FFFF00"/>
                </a:highlight>
                <a:latin typeface="+mn-lt"/>
                <a:ea typeface="微软雅黑" panose="020B0503020204020204" pitchFamily="34" charset="-122"/>
              </a:rPr>
              <a:t>POSTS UPDATE</a:t>
            </a:r>
            <a:r>
              <a:rPr lang="en-US" altLang="zh-CN" sz="1800" b="1" dirty="0">
                <a:solidFill>
                  <a:schemeClr val="tx1"/>
                </a:solidFill>
                <a:highlight>
                  <a:srgbClr val="FFFF00"/>
                </a:highlight>
                <a:latin typeface="+mn-lt"/>
                <a:ea typeface="微软雅黑" panose="020B0503020204020204" pitchFamily="34" charset="-122"/>
              </a:rPr>
              <a:t>: Product detail page carousels now show the most recent and highest-performing related posts, regardless of brand affiliation. We no longer support the brand-owned carousel on detail pages.</a:t>
            </a:r>
            <a:endParaRPr lang="en-US" altLang="zh-CN" sz="1800" b="1" dirty="0">
              <a:solidFill>
                <a:schemeClr val="tx1"/>
              </a:solidFill>
              <a:latin typeface="+mn-lt"/>
              <a:ea typeface="微软雅黑" panose="020B0503020204020204" pitchFamily="34" charset="-122"/>
            </a:endParaRPr>
          </a:p>
        </p:txBody>
      </p:sp>
      <p:sp>
        <p:nvSpPr>
          <p:cNvPr id="12" name="Rectangle 7"/>
          <p:cNvSpPr/>
          <p:nvPr/>
        </p:nvSpPr>
        <p:spPr>
          <a:xfrm>
            <a:off x="165171" y="1887427"/>
            <a:ext cx="11638902" cy="4468659"/>
          </a:xfrm>
          <a:prstGeom prst="rect">
            <a:avLst/>
          </a:prstGeom>
        </p:spPr>
        <p:txBody>
          <a:bodyPr wrap="square">
            <a:spAutoFit/>
          </a:bodyPr>
          <a:lstStyle/>
          <a:p>
            <a:r>
              <a:rPr lang="en-US" sz="1600" b="1" u="sng" dirty="0" smtClean="0">
                <a:latin typeface="Calibri" panose="020F0502020204030204" pitchFamily="34" charset="0"/>
                <a:ea typeface="DengXian" panose="02010600030101010101" pitchFamily="2" charset="-122"/>
              </a:rPr>
              <a:t>Seller Voice: </a:t>
            </a:r>
          </a:p>
          <a:p>
            <a:r>
              <a:rPr lang="en-US" sz="1600" dirty="0" smtClean="0">
                <a:latin typeface="Calibri" panose="020F0502020204030204" pitchFamily="34" charset="0"/>
                <a:ea typeface="DengXian" panose="02010600030101010101" pitchFamily="2" charset="-122"/>
              </a:rPr>
              <a:t>Top </a:t>
            </a:r>
            <a:r>
              <a:rPr lang="en-US" sz="1600" dirty="0">
                <a:latin typeface="Calibri" panose="020F0502020204030204" pitchFamily="34" charset="0"/>
                <a:ea typeface="DengXian" panose="02010600030101010101" pitchFamily="2" charset="-122"/>
              </a:rPr>
              <a:t>placements of related posts are competitors rather than brand-owned. </a:t>
            </a:r>
            <a:endParaRPr lang="en-US" sz="1600" dirty="0" smtClean="0">
              <a:latin typeface="Calibri" panose="020F0502020204030204" pitchFamily="34" charset="0"/>
              <a:ea typeface="DengXian" panose="02010600030101010101" pitchFamily="2" charset="-122"/>
            </a:endParaRPr>
          </a:p>
          <a:p>
            <a:r>
              <a:rPr lang="en-US" sz="1600" b="1" dirty="0">
                <a:latin typeface="Calibri" panose="020F0502020204030204" pitchFamily="34" charset="0"/>
                <a:ea typeface="DengXian" panose="02010600030101010101" pitchFamily="2" charset="-122"/>
              </a:rPr>
              <a:t> </a:t>
            </a:r>
            <a:endParaRPr lang="en-US" sz="1600" dirty="0">
              <a:latin typeface="Calibri" panose="020F0502020204030204" pitchFamily="34" charset="0"/>
              <a:ea typeface="DengXian" panose="02010600030101010101" pitchFamily="2" charset="-122"/>
            </a:endParaRPr>
          </a:p>
          <a:p>
            <a:r>
              <a:rPr lang="en-US" sz="1600" b="1" u="sng" dirty="0">
                <a:latin typeface="Calibri" panose="020F0502020204030204" pitchFamily="34" charset="0"/>
                <a:ea typeface="DengXian" panose="02010600030101010101" pitchFamily="2" charset="-122"/>
              </a:rPr>
              <a:t>Learnings:    </a:t>
            </a:r>
            <a:endParaRPr lang="en-US" sz="1600" dirty="0">
              <a:latin typeface="Calibri" panose="020F0502020204030204" pitchFamily="34" charset="0"/>
              <a:ea typeface="DengXian" panose="02010600030101010101" pitchFamily="2" charset="-122"/>
            </a:endParaRPr>
          </a:p>
          <a:p>
            <a:pPr marL="342900" marR="0" lvl="0" indent="-342900">
              <a:lnSpc>
                <a:spcPct val="105000"/>
              </a:lnSpc>
              <a:spcBef>
                <a:spcPts val="0"/>
              </a:spcBef>
              <a:spcAft>
                <a:spcPts val="800"/>
              </a:spcAft>
              <a:buFont typeface="Symbol" panose="05050102010706020507" pitchFamily="18" charset="2"/>
              <a:buChar char=""/>
            </a:pPr>
            <a:r>
              <a:rPr lang="en-US" sz="1600" b="1" dirty="0">
                <a:latin typeface="Calibri" panose="020F0502020204030204" pitchFamily="34" charset="0"/>
                <a:ea typeface="DengXian" panose="02010600030101010101" pitchFamily="2" charset="-122"/>
              </a:rPr>
              <a:t>Why it happened?</a:t>
            </a:r>
            <a:endParaRPr lang="en-US" sz="1600" dirty="0">
              <a:latin typeface="Calibri" panose="020F0502020204030204" pitchFamily="34" charset="0"/>
              <a:ea typeface="DengXian" panose="02010600030101010101" pitchFamily="2" charset="-122"/>
            </a:endParaRPr>
          </a:p>
          <a:p>
            <a:r>
              <a:rPr lang="en-US" sz="1600" dirty="0">
                <a:latin typeface="Calibri" panose="020F0502020204030204" pitchFamily="34" charset="0"/>
                <a:ea typeface="DengXian" panose="02010600030101010101" pitchFamily="2" charset="-122"/>
              </a:rPr>
              <a:t>Check two factors. First, check it if the ASIN is in stock. If it is out of stock, posts will not show up. Second, check the post performance, indicating your posts need optimize. W</a:t>
            </a:r>
            <a:r>
              <a:rPr lang="en-US" sz="1600" b="1" dirty="0">
                <a:latin typeface="Calibri" panose="020F0502020204030204" pitchFamily="34" charset="0"/>
                <a:ea typeface="DengXian" panose="02010600030101010101" pitchFamily="2" charset="-122"/>
              </a:rPr>
              <a:t>ith updated information, </a:t>
            </a:r>
            <a:r>
              <a:rPr lang="en-US" sz="1600" dirty="0">
                <a:latin typeface="Calibri" panose="020F0502020204030204" pitchFamily="34" charset="0"/>
                <a:ea typeface="DengXian" panose="02010600030101010101" pitchFamily="2" charset="-122"/>
              </a:rPr>
              <a:t>AM will know that Amazon system will optimize placement of your posts based on </a:t>
            </a:r>
            <a:r>
              <a:rPr lang="en-US" sz="1600" b="1" dirty="0">
                <a:latin typeface="Calibri" panose="020F0502020204030204" pitchFamily="34" charset="0"/>
                <a:ea typeface="DengXian" panose="02010600030101010101" pitchFamily="2" charset="-122"/>
              </a:rPr>
              <a:t>detail page relevance, </a:t>
            </a:r>
            <a:r>
              <a:rPr lang="en-US" sz="1600" b="1" dirty="0" err="1">
                <a:latin typeface="Calibri" panose="020F0502020204030204" pitchFamily="34" charset="0"/>
                <a:ea typeface="DengXian" panose="02010600030101010101" pitchFamily="2" charset="-122"/>
              </a:rPr>
              <a:t>recency</a:t>
            </a:r>
            <a:r>
              <a:rPr lang="en-US" sz="1600" b="1" dirty="0">
                <a:latin typeface="Calibri" panose="020F0502020204030204" pitchFamily="34" charset="0"/>
                <a:ea typeface="DengXian" panose="02010600030101010101" pitchFamily="2" charset="-122"/>
              </a:rPr>
              <a:t>, and customer engagement. </a:t>
            </a:r>
            <a:r>
              <a:rPr lang="en-US" sz="1600" dirty="0">
                <a:latin typeface="Calibri" panose="020F0502020204030204" pitchFamily="34" charset="0"/>
                <a:ea typeface="DengXian" panose="02010600030101010101" pitchFamily="2" charset="-122"/>
              </a:rPr>
              <a:t>If your posts perform not very well,</a:t>
            </a:r>
            <a:r>
              <a:rPr lang="en-US" sz="1600" b="1" dirty="0">
                <a:latin typeface="Calibri" panose="020F0502020204030204" pitchFamily="34" charset="0"/>
                <a:ea typeface="DengXian" panose="02010600030101010101" pitchFamily="2" charset="-122"/>
              </a:rPr>
              <a:t> there will be other competitors’ posts under your sellers’ ASIN detail page and may ahead of yours. </a:t>
            </a:r>
            <a:endParaRPr lang="en-US" sz="1600" dirty="0">
              <a:latin typeface="Calibri" panose="020F0502020204030204" pitchFamily="34" charset="0"/>
              <a:ea typeface="DengXian" panose="02010600030101010101" pitchFamily="2" charset="-122"/>
            </a:endParaRPr>
          </a:p>
          <a:p>
            <a:r>
              <a:rPr lang="en-US" sz="1600" dirty="0">
                <a:latin typeface="Calibri" panose="020F0502020204030204" pitchFamily="34" charset="0"/>
                <a:ea typeface="DengXian" panose="02010600030101010101" pitchFamily="2" charset="-122"/>
              </a:rPr>
              <a:t> </a:t>
            </a:r>
          </a:p>
          <a:p>
            <a:pPr marL="342900" marR="0" lvl="0" indent="-342900">
              <a:lnSpc>
                <a:spcPct val="105000"/>
              </a:lnSpc>
              <a:spcBef>
                <a:spcPts val="0"/>
              </a:spcBef>
              <a:spcAft>
                <a:spcPts val="0"/>
              </a:spcAft>
              <a:buFont typeface="Symbol" panose="05050102010706020507" pitchFamily="18" charset="2"/>
              <a:buChar char=""/>
            </a:pPr>
            <a:r>
              <a:rPr lang="en-US" sz="1600" b="1" dirty="0">
                <a:latin typeface="Calibri" panose="020F0502020204030204" pitchFamily="34" charset="0"/>
                <a:ea typeface="DengXian" panose="02010600030101010101" pitchFamily="2" charset="-122"/>
              </a:rPr>
              <a:t>What sellers can be done to help optimize posts?</a:t>
            </a:r>
            <a:endParaRPr lang="en-US" sz="1600" dirty="0">
              <a:latin typeface="Calibri" panose="020F0502020204030204" pitchFamily="34" charset="0"/>
              <a:ea typeface="DengXian" panose="02010600030101010101" pitchFamily="2" charset="-122"/>
            </a:endParaRPr>
          </a:p>
          <a:p>
            <a:pPr marL="342900" marR="0" lvl="0" indent="-342900">
              <a:lnSpc>
                <a:spcPct val="105000"/>
              </a:lnSpc>
              <a:spcBef>
                <a:spcPts val="0"/>
              </a:spcBef>
              <a:spcAft>
                <a:spcPts val="0"/>
              </a:spcAft>
              <a:buFont typeface="+mj-lt"/>
              <a:buAutoNum type="arabicParenBoth"/>
            </a:pPr>
            <a:r>
              <a:rPr lang="en-US" sz="1600" dirty="0">
                <a:latin typeface="Calibri" panose="020F0502020204030204" pitchFamily="34" charset="0"/>
                <a:ea typeface="DengXian" panose="02010600030101010101" pitchFamily="2" charset="-122"/>
              </a:rPr>
              <a:t>Based on latest posts rule, please pay attention to each created posts instead of leaving them alone. </a:t>
            </a:r>
          </a:p>
          <a:p>
            <a:pPr marL="342900" marR="0" lvl="0" indent="-342900">
              <a:lnSpc>
                <a:spcPct val="105000"/>
              </a:lnSpc>
              <a:spcBef>
                <a:spcPts val="0"/>
              </a:spcBef>
              <a:spcAft>
                <a:spcPts val="0"/>
              </a:spcAft>
              <a:buFont typeface="+mj-lt"/>
              <a:buAutoNum type="arabicParenBoth"/>
            </a:pPr>
            <a:r>
              <a:rPr lang="en-US" sz="1600" dirty="0">
                <a:latin typeface="Calibri" panose="020F0502020204030204" pitchFamily="34" charset="0"/>
                <a:ea typeface="DengXian" panose="02010600030101010101" pitchFamily="2" charset="-122"/>
              </a:rPr>
              <a:t>If your ASINs are out of stock for a while, please check posts placements or create the newest related posts when in stock to make sure they are at the top placement. </a:t>
            </a:r>
          </a:p>
          <a:p>
            <a:pPr marL="342900" marR="0" lvl="0" indent="-342900">
              <a:lnSpc>
                <a:spcPct val="105000"/>
              </a:lnSpc>
              <a:spcBef>
                <a:spcPts val="0"/>
              </a:spcBef>
              <a:spcAft>
                <a:spcPts val="0"/>
              </a:spcAft>
              <a:buFont typeface="+mj-lt"/>
              <a:buAutoNum type="arabicParenBoth"/>
            </a:pPr>
            <a:r>
              <a:rPr lang="en-US" sz="1600" dirty="0">
                <a:latin typeface="Calibri" panose="020F0502020204030204" pitchFamily="34" charset="0"/>
                <a:ea typeface="DengXian" panose="02010600030101010101" pitchFamily="2" charset="-122"/>
              </a:rPr>
              <a:t>When optimizing your posts, suggest DO NOT delete old posts since old posts accumulate impressions. In addition, good keywords and high quality photos are good for increasing your CTR</a:t>
            </a:r>
          </a:p>
          <a:p>
            <a:pPr marL="342900" marR="0" lvl="0" indent="-342900">
              <a:lnSpc>
                <a:spcPct val="105000"/>
              </a:lnSpc>
              <a:spcBef>
                <a:spcPts val="0"/>
              </a:spcBef>
              <a:spcAft>
                <a:spcPts val="800"/>
              </a:spcAft>
              <a:buFont typeface="+mj-lt"/>
              <a:buAutoNum type="arabicParenBoth"/>
            </a:pPr>
            <a:r>
              <a:rPr lang="en-US" sz="1600" dirty="0">
                <a:latin typeface="Calibri" panose="020F0502020204030204" pitchFamily="34" charset="0"/>
                <a:ea typeface="DengXian" panose="02010600030101010101" pitchFamily="2" charset="-122"/>
              </a:rPr>
              <a:t>Maintain and create posts regularly. </a:t>
            </a:r>
            <a:endParaRPr lang="en-US" sz="1600" dirty="0">
              <a:effectLst/>
              <a:latin typeface="Calibri" panose="020F0502020204030204" pitchFamily="34" charset="0"/>
              <a:ea typeface="DengXian" panose="02010600030101010101" pitchFamily="2" charset="-122"/>
            </a:endParaRPr>
          </a:p>
        </p:txBody>
      </p:sp>
    </p:spTree>
    <p:extLst>
      <p:ext uri="{BB962C8B-B14F-4D97-AF65-F5344CB8AC3E}">
        <p14:creationId xmlns:p14="http://schemas.microsoft.com/office/powerpoint/2010/main" val="32336110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p:nvPr/>
        </p:nvSpPr>
        <p:spPr>
          <a:xfrm>
            <a:off x="165171" y="186878"/>
            <a:ext cx="2351285" cy="461665"/>
          </a:xfrm>
          <a:prstGeom prst="rect">
            <a:avLst/>
          </a:prstGeom>
        </p:spPr>
        <p:txBody>
          <a:bodyPr wrap="none">
            <a:spAutoFit/>
          </a:bodyPr>
          <a:lstStyle/>
          <a:p>
            <a:r>
              <a:rPr lang="en-US" altLang="zh-CN" sz="2400" b="1" dirty="0">
                <a:ea typeface="微软雅黑" panose="020B0503020204020204" pitchFamily="34" charset="-122"/>
              </a:rPr>
              <a:t>Post Update (US</a:t>
            </a:r>
            <a:r>
              <a:rPr lang="en-US" altLang="zh-CN" sz="2400" b="1" dirty="0" smtClean="0">
                <a:ea typeface="微软雅黑" panose="020B0503020204020204" pitchFamily="34" charset="-122"/>
              </a:rPr>
              <a:t>)</a:t>
            </a:r>
            <a:endParaRPr lang="zh-CN" altLang="en-US" sz="2400" b="1" dirty="0">
              <a:ea typeface="微软雅黑" panose="020B0503020204020204" pitchFamily="34" charset="-122"/>
            </a:endParaRPr>
          </a:p>
        </p:txBody>
      </p:sp>
      <p:sp>
        <p:nvSpPr>
          <p:cNvPr id="6" name="标题 1"/>
          <p:cNvSpPr txBox="1">
            <a:spLocks/>
          </p:cNvSpPr>
          <p:nvPr/>
        </p:nvSpPr>
        <p:spPr>
          <a:xfrm>
            <a:off x="308046" y="935796"/>
            <a:ext cx="11496027" cy="5022092"/>
          </a:xfrm>
          <a:prstGeom prst="rect">
            <a:avLst/>
          </a:prstGeom>
        </p:spPr>
        <p:txBody>
          <a:bodyPr/>
          <a:lstStyle>
            <a:lvl1pPr algn="l" defTabSz="457200" rtl="0" eaLnBrk="1" fontAlgn="base" hangingPunct="1">
              <a:spcBef>
                <a:spcPct val="0"/>
              </a:spcBef>
              <a:spcAft>
                <a:spcPct val="0"/>
              </a:spcAft>
              <a:defRPr kumimoji="1" sz="1000" kern="1200">
                <a:solidFill>
                  <a:srgbClr val="FF9900"/>
                </a:solidFill>
                <a:latin typeface="Century Gothic"/>
                <a:ea typeface="思源黑体 Regular"/>
                <a:cs typeface="宋体" charset="0"/>
              </a:defRPr>
            </a:lvl1pPr>
            <a:lvl2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2pPr>
            <a:lvl3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3pPr>
            <a:lvl4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4pPr>
            <a:lvl5pPr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5pPr>
            <a:lvl6pPr marL="4572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6pPr>
            <a:lvl7pPr marL="9144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7pPr>
            <a:lvl8pPr marL="13716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8pPr>
            <a:lvl9pPr marL="1828800" algn="ctr" defTabSz="457200" rtl="0" eaLnBrk="1" fontAlgn="base" hangingPunct="1">
              <a:spcBef>
                <a:spcPct val="0"/>
              </a:spcBef>
              <a:spcAft>
                <a:spcPct val="0"/>
              </a:spcAft>
              <a:defRPr kumimoji="1" sz="4400">
                <a:solidFill>
                  <a:schemeClr val="tx1"/>
                </a:solidFill>
                <a:latin typeface="Calibri" charset="0"/>
                <a:ea typeface="宋体" charset="0"/>
                <a:cs typeface="宋体" charset="0"/>
              </a:defRPr>
            </a:lvl9pPr>
          </a:lstStyle>
          <a:p>
            <a:r>
              <a:rPr lang="en-US" altLang="zh-CN" sz="1800" b="1" u="sng" dirty="0">
                <a:solidFill>
                  <a:schemeClr val="tx1"/>
                </a:solidFill>
                <a:latin typeface="Calibri" panose="020F0502020204030204" pitchFamily="34" charset="0"/>
                <a:ea typeface="DengXian" panose="02010600030101010101" pitchFamily="2" charset="-122"/>
              </a:rPr>
              <a:t>Other FAQ:</a:t>
            </a:r>
          </a:p>
          <a:p>
            <a:endParaRPr lang="en-US" altLang="zh-CN" sz="1800" dirty="0">
              <a:solidFill>
                <a:schemeClr val="tx1"/>
              </a:solidFill>
              <a:latin typeface="Calibri" panose="020F0502020204030204" pitchFamily="34" charset="0"/>
              <a:ea typeface="DengXian" panose="02010600030101010101" pitchFamily="2" charset="-122"/>
            </a:endParaRPr>
          </a:p>
          <a:p>
            <a:r>
              <a:rPr lang="en-US" altLang="zh-CN" sz="1800" dirty="0">
                <a:solidFill>
                  <a:schemeClr val="tx1"/>
                </a:solidFill>
                <a:latin typeface="Calibri" panose="020F0502020204030204" pitchFamily="34" charset="0"/>
                <a:ea typeface="DengXian" panose="02010600030101010101" pitchFamily="2" charset="-122"/>
              </a:rPr>
              <a:t>Q: I published my first post. The dashboard says it’s live, but it’s not showing up on my brand’s detail pages. Is there anything else I need to do in order for my post to show up?</a:t>
            </a:r>
            <a:br>
              <a:rPr lang="en-US" altLang="zh-CN" sz="1800" dirty="0">
                <a:solidFill>
                  <a:schemeClr val="tx1"/>
                </a:solidFill>
                <a:latin typeface="Calibri" panose="020F0502020204030204" pitchFamily="34" charset="0"/>
                <a:ea typeface="DengXian" panose="02010600030101010101" pitchFamily="2" charset="-122"/>
              </a:rPr>
            </a:br>
            <a:r>
              <a:rPr lang="en-US" altLang="zh-CN" sz="1800" dirty="0">
                <a:solidFill>
                  <a:schemeClr val="tx1"/>
                </a:solidFill>
                <a:latin typeface="Calibri" panose="020F0502020204030204" pitchFamily="34" charset="0"/>
                <a:ea typeface="DengXian" panose="02010600030101010101" pitchFamily="2" charset="-122"/>
              </a:rPr>
              <a:t>A: Amazon requires that brand’s publish a minimum of three posts before we’ll start displaying your content on detail pages. This helps ensure customers can swipe through the horizontally-scrolling carousel on detail pages.</a:t>
            </a:r>
          </a:p>
          <a:p>
            <a:r>
              <a:rPr lang="en-US" altLang="zh-CN" sz="1800" dirty="0">
                <a:solidFill>
                  <a:schemeClr val="tx1"/>
                </a:solidFill>
                <a:latin typeface="Calibri" panose="020F0502020204030204" pitchFamily="34" charset="0"/>
                <a:ea typeface="DengXian" panose="02010600030101010101" pitchFamily="2" charset="-122"/>
              </a:rPr>
              <a:t> </a:t>
            </a:r>
          </a:p>
          <a:p>
            <a:r>
              <a:rPr lang="en-US" altLang="zh-CN" sz="1800" dirty="0">
                <a:solidFill>
                  <a:schemeClr val="tx1"/>
                </a:solidFill>
                <a:latin typeface="Calibri" panose="020F0502020204030204" pitchFamily="34" charset="0"/>
                <a:ea typeface="DengXian" panose="02010600030101010101" pitchFamily="2" charset="-122"/>
              </a:rPr>
              <a:t>Q: I’ve published three or more posts, but I’m still not seeing the carousel. What’s wrong?</a:t>
            </a:r>
            <a:br>
              <a:rPr lang="en-US" altLang="zh-CN" sz="1800" dirty="0">
                <a:solidFill>
                  <a:schemeClr val="tx1"/>
                </a:solidFill>
                <a:latin typeface="Calibri" panose="020F0502020204030204" pitchFamily="34" charset="0"/>
                <a:ea typeface="DengXian" panose="02010600030101010101" pitchFamily="2" charset="-122"/>
              </a:rPr>
            </a:br>
            <a:r>
              <a:rPr lang="en-US" altLang="zh-CN" sz="1800" dirty="0">
                <a:solidFill>
                  <a:schemeClr val="tx1"/>
                </a:solidFill>
                <a:latin typeface="Calibri" panose="020F0502020204030204" pitchFamily="34" charset="0"/>
                <a:ea typeface="DengXian" panose="02010600030101010101" pitchFamily="2" charset="-122"/>
              </a:rPr>
              <a:t>A: We do not display posts for products that are out of stock or where the brand owner isn’t winning the buy box. If you’ve published three or more posts and your still not seeing your carousel displayed on detail pages, check the ASINs for your posts to make sure that the products they link to are in stock and that you’re winning the buy box for a minimum of three or more of your posts. If not, you’ll need to publish posts for three or more products that meet these criteria.</a:t>
            </a:r>
          </a:p>
          <a:p>
            <a:r>
              <a:rPr lang="en-US" altLang="zh-CN" sz="1800" dirty="0">
                <a:solidFill>
                  <a:schemeClr val="tx1"/>
                </a:solidFill>
                <a:latin typeface="Calibri" panose="020F0502020204030204" pitchFamily="34" charset="0"/>
                <a:ea typeface="DengXian" panose="02010600030101010101" pitchFamily="2" charset="-122"/>
              </a:rPr>
              <a:t> </a:t>
            </a:r>
          </a:p>
          <a:p>
            <a:r>
              <a:rPr lang="en-US" altLang="zh-CN" sz="1800" dirty="0">
                <a:solidFill>
                  <a:schemeClr val="tx1"/>
                </a:solidFill>
                <a:latin typeface="Calibri" panose="020F0502020204030204" pitchFamily="34" charset="0"/>
                <a:ea typeface="DengXian" panose="02010600030101010101" pitchFamily="2" charset="-122"/>
              </a:rPr>
              <a:t>Q: When I want to publish new posts, should I edit my existing ones, or create new ones?</a:t>
            </a:r>
            <a:br>
              <a:rPr lang="en-US" altLang="zh-CN" sz="1800" dirty="0">
                <a:solidFill>
                  <a:schemeClr val="tx1"/>
                </a:solidFill>
                <a:latin typeface="Calibri" panose="020F0502020204030204" pitchFamily="34" charset="0"/>
                <a:ea typeface="DengXian" panose="02010600030101010101" pitchFamily="2" charset="-122"/>
              </a:rPr>
            </a:br>
            <a:r>
              <a:rPr lang="en-US" altLang="zh-CN" sz="1800" dirty="0">
                <a:solidFill>
                  <a:schemeClr val="tx1"/>
                </a:solidFill>
                <a:latin typeface="Calibri" panose="020F0502020204030204" pitchFamily="34" charset="0"/>
                <a:ea typeface="DengXian" panose="02010600030101010101" pitchFamily="2" charset="-122"/>
              </a:rPr>
              <a:t>A: There’s no limit to the number of posts you can publish. Therefore, we encourage brands to always create new Posts rather than edit existing ones. Additionally, we encourage brands not to withdraw posts they’ve previously published, unless they need to do so. Our systems will optimize placement of your posts based on detail page relevance, </a:t>
            </a:r>
            <a:r>
              <a:rPr lang="en-US" altLang="zh-CN" sz="1800" dirty="0" err="1">
                <a:solidFill>
                  <a:schemeClr val="tx1"/>
                </a:solidFill>
                <a:latin typeface="Calibri" panose="020F0502020204030204" pitchFamily="34" charset="0"/>
                <a:ea typeface="DengXian" panose="02010600030101010101" pitchFamily="2" charset="-122"/>
              </a:rPr>
              <a:t>recency</a:t>
            </a:r>
            <a:r>
              <a:rPr lang="en-US" altLang="zh-CN" sz="1800" dirty="0">
                <a:solidFill>
                  <a:schemeClr val="tx1"/>
                </a:solidFill>
                <a:latin typeface="Calibri" panose="020F0502020204030204" pitchFamily="34" charset="0"/>
                <a:ea typeface="DengXian" panose="02010600030101010101" pitchFamily="2" charset="-122"/>
              </a:rPr>
              <a:t>, and customer engagement.</a:t>
            </a:r>
            <a:endParaRPr lang="en-US" altLang="zh-CN" sz="1800" b="1" dirty="0">
              <a:solidFill>
                <a:schemeClr val="tx1"/>
              </a:solidFill>
              <a:latin typeface="+mj-lt"/>
              <a:ea typeface="微软雅黑" panose="020B0503020204020204" pitchFamily="34" charset="-122"/>
            </a:endParaRPr>
          </a:p>
        </p:txBody>
      </p:sp>
      <p:sp>
        <p:nvSpPr>
          <p:cNvPr id="8" name="Rectangle 6"/>
          <p:cNvSpPr/>
          <p:nvPr/>
        </p:nvSpPr>
        <p:spPr>
          <a:xfrm>
            <a:off x="308046" y="5957888"/>
            <a:ext cx="6863417" cy="369332"/>
          </a:xfrm>
          <a:prstGeom prst="rect">
            <a:avLst/>
          </a:prstGeom>
        </p:spPr>
        <p:txBody>
          <a:bodyPr wrap="none">
            <a:spAutoFit/>
          </a:bodyPr>
          <a:lstStyle/>
          <a:p>
            <a:r>
              <a:rPr lang="en-US" b="1" u="sng" dirty="0" smtClean="0"/>
              <a:t>Post Basic Info</a:t>
            </a:r>
            <a:r>
              <a:rPr lang="en-US" b="1" dirty="0" smtClean="0"/>
              <a:t>: </a:t>
            </a:r>
            <a:r>
              <a:rPr lang="en-US" b="1" dirty="0" smtClean="0">
                <a:hlinkClick r:id="rId2"/>
              </a:rPr>
              <a:t>https</a:t>
            </a:r>
            <a:r>
              <a:rPr lang="en-US" b="1" dirty="0">
                <a:hlinkClick r:id="rId2"/>
              </a:rPr>
              <a:t>://</a:t>
            </a:r>
            <a:r>
              <a:rPr lang="en-US" b="1" dirty="0" smtClean="0">
                <a:hlinkClick r:id="rId2"/>
              </a:rPr>
              <a:t>advertising.amazon.com/zh-cn/lp/beta-posts</a:t>
            </a:r>
            <a:r>
              <a:rPr lang="en-US" b="1" dirty="0"/>
              <a:t> </a:t>
            </a:r>
            <a:r>
              <a:rPr lang="en-US" b="1" dirty="0" smtClean="0"/>
              <a:t> </a:t>
            </a:r>
            <a:endParaRPr lang="en-US" b="1" dirty="0"/>
          </a:p>
        </p:txBody>
      </p:sp>
    </p:spTree>
    <p:extLst>
      <p:ext uri="{BB962C8B-B14F-4D97-AF65-F5344CB8AC3E}">
        <p14:creationId xmlns:p14="http://schemas.microsoft.com/office/powerpoint/2010/main" val="1434819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18316</TotalTime>
  <Words>866</Words>
  <Application>Microsoft Office PowerPoint</Application>
  <PresentationFormat>Widescreen</PresentationFormat>
  <Paragraphs>67</Paragraphs>
  <Slides>10</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DengXian</vt:lpstr>
      <vt:lpstr>DengXian</vt:lpstr>
      <vt:lpstr>Helvetica Neue Medium</vt:lpstr>
      <vt:lpstr>微软雅黑</vt:lpstr>
      <vt:lpstr>微软雅黑</vt:lpstr>
      <vt:lpstr>宋体</vt:lpstr>
      <vt:lpstr>Arial</vt:lpstr>
      <vt:lpstr>Calibri</vt:lpstr>
      <vt:lpstr>Calibri Light</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Amazon 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 Quan</dc:creator>
  <cp:lastModifiedBy>Yuan, Ting</cp:lastModifiedBy>
  <cp:revision>715</cp:revision>
  <dcterms:created xsi:type="dcterms:W3CDTF">2018-04-02T02:52:03Z</dcterms:created>
  <dcterms:modified xsi:type="dcterms:W3CDTF">2020-07-13T14:59:44Z</dcterms:modified>
</cp:coreProperties>
</file>
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7" r:id="rId6"/>
    <p:sldId id="260" r:id="rId7"/>
    <p:sldId id="261" r:id="rId8"/>
    <p:sldId id="262" r:id="rId9"/>
    <p:sldId id="259" r:id="rId10"/>
    <p:sldId id="263" r:id="rId11"/>
    <p:sldId id="264" r:id="rId12"/>
    <p:sldId id="258" r:id="rId13"/>
    <p:sldId id="265" r:id="rId14"/>
    <p:sldId id="274" r:id="rId15"/>
    <p:sldId id="266" r:id="rId16"/>
    <p:sldId id="267" r:id="rId17"/>
    <p:sldId id="268" r:id="rId18"/>
    <p:sldId id="271" r:id="rId19"/>
    <p:sldId id="285" r:id="rId20"/>
    <p:sldId id="270" r:id="rId21"/>
    <p:sldId id="281" r:id="rId22"/>
    <p:sldId id="282" r:id="rId23"/>
    <p:sldId id="283" r:id="rId24"/>
    <p:sldId id="284" r:id="rId25"/>
    <p:sldId id="292" r:id="rId26"/>
    <p:sldId id="293" r:id="rId27"/>
    <p:sldId id="295" r:id="rId28"/>
    <p:sldId id="296" r:id="rId29"/>
    <p:sldId id="297" r:id="rId30"/>
    <p:sldId id="298" r:id="rId31"/>
    <p:sldId id="300" r:id="rId32"/>
    <p:sldId id="301" r:id="rId33"/>
    <p:sldId id="302" r:id="rId34"/>
    <p:sldId id="303" r:id="rId35"/>
    <p:sldId id="304" r:id="rId36"/>
    <p:sldId id="305" r:id="rId37"/>
    <p:sldId id="306" r:id="rId38"/>
    <p:sldId id="307" r:id="rId39"/>
    <p:sldId id="269"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D5BF48-7191-4AF9-AF66-5971C458990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829800" cy="2387600"/>
          </a:xfrm>
          <a:prstGeom prst="rect">
            <a:avLst/>
          </a:prstGeom>
        </p:spPr>
        <p:txBody>
          <a:bodyPr anchor="b">
            <a:normAutofit/>
          </a:bodyPr>
          <a:lstStyle>
            <a:lvl1pPr algn="r">
              <a:defRPr sz="6000"/>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524000" y="3602038"/>
            <a:ext cx="9829800" cy="1655762"/>
          </a:xfrm>
          <a:prstGeom prst="rect">
            <a:avLst/>
          </a:prstGeom>
        </p:spPr>
        <p:txBody>
          <a:bodyPr/>
          <a:lstStyle>
            <a:lvl1pPr marL="0" indent="0" algn="r">
              <a:buNone/>
              <a:defRPr sz="2400">
                <a:solidFill>
                  <a:srgbClr val="80808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
            <a:ext cx="10515600" cy="928913"/>
          </a:xfrm>
          <a:prstGeom prst="rect">
            <a:avLst/>
          </a:prstGeom>
        </p:spPr>
        <p:txBody>
          <a:bodyPr>
            <a:normAutofit/>
          </a:body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a:xfrm>
            <a:off x="838200" y="1059543"/>
            <a:ext cx="10515600" cy="5117420"/>
          </a:xfrm>
          <a:prstGeom prst="rect">
            <a:avLst/>
          </a:prstGeom>
        </p:spPr>
        <p:txBody>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grpSp>
        <p:nvGrpSpPr>
          <p:cNvPr id="14" name="组合 13"/>
          <p:cNvGrpSpPr/>
          <p:nvPr userDrawn="1"/>
        </p:nvGrpSpPr>
        <p:grpSpPr>
          <a:xfrm>
            <a:off x="0" y="2191657"/>
            <a:ext cx="12192001" cy="2989471"/>
            <a:chOff x="0" y="2191657"/>
            <a:chExt cx="12192001" cy="2989471"/>
          </a:xfrm>
        </p:grpSpPr>
        <p:sp>
          <p:nvSpPr>
            <p:cNvPr id="8" name="任意多边形 7"/>
            <p:cNvSpPr/>
            <p:nvPr userDrawn="1"/>
          </p:nvSpPr>
          <p:spPr>
            <a:xfrm>
              <a:off x="213978" y="2191657"/>
              <a:ext cx="11978023" cy="2989471"/>
            </a:xfrm>
            <a:custGeom>
              <a:avLst/>
              <a:gdLst>
                <a:gd name="connsiteX0" fmla="*/ 0 w 11978023"/>
                <a:gd name="connsiteY0" fmla="*/ 0 h 2989471"/>
                <a:gd name="connsiteX1" fmla="*/ 11978023 w 11978023"/>
                <a:gd name="connsiteY1" fmla="*/ 0 h 2989471"/>
                <a:gd name="connsiteX2" fmla="*/ 11978023 w 11978023"/>
                <a:gd name="connsiteY2" fmla="*/ 2989471 h 2989471"/>
                <a:gd name="connsiteX3" fmla="*/ 2989471 w 11978023"/>
                <a:gd name="connsiteY3" fmla="*/ 2989471 h 2989471"/>
              </a:gdLst>
              <a:ahLst/>
              <a:cxnLst>
                <a:cxn ang="0">
                  <a:pos x="connsiteX0" y="connsiteY0"/>
                </a:cxn>
                <a:cxn ang="0">
                  <a:pos x="connsiteX1" y="connsiteY1"/>
                </a:cxn>
                <a:cxn ang="0">
                  <a:pos x="connsiteX2" y="connsiteY2"/>
                </a:cxn>
                <a:cxn ang="0">
                  <a:pos x="connsiteX3" y="connsiteY3"/>
                </a:cxn>
              </a:cxnLst>
              <a:rect l="l" t="t" r="r" b="b"/>
              <a:pathLst>
                <a:path w="11978023" h="2989471">
                  <a:moveTo>
                    <a:pt x="0" y="0"/>
                  </a:moveTo>
                  <a:lnTo>
                    <a:pt x="11978023" y="0"/>
                  </a:lnTo>
                  <a:lnTo>
                    <a:pt x="11978023" y="2989471"/>
                  </a:lnTo>
                  <a:lnTo>
                    <a:pt x="2989471" y="29894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rmAutofit/>
            </a:bodyPr>
            <a:lstStyle/>
            <a:p>
              <a:endParaRPr lang="zh-CN" altLang="en-US" dirty="0">
                <a:solidFill>
                  <a:srgbClr val="FFFFFF"/>
                </a:solidFill>
              </a:endParaRPr>
            </a:p>
          </p:txBody>
        </p:sp>
        <p:sp>
          <p:nvSpPr>
            <p:cNvPr id="9" name="直角三角形 8"/>
            <p:cNvSpPr/>
            <p:nvPr userDrawn="1"/>
          </p:nvSpPr>
          <p:spPr>
            <a:xfrm>
              <a:off x="0" y="2340939"/>
              <a:ext cx="2840189" cy="284018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rmAutofit/>
            </a:bodyPr>
            <a:lstStyle/>
            <a:p>
              <a:pPr algn="ctr"/>
              <a:endParaRPr lang="zh-CN" altLang="en-US">
                <a:solidFill>
                  <a:srgbClr val="FFFFFF"/>
                </a:solidFill>
              </a:endParaRPr>
            </a:p>
          </p:txBody>
        </p:sp>
        <p:sp>
          <p:nvSpPr>
            <p:cNvPr id="10" name="任意多边形 9"/>
            <p:cNvSpPr/>
            <p:nvPr userDrawn="1"/>
          </p:nvSpPr>
          <p:spPr>
            <a:xfrm>
              <a:off x="214160" y="2294897"/>
              <a:ext cx="2696680" cy="2696680"/>
            </a:xfrm>
            <a:custGeom>
              <a:avLst/>
              <a:gdLst>
                <a:gd name="connsiteX0" fmla="*/ 0 w 3538728"/>
                <a:gd name="connsiteY0" fmla="*/ 0 h 3538728"/>
                <a:gd name="connsiteX1" fmla="*/ 3538728 w 3538728"/>
                <a:gd name="connsiteY1" fmla="*/ 3538728 h 3538728"/>
                <a:gd name="connsiteX2" fmla="*/ 3405621 w 3538728"/>
                <a:gd name="connsiteY2" fmla="*/ 3538728 h 3538728"/>
                <a:gd name="connsiteX3" fmla="*/ 0 w 3538728"/>
                <a:gd name="connsiteY3" fmla="*/ 133107 h 3538728"/>
              </a:gdLst>
              <a:ahLst/>
              <a:cxnLst>
                <a:cxn ang="0">
                  <a:pos x="connsiteX0" y="connsiteY0"/>
                </a:cxn>
                <a:cxn ang="0">
                  <a:pos x="connsiteX1" y="connsiteY1"/>
                </a:cxn>
                <a:cxn ang="0">
                  <a:pos x="connsiteX2" y="connsiteY2"/>
                </a:cxn>
                <a:cxn ang="0">
                  <a:pos x="connsiteX3" y="connsiteY3"/>
                </a:cxn>
              </a:cxnLst>
              <a:rect l="l" t="t" r="r" b="b"/>
              <a:pathLst>
                <a:path w="3538728" h="3538728">
                  <a:moveTo>
                    <a:pt x="0" y="0"/>
                  </a:moveTo>
                  <a:lnTo>
                    <a:pt x="3538728" y="3538728"/>
                  </a:lnTo>
                  <a:lnTo>
                    <a:pt x="3405621" y="3538728"/>
                  </a:lnTo>
                  <a:lnTo>
                    <a:pt x="0" y="13310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rmAutofit/>
            </a:bodyPr>
            <a:lstStyle/>
            <a:p>
              <a:pPr algn="ctr"/>
              <a:endParaRPr lang="zh-CN" altLang="en-US">
                <a:solidFill>
                  <a:srgbClr val="FFFFFF"/>
                </a:solidFill>
              </a:endParaRPr>
            </a:p>
          </p:txBody>
        </p:sp>
        <p:cxnSp>
          <p:nvCxnSpPr>
            <p:cNvPr id="13" name="直接连接符 12"/>
            <p:cNvCxnSpPr/>
            <p:nvPr userDrawn="1"/>
          </p:nvCxnSpPr>
          <p:spPr>
            <a:xfrm>
              <a:off x="6238398" y="3609839"/>
              <a:ext cx="445586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hasCustomPrompt="1"/>
          </p:nvPr>
        </p:nvSpPr>
        <p:spPr>
          <a:xfrm>
            <a:off x="6109200" y="2869200"/>
            <a:ext cx="4982400" cy="741600"/>
          </a:xfrm>
          <a:prstGeom prst="rect">
            <a:avLst/>
          </a:prstGeom>
        </p:spPr>
        <p:txBody>
          <a:bodyPr anchor="ctr" anchorCtr="0">
            <a:normAutofit/>
          </a:bodyPr>
          <a:lstStyle>
            <a:lvl1pPr>
              <a:defRPr sz="3200" b="1">
                <a:solidFill>
                  <a:schemeClr val="bg1"/>
                </a:solidFill>
              </a:defRPr>
            </a:lvl1pPr>
          </a:lstStyle>
          <a:p>
            <a:r>
              <a:rPr lang="zh-CN" altLang="en-US" dirty="0" smtClean="0"/>
              <a:t>单击此处编辑标题</a:t>
            </a:r>
            <a:endParaRPr lang="zh-CN" altLang="en-US" dirty="0"/>
          </a:p>
        </p:txBody>
      </p:sp>
      <p:sp>
        <p:nvSpPr>
          <p:cNvPr id="4" name="日期占位符 3"/>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
            <a:ext cx="10515600" cy="928913"/>
          </a:xfrm>
          <a:prstGeom prst="rect">
            <a:avLst/>
          </a:prstGeom>
        </p:spPr>
        <p:txBody>
          <a:bodyPr>
            <a:normAutofit/>
          </a:bodyPr>
          <a:lstStyle/>
          <a:p>
            <a:r>
              <a:rPr lang="zh-CN" altLang="en-US" dirty="0" smtClean="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0"/>
            <a:ext cx="10515600" cy="899886"/>
          </a:xfrm>
          <a:prstGeom prst="rect">
            <a:avLst/>
          </a:prstGeo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lvl1pPr>
              <a:defRPr sz="2400"/>
            </a:lvl1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6"/>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22800" y="1123200"/>
            <a:ext cx="9831600" cy="2386800"/>
          </a:xfrm>
          <a:prstGeom prst="rect">
            <a:avLst/>
          </a:prstGeom>
        </p:spPr>
        <p:txBody>
          <a:bodyPr lIns="0" tIns="0" rIns="0" bIns="0" anchor="b" anchorCtr="0">
            <a:normAutofit/>
          </a:bodyPr>
          <a:lstStyle>
            <a:lvl1pPr algn="r">
              <a:defRPr sz="11500"/>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email"/>
          <a:stretch>
            <a:fillRect/>
          </a:stretch>
        </p:blipFill>
        <p:spPr>
          <a:xfrm>
            <a:off x="4142971" y="1476928"/>
            <a:ext cx="7764034" cy="4744688"/>
          </a:xfrm>
          <a:prstGeom prst="rect">
            <a:avLst/>
          </a:prstGeom>
        </p:spPr>
      </p:pic>
      <p:sp>
        <p:nvSpPr>
          <p:cNvPr id="2" name="标题 1"/>
          <p:cNvSpPr>
            <a:spLocks noGrp="1"/>
          </p:cNvSpPr>
          <p:nvPr>
            <p:ph type="title"/>
          </p:nvPr>
        </p:nvSpPr>
        <p:spPr>
          <a:xfrm>
            <a:off x="839787" y="0"/>
            <a:ext cx="10515600" cy="900000"/>
          </a:xfrm>
          <a:prstGeom prst="rect">
            <a:avLst/>
          </a:prstGeom>
        </p:spPr>
        <p:txBody>
          <a:bodyPr anchor="ctr" anchorCtr="0">
            <a:normAutofit/>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335200" y="2001600"/>
            <a:ext cx="5526000" cy="3506400"/>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801600" cy="4190400"/>
          </a:xfrm>
          <a:prstGeom prst="rect">
            <a:avLst/>
          </a:prstGeom>
        </p:spPr>
        <p:txBody>
          <a:bodyPr>
            <a:normAutofit/>
          </a:bodyPr>
          <a:lstStyle>
            <a:lvl1pPr marL="0" indent="0" algn="l">
              <a:spcBef>
                <a:spcPts val="0"/>
              </a:spcBef>
              <a:spcAft>
                <a:spcPts val="0"/>
              </a:spcAft>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479280" y="365125"/>
            <a:ext cx="1874520"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8503920" cy="5811838"/>
          </a:xfrm>
          <a:prstGeom prst="rect">
            <a:avLst/>
          </a:prstGeom>
        </p:spPr>
        <p:txBody>
          <a:bodyPr vert="eaVert"/>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内容">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
        <p:nvSpPr>
          <p:cNvPr id="7" name="内容占位符 6"/>
          <p:cNvSpPr>
            <a:spLocks noGrp="1"/>
          </p:cNvSpPr>
          <p:nvPr>
            <p:ph sz="quarter" idx="13"/>
          </p:nvPr>
        </p:nvSpPr>
        <p:spPr>
          <a:xfrm>
            <a:off x="838800" y="363600"/>
            <a:ext cx="105156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image" Target="../media/image4.png"/><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1" cstate="email">
            <a:lum/>
          </a:blip>
          <a:srcRect/>
          <a:stretch>
            <a:fillRect/>
          </a:stretch>
        </a:blipFill>
        <a:effectLst/>
      </p:bgPr>
    </p:bg>
    <p:spTree>
      <p:nvGrpSpPr>
        <p:cNvPr id="1" name=""/>
        <p:cNvGrpSpPr/>
        <p:nvPr/>
      </p:nvGrpSpPr>
      <p:grpSpPr>
        <a:xfrm>
          <a:off x="0" y="0"/>
          <a:ext cx="0" cy="0"/>
          <a:chOff x="0" y="0"/>
          <a:chExt cx="0" cy="0"/>
        </a:xfrm>
      </p:grpSpPr>
      <p:sp>
        <p:nvSpPr>
          <p:cNvPr id="12" name="标题占位符 1"/>
          <p:cNvSpPr>
            <a:spLocks noGrp="1"/>
          </p:cNvSpPr>
          <p:nvPr>
            <p:ph type="title"/>
          </p:nvPr>
        </p:nvSpPr>
        <p:spPr>
          <a:xfrm>
            <a:off x="838200" y="203201"/>
            <a:ext cx="10515600" cy="566056"/>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13" name="文本占位符 2"/>
          <p:cNvSpPr>
            <a:spLocks noGrp="1"/>
          </p:cNvSpPr>
          <p:nvPr>
            <p:ph type="body" idx="1"/>
          </p:nvPr>
        </p:nvSpPr>
        <p:spPr>
          <a:xfrm>
            <a:off x="838200" y="928914"/>
            <a:ext cx="10515600" cy="5248049"/>
          </a:xfrm>
          <a:prstGeom prst="rect">
            <a:avLst/>
          </a:prstGeom>
        </p:spPr>
        <p:txBody>
          <a:bodyPr vert="horz" lIns="91440" tIns="45720" rIns="91440" bIns="45720" rtlCol="0">
            <a:normAutofit/>
          </a:body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800">
                <a:solidFill>
                  <a:schemeClr val="tx1">
                    <a:tint val="75000"/>
                  </a:schemeClr>
                </a:solidFill>
                <a:latin typeface="Arial" panose="020B0604020202020204" pitchFamily="34" charset="0"/>
                <a:ea typeface="黑体" panose="02010609060101010101" pitchFamily="49" charset="-122"/>
                <a:cs typeface="Arial" panose="020B0604020202020204" pitchFamily="34" charset="0"/>
              </a:defRPr>
            </a:lvl1pPr>
          </a:lstStyle>
          <a:p>
            <a:fld id="{C4960188-6160-4350-87E9-F61B667E3B7E}" type="datetimeFigureOut">
              <a:rPr lang="zh-CN" altLang="en-US" smtClean="0">
                <a:solidFill>
                  <a:prstClr val="black">
                    <a:tint val="75000"/>
                  </a:prstClr>
                </a:solidFill>
              </a:rPr>
            </a:fld>
            <a:endParaRPr lang="zh-CN" altLang="en-US">
              <a:solidFill>
                <a:prstClr val="black">
                  <a:tint val="75000"/>
                </a:prstClr>
              </a:solidFill>
            </a:endParaRPr>
          </a:p>
        </p:txBody>
      </p:sp>
      <p:sp>
        <p:nvSpPr>
          <p:cNvPr id="1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800">
                <a:solidFill>
                  <a:schemeClr val="tx1">
                    <a:tint val="75000"/>
                  </a:schemeClr>
                </a:solidFill>
                <a:latin typeface="Arial" panose="020B0604020202020204" pitchFamily="34" charset="0"/>
                <a:ea typeface="黑体" panose="02010609060101010101" pitchFamily="49" charset="-122"/>
                <a:cs typeface="Arial" panose="020B0604020202020204" pitchFamily="34" charset="0"/>
              </a:defRPr>
            </a:lvl1pPr>
          </a:lstStyle>
          <a:p>
            <a:endParaRPr lang="zh-CN" altLang="en-US">
              <a:solidFill>
                <a:prstClr val="black">
                  <a:tint val="75000"/>
                </a:prstClr>
              </a:solidFill>
            </a:endParaRPr>
          </a:p>
        </p:txBody>
      </p:sp>
      <p:sp>
        <p:nvSpPr>
          <p:cNvPr id="1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800">
                <a:solidFill>
                  <a:schemeClr val="tx1">
                    <a:tint val="75000"/>
                  </a:schemeClr>
                </a:solidFill>
                <a:latin typeface="Arial" panose="020B0604020202020204" pitchFamily="34" charset="0"/>
                <a:ea typeface="黑体" panose="02010609060101010101" pitchFamily="49" charset="-122"/>
                <a:cs typeface="Arial" panose="020B0604020202020204" pitchFamily="34" charset="0"/>
              </a:defRPr>
            </a:lvl1pPr>
          </a:lstStyle>
          <a:p>
            <a:fld id="{8B6539BD-6CDB-4164-AC55-48A06558E40B}"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黑体" panose="02010609060101010101" pitchFamily="49" charset="-122"/>
          <a:cs typeface="Arial" panose="020B0604020202020204" pitchFamily="34" charset="0"/>
        </a:defRPr>
      </a:lvl1pPr>
    </p:titleStyle>
    <p:bodyStyle>
      <a:lvl1pPr marL="228600" indent="-228600" algn="just" defTabSz="914400" rtl="0" eaLnBrk="1" latinLnBrk="0" hangingPunct="1">
        <a:lnSpc>
          <a:spcPct val="150000"/>
        </a:lnSpc>
        <a:spcBef>
          <a:spcPts val="600"/>
        </a:spcBef>
        <a:spcAft>
          <a:spcPts val="600"/>
        </a:spcAft>
        <a:buFont typeface="Arial" panose="020B0604020202020204" pitchFamily="34" charset="0"/>
        <a:buChar char="•"/>
        <a:defRPr sz="2400" kern="120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685800" indent="-228600" algn="just" defTabSz="914400" rtl="0" eaLnBrk="1" latinLnBrk="0" hangingPunct="1">
        <a:lnSpc>
          <a:spcPct val="15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just" defTabSz="914400" rtl="0" eaLnBrk="1" latinLnBrk="0" hangingPunct="1">
        <a:lnSpc>
          <a:spcPct val="150000"/>
        </a:lnSpc>
        <a:spcBef>
          <a:spcPts val="600"/>
        </a:spcBef>
        <a:spcAft>
          <a:spcPts val="600"/>
        </a:spcAft>
        <a:buFont typeface="Arial" panose="020B0604020202020204" pitchFamily="34" charset="0"/>
        <a:buChar char="•"/>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just" defTabSz="914400" rtl="0" eaLnBrk="1" latinLnBrk="0" hangingPunct="1">
        <a:lnSpc>
          <a:spcPct val="150000"/>
        </a:lnSpc>
        <a:spcBef>
          <a:spcPts val="600"/>
        </a:spcBef>
        <a:spcAft>
          <a:spcPts val="600"/>
        </a:spcAft>
        <a:buFont typeface="Arial" panose="020B0604020202020204" pitchFamily="34" charset="0"/>
        <a:buChar char="•"/>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057400" indent="-228600" algn="just" defTabSz="914400" rtl="0" eaLnBrk="1" latinLnBrk="0" hangingPunct="1">
        <a:lnSpc>
          <a:spcPct val="150000"/>
        </a:lnSpc>
        <a:spcBef>
          <a:spcPts val="600"/>
        </a:spcBef>
        <a:spcAft>
          <a:spcPts val="600"/>
        </a:spcAft>
        <a:buFont typeface="Arial" panose="020B0604020202020204" pitchFamily="34" charset="0"/>
        <a:buChar char="•"/>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414020" y="1122680"/>
            <a:ext cx="11767820" cy="2387600"/>
          </a:xfrm>
        </p:spPr>
        <p:txBody>
          <a:bodyPr/>
          <a:lstStyle/>
          <a:p>
            <a:r>
              <a:rPr lang="zh-CN" altLang="en-US" sz="4400" dirty="0">
                <a:latin typeface="+mj-lt"/>
                <a:ea typeface="+mj-ea"/>
                <a:cs typeface="+mj-cs"/>
              </a:rPr>
              <a:t>亚马逊文案</a:t>
            </a:r>
            <a:r>
              <a:rPr lang="en-US" altLang="zh-CN" sz="4400" dirty="0">
                <a:latin typeface="+mj-lt"/>
                <a:ea typeface="+mj-ea"/>
                <a:cs typeface="+mj-cs"/>
              </a:rPr>
              <a:t>Title KW Price</a:t>
            </a:r>
            <a:r>
              <a:rPr lang="zh-CN" altLang="en-US" sz="4400" dirty="0">
                <a:latin typeface="+mj-lt"/>
                <a:ea typeface="+mj-ea"/>
                <a:cs typeface="+mj-cs"/>
              </a:rPr>
              <a:t>讲解</a:t>
            </a:r>
            <a:endParaRPr lang="zh-CN" altLang="en-US" sz="4400" dirty="0">
              <a:latin typeface="+mj-lt"/>
              <a:ea typeface="+mj-ea"/>
              <a:cs typeface="+mj-cs"/>
            </a:endParaRPr>
          </a:p>
        </p:txBody>
      </p:sp>
      <p:sp>
        <p:nvSpPr>
          <p:cNvPr id="3" name="副标题 2"/>
          <p:cNvSpPr>
            <a:spLocks noGrp="1"/>
          </p:cNvSpPr>
          <p:nvPr>
            <p:ph type="subTitle" idx="1"/>
            <p:custDataLst>
              <p:tags r:id="rId2"/>
            </p:custDataLst>
          </p:nvPr>
        </p:nvSpPr>
        <p:spPr/>
        <p:txBody>
          <a:bodyPr/>
          <a:lstStyle/>
          <a:p>
            <a:r>
              <a:rPr lang="en-US" altLang="zh-CN" dirty="0">
                <a:latin typeface="+mn-lt"/>
                <a:ea typeface="+mn-ea"/>
                <a:cs typeface="+mn-cs"/>
              </a:rPr>
              <a:t> </a:t>
            </a:r>
            <a:endParaRPr lang="en-US" altLang="zh-CN" dirty="0">
              <a:latin typeface="+mn-lt"/>
              <a:ea typeface="+mn-ea"/>
              <a:cs typeface="+mn-cs"/>
            </a:endParaRPr>
          </a:p>
        </p:txBody>
      </p:sp>
    </p:spTree>
    <p:custDataLst>
      <p:tags r:id="rId3"/>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产品</a:t>
            </a:r>
            <a:r>
              <a:rPr lang="en-US" altLang="zh-CN"/>
              <a:t>Title</a:t>
            </a:r>
            <a:r>
              <a:rPr lang="zh-CN" altLang="en-US"/>
              <a:t>优化</a:t>
            </a:r>
            <a:endParaRPr lang="zh-CN" altLang="en-US"/>
          </a:p>
        </p:txBody>
      </p:sp>
      <p:sp>
        <p:nvSpPr>
          <p:cNvPr id="3" name="内容占位符 2"/>
          <p:cNvSpPr>
            <a:spLocks noGrp="1"/>
          </p:cNvSpPr>
          <p:nvPr>
            <p:ph idx="1"/>
          </p:nvPr>
        </p:nvSpPr>
        <p:spPr/>
        <p:txBody>
          <a:bodyPr/>
          <a:p>
            <a:r>
              <a:rPr lang="zh-CN" altLang="en-US"/>
              <a:t>根据Amazon调查指出，大部分消费者在网络购物时，会偏好使用搜索栏直接寻找想要的产品，而较少使用网站内的分类栏去过滤项目。假设有位消费者，想要买一个iPhone 6s手机的移动电源，那他有非常大的机率会直接在搜索栏上打上“iPhone 6s”，“移动电源”等关键词而不会按类目一个个去找。因此，给产品一个适当的标题是一件非常重要的事情。</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当然，我们也会看到很多卖家的标题堆砌很多关键词，有目标关键词，有长尾关键词，不恰当地组合会使标题看起来十分凌乱。从用户体验角度，这是不好的体验，对在搜索结果的点击率会有影响，对转化率或多或少会有一定的影响。</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以“solar power outdoor lights”搜索关键词为例：</a:t>
            </a:r>
            <a:endParaRPr lang="zh-CN" altLang="en-US"/>
          </a:p>
        </p:txBody>
      </p:sp>
      <p:sp>
        <p:nvSpPr>
          <p:cNvPr id="3" name="内容占位符 2"/>
          <p:cNvSpPr>
            <a:spLocks noGrp="1"/>
          </p:cNvSpPr>
          <p:nvPr>
            <p:ph idx="1"/>
          </p:nvPr>
        </p:nvSpPr>
        <p:spPr/>
        <p:txBody>
          <a:bodyPr/>
          <a:p>
            <a:r>
              <a:rPr lang="zh-CN" altLang="en-US"/>
              <a:t>PC页面搜索结果展示：</a:t>
            </a:r>
            <a:endParaRPr lang="zh-CN" altLang="en-US"/>
          </a:p>
          <a:p>
            <a:pPr marL="0" indent="0">
              <a:buNone/>
            </a:pPr>
            <a:endParaRPr lang="zh-CN" altLang="en-US"/>
          </a:p>
        </p:txBody>
      </p:sp>
      <p:pic>
        <p:nvPicPr>
          <p:cNvPr id="4" name="图片 1"/>
          <p:cNvPicPr>
            <a:picLocks noChangeAspect="1"/>
          </p:cNvPicPr>
          <p:nvPr/>
        </p:nvPicPr>
        <p:blipFill>
          <a:blip r:embed="rId1"/>
          <a:stretch>
            <a:fillRect/>
          </a:stretch>
        </p:blipFill>
        <p:spPr>
          <a:xfrm>
            <a:off x="1445895" y="1587500"/>
            <a:ext cx="9116695" cy="511746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6" name="内容占位符 5"/>
          <p:cNvPicPr>
            <a:picLocks noChangeAspect="1"/>
          </p:cNvPicPr>
          <p:nvPr>
            <p:ph idx="1"/>
          </p:nvPr>
        </p:nvPicPr>
        <p:blipFill>
          <a:blip r:embed="rId1"/>
          <a:stretch>
            <a:fillRect/>
          </a:stretch>
        </p:blipFill>
        <p:spPr>
          <a:xfrm>
            <a:off x="2634615" y="1059815"/>
            <a:ext cx="6921500" cy="5117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5" name="内容占位符 4"/>
          <p:cNvSpPr/>
          <p:nvPr>
            <p:ph idx="1"/>
          </p:nvPr>
        </p:nvSpPr>
        <p:spPr/>
        <p:txBody>
          <a:bodyPr/>
          <a:p>
            <a:pPr fontAlgn="auto">
              <a:lnSpc>
                <a:spcPts val="2780"/>
              </a:lnSpc>
            </a:pPr>
            <a:r>
              <a:rPr lang="zh-CN" altLang="en-US"/>
              <a:t>从以上的截图可以看到，有些标题比较简短，能在搜索结果完整展示出来。而有些标题比较长，超过的部分在搜索结果中用省略号</a:t>
            </a:r>
            <a:r>
              <a:rPr lang="en-US" altLang="zh-CN"/>
              <a:t>“...”</a:t>
            </a:r>
            <a:r>
              <a:rPr lang="zh-CN" altLang="en-US"/>
              <a:t>表示。如果要看到完整的标题信息，只能点击</a:t>
            </a:r>
            <a:r>
              <a:rPr lang="en-US" altLang="zh-CN"/>
              <a:t>listing</a:t>
            </a:r>
            <a:r>
              <a:rPr lang="zh-CN" altLang="en-US"/>
              <a:t>的链接。</a:t>
            </a:r>
            <a:endParaRPr lang="zh-CN" altLang="en-US"/>
          </a:p>
          <a:p>
            <a:pPr fontAlgn="auto">
              <a:lnSpc>
                <a:spcPts val="2780"/>
              </a:lnSpc>
            </a:pPr>
            <a:r>
              <a:rPr lang="zh-CN" altLang="en-US"/>
              <a:t>我们会发现，当标题的字符数在</a:t>
            </a:r>
            <a:r>
              <a:rPr lang="en-US" altLang="zh-CN"/>
              <a:t>2</a:t>
            </a:r>
            <a:r>
              <a:rPr lang="zh-CN" altLang="en-US"/>
              <a:t>行以内（在</a:t>
            </a:r>
            <a:r>
              <a:rPr lang="en-US" altLang="zh-CN"/>
              <a:t>listing</a:t>
            </a:r>
            <a:r>
              <a:rPr lang="zh-CN" altLang="en-US"/>
              <a:t>详情页面的展示位置），约</a:t>
            </a:r>
            <a:r>
              <a:rPr lang="en-US" altLang="zh-CN"/>
              <a:t>115</a:t>
            </a:r>
            <a:r>
              <a:rPr lang="zh-CN" altLang="en-US"/>
              <a:t>个字符（包括空格、标点符号），标题才会完整地展示在搜索结果页面。并且搜索结果页面的</a:t>
            </a:r>
            <a:r>
              <a:rPr lang="en-US" altLang="zh-CN"/>
              <a:t>listing</a:t>
            </a:r>
            <a:r>
              <a:rPr lang="zh-CN" altLang="en-US"/>
              <a:t>展示出来的标题中的单词都是完整的，并不会因为字符数超过了，单词会被拆分。</a:t>
            </a:r>
            <a:endParaRPr lang="zh-CN" altLang="en-US"/>
          </a:p>
          <a:p>
            <a:endParaRPr lang="zh-CN" altLang="en-US"/>
          </a:p>
          <a:p>
            <a:endParaRPr lang="zh-CN" altLang="en-US"/>
          </a:p>
        </p:txBody>
      </p:sp>
      <p:pic>
        <p:nvPicPr>
          <p:cNvPr id="6" name="图片 5"/>
          <p:cNvPicPr>
            <a:picLocks noChangeAspect="1"/>
          </p:cNvPicPr>
          <p:nvPr/>
        </p:nvPicPr>
        <p:blipFill>
          <a:blip r:embed="rId1"/>
          <a:stretch>
            <a:fillRect/>
          </a:stretch>
        </p:blipFill>
        <p:spPr>
          <a:xfrm>
            <a:off x="2366645" y="3829050"/>
            <a:ext cx="7776210" cy="23482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图片 4"/>
          <p:cNvPicPr>
            <a:picLocks noChangeAspect="1"/>
          </p:cNvPicPr>
          <p:nvPr/>
        </p:nvPicPr>
        <p:blipFill>
          <a:blip r:embed="rId1"/>
          <a:stretch>
            <a:fillRect/>
          </a:stretch>
        </p:blipFill>
        <p:spPr>
          <a:xfrm>
            <a:off x="838200" y="742950"/>
            <a:ext cx="10314305" cy="2733040"/>
          </a:xfrm>
          <a:prstGeom prst="rect">
            <a:avLst/>
          </a:prstGeom>
        </p:spPr>
      </p:pic>
      <p:pic>
        <p:nvPicPr>
          <p:cNvPr id="7" name="内容占位符 6"/>
          <p:cNvPicPr>
            <a:picLocks noChangeAspect="1"/>
          </p:cNvPicPr>
          <p:nvPr>
            <p:ph idx="1"/>
          </p:nvPr>
        </p:nvPicPr>
        <p:blipFill>
          <a:blip r:embed="rId2"/>
          <a:stretch>
            <a:fillRect/>
          </a:stretch>
        </p:blipFill>
        <p:spPr>
          <a:xfrm>
            <a:off x="924560" y="3107690"/>
            <a:ext cx="8709660" cy="34080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fontAlgn="auto">
              <a:lnSpc>
                <a:spcPts val="2780"/>
              </a:lnSpc>
            </a:pPr>
            <a:r>
              <a:rPr lang="zh-CN" altLang="en-US"/>
              <a:t>另外，在搜索结果页面的右上边，有</a:t>
            </a:r>
            <a:r>
              <a:rPr lang="en-US" altLang="zh-CN"/>
              <a:t>4</a:t>
            </a:r>
            <a:r>
              <a:rPr lang="zh-CN" altLang="en-US"/>
              <a:t>个展示框，这个区域是亚马逊卖家投放广告的展示位置，我们会发现，这个区域显示的标题字符数更少，</a:t>
            </a:r>
            <a:r>
              <a:rPr lang="zh-CN" altLang="en-US">
                <a:sym typeface="+mn-ea"/>
              </a:rPr>
              <a:t>字符数最多为</a:t>
            </a:r>
            <a:r>
              <a:rPr lang="en-US" altLang="zh-CN">
                <a:sym typeface="+mn-ea"/>
              </a:rPr>
              <a:t>33</a:t>
            </a:r>
            <a:r>
              <a:rPr lang="zh-CN" altLang="en-US">
                <a:sym typeface="+mn-ea"/>
              </a:rPr>
              <a:t>个，</a:t>
            </a:r>
            <a:r>
              <a:rPr lang="zh-CN" altLang="en-US"/>
              <a:t>超过的部分会直接用省略号</a:t>
            </a:r>
            <a:r>
              <a:rPr lang="en-US" altLang="zh-CN"/>
              <a:t>“…”</a:t>
            </a:r>
            <a:r>
              <a:rPr lang="zh-CN" altLang="en-US"/>
              <a:t>表示，单词会被拆解。</a:t>
            </a:r>
            <a:endParaRPr lang="zh-CN" altLang="en-US"/>
          </a:p>
          <a:p>
            <a:endParaRPr lang="zh-CN" altLang="en-US"/>
          </a:p>
        </p:txBody>
      </p:sp>
      <p:pic>
        <p:nvPicPr>
          <p:cNvPr id="4" name="图片 3"/>
          <p:cNvPicPr>
            <a:picLocks noChangeAspect="1"/>
          </p:cNvPicPr>
          <p:nvPr/>
        </p:nvPicPr>
        <p:blipFill>
          <a:blip r:embed="rId1"/>
          <a:stretch>
            <a:fillRect/>
          </a:stretch>
        </p:blipFill>
        <p:spPr>
          <a:xfrm>
            <a:off x="1205230" y="3493135"/>
            <a:ext cx="9780905" cy="1190625"/>
          </a:xfrm>
          <a:prstGeom prst="rect">
            <a:avLst/>
          </a:prstGeom>
        </p:spPr>
      </p:pic>
      <p:pic>
        <p:nvPicPr>
          <p:cNvPr id="5" name="图片 4"/>
          <p:cNvPicPr>
            <a:picLocks noChangeAspect="1"/>
          </p:cNvPicPr>
          <p:nvPr/>
        </p:nvPicPr>
        <p:blipFill>
          <a:blip r:embed="rId2"/>
          <a:stretch>
            <a:fillRect/>
          </a:stretch>
        </p:blipFill>
        <p:spPr>
          <a:xfrm>
            <a:off x="1086485" y="2245360"/>
            <a:ext cx="9723755" cy="1152525"/>
          </a:xfrm>
          <a:prstGeom prst="rect">
            <a:avLst/>
          </a:prstGeom>
        </p:spPr>
      </p:pic>
      <p:pic>
        <p:nvPicPr>
          <p:cNvPr id="7" name="图片 6"/>
          <p:cNvPicPr>
            <a:picLocks noChangeAspect="1"/>
          </p:cNvPicPr>
          <p:nvPr/>
        </p:nvPicPr>
        <p:blipFill>
          <a:blip r:embed="rId3"/>
          <a:stretch>
            <a:fillRect/>
          </a:stretch>
        </p:blipFill>
        <p:spPr>
          <a:xfrm>
            <a:off x="2045335" y="4930140"/>
            <a:ext cx="8662670" cy="17329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6" name="内容占位符 5"/>
          <p:cNvPicPr>
            <a:picLocks noChangeAspect="1"/>
          </p:cNvPicPr>
          <p:nvPr>
            <p:ph idx="1"/>
          </p:nvPr>
        </p:nvPicPr>
        <p:blipFill>
          <a:blip r:embed="rId1"/>
          <a:stretch>
            <a:fillRect/>
          </a:stretch>
        </p:blipFill>
        <p:spPr>
          <a:xfrm>
            <a:off x="1482090" y="1059815"/>
            <a:ext cx="9227185" cy="51174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APP</a:t>
            </a:r>
            <a:r>
              <a:rPr lang="zh-CN" altLang="en-US">
                <a:sym typeface="+mn-ea"/>
              </a:rPr>
              <a:t>页面搜索结果展示（</a:t>
            </a:r>
            <a:r>
              <a:rPr lang="en-US" altLang="zh-CN">
                <a:sym typeface="+mn-ea"/>
              </a:rPr>
              <a:t>iPhone 5s</a:t>
            </a:r>
            <a:r>
              <a:rPr lang="zh-CN" altLang="en-US">
                <a:sym typeface="+mn-ea"/>
              </a:rPr>
              <a:t>）：</a:t>
            </a:r>
            <a:endParaRPr lang="zh-CN" altLang="en-US"/>
          </a:p>
        </p:txBody>
      </p:sp>
      <p:sp>
        <p:nvSpPr>
          <p:cNvPr id="3" name="内容占位符 2"/>
          <p:cNvSpPr>
            <a:spLocks noGrp="1"/>
          </p:cNvSpPr>
          <p:nvPr>
            <p:ph idx="1"/>
          </p:nvPr>
        </p:nvSpPr>
        <p:spPr/>
        <p:txBody>
          <a:bodyPr/>
          <a:p>
            <a:endParaRPr lang="zh-CN" altLang="en-US">
              <a:sym typeface="+mn-ea"/>
            </a:endParaRPr>
          </a:p>
          <a:p>
            <a:endParaRPr lang="zh-CN" altLang="en-US"/>
          </a:p>
        </p:txBody>
      </p:sp>
      <p:pic>
        <p:nvPicPr>
          <p:cNvPr id="4" name="图片 3"/>
          <p:cNvPicPr>
            <a:picLocks noChangeAspect="1"/>
          </p:cNvPicPr>
          <p:nvPr/>
        </p:nvPicPr>
        <p:blipFill>
          <a:blip r:embed="rId1"/>
          <a:stretch>
            <a:fillRect/>
          </a:stretch>
        </p:blipFill>
        <p:spPr>
          <a:xfrm>
            <a:off x="930275" y="929005"/>
            <a:ext cx="3286760" cy="5784215"/>
          </a:xfrm>
          <a:prstGeom prst="rect">
            <a:avLst/>
          </a:prstGeom>
        </p:spPr>
      </p:pic>
      <p:pic>
        <p:nvPicPr>
          <p:cNvPr id="5" name="图片 4"/>
          <p:cNvPicPr>
            <a:picLocks noChangeAspect="1"/>
          </p:cNvPicPr>
          <p:nvPr/>
        </p:nvPicPr>
        <p:blipFill>
          <a:blip r:embed="rId2"/>
          <a:stretch>
            <a:fillRect/>
          </a:stretch>
        </p:blipFill>
        <p:spPr>
          <a:xfrm>
            <a:off x="4440555" y="929005"/>
            <a:ext cx="3311525" cy="5885815"/>
          </a:xfrm>
          <a:prstGeom prst="rect">
            <a:avLst/>
          </a:prstGeom>
        </p:spPr>
      </p:pic>
      <p:pic>
        <p:nvPicPr>
          <p:cNvPr id="6" name="图片 5"/>
          <p:cNvPicPr>
            <a:picLocks noChangeAspect="1"/>
          </p:cNvPicPr>
          <p:nvPr/>
        </p:nvPicPr>
        <p:blipFill>
          <a:blip r:embed="rId3"/>
          <a:stretch>
            <a:fillRect/>
          </a:stretch>
        </p:blipFill>
        <p:spPr>
          <a:xfrm>
            <a:off x="8159750" y="929005"/>
            <a:ext cx="3300095" cy="58146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APP</a:t>
            </a:r>
            <a:r>
              <a:rPr lang="zh-CN" altLang="en-US">
                <a:sym typeface="+mn-ea"/>
              </a:rPr>
              <a:t>页面搜索结果展示（</a:t>
            </a:r>
            <a:r>
              <a:rPr lang="en-US" altLang="zh-CN">
                <a:sym typeface="+mn-ea"/>
              </a:rPr>
              <a:t>iPhone 6s</a:t>
            </a:r>
            <a:r>
              <a:rPr lang="zh-CN" altLang="en-US">
                <a:sym typeface="+mn-ea"/>
              </a:rPr>
              <a:t>）：</a:t>
            </a:r>
            <a:endParaRPr lang="zh-CN" altLang="en-US"/>
          </a:p>
        </p:txBody>
      </p:sp>
      <p:pic>
        <p:nvPicPr>
          <p:cNvPr id="4" name="内容占位符 3"/>
          <p:cNvPicPr>
            <a:picLocks noChangeAspect="1"/>
          </p:cNvPicPr>
          <p:nvPr>
            <p:ph idx="1"/>
          </p:nvPr>
        </p:nvPicPr>
        <p:blipFill>
          <a:blip r:embed="rId1"/>
          <a:stretch>
            <a:fillRect/>
          </a:stretch>
        </p:blipFill>
        <p:spPr>
          <a:xfrm>
            <a:off x="2418080" y="647700"/>
            <a:ext cx="3465195" cy="6172835"/>
          </a:xfrm>
          <a:prstGeom prst="rect">
            <a:avLst/>
          </a:prstGeom>
        </p:spPr>
      </p:pic>
      <p:pic>
        <p:nvPicPr>
          <p:cNvPr id="7" name="图片 6"/>
          <p:cNvPicPr>
            <a:picLocks noChangeAspect="1"/>
          </p:cNvPicPr>
          <p:nvPr/>
        </p:nvPicPr>
        <p:blipFill>
          <a:blip r:embed="rId2"/>
          <a:stretch>
            <a:fillRect/>
          </a:stretch>
        </p:blipFill>
        <p:spPr>
          <a:xfrm>
            <a:off x="6303010" y="647700"/>
            <a:ext cx="3431540" cy="61042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通过以上的</a:t>
            </a:r>
            <a:r>
              <a:rPr lang="en-US" altLang="zh-CN"/>
              <a:t>3</a:t>
            </a:r>
            <a:r>
              <a:rPr lang="zh-CN" altLang="en-US"/>
              <a:t>张截图，我们会发现</a:t>
            </a:r>
            <a:r>
              <a:rPr lang="en-US" altLang="zh-CN"/>
              <a:t>APP</a:t>
            </a:r>
            <a:r>
              <a:rPr lang="zh-CN" altLang="en-US"/>
              <a:t>页面给标题的展示空间更少，而且超过字符数限制的（最多</a:t>
            </a:r>
            <a:r>
              <a:rPr lang="en-US" altLang="zh-CN"/>
              <a:t>79</a:t>
            </a:r>
            <a:r>
              <a:rPr lang="zh-CN" altLang="en-US"/>
              <a:t>个，也有</a:t>
            </a:r>
            <a:r>
              <a:rPr lang="en-US" altLang="zh-CN"/>
              <a:t>66</a:t>
            </a:r>
            <a:r>
              <a:rPr lang="zh-CN" altLang="en-US"/>
              <a:t>个被拆解的），会直接被拆解，不管单词是否完整。所以，我们的核心关键词最好是在标题的前</a:t>
            </a:r>
            <a:r>
              <a:rPr lang="en-US" altLang="zh-CN"/>
              <a:t>65</a:t>
            </a:r>
            <a:r>
              <a:rPr lang="zh-CN" altLang="en-US"/>
              <a:t>个字符出现。</a:t>
            </a:r>
            <a:endParaRPr lang="zh-CN" altLang="en-US"/>
          </a:p>
          <a:p>
            <a:endParaRPr lang="zh-CN" altLang="en-US"/>
          </a:p>
        </p:txBody>
      </p:sp>
      <p:pic>
        <p:nvPicPr>
          <p:cNvPr id="4" name="图片 3"/>
          <p:cNvPicPr>
            <a:picLocks noChangeAspect="1"/>
          </p:cNvPicPr>
          <p:nvPr/>
        </p:nvPicPr>
        <p:blipFill>
          <a:blip r:embed="rId1"/>
          <a:stretch>
            <a:fillRect/>
          </a:stretch>
        </p:blipFill>
        <p:spPr>
          <a:xfrm>
            <a:off x="1355725" y="3488055"/>
            <a:ext cx="9481185" cy="22510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结合</a:t>
            </a:r>
            <a:r>
              <a:rPr lang="en-US" altLang="zh-CN"/>
              <a:t>PC</a:t>
            </a:r>
            <a:r>
              <a:rPr lang="zh-CN" altLang="en-US"/>
              <a:t>页面及</a:t>
            </a:r>
            <a:r>
              <a:rPr lang="en-US" altLang="zh-CN"/>
              <a:t>APP</a:t>
            </a:r>
            <a:r>
              <a:rPr lang="zh-CN" altLang="en-US"/>
              <a:t>页面对标题的显示空间，字符数控制在</a:t>
            </a:r>
            <a:r>
              <a:rPr lang="en-US" altLang="zh-CN"/>
              <a:t>120</a:t>
            </a:r>
            <a:r>
              <a:rPr lang="zh-CN" altLang="en-US"/>
              <a:t>个（空格、符号也包含）是比较合理的。简短的标题有利于提高购物体验，让顾客通过标题明白产品的名称、特性。</a:t>
            </a:r>
            <a:endParaRPr lang="zh-CN" altLang="en-US"/>
          </a:p>
          <a:p>
            <a:r>
              <a:rPr lang="zh-CN" altLang="en-US">
                <a:sym typeface="+mn-ea"/>
              </a:rPr>
              <a:t>Title的格式：Brand</a:t>
            </a:r>
            <a:r>
              <a:rPr lang="en-US" altLang="zh-CN">
                <a:sym typeface="+mn-ea"/>
              </a:rPr>
              <a:t>(</a:t>
            </a:r>
            <a:r>
              <a:rPr lang="zh-CN" altLang="en-US">
                <a:sym typeface="+mn-ea"/>
              </a:rPr>
              <a:t>+数量</a:t>
            </a:r>
            <a:r>
              <a:rPr lang="en-US" altLang="zh-CN">
                <a:sym typeface="+mn-ea"/>
              </a:rPr>
              <a:t>)+</a:t>
            </a:r>
            <a:r>
              <a:rPr lang="zh-CN" altLang="en-US">
                <a:sym typeface="+mn-ea"/>
              </a:rPr>
              <a:t>品牌型号or系列名称+核心关键词+重要特征或亮点+材质+颜色+尺寸。</a:t>
            </a:r>
            <a:endParaRPr lang="zh-CN" altLang="en-US"/>
          </a:p>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产品标题应该包含的基本信息有：</a:t>
            </a:r>
            <a:endParaRPr lang="zh-CN" altLang="en-US"/>
          </a:p>
          <a:p>
            <a:r>
              <a:rPr lang="zh-CN" altLang="en-US" sz="2000"/>
              <a:t>品牌、型号</a:t>
            </a:r>
            <a:endParaRPr lang="zh-CN" altLang="en-US" sz="2000"/>
          </a:p>
          <a:p>
            <a:r>
              <a:rPr lang="zh-CN" altLang="en-US" sz="2000"/>
              <a:t>产品名称</a:t>
            </a:r>
            <a:endParaRPr lang="zh-CN" altLang="en-US" sz="2000"/>
          </a:p>
          <a:p>
            <a:r>
              <a:rPr lang="zh-CN" altLang="en-US" sz="2000"/>
              <a:t>重要特征或卖点</a:t>
            </a:r>
            <a:endParaRPr lang="zh-CN" altLang="en-US" sz="2000"/>
          </a:p>
          <a:p>
            <a:r>
              <a:rPr lang="zh-CN" altLang="en-US" sz="2000"/>
              <a:t>产品材质或主要成分</a:t>
            </a:r>
            <a:endParaRPr lang="zh-CN" altLang="en-US" sz="2000"/>
          </a:p>
          <a:p>
            <a:r>
              <a:rPr lang="zh-CN" altLang="en-US" sz="2000"/>
              <a:t>产品颜色、尺寸、数量</a:t>
            </a:r>
            <a:endParaRPr lang="zh-CN" altLang="en-US" sz="2000"/>
          </a:p>
          <a:p>
            <a:r>
              <a:rPr lang="zh-CN" altLang="en-US" sz="2000"/>
              <a:t>其他有关产品相关描述( 如: 适用于哪种型号、哪些场合）</a:t>
            </a:r>
            <a:endParaRPr lang="zh-C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pPr marL="0" indent="0">
              <a:buNone/>
            </a:pPr>
            <a:r>
              <a:rPr lang="zh-CN" altLang="en-US"/>
              <a:t>撰写标题需注意的事项：</a:t>
            </a:r>
            <a:endParaRPr lang="zh-CN" altLang="en-US"/>
          </a:p>
          <a:p>
            <a:r>
              <a:rPr lang="zh-CN" altLang="en-US" sz="2000"/>
              <a:t>单词的首字母需大写，不需全部大写，介词、冠词、连词小写即可，如</a:t>
            </a:r>
            <a:r>
              <a:rPr lang="en-US" altLang="zh-CN" sz="2000"/>
              <a:t>for</a:t>
            </a:r>
            <a:r>
              <a:rPr lang="zh-CN" altLang="en-US" sz="2000"/>
              <a:t>、</a:t>
            </a:r>
            <a:r>
              <a:rPr lang="en-US" altLang="zh-CN" sz="2000"/>
              <a:t>with</a:t>
            </a:r>
            <a:r>
              <a:rPr lang="zh-CN" altLang="en-US" sz="2000"/>
              <a:t>、</a:t>
            </a:r>
            <a:r>
              <a:rPr lang="en-US" altLang="zh-CN" sz="2000"/>
              <a:t>a</a:t>
            </a:r>
            <a:r>
              <a:rPr lang="zh-CN" altLang="en-US" sz="2000"/>
              <a:t>、</a:t>
            </a:r>
            <a:r>
              <a:rPr lang="en-US" altLang="zh-CN" sz="2000"/>
              <a:t>an</a:t>
            </a:r>
            <a:r>
              <a:rPr lang="zh-CN" altLang="en-US" sz="2000"/>
              <a:t>、</a:t>
            </a:r>
            <a:r>
              <a:rPr lang="en-US" altLang="zh-CN" sz="2000"/>
              <a:t>the</a:t>
            </a:r>
            <a:r>
              <a:rPr lang="zh-CN" altLang="en-US" sz="2000"/>
              <a:t>、</a:t>
            </a:r>
            <a:r>
              <a:rPr lang="en-US" altLang="zh-CN" sz="2000"/>
              <a:t>and</a:t>
            </a:r>
            <a:r>
              <a:rPr lang="zh-CN" altLang="en-US" sz="2000"/>
              <a:t>；</a:t>
            </a:r>
            <a:endParaRPr lang="zh-CN" altLang="en-US" sz="2000"/>
          </a:p>
          <a:p>
            <a:r>
              <a:rPr lang="zh-CN" altLang="en-US" sz="2000"/>
              <a:t>使用阿拉伯数字，不要使用英文的来表达数量；</a:t>
            </a:r>
            <a:endParaRPr lang="zh-CN" altLang="en-US" sz="2000"/>
          </a:p>
          <a:p>
            <a:r>
              <a:rPr lang="zh-CN" altLang="en-US" sz="2000"/>
              <a:t>词与词之间使用空格隔开；</a:t>
            </a:r>
            <a:endParaRPr lang="zh-CN" altLang="en-US" sz="2000"/>
          </a:p>
          <a:p>
            <a:r>
              <a:rPr lang="zh-CN" altLang="en-US" sz="2000"/>
              <a:t>不要使用特殊字符</a:t>
            </a:r>
            <a:r>
              <a:rPr lang="en-US" altLang="zh-CN" sz="2000"/>
              <a:t>($/!/?)</a:t>
            </a:r>
            <a:r>
              <a:rPr lang="zh-CN" altLang="en-US" sz="2000"/>
              <a:t>，品牌名后边不需添加®或™；</a:t>
            </a:r>
            <a:endParaRPr lang="zh-CN" altLang="en-US" sz="2000"/>
          </a:p>
          <a:p>
            <a:r>
              <a:rPr lang="zh-CN" altLang="en-US" sz="2000"/>
              <a:t>单词不要拼写错误，不仅不利于搜索，而且还让顾客觉得不够专业、严谨；</a:t>
            </a:r>
            <a:endParaRPr lang="zh-CN" altLang="en-US" sz="2000"/>
          </a:p>
          <a:p>
            <a:r>
              <a:rPr lang="zh-CN" altLang="zh-CN" sz="2000"/>
              <a:t>一个标题不能出现两个品牌词；</a:t>
            </a:r>
            <a:endParaRPr lang="zh-CN" altLang="zh-CN" sz="2000"/>
          </a:p>
          <a:p>
            <a:r>
              <a:rPr lang="zh-CN" altLang="zh-CN" sz="2000"/>
              <a:t>在日本站，针对知名的第三方品牌，需要在标题的后边写上</a:t>
            </a:r>
            <a:r>
              <a:rPr lang="en-US" altLang="zh-CN" sz="2000"/>
              <a:t>“【並行輸入】”</a:t>
            </a:r>
            <a:r>
              <a:rPr lang="zh-CN" altLang="en-US" sz="2000"/>
              <a:t>，防止被在日本的代理商投诉。</a:t>
            </a:r>
            <a:endParaRPr lang="zh-CN" altLang="en-US" sz="2000"/>
          </a:p>
          <a:p>
            <a:endParaRPr lang="zh-CN" altLang="en-US" sz="2000"/>
          </a:p>
          <a:p>
            <a:endParaRPr lang="zh-CN" altLang="en-US" sz="2000"/>
          </a:p>
          <a:p>
            <a:endParaRPr lang="zh-CN" altLang="en-US" sz="2000"/>
          </a:p>
          <a:p>
            <a:endParaRPr lang="zh-CN" altLang="en-US" sz="2000"/>
          </a:p>
          <a:p>
            <a:endParaRPr lang="zh-CN" altLang="en-US" sz="2000"/>
          </a:p>
          <a:p>
            <a:endParaRPr lang="zh-CN" altLang="en-US" sz="2000">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6" name="内容占位符 5"/>
          <p:cNvPicPr>
            <a:picLocks noChangeAspect="1"/>
          </p:cNvPicPr>
          <p:nvPr>
            <p:ph idx="1"/>
          </p:nvPr>
        </p:nvPicPr>
        <p:blipFill>
          <a:blip r:embed="rId1"/>
          <a:stretch>
            <a:fillRect/>
          </a:stretch>
        </p:blipFill>
        <p:spPr>
          <a:xfrm>
            <a:off x="838200" y="1483360"/>
            <a:ext cx="10515600" cy="42691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a:t>在标题中不能出现的信息：</a:t>
            </a:r>
            <a:endParaRPr lang="zh-CN" altLang="en-US"/>
          </a:p>
          <a:p>
            <a:r>
              <a:rPr lang="zh-CN" altLang="en-US" sz="2000"/>
              <a:t>不要将不实的产品特性或者跟产品无关的词汇放进标题；       </a:t>
            </a:r>
            <a:endParaRPr lang="zh-CN" altLang="en-US" sz="2000"/>
          </a:p>
          <a:p>
            <a:r>
              <a:rPr lang="zh-CN" altLang="en-US" sz="2000"/>
              <a:t>不要把别人的品牌当做产品标题，不仅无用，还有侵权、关闭账号的危险；     </a:t>
            </a:r>
            <a:endParaRPr lang="zh-CN" altLang="en-US" sz="2000"/>
          </a:p>
          <a:p>
            <a:r>
              <a:rPr lang="zh-CN" altLang="en-US" sz="2000"/>
              <a:t>不要在标题内放进卖家名称、卖家电邮或电话号码； </a:t>
            </a:r>
            <a:endParaRPr lang="zh-CN" altLang="en-US" sz="2000"/>
          </a:p>
          <a:p>
            <a:r>
              <a:rPr lang="zh-CN" altLang="en-US" sz="2000"/>
              <a:t>在亚马逊平台上规则不允许包含促销信息、物流方式,如：promotion, great discount, Bonus , DHL shipping, Free Shipping, Drop Shipping （这点要区别与像速卖通和EBAY这些平台）；</a:t>
            </a:r>
            <a:endParaRPr lang="zh-CN" altLang="en-US" sz="2000"/>
          </a:p>
          <a:p>
            <a:r>
              <a:rPr lang="zh-CN" altLang="en-US" sz="2000"/>
              <a:t>不要把与产品本身无关的信息写入标题，如：产品UPC 或者库存量，Exclusive, Best Quality</a:t>
            </a:r>
            <a:r>
              <a:rPr lang="en-US" altLang="zh-CN" sz="2000"/>
              <a:t>, Hot Sale, Best Selling etc.</a:t>
            </a:r>
            <a:r>
              <a:rPr lang="zh-CN" altLang="en-US" sz="2000"/>
              <a:t>.</a:t>
            </a:r>
            <a:endParaRPr lang="zh-CN" altLang="en-US" sz="2000"/>
          </a:p>
          <a:p>
            <a:pPr marL="0" indent="0">
              <a:buNone/>
            </a:pPr>
            <a:endParaRPr lang="zh-CN" alt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编辑标题的步骤：</a:t>
            </a:r>
            <a:endParaRPr lang="zh-CN" altLang="en-US"/>
          </a:p>
        </p:txBody>
      </p:sp>
      <p:sp>
        <p:nvSpPr>
          <p:cNvPr id="3" name="内容占位符 2"/>
          <p:cNvSpPr>
            <a:spLocks noGrp="1"/>
          </p:cNvSpPr>
          <p:nvPr>
            <p:ph idx="1"/>
          </p:nvPr>
        </p:nvSpPr>
        <p:spPr/>
        <p:txBody>
          <a:bodyPr>
            <a:normAutofit fontScale="80000"/>
          </a:bodyPr>
          <a:p>
            <a:r>
              <a:rPr lang="zh-CN" altLang="en-US"/>
              <a:t>第一步：核心关键词---在写Title之前首先要理解产品.最核心的关键词是什么？核心关键词是一个标题最重要的成分，如果这个部分写好了，标题就成功了一大半。</a:t>
            </a:r>
            <a:endParaRPr lang="zh-CN" altLang="en-US"/>
          </a:p>
          <a:p>
            <a:r>
              <a:rPr lang="zh-CN" altLang="en-US"/>
              <a:t>第二步：属性--产品最重要的属性是什么？请突出最重要的属性，因为能更快的吸引顾客以便向顾客推销这个产品。</a:t>
            </a:r>
            <a:endParaRPr lang="zh-CN" altLang="en-US"/>
          </a:p>
          <a:p>
            <a:r>
              <a:rPr lang="zh-CN" altLang="en-US"/>
              <a:t>第三步： 把产品的核心词和重要属性连贯起来，形成一个名词词组。标题要突出的是核心词，所以前面不要加太长的属性词，以免掩盖主体---请记得，标题一定是一个名词词组，而不是一句话，更不是一段话。</a:t>
            </a:r>
            <a:endParaRPr lang="zh-CN" altLang="en-US"/>
          </a:p>
          <a:p>
            <a:r>
              <a:rPr lang="zh-CN" altLang="en-US">
                <a:sym typeface="+mn-ea"/>
              </a:rPr>
              <a:t>第四步： 适用范围--这个主要是用来提高产品的曝光度的，比如移动电源的型号尽可能罗列出产品可以匹配的型号，因为这些知名品牌的型号都是具有极大搜索量的关键词。（我们可以用一些简单的介词把他连接起来，比如：for, compatible ,with,support……）</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sym typeface="+mn-ea"/>
              </a:rPr>
              <a:t>编辑标题的步骤：</a:t>
            </a:r>
            <a:endParaRPr lang="zh-CN" altLang="en-US"/>
          </a:p>
        </p:txBody>
      </p:sp>
      <p:sp>
        <p:nvSpPr>
          <p:cNvPr id="3" name="内容占位符 2"/>
          <p:cNvSpPr>
            <a:spLocks noGrp="1"/>
          </p:cNvSpPr>
          <p:nvPr>
            <p:ph idx="1"/>
          </p:nvPr>
        </p:nvSpPr>
        <p:spPr/>
        <p:txBody>
          <a:bodyPr/>
          <a:p>
            <a:r>
              <a:rPr lang="zh-CN" altLang="en-US"/>
              <a:t>第五步，用关键词在平台上搜索类似的产品，查看排名靠前的</a:t>
            </a:r>
            <a:r>
              <a:rPr lang="en-US" altLang="zh-CN"/>
              <a:t>listing</a:t>
            </a:r>
            <a:r>
              <a:rPr lang="zh-CN" altLang="en-US"/>
              <a:t>（在搜索结果页面、细分节点</a:t>
            </a:r>
            <a:r>
              <a:rPr lang="en-US" altLang="zh-CN"/>
              <a:t>Amazon Best Seller</a:t>
            </a:r>
            <a:r>
              <a:rPr lang="zh-CN" altLang="en-US"/>
              <a:t>页面），约</a:t>
            </a:r>
            <a:r>
              <a:rPr lang="en-US" altLang="zh-CN"/>
              <a:t>10</a:t>
            </a:r>
            <a:r>
              <a:rPr lang="zh-CN" altLang="en-US"/>
              <a:t>条左右，看他们的写法，结合我们产品的特点，筛选核心的关键词、重要特征或卖点、适用范围等。</a:t>
            </a:r>
            <a:endParaRPr lang="zh-CN" altLang="en-US"/>
          </a:p>
          <a:p>
            <a:r>
              <a:rPr lang="zh-CN" altLang="en-US"/>
              <a:t>第六步，按照</a:t>
            </a:r>
            <a:r>
              <a:rPr lang="en-US" altLang="zh-CN"/>
              <a:t>“Brand+</a:t>
            </a:r>
            <a:r>
              <a:rPr lang="zh-CN" altLang="en-US"/>
              <a:t>（数量）</a:t>
            </a:r>
            <a:r>
              <a:rPr lang="en-US" altLang="zh-CN"/>
              <a:t>+</a:t>
            </a:r>
            <a:r>
              <a:rPr lang="zh-CN" altLang="en-US">
                <a:sym typeface="+mn-ea"/>
              </a:rPr>
              <a:t>品牌型号or系列名称</a:t>
            </a:r>
            <a:r>
              <a:rPr lang="en-US" altLang="zh-CN">
                <a:sym typeface="+mn-ea"/>
              </a:rPr>
              <a:t>+</a:t>
            </a:r>
            <a:r>
              <a:rPr lang="zh-CN" altLang="en-US"/>
              <a:t>核心关键词</a:t>
            </a:r>
            <a:r>
              <a:rPr lang="en-US" altLang="zh-CN"/>
              <a:t>+</a:t>
            </a:r>
            <a:r>
              <a:rPr lang="zh-CN" altLang="en-US">
                <a:sym typeface="+mn-ea"/>
              </a:rPr>
              <a:t>重要特征或亮点+材质+颜色+尺寸</a:t>
            </a:r>
            <a:r>
              <a:rPr lang="en-US" altLang="zh-CN">
                <a:sym typeface="+mn-ea"/>
              </a:rPr>
              <a:t>”</a:t>
            </a:r>
            <a:r>
              <a:rPr lang="zh-CN" altLang="en-US">
                <a:sym typeface="+mn-ea"/>
              </a:rPr>
              <a:t>，在标题上凸显产品的差异性。</a:t>
            </a:r>
            <a:endParaRPr lang="zh-CN" altLang="en-US">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编辑标题的原则：</a:t>
            </a:r>
            <a:endParaRPr lang="zh-CN" altLang="en-US"/>
          </a:p>
        </p:txBody>
      </p:sp>
      <p:sp>
        <p:nvSpPr>
          <p:cNvPr id="3" name="内容占位符 2"/>
          <p:cNvSpPr>
            <a:spLocks noGrp="1"/>
          </p:cNvSpPr>
          <p:nvPr>
            <p:ph idx="1"/>
          </p:nvPr>
        </p:nvSpPr>
        <p:spPr/>
        <p:txBody>
          <a:bodyPr/>
          <a:p>
            <a:r>
              <a:rPr lang="zh-CN" altLang="en-US"/>
              <a:t>1. 标题需简洁明了、言简意赅，字符数控制在</a:t>
            </a:r>
            <a:r>
              <a:rPr lang="en-US" altLang="zh-CN"/>
              <a:t>120</a:t>
            </a:r>
            <a:r>
              <a:rPr lang="zh-CN" altLang="en-US"/>
              <a:t>个字符以内；</a:t>
            </a:r>
            <a:endParaRPr lang="zh-CN" altLang="en-US"/>
          </a:p>
          <a:p>
            <a:r>
              <a:rPr lang="zh-CN" altLang="en-US"/>
              <a:t>2. 核心关键词尽量靠前，不要放置在后边；</a:t>
            </a:r>
            <a:endParaRPr lang="zh-CN" altLang="en-US"/>
          </a:p>
          <a:p>
            <a:r>
              <a:rPr lang="en-US" altLang="zh-CN"/>
              <a:t>3. 关键词一定要翻译的非常地道，符合当地的语言习惯</a:t>
            </a:r>
            <a:r>
              <a:rPr lang="zh-CN" altLang="en-US"/>
              <a:t>，符合顾客的搜索习惯；</a:t>
            </a:r>
            <a:endParaRPr lang="zh-CN" altLang="en-US"/>
          </a:p>
          <a:p>
            <a:r>
              <a:rPr lang="en-US" altLang="zh-CN"/>
              <a:t>4. 关键词如果是两个</a:t>
            </a:r>
            <a:r>
              <a:rPr lang="zh-CN" altLang="en-US"/>
              <a:t>或多个</a:t>
            </a:r>
            <a:r>
              <a:rPr lang="en-US" altLang="zh-CN"/>
              <a:t>单词的尽量写在一起，不要拆开</a:t>
            </a:r>
            <a:r>
              <a:rPr lang="zh-CN" altLang="en-US"/>
              <a:t>。</a:t>
            </a:r>
            <a:endParaRPr lang="zh-CN" altLang="en-US"/>
          </a:p>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非小语种专业编辑小语种标题的方法（以西语为例）</a:t>
            </a:r>
            <a:endParaRPr lang="zh-CN" altLang="en-US"/>
          </a:p>
        </p:txBody>
      </p:sp>
      <p:sp>
        <p:nvSpPr>
          <p:cNvPr id="3" name="内容占位符 2"/>
          <p:cNvSpPr>
            <a:spLocks noGrp="1"/>
          </p:cNvSpPr>
          <p:nvPr>
            <p:ph idx="1"/>
          </p:nvPr>
        </p:nvSpPr>
        <p:spPr/>
        <p:txBody>
          <a:bodyPr>
            <a:normAutofit fontScale="90000" lnSpcReduction="10000"/>
          </a:bodyPr>
          <a:p>
            <a:pPr marL="0" indent="0">
              <a:buNone/>
            </a:pPr>
            <a:r>
              <a:rPr lang="zh-CN" altLang="en-US"/>
              <a:t>小语种的title改如何下手呢？虽然我们都不懂这门语言，但是我们可以借助翻译软件并参考竞争对手还有Amazon平台的搜索关键词，步骤如下：</a:t>
            </a:r>
            <a:endParaRPr lang="zh-CN" altLang="en-US"/>
          </a:p>
          <a:p>
            <a:r>
              <a:rPr lang="zh-CN" altLang="en-US"/>
              <a:t>1. 理解产品，找出英文的核心关键词翻译成小语种，比如</a:t>
            </a:r>
            <a:r>
              <a:rPr lang="en-US" altLang="zh-CN"/>
              <a:t>bag</a:t>
            </a:r>
            <a:r>
              <a:rPr lang="zh-CN" altLang="en-US"/>
              <a:t>成西语</a:t>
            </a:r>
            <a:r>
              <a:rPr lang="en-US" altLang="zh-CN"/>
              <a:t>bolso/bolsa</a:t>
            </a:r>
            <a:r>
              <a:rPr lang="zh-CN" altLang="en-US"/>
              <a:t>。用这两个关键词去平台搜索，看能否搜到相同或者相似的产品，如果不能就继续换搜索关键词，直到能搜到为止。</a:t>
            </a:r>
            <a:endParaRPr lang="zh-CN" altLang="en-US"/>
          </a:p>
          <a:p>
            <a:r>
              <a:rPr lang="zh-CN" altLang="en-US"/>
              <a:t>2. 找小语种的核心关键词，每找一个词都要用这个词单独的搜索一遍，看是否精准。</a:t>
            </a:r>
            <a:endParaRPr lang="zh-CN" altLang="en-US"/>
          </a:p>
          <a:p>
            <a:r>
              <a:rPr lang="zh-CN" altLang="en-US"/>
              <a:t>3. 其他的属性和适用范围可以用谷歌翻译或者直接参考别的卖家的标题里面的属性的写法和位置。</a:t>
            </a:r>
            <a:endParaRPr lang="zh-CN" altLang="en-US"/>
          </a:p>
          <a:p>
            <a:r>
              <a:rPr lang="zh-CN" altLang="en-US"/>
              <a:t>4.  把所有标题的重要组成串，可以参考英语的语序，但需区分具体小语种国家。</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KW</a:t>
            </a:r>
            <a:r>
              <a:rPr lang="zh-CN" altLang="en-US"/>
              <a:t>的建议</a:t>
            </a:r>
            <a:endParaRPr lang="zh-CN" altLang="en-US"/>
          </a:p>
        </p:txBody>
      </p:sp>
      <p:sp>
        <p:nvSpPr>
          <p:cNvPr id="3" name="内容占位符 2"/>
          <p:cNvSpPr>
            <a:spLocks noGrp="1"/>
          </p:cNvSpPr>
          <p:nvPr>
            <p:ph idx="1"/>
          </p:nvPr>
        </p:nvSpPr>
        <p:spPr/>
        <p:txBody>
          <a:bodyPr/>
          <a:p>
            <a:r>
              <a:rPr lang="en-US" altLang="zh-CN"/>
              <a:t>A</a:t>
            </a:r>
            <a:r>
              <a:rPr lang="zh-CN" altLang="en-US"/>
              <a:t>mazon 做为一个购物平台，日均访问量在 100W+，吸引许多顾客到 Amazon 购买产品。而当顾客用不同的关键词搜索他们想要的产品时，Amazon 又做为一个搜索引擎，借助 A9 算法，将 listing 曝光在顾客面前，促成顾客下单。如何使 listing 曝光在顾客的搜索结果中甚至是在首页位置，listing 的 SEO 成为我们一直以来关心的问题。本期主要围绕着 Search Term 这一要点，讲解如何设置以及优化 Search Term。</a:t>
            </a:r>
            <a:endParaRPr lang="zh-CN" altLang="en-US"/>
          </a:p>
          <a:p>
            <a:r>
              <a:rPr lang="zh-CN" altLang="en-US"/>
              <a:t>Search Term，直译是检索词，通俗地说，我们称之为关键词。设置精确度高的关键词，在一定程度上，有利于提升 listing 的曝光度。</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40970"/>
            <a:ext cx="10515600" cy="6036310"/>
          </a:xfrm>
        </p:spPr>
        <p:txBody>
          <a:bodyPr/>
          <a:p>
            <a:r>
              <a:rPr lang="zh-CN" altLang="en-US" sz="1800"/>
              <a:t>一、Search Term 在亚马逊后台的设置：</a:t>
            </a:r>
            <a:endParaRPr lang="zh-CN" altLang="en-US" sz="1800"/>
          </a:p>
          <a:p>
            <a:endParaRPr lang="zh-CN" altLang="en-US" sz="1800"/>
          </a:p>
          <a:p>
            <a:r>
              <a:rPr lang="zh-CN" altLang="en-US" sz="1800"/>
              <a:t>Search Term 在亚马逊后台的设置位置是在 Add a product &gt; Create a new product listing &gt; Browse for your product's category &gt; Select your product's category &gt; 如下图所示：</a:t>
            </a:r>
            <a:endParaRPr lang="zh-CN" altLang="en-US" sz="1800"/>
          </a:p>
        </p:txBody>
      </p:sp>
      <p:pic>
        <p:nvPicPr>
          <p:cNvPr id="1073742850" name="图片 1073742849"/>
          <p:cNvPicPr>
            <a:picLocks noChangeAspect="1"/>
          </p:cNvPicPr>
          <p:nvPr/>
        </p:nvPicPr>
        <p:blipFill>
          <a:blip r:embed="rId1"/>
          <a:stretch>
            <a:fillRect/>
          </a:stretch>
        </p:blipFill>
        <p:spPr>
          <a:xfrm>
            <a:off x="949960" y="2176780"/>
            <a:ext cx="5230495" cy="343090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分词权重：</a:t>
            </a:r>
            <a:endParaRPr lang="zh-CN" altLang="en-US"/>
          </a:p>
        </p:txBody>
      </p:sp>
      <p:sp>
        <p:nvSpPr>
          <p:cNvPr id="3" name="内容占位符 2"/>
          <p:cNvSpPr>
            <a:spLocks noGrp="1"/>
          </p:cNvSpPr>
          <p:nvPr>
            <p:ph idx="1"/>
          </p:nvPr>
        </p:nvSpPr>
        <p:spPr/>
        <p:txBody>
          <a:bodyPr/>
          <a:p>
            <a:r>
              <a:rPr lang="zh-CN" altLang="en-US"/>
              <a:t>顾客搜索词：led string lights</a:t>
            </a:r>
            <a:endParaRPr lang="zh-CN" altLang="en-US"/>
          </a:p>
          <a:p>
            <a:endParaRPr lang="zh-CN" altLang="en-US"/>
          </a:p>
          <a:p>
            <a:r>
              <a:rPr lang="zh-CN" altLang="en-US"/>
              <a:t>完全匹配： led string lights	权重最高</a:t>
            </a:r>
            <a:endParaRPr lang="zh-CN" altLang="en-US"/>
          </a:p>
          <a:p>
            <a:endParaRPr lang="zh-CN" altLang="en-US"/>
          </a:p>
          <a:p>
            <a:r>
              <a:rPr lang="zh-CN" altLang="en-US"/>
              <a:t>词组匹配：led string lights warm white	权重中等</a:t>
            </a:r>
            <a:endParaRPr lang="zh-CN" altLang="en-US"/>
          </a:p>
          <a:p>
            <a:endParaRPr lang="zh-CN" altLang="en-US"/>
          </a:p>
          <a:p>
            <a:r>
              <a:rPr lang="zh-CN" altLang="en-US"/>
              <a:t>模糊匹配：led solar string lights for garden 权重最低</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Amazon 站内搜索框：</a:t>
            </a:r>
            <a:endParaRPr lang="zh-CN" altLang="en-US"/>
          </a:p>
        </p:txBody>
      </p:sp>
      <p:sp>
        <p:nvSpPr>
          <p:cNvPr id="3" name="内容占位符 2"/>
          <p:cNvSpPr>
            <a:spLocks noGrp="1"/>
          </p:cNvSpPr>
          <p:nvPr>
            <p:ph idx="1"/>
          </p:nvPr>
        </p:nvSpPr>
        <p:spPr/>
        <p:txBody>
          <a:bodyPr/>
          <a:p>
            <a:r>
              <a:rPr lang="zh-CN" altLang="en-US"/>
              <a:t>首先要明确，你的产品都有哪些同义名称，在亚马逊搜索下拉框、结果页面会有一些亚马逊推荐的、相关的关键词，假如你卖的是灯，灯有 lamp 以及 light 两种说法，后可以用这两个词在亚马逊的搜索栏上搜索，如图所示：</a:t>
            </a:r>
            <a:endParaRPr lang="zh-CN" altLang="en-US"/>
          </a:p>
        </p:txBody>
      </p:sp>
      <p:pic>
        <p:nvPicPr>
          <p:cNvPr id="1073742853" name="图片 1073742852"/>
          <p:cNvPicPr>
            <a:picLocks noChangeAspect="1"/>
          </p:cNvPicPr>
          <p:nvPr/>
        </p:nvPicPr>
        <p:blipFill>
          <a:blip r:embed="rId1">
            <a:clrChange>
              <a:clrFrom>
                <a:srgbClr val="FFFFFF"/>
              </a:clrFrom>
              <a:clrTo>
                <a:srgbClr val="FFFFFF">
                  <a:alpha val="0"/>
                </a:srgbClr>
              </a:clrTo>
            </a:clrChange>
          </a:blip>
          <a:stretch>
            <a:fillRect/>
          </a:stretch>
        </p:blipFill>
        <p:spPr>
          <a:xfrm>
            <a:off x="1791335" y="2886075"/>
            <a:ext cx="2792095" cy="339788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通过搜索框可以看到与你产品相关的一些买家会搜索的关键词，由于这两个词的范围比较广，你可以根据你产品的特点缩小搜索范围，现在以绳灯为例，就可以搜出如下结果：</a:t>
            </a:r>
            <a:endParaRPr lang="zh-CN" altLang="en-US"/>
          </a:p>
        </p:txBody>
      </p:sp>
      <p:pic>
        <p:nvPicPr>
          <p:cNvPr id="1073742854" name="图片 1073742853"/>
          <p:cNvPicPr>
            <a:picLocks noChangeAspect="1"/>
          </p:cNvPicPr>
          <p:nvPr/>
        </p:nvPicPr>
        <p:blipFill>
          <a:blip r:embed="rId1">
            <a:clrChange>
              <a:clrFrom>
                <a:srgbClr val="FFFFFF"/>
              </a:clrFrom>
              <a:clrTo>
                <a:srgbClr val="FFFFFF">
                  <a:alpha val="0"/>
                </a:srgbClr>
              </a:clrTo>
            </a:clrChange>
          </a:blip>
          <a:stretch>
            <a:fillRect/>
          </a:stretch>
        </p:blipFill>
        <p:spPr>
          <a:xfrm>
            <a:off x="4543425" y="2309178"/>
            <a:ext cx="6417310" cy="386778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这里就会搜到很多与你产品更接近的关键词，如果你用 LED string light 这个关键词，您又可以搜到更多相关的关键词：</a:t>
            </a:r>
            <a:endParaRPr lang="zh-CN" altLang="en-US"/>
          </a:p>
        </p:txBody>
      </p:sp>
      <p:pic>
        <p:nvPicPr>
          <p:cNvPr id="1073742855" name="图片 1073742854"/>
          <p:cNvPicPr>
            <a:picLocks noChangeAspect="1"/>
          </p:cNvPicPr>
          <p:nvPr/>
        </p:nvPicPr>
        <p:blipFill>
          <a:blip r:embed="rId1"/>
          <a:stretch>
            <a:fillRect/>
          </a:stretch>
        </p:blipFill>
        <p:spPr>
          <a:xfrm>
            <a:off x="2656205" y="2425383"/>
            <a:ext cx="6417310" cy="383730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设置关键词注意事项：</a:t>
            </a:r>
            <a:endParaRPr lang="zh-CN" altLang="en-US"/>
          </a:p>
        </p:txBody>
      </p:sp>
      <p:sp>
        <p:nvSpPr>
          <p:cNvPr id="3" name="内容占位符 2"/>
          <p:cNvSpPr>
            <a:spLocks noGrp="1"/>
          </p:cNvSpPr>
          <p:nvPr>
            <p:ph idx="1"/>
          </p:nvPr>
        </p:nvSpPr>
        <p:spPr>
          <a:xfrm>
            <a:off x="838200" y="809625"/>
            <a:ext cx="10515600" cy="5367655"/>
          </a:xfrm>
        </p:spPr>
        <p:txBody>
          <a:bodyPr>
            <a:noAutofit/>
          </a:bodyPr>
          <a:p>
            <a:r>
              <a:rPr lang="zh-CN" altLang="en-US" sz="1800"/>
              <a:t>1.要使用详细的商品名称，尽量不要使用买家不明白的专业缩写词。</a:t>
            </a:r>
            <a:endParaRPr lang="zh-CN" altLang="en-US" sz="1800"/>
          </a:p>
          <a:p>
            <a:r>
              <a:rPr lang="zh-CN" altLang="en-US" sz="1800"/>
              <a:t>2.要写上商品品牌、套系、材料、颜色、尺寸和数量。</a:t>
            </a:r>
            <a:endParaRPr lang="zh-CN" altLang="en-US" sz="1800"/>
          </a:p>
          <a:p>
            <a:r>
              <a:rPr lang="zh-CN" altLang="en-US" sz="1800"/>
              <a:t>3.要在 Search Terms 里写单词，最好是词或者短语，不要用长句，词与词之间用空格隔开。</a:t>
            </a:r>
            <a:endParaRPr lang="zh-CN" altLang="en-US" sz="1800"/>
          </a:p>
          <a:p>
            <a:r>
              <a:rPr lang="en-US" altLang="zh-CN" sz="1800"/>
              <a:t>4</a:t>
            </a:r>
            <a:r>
              <a:rPr lang="zh-CN" altLang="en-US" sz="1800"/>
              <a:t>.不需要重复关键词，这样不会增加被检索到的几率。</a:t>
            </a:r>
            <a:endParaRPr lang="zh-CN" altLang="en-US" sz="1800"/>
          </a:p>
          <a:p>
            <a:r>
              <a:rPr lang="en-US" altLang="zh-CN" sz="1800"/>
              <a:t>5</a:t>
            </a:r>
            <a:r>
              <a:rPr lang="zh-CN" altLang="en-US" sz="1800"/>
              <a:t>.不要为了搜索排名靠前或者增加曝光，而故意添加与自己产品没有关系的单词或者品牌。</a:t>
            </a:r>
            <a:endParaRPr lang="zh-CN" altLang="en-US" sz="1800"/>
          </a:p>
          <a:p>
            <a:r>
              <a:rPr lang="en-US" altLang="zh-CN" sz="1800"/>
              <a:t>6</a:t>
            </a:r>
            <a:r>
              <a:rPr lang="zh-CN" altLang="en-US" sz="1800"/>
              <a:t>.英文的拼写一定要正确无误，不需要区分单复数、大小写。</a:t>
            </a:r>
            <a:endParaRPr lang="zh-CN" altLang="en-US" sz="1800"/>
          </a:p>
          <a:p>
            <a:r>
              <a:rPr lang="en-US" altLang="zh-CN" sz="1800"/>
              <a:t>7</a:t>
            </a:r>
            <a:r>
              <a:rPr lang="zh-CN" altLang="en-US" sz="1800"/>
              <a:t>.商品名称的单词要按照一定的逻辑顺序来排列。比如大号毛绒泰迪熊，而不是泰迪毛绒大号熊。</a:t>
            </a:r>
            <a:endParaRPr lang="zh-CN" altLang="en-US" sz="1800"/>
          </a:p>
          <a:p>
            <a:r>
              <a:rPr lang="en-US" altLang="zh-CN" sz="1800"/>
              <a:t>8</a:t>
            </a:r>
            <a:r>
              <a:rPr lang="zh-CN" altLang="en-US" sz="1800"/>
              <a:t>.刊登变体的时候，要到亚马逊重新对每个子产品的关键词进行编写，尽可能覆盖更多的关键词，不要让所有的子产品共用父产品的关键词。</a:t>
            </a:r>
            <a:endParaRPr lang="zh-CN" altLang="en-US" sz="1800"/>
          </a:p>
          <a:p>
            <a:r>
              <a:rPr lang="en-US" altLang="zh-CN" sz="1800"/>
              <a:t>9</a:t>
            </a:r>
            <a:r>
              <a:rPr lang="zh-CN" altLang="en-US" sz="1800"/>
              <a:t>.要不断的做实验，不断地调整自己商品的关键词，让自己的关键词达到最优。</a:t>
            </a:r>
            <a:endParaRPr lang="zh-CN" altLang="en-US" sz="1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影响定价的因素 </a:t>
            </a:r>
            <a:endParaRPr lang="zh-CN" altLang="en-US"/>
          </a:p>
        </p:txBody>
      </p:sp>
      <p:sp>
        <p:nvSpPr>
          <p:cNvPr id="3" name="内容占位符 2"/>
          <p:cNvSpPr>
            <a:spLocks noGrp="1"/>
          </p:cNvSpPr>
          <p:nvPr>
            <p:ph idx="1"/>
          </p:nvPr>
        </p:nvSpPr>
        <p:spPr/>
        <p:txBody>
          <a:bodyPr/>
          <a:p>
            <a:r>
              <a:rPr lang="zh-CN" altLang="en-US"/>
              <a:t>1）成本（商品交易的总成本）</a:t>
            </a:r>
            <a:endParaRPr lang="zh-CN" altLang="en-US"/>
          </a:p>
          <a:p>
            <a:r>
              <a:rPr lang="zh-CN" altLang="en-US"/>
              <a:t>2）要求的利润率目标</a:t>
            </a:r>
            <a:endParaRPr lang="zh-CN" altLang="en-US"/>
          </a:p>
          <a:p>
            <a:r>
              <a:rPr lang="zh-CN" altLang="en-US"/>
              <a:t>3）市场整体竞争状况</a:t>
            </a:r>
            <a:endParaRPr lang="zh-CN" altLang="en-US"/>
          </a:p>
          <a:p>
            <a:r>
              <a:rPr lang="zh-CN" altLang="en-US"/>
              <a:t>4）库存</a:t>
            </a:r>
            <a:endParaRPr lang="zh-CN" altLang="en-US"/>
          </a:p>
          <a:p>
            <a:r>
              <a:rPr lang="zh-CN" altLang="en-US"/>
              <a:t>5）其他因素</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定价策略</a:t>
            </a:r>
            <a:endParaRPr lang="zh-CN" altLang="en-US"/>
          </a:p>
        </p:txBody>
      </p:sp>
      <p:sp>
        <p:nvSpPr>
          <p:cNvPr id="3" name="内容占位符 2"/>
          <p:cNvSpPr>
            <a:spLocks noGrp="1"/>
          </p:cNvSpPr>
          <p:nvPr>
            <p:ph idx="1"/>
          </p:nvPr>
        </p:nvSpPr>
        <p:spPr/>
        <p:txBody>
          <a:bodyPr/>
          <a:p>
            <a:r>
              <a:rPr lang="zh-CN" altLang="en-US"/>
              <a:t>1.  核算商品的交易总成本</a:t>
            </a:r>
            <a:endParaRPr lang="zh-CN" altLang="en-US"/>
          </a:p>
          <a:p>
            <a:r>
              <a:rPr lang="zh-CN" altLang="en-US"/>
              <a:t>成本：商品成本+物流成本+平台交易费+其他（订单操作费，VAT，广告成本，公司运营成本……）</a:t>
            </a:r>
            <a:endParaRPr lang="zh-CN" altLang="en-US"/>
          </a:p>
          <a:p>
            <a:r>
              <a:rPr lang="zh-CN" altLang="en-US"/>
              <a:t>估计成本核对成本的时候，要始终保持谨慎性原则尽量高估成本。</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a:t>
            </a:r>
            <a:r>
              <a:rPr lang="zh-CN" altLang="en-US">
                <a:sym typeface="+mn-ea"/>
              </a:rPr>
              <a:t>要求的利润率目标</a:t>
            </a:r>
            <a:endParaRPr lang="zh-CN" altLang="en-US"/>
          </a:p>
        </p:txBody>
      </p:sp>
      <p:sp>
        <p:nvSpPr>
          <p:cNvPr id="3" name="内容占位符 2"/>
          <p:cNvSpPr>
            <a:spLocks noGrp="1"/>
          </p:cNvSpPr>
          <p:nvPr>
            <p:ph idx="1"/>
          </p:nvPr>
        </p:nvSpPr>
        <p:spPr/>
        <p:txBody>
          <a:bodyPr/>
          <a:p>
            <a:pPr marL="0" indent="0">
              <a:buNone/>
            </a:pPr>
            <a:endParaRPr lang="zh-CN" altLang="en-US"/>
          </a:p>
          <a:p>
            <a:r>
              <a:rPr lang="zh-CN" altLang="en-US"/>
              <a:t>每月初给大家定的利润率总目标，定价的时候需要考虑到要求的利润率目标，当然你可以安排一部分的商品薄利多销，另外一部分商品厚利少销，最终达到你的总利润率目标。</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  分析产品的竞争状况和自己的产品本身的属性。</a:t>
            </a:r>
            <a:endParaRPr lang="zh-CN" altLang="en-US"/>
          </a:p>
        </p:txBody>
      </p:sp>
      <p:sp>
        <p:nvSpPr>
          <p:cNvPr id="3" name="内容占位符 2"/>
          <p:cNvSpPr>
            <a:spLocks noGrp="1"/>
          </p:cNvSpPr>
          <p:nvPr>
            <p:ph idx="1"/>
          </p:nvPr>
        </p:nvSpPr>
        <p:spPr/>
        <p:txBody>
          <a:bodyPr>
            <a:normAutofit lnSpcReduction="20000"/>
          </a:bodyPr>
          <a:p>
            <a:r>
              <a:rPr lang="zh-CN" altLang="en-US"/>
              <a:t>定价前需要对产品有一番了解，找到自己产品的卖点和亮点。</a:t>
            </a:r>
            <a:endParaRPr lang="zh-CN" altLang="en-US"/>
          </a:p>
          <a:p>
            <a:r>
              <a:rPr lang="zh-CN" altLang="en-US"/>
              <a:t>a.如果是完全竞争，产品是很普通而且市场竞争也很激烈，最好是随别人的价格：比市场上卖的最热的Listing的价格更低。如果是要抬高价格，那么一定要采取一些营销措施来增加曝光，增加流量。</a:t>
            </a:r>
            <a:endParaRPr lang="zh-CN" altLang="en-US"/>
          </a:p>
          <a:p>
            <a:r>
              <a:rPr lang="zh-CN" altLang="en-US"/>
              <a:t>b.如果是走在市场前沿全新产品，或者是某品牌产品首发，那就可以抬高价格，因为“物以稀为贵”，定价太低相反不利于产品的销售。这时，我们可以采取定价由高到低的策略，先高价获取高利润，待竞争激烈时，企业可适当调低价格，赢得主动，扩大销量，提高市场占有率。</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价格实验法</a:t>
            </a:r>
            <a:endParaRPr lang="zh-CN" altLang="en-US"/>
          </a:p>
        </p:txBody>
      </p:sp>
      <p:sp>
        <p:nvSpPr>
          <p:cNvPr id="3" name="内容占位符 2"/>
          <p:cNvSpPr>
            <a:spLocks noGrp="1"/>
          </p:cNvSpPr>
          <p:nvPr>
            <p:ph idx="1"/>
          </p:nvPr>
        </p:nvSpPr>
        <p:spPr/>
        <p:txBody>
          <a:bodyPr/>
          <a:p>
            <a:r>
              <a:rPr lang="zh-CN" altLang="en-US"/>
              <a:t>先系统的变动几个销售价格，过一段时间再分析销量和价格之间的关系。这种方法反复地在相类似地区变化不同的价格，研究价格是怎样影响销售的。</a:t>
            </a:r>
            <a:endParaRPr lang="zh-CN" altLang="en-US"/>
          </a:p>
          <a:p>
            <a:r>
              <a:rPr lang="zh-CN" altLang="en-US"/>
              <a:t>找到价格和销量之间的平衡点，一般情况下价格降低时销量上升，价格抬高时销量下降。当然也有许多顾客把价格作为是质量的指标。</a:t>
            </a:r>
            <a:endParaRPr lang="zh-CN" altLang="en-US"/>
          </a:p>
          <a:p>
            <a:r>
              <a:rPr lang="zh-CN" altLang="en-US"/>
              <a:t>通过反复地测试找到一个利润比较合理销量还能保持不错的价位。</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4. 库存</a:t>
            </a:r>
            <a:endParaRPr lang="zh-CN" altLang="en-US"/>
          </a:p>
        </p:txBody>
      </p:sp>
      <p:sp>
        <p:nvSpPr>
          <p:cNvPr id="3" name="内容占位符 2"/>
          <p:cNvSpPr>
            <a:spLocks noGrp="1"/>
          </p:cNvSpPr>
          <p:nvPr>
            <p:ph idx="1"/>
          </p:nvPr>
        </p:nvSpPr>
        <p:spPr/>
        <p:txBody>
          <a:bodyPr/>
          <a:p>
            <a:r>
              <a:rPr lang="zh-CN" altLang="en-US"/>
              <a:t>定价时要考虑供需关系，库存多销量差，可以考虑降低价格销售，库存少销量快，可以提价增加利润。</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5.  其他因素</a:t>
            </a:r>
            <a:endParaRPr lang="zh-CN" altLang="en-US"/>
          </a:p>
        </p:txBody>
      </p:sp>
      <p:sp>
        <p:nvSpPr>
          <p:cNvPr id="3" name="内容占位符 2"/>
          <p:cNvSpPr>
            <a:spLocks noGrp="1"/>
          </p:cNvSpPr>
          <p:nvPr>
            <p:ph idx="1"/>
          </p:nvPr>
        </p:nvSpPr>
        <p:spPr/>
        <p:txBody>
          <a:bodyPr/>
          <a:p>
            <a:r>
              <a:rPr lang="zh-CN" altLang="en-US"/>
              <a:t>a. 有些品牌供应商为了保护自己的价格，要求统一限价，任何卖家不得低于限价。比如：CUBOT, dodocool, yongnuo……</a:t>
            </a:r>
            <a:endParaRPr lang="zh-CN" altLang="en-US"/>
          </a:p>
          <a:p>
            <a:r>
              <a:rPr lang="zh-CN" altLang="en-US"/>
              <a:t>我们可以定价的时候需要参考文档《统一售价》。一般大部分卖家都会直接定最低限价，尤其是竞争激烈的美国站点。但是如果有些产品，我们是首发或者独家，我们刚上架时可以高于限价卖。（毕竟物以稀为贵）,然后等竞争激烈一些时，再降价。</a:t>
            </a:r>
            <a:endParaRPr lang="zh-CN" altLang="en-US"/>
          </a:p>
          <a:p>
            <a:r>
              <a:rPr lang="zh-CN" altLang="en-US"/>
              <a:t>b. 需要通过别的促销方式提供折扣时，比如秒杀或者站外推广，定价的时候需要把这些折扣算进价格里面去。</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lgn="ctr">
              <a:buNone/>
            </a:pPr>
            <a:endParaRPr lang="en-US" altLang="zh-CN" sz="28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a:p>
            <a:pPr marL="0" indent="0" algn="ctr">
              <a:buNone/>
            </a:pPr>
            <a:r>
              <a:rPr lang="en-US" altLang="zh-CN" sz="8800">
                <a:solidFill>
                  <a:schemeClr val="accent1"/>
                </a:solidFill>
                <a:effectLst>
                  <a:outerShdw blurRad="38100" dist="25400" dir="5400000" algn="ctr" rotWithShape="0">
                    <a:srgbClr val="6E747A">
                      <a:alpha val="43000"/>
                    </a:srgbClr>
                  </a:outerShdw>
                </a:effectLst>
                <a:latin typeface="Kozuka Mincho Pr6N H" panose="02020900000000000000" charset="-128"/>
                <a:ea typeface="Kozuka Mincho Pr6N H" panose="02020900000000000000" charset="-128"/>
              </a:rPr>
              <a:t>Gracias</a:t>
            </a:r>
            <a:endParaRPr lang="en-US" altLang="zh-CN" sz="8800">
              <a:solidFill>
                <a:schemeClr val="accent1"/>
              </a:solidFill>
              <a:effectLst>
                <a:outerShdw blurRad="38100" dist="25400" dir="5400000" algn="ctr" rotWithShape="0">
                  <a:srgbClr val="6E747A">
                    <a:alpha val="43000"/>
                  </a:srgbClr>
                </a:outerShdw>
              </a:effectLst>
              <a:latin typeface="Kozuka Mincho Pr6N H" panose="02020900000000000000" charset="-128"/>
              <a:ea typeface="Kozuka Mincho Pr6N H" panose="02020900000000000000" charset="-128"/>
            </a:endParaRPr>
          </a:p>
          <a:p>
            <a:pPr marL="0" indent="0" algn="ctr">
              <a:buNone/>
            </a:pPr>
            <a:endParaRPr lang="en-US" altLang="zh-CN" sz="28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sld>
</file>

<file path=ppt/tags/tag1.xml><?xml version="1.0" encoding="utf-8"?>
<p:tagLst xmlns:p="http://schemas.openxmlformats.org/presentationml/2006/main">
  <p:tag name="KSO_WM_TAG_VERSION" val="1.0"/>
  <p:tag name="KSO_WM_BEAUTIFY_FLAG" val="#wm#"/>
  <p:tag name="KSO_WM_TEMPLATE_CATEGORY" val="custom"/>
  <p:tag name="KSO_WM_TEMPLATE_INDEX" val="160162"/>
  <p:tag name="KSO_WM_UNIT_TYPE" val="a"/>
  <p:tag name="KSO_WM_UNIT_INDEX" val="1"/>
  <p:tag name="KSO_WM_UNIT_ID" val="custom160162_1*a*1"/>
  <p:tag name="KSO_WM_UNIT_CLEAR" val="1"/>
  <p:tag name="KSO_WM_UNIT_LAYERLEVEL" val="1"/>
  <p:tag name="KSO_WM_UNIT_VALUE" val="28"/>
  <p:tag name="KSO_WM_UNIT_ISCONTENTSTITLE" val="0"/>
  <p:tag name="KSO_WM_UNIT_HIGHLIGHT" val="0"/>
  <p:tag name="KSO_WM_UNIT_COMPATIBLE" val="0"/>
  <p:tag name="KSO_WM_UNIT_PRESET_TEXT_INDEX" val="3"/>
  <p:tag name="KSO_WM_UNIT_PRESET_TEXT_LEN" val="17"/>
</p:tagLst>
</file>

<file path=ppt/tags/tag2.xml><?xml version="1.0" encoding="utf-8"?>
<p:tagLst xmlns:p="http://schemas.openxmlformats.org/presentationml/2006/main">
  <p:tag name="KSO_WM_TAG_VERSION" val="1.0"/>
  <p:tag name="KSO_WM_BEAUTIFY_FLAG" val="#wm#"/>
  <p:tag name="KSO_WM_TEMPLATE_CATEGORY" val="custom"/>
  <p:tag name="KSO_WM_TEMPLATE_INDEX" val="160162"/>
  <p:tag name="KSO_WM_UNIT_TYPE" val="b"/>
  <p:tag name="KSO_WM_UNIT_INDEX" val="1"/>
  <p:tag name="KSO_WM_UNIT_ID" val="custom160162_1*b*1"/>
  <p:tag name="KSO_WM_UNIT_CLEAR" val="1"/>
  <p:tag name="KSO_WM_UNIT_LAYERLEVEL" val="1"/>
  <p:tag name="KSO_WM_UNIT_VALUE" val="111"/>
  <p:tag name="KSO_WM_UNIT_ISCONTENTSTITLE" val="0"/>
  <p:tag name="KSO_WM_UNIT_HIGHLIGHT" val="0"/>
  <p:tag name="KSO_WM_UNIT_COMPATIBLE" val="0"/>
  <p:tag name="KSO_WM_UNIT_PRESET_TEXT_INDEX" val="3"/>
  <p:tag name="KSO_WM_UNIT_PRESET_TEXT_LEN" val="17"/>
</p:tagLst>
</file>

<file path=ppt/tags/tag3.xml><?xml version="1.0" encoding="utf-8"?>
<p:tagLst xmlns:p="http://schemas.openxmlformats.org/presentationml/2006/main">
  <p:tag name="KSO_WM_TEMPLATE_THUMBS_INDEX" val="1、6、8、12、20、21、22、23、25"/>
  <p:tag name="KSO_WM_TEMPLATE_CATEGORY" val="custom"/>
  <p:tag name="KSO_WM_TEMPLATE_INDEX" val="160162"/>
  <p:tag name="KSO_WM_TAG_VERSION" val="1.0"/>
  <p:tag name="KSO_WM_SLIDE_ID" val="custom160162_1"/>
  <p:tag name="KSO_WM_SLIDE_INDEX" val="1"/>
  <p:tag name="KSO_WM_SLIDE_ITEM_CNT" val="2"/>
  <p:tag name="KSO_WM_SLIDE_LAYOUT" val="a_b"/>
  <p:tag name="KSO_WM_SLIDE_LAYOUT_CNT" val="1_1"/>
  <p:tag name="KSO_WM_SLIDE_TYPE" val="title"/>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25">
      <a:dk1>
        <a:sysClr val="windowText" lastClr="000000"/>
      </a:dk1>
      <a:lt1>
        <a:sysClr val="window" lastClr="FFFFFF"/>
      </a:lt1>
      <a:dk2>
        <a:srgbClr val="44546A"/>
      </a:dk2>
      <a:lt2>
        <a:srgbClr val="E7E6E6"/>
      </a:lt2>
      <a:accent1>
        <a:srgbClr val="0070BE"/>
      </a:accent1>
      <a:accent2>
        <a:srgbClr val="7F7F7F"/>
      </a:accent2>
      <a:accent3>
        <a:srgbClr val="A5A5A5"/>
      </a:accent3>
      <a:accent4>
        <a:srgbClr val="FFC000"/>
      </a:accent4>
      <a:accent5>
        <a:srgbClr val="4472C4"/>
      </a:accent5>
      <a:accent6>
        <a:srgbClr val="70AD47"/>
      </a:accent6>
      <a:hlink>
        <a:srgbClr val="0563C1"/>
      </a:hlink>
      <a:folHlink>
        <a:srgbClr val="954F72"/>
      </a:folHlink>
    </a:clrScheme>
    <a:fontScheme name="自定义 50">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4738</Words>
  <Application>WPS 演示</Application>
  <PresentationFormat>宽屏</PresentationFormat>
  <Paragraphs>178</Paragraphs>
  <Slides>36</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36</vt:i4>
      </vt:variant>
    </vt:vector>
  </HeadingPairs>
  <TitlesOfParts>
    <vt:vector size="46" baseType="lpstr">
      <vt:lpstr>Arial</vt:lpstr>
      <vt:lpstr>宋体</vt:lpstr>
      <vt:lpstr>Wingdings</vt:lpstr>
      <vt:lpstr>黑体</vt:lpstr>
      <vt:lpstr>微软雅黑</vt:lpstr>
      <vt:lpstr>Kozuka Mincho Pr6N H</vt:lpstr>
      <vt:lpstr>Calibri</vt:lpstr>
      <vt:lpstr>MS PMincho</vt:lpstr>
      <vt:lpstr>Office 主题</vt:lpstr>
      <vt:lpstr>1_Office 主题</vt:lpstr>
      <vt:lpstr>如何优化亚马逊标题</vt:lpstr>
      <vt:lpstr>PowerPoint 演示文稿</vt:lpstr>
      <vt:lpstr>PowerPoint 演示文稿</vt:lpstr>
      <vt:lpstr>以“solar power outdoor lights”搜索关键词为例：</vt:lpstr>
      <vt:lpstr>PowerPoint 演示文稿</vt:lpstr>
      <vt:lpstr>PowerPoint 演示文稿</vt:lpstr>
      <vt:lpstr>PowerPoint 演示文稿</vt:lpstr>
      <vt:lpstr>PowerPoint 演示文稿</vt:lpstr>
      <vt:lpstr>PowerPoint 演示文稿</vt:lpstr>
      <vt:lpstr>APP页面搜索结果展示（iPhone 5s）：</vt:lpstr>
      <vt:lpstr>APP页面搜索结果展示（iPhone 6s）：</vt:lpstr>
      <vt:lpstr>PowerPoint 演示文稿</vt:lpstr>
      <vt:lpstr>PowerPoint 演示文稿</vt:lpstr>
      <vt:lpstr>PowerPoint 演示文稿</vt:lpstr>
      <vt:lpstr>PowerPoint 演示文稿</vt:lpstr>
      <vt:lpstr>PowerPoint 演示文稿</vt:lpstr>
      <vt:lpstr>PowerPoint 演示文稿</vt:lpstr>
      <vt:lpstr>编辑标题的步骤：</vt:lpstr>
      <vt:lpstr>编辑标题的步骤：</vt:lpstr>
      <vt:lpstr>编辑标题的原则：</vt:lpstr>
      <vt:lpstr>非小语种专业编辑小语种标题的方法（以德语为例）</vt:lpstr>
      <vt:lpstr>PowerPoint 演示文稿</vt:lpstr>
      <vt:lpstr>PowerPoint 演示文稿</vt:lpstr>
      <vt:lpstr>PowerPoint 演示文稿</vt:lpstr>
      <vt:lpstr>PowerPoint 演示文稿</vt:lpstr>
      <vt:lpstr>PowerPoint 演示文稿</vt:lpstr>
      <vt:lpstr>PowerPoint 演示文稿</vt:lpstr>
      <vt:lpstr>设置关键词注意事项：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23</cp:revision>
  <dcterms:created xsi:type="dcterms:W3CDTF">2015-05-05T08:02:00Z</dcterms:created>
  <dcterms:modified xsi:type="dcterms:W3CDTF">2016-11-05T07:34:10Z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2052-10.1.0.6029</vt:lpwstr>
  </property>
</Properties>
</file>